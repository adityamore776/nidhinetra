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Slides/notesSlide1_tf1.xml" ContentType="application/vnd.openxmlformats-officedocument.presentationml.notesSlide+xml"/>
  <Override PartName="/ppt/notesSlides/notesSlide2_tf1.xml" ContentType="application/vnd.openxmlformats-officedocument.presentationml.notesSlide+xml"/>
  <Override PartName="/ppt/notesSlides/notesSlide3_tf1.xml" ContentType="application/vnd.openxmlformats-officedocument.presentationml.notesSlide+xml"/>
  <Override PartName="/ppt/notesSlides/notesSlide4_tf1.xml" ContentType="application/vnd.openxmlformats-officedocument.presentationml.notesSlide+xml"/>
  <Override PartName="/ppt/notesSlides/notesSlide5_tf1.xml" ContentType="application/vnd.openxmlformats-officedocument.presentationml.notesSlid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p15="http://schemas.microsoft.com/office/powerpoint/2012/main" xmlns:r="http://schemas.openxmlformats.org/officeDocument/2006/relationships" showSpecialPlsOnTitleSld="0" saveSubsetFonts="1" autoCompressPictures="0">
  <p:sldMasterIdLst>
    <p:sldMasterId id="2147483648" r:id="rId1"/>
  </p:sldMasterIdLst>
  <p:notesMasterIdLst>
    <p:notesMasterId r:id="rId9"/>
  </p:notesMasterIdLst>
  <p:sldIdLst>
    <p:sldId id="256" r:id="rId14"/>
    <p:sldId id="257" r:id="rId15"/>
    <p:sldId id="258" r:id="rId16"/>
    <p:sldId id="259" r:id="rId17"/>
    <p:sldId id="260" r:id="rId18"/>
    <p:sldId id="261" r:id="rId19"/>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Relationships xmlns="http://schemas.openxmlformats.org/package/2006/relationships"><Relationship Id="rId13" Type="http://schemas.openxmlformats.org/officeDocument/2006/relationships/tableStyles" Target="tableStyles.xml" /><Relationship Id="rId12" Type="http://schemas.openxmlformats.org/officeDocument/2006/relationships/theme" Target="theme/theme1.xml" /><Relationship Id="rId1" Type="http://schemas.openxmlformats.org/officeDocument/2006/relationships/slideMaster" Target="slideMasters/slideMaster1.xml" /><Relationship Id="rId11" Type="http://schemas.openxmlformats.org/officeDocument/2006/relationships/viewProps" Target="viewProps.xml" /><Relationship Id="rId10" Type="http://schemas.openxmlformats.org/officeDocument/2006/relationships/presProps" Target="presProps.xml" /><Relationship Id="rId9" Type="http://schemas.openxmlformats.org/officeDocument/2006/relationships/notesMaster" Target="notesMasters/notesMaster1.xml" /><Relationship Id="rId14" Type="http://schemas.openxmlformats.org/officeDocument/2006/relationships/slide" Target="slides/slide1.xml" /><Relationship Id="rId15" Type="http://schemas.openxmlformats.org/officeDocument/2006/relationships/slide" Target="slides/slide2.xml" /><Relationship Id="rId16" Type="http://schemas.openxmlformats.org/officeDocument/2006/relationships/slide" Target="slides/slide3.xml" /><Relationship Id="rId17" Type="http://schemas.openxmlformats.org/officeDocument/2006/relationships/slide" Target="slides/slide4.xml" /><Relationship Id="rId18" Type="http://schemas.openxmlformats.org/officeDocument/2006/relationships/slide" Target="slides/slide5.xml" /><Relationship Id="rId19" Type="http://schemas.openxmlformats.org/officeDocument/2006/relationships/slide" Target="slides/slide6.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1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2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3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4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5_tf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Good morning. We are team NeuralNexus, and our problem statement is SIH26102 from the Ministry of Statistics and Programme Implementation: finding anomalies, fraud and inefficiencies in how MPLADS works are carried out. Our answer is DRISHTI, which means sight. It looks at every MPLADS work and tells an officer which ones need checking first, and why.</a:t>
            </a:r>
          </a:p>
        </p:txBody>
      </p:sp>
    </p:spTree>
  </p:cSld>
  <p:clrMapOvr>
    <a:masterClrMapping/>
  </p:clrMapOvr>
</p:notes>
</file>

<file path=ppt/notesSlides/notesSlide1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DRISHTI sits on top of eSAKSHI and only reads from it, so no officer has to enter anything new. Twelve agents follow a work from recommendation to completion, and each one answers a single question, such as whether this photo was already used on another work. Their findings are combined into one score out of 100, and the parts add up exactly, so an officer can see which agent raised a work and disagree with any single part. That ranked list becomes the ten percent of works the District Authority must inspect every year under para 6.4 of the guidelines. The problems we target come from the CAG audit and the guidelines themselves, for example 4,918 works that never got the mandatory plaque.</a:t>
            </a:r>
          </a:p>
        </p:txBody>
      </p:sp>
    </p:spTree>
  </p:cSld>
  <p:clrMapOvr>
    <a:masterClrMapping/>
  </p:clrMapOvr>
</p:notes>
</file>

<file path=ppt/notesSlides/notesSlide2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On the left is the stack we actually run: Next.js for the screens, a Python FastAPI engine, and PostgreSQL on Supabase in the Mumbai region, hosted on Vercel. The flow on the right is how one work moves through the system: eSAKSHI data is checked and cleaned, the agents run, Risk Fusion ranks the result, and an officer makes the final call. The screenshot is the live prototype, which has assessed all 2,09,993 real works and puts 276 of them in the review queue. Every agent answers in the same form, including what it could not check, so a missing check is never shown as a clean result.</a:t>
            </a:r>
          </a:p>
        </p:txBody>
      </p:sp>
    </p:spTree>
  </p:cSld>
  <p:clrMapOvr>
    <a:masterClrMapping/>
  </p:clrMapOvr>
</p:notes>
</file>

<file path=ppt/notesSlides/notesSlide3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Every tile here is a result measured on real eSAKSHI works, and we list the weak and switched-off agents alongside the ones that work. The cost agent, which is live, catches 63 percent of estimates inflated five times over while flagging 1.5 percent of normal works. Photo forensics recognised 99.9 percent of edited copies of real site photos, and the certificate reader picked out amounts and payment dates on at least 99 percent of 431 Uttar Pradesh certificates. Delay prediction was only slightly better than an office's past record, so we show it as a track record, and satellite stays off because the works we could place were too small to see. On the right are the main risks, such as false alarms and handwritten Hindi papers, with how we handle each one. The box at the bottom is the rule we follow: an agent is tested on real works and goes live only if it meets its target, otherwise it stays off.</a:t>
            </a:r>
          </a:p>
        </p:txBody>
      </p:sp>
    </p:spTree>
  </p:cSld>
  <p:clrMapOvr>
    <a:masterClrMapping/>
  </p:clrMapOvr>
</p:notes>
</file>

<file path=ppt/notesSlides/notesSlide4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Each level of government gets a different view: the Ministry sees the national map and the sanction backlog, and a District Authority sees a short list of works to visit. The funnel shows how 2,09,993 works come down to 276 worth checking first. The orange tiles are things DRISHTI has already found in public eSAKSHI data. For example, 21,323 works worth 1,361 crore rupees are still waiting for sanction past the 75 day limit, and three works have photos showing them finished before the MP recommended them. We present each of these as something to check, never as a verdict. Next we move the Document and Contractor agents into the live engine, followed by eligibility, split works, photo checks and the field app.</a:t>
            </a:r>
          </a:p>
        </p:txBody>
      </p:sp>
    </p:spTree>
  </p:cSld>
  <p:clrMapOvr>
    <a:masterClrMapping/>
  </p:clrMapOvr>
</p:notes>
</file>

<file path=ppt/notesSlides/notesSlide5_t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IN" dirty="0"/>
              <a:t>All our government sources are public, and each one has a link here: the MPLADS guidelines, the PIB release on the 2023 revision, the CAG performance audit and the eSAKSHI dashboard. The methods papers are the ones behind the code we run, such as ORB feature matching for photos and LightGBM for the delay model. The table on the right is the only comparison in this deck, and it compares DRISHTI with how existing systems check works, based on their own public documents. The code, the live demo and the write-up behind every number are open at the links at the bottom left.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xml" /><Relationship Id="rId4" Type="http://schemas.openxmlformats.org/officeDocument/2006/relationships/image" Target="../media/image_b73f1401bb514a1b.png" />  <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3" Type="http://schemas.openxmlformats.org/officeDocument/2006/relationships/image" Target="../media/image2.png" /><Relationship Id="rId1" Type="http://schemas.openxmlformats.org/officeDocument/2006/relationships/slideLayout" Target="../slideLayouts/slideLayout2.xml" />  <Relationship Id="rId4" Type="http://schemas.openxmlformats.org/officeDocument/2006/relationships/notesSlide" Target="../notesSlides/notesSlide1_tf1.xml"/>
</Relationships>
</file>

<file path=ppt/slides/_rels/slide3.xml.rels><?xml version='1.0' encoding='utf-8'?>
<Relationships xmlns="http://schemas.openxmlformats.org/package/2006/relationships"><Relationship Id="rId3" Type="http://schemas.openxmlformats.org/officeDocument/2006/relationships/image" Target="../media/image2.png" /><Relationship Id="rId1" Type="http://schemas.openxmlformats.org/officeDocument/2006/relationships/slideLayout" Target="../slideLayouts/slideLayout2.xml" /><Relationship Id="rId4" Type="http://schemas.openxmlformats.org/officeDocument/2006/relationships/image" Target="../media/image_6f93ba4eae30f26d.png" />  <Relationship Id="rId5" Type="http://schemas.openxmlformats.org/officeDocument/2006/relationships/notesSlide" Target="../notesSlides/notesSlide2_tf1.xml"/>
</Relationships>
</file>

<file path=ppt/slides/_rels/slide4.xml.rels><?xml version='1.0' encoding='utf-8'?>
<Relationships xmlns="http://schemas.openxmlformats.org/package/2006/relationships"><Relationship Id="rId3" Type="http://schemas.openxmlformats.org/officeDocument/2006/relationships/image" Target="../media/image2.png" /><Relationship Id="rId1" Type="http://schemas.openxmlformats.org/officeDocument/2006/relationships/slideLayout" Target="../slideLayouts/slideLayout2.xml" />  <Relationship Id="rId4" Type="http://schemas.openxmlformats.org/officeDocument/2006/relationships/notesSlide" Target="../notesSlides/notesSlide3_tf1.xml"/>
</Relationships>
</file>

<file path=ppt/slides/_rels/slide5.xml.rels><?xml version='1.0' encoding='utf-8'?>
<Relationships xmlns="http://schemas.openxmlformats.org/package/2006/relationships"><Relationship Id="rId3" Type="http://schemas.openxmlformats.org/officeDocument/2006/relationships/image" Target="../media/image2.png" /><Relationship Id="rId1" Type="http://schemas.openxmlformats.org/officeDocument/2006/relationships/slideLayout" Target="../slideLayouts/slideLayout2.xml" />  <Relationship Id="rId4" Type="http://schemas.openxmlformats.org/officeDocument/2006/relationships/notesSlide" Target="../notesSlides/notesSlide4_tf1.xml"/>
</Relationships>
</file>

<file path=ppt/slides/_rels/slide6.xml.rels><?xml version='1.0' encoding='utf-8'?>
<Relationships xmlns="http://schemas.openxmlformats.org/package/2006/relationships"><Relationship Id="rId3" Type="http://schemas.openxmlformats.org/officeDocument/2006/relationships/image" Target="../media/image2.png" /><Relationship Id="rId1" Type="http://schemas.openxmlformats.org/officeDocument/2006/relationships/slideLayout" Target="../slideLayouts/slideLayout2.xml" />  <Relationship Id="rId4" Type="http://schemas.openxmlformats.org/officeDocument/2006/relationships/notesSlide" Target="../notesSlides/notesSlide5_tf1.xml"/>
</Relationships>
</file>

<file path=ppt/slides/slide1.xml><?xml version="1.0" encoding="utf-8"?>
<p:sld xmlns:a="http://schemas.openxmlformats.org/drawingml/2006/main" xmlns:a14="http://schemas.microsoft.com/office/drawing/2010/main" xmlns:ns2="http://schemas.microsoft.com/office/drawing/2014/main" xmlns:ns3="http://schemas.microsoft.com/office/drawing/2017/decorative" xmlns:ns4="http://schemas.microsoft.com/office/powerpoint/2015/main" xmlns:p="http://schemas.openxmlformats.org/presentationml/2006/main" xmlns:r="http://schemas.openxmlformats.org/officeDocument/2006/relationships">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ns2:creationId id="{3E443FD7-A66B-4AA0-872D-B088B9BC5F1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ns2:creationId id="{C04BE0EF-3561-49B4-9A29-F283168A91C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ns2:creationId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p:nvPr>
            <p:ph type="subTitle" idx="1"/>
          </p:nvPr>
        </p:nvSpPr>
        <p:spPr>
          <a:xfrm>
            <a:off x="1245680" y="648652"/>
            <a:ext cx="8534400" cy="1752600"/>
          </a:xfrm>
          <a:prstGeom prst="rect">
            <a:avLst/>
          </a:prstGeom>
          <a:noFill/>
          <a:ln>
            <a:noFill/>
          </a:ln>
        </p:spPr>
        <p:txBody>
          <a:bodyPr wrap="none" lIns="0" tIns="342900" rIns="0" bIns="0" anchor="t" anchorCtr="0">
            <a:noAutofit/>
          </a:bodyPr>
          <a:lstStyle/>
          <a:p>
            <a:pPr algn="ctr"/>
            <a:r>
              <a:rPr lang="en-IN" sz="4050" b="1" dirty="0">
                <a:solidFill>
                  <a:srgbClr val="0B3D6E"/>
                </a:solidFill>
                <a:latin typeface="Times New Roman"/>
                <a:ea typeface="Times New Roman"/>
                <a:cs typeface="Times New Roman"/>
              </a:rPr>
              <a:t>DRISHTI</a:t>
            </a: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val="0"/>
              </a:ext>
            </a:extLst>
          </a:blip>
          <a:stretch>
            <a:fillRect/>
          </a:stretch>
        </p:blipFill>
        <p:spPr>
          <a:xfrm>
            <a:off x="9780086" y="1500"/>
            <a:ext cx="2249850" cy="1062337"/>
          </a:xfrm>
          <a:prstGeom prst="rect">
            <a:avLst/>
          </a:prstGeom>
        </p:spPr>
      </p:pic>
      <p:grpSp>
        <p:nvGrpSpPr>
          <p:cNvPr id="13" name="drishti-mark"/>
          <p:cNvGrpSpPr/>
          <p:nvPr/>
        </p:nvGrpSpPr>
        <p:grpSpPr>
          <a:xfrm>
            <a:off x="3508220" y="933450"/>
            <a:ext cx="813110" cy="666750"/>
            <a:chOff x="3508220" y="933450"/>
            <a:chExt cx="813110" cy="666750"/>
          </a:xfrm>
        </p:grpSpPr>
        <p:pic>
          <p:nvPicPr>
            <p:cNvPr id="12" name="Image 12"/>
            <p:cNvPicPr>
              <a:picLocks noChangeAspect="1"/>
            </p:cNvPicPr>
            <p:nvPr/>
          </p:nvPicPr>
          <p:blipFill>
            <a:blip r:embed="rId4"/>
            <a:stretch>
              <a:fillRect/>
            </a:stretch>
          </p:blipFill>
          <p:spPr>
            <a:xfrm>
              <a:off x="3508220" y="933450"/>
              <a:ext cx="813110" cy="666750"/>
            </a:xfrm>
            <a:prstGeom prst="rect">
              <a:avLst/>
            </a:prstGeom>
          </p:spPr>
        </p:pic>
      </p:grpSp>
      <p:grpSp>
        <p:nvGrpSpPr>
          <p:cNvPr id="16" name="tagline"/>
          <p:cNvGrpSpPr/>
          <p:nvPr/>
        </p:nvGrpSpPr>
        <p:grpSpPr>
          <a:xfrm>
            <a:off x="3056943" y="1574482"/>
            <a:ext cx="4911873" cy="502015"/>
            <a:chOff x="3056943" y="1574482"/>
            <a:chExt cx="4911873" cy="502015"/>
          </a:xfrm>
        </p:grpSpPr>
        <p:sp>
          <p:nvSpPr>
            <p:cNvPr id="14" name="TextBox 14"/>
            <p:cNvSpPr txBox="1"/>
            <p:nvPr/>
          </p:nvSpPr>
          <p:spPr>
            <a:xfrm>
              <a:off x="3904326" y="1574482"/>
              <a:ext cx="3217108" cy="322707"/>
            </a:xfrm>
            <a:prstGeom prst="rect">
              <a:avLst/>
            </a:prstGeom>
            <a:noFill/>
            <a:ln>
              <a:noFill/>
            </a:ln>
          </p:spPr>
          <p:txBody>
            <a:bodyPr wrap="none" lIns="0" tIns="0" rIns="0" bIns="0" anchor="t" anchorCtr="0">
              <a:spAutoFit/>
            </a:bodyPr>
            <a:lstStyle/>
            <a:p>
              <a:pPr algn="ctr"/>
              <a:r>
                <a:rPr lang="en-IN" sz="1650" i="1" dirty="0">
                  <a:solidFill>
                    <a:srgbClr val="0B3D6E"/>
                  </a:solidFill>
                  <a:latin typeface="Calibri"/>
                  <a:ea typeface="Calibri"/>
                  <a:cs typeface="Calibri"/>
                </a:rPr>
                <a:t>The AI-eye on every MPLADS rupee</a:t>
              </a:r>
            </a:p>
          </p:txBody>
        </p:sp>
        <p:sp>
          <p:nvSpPr>
            <p:cNvPr id="15" name="TextBox 15"/>
            <p:cNvSpPr txBox="1"/>
            <p:nvPr/>
          </p:nvSpPr>
          <p:spPr>
            <a:xfrm>
              <a:off x="3056943" y="1863804"/>
              <a:ext cx="4911873" cy="212693"/>
            </a:xfrm>
            <a:prstGeom prst="rect">
              <a:avLst/>
            </a:prstGeom>
            <a:noFill/>
            <a:ln>
              <a:noFill/>
            </a:ln>
          </p:spPr>
          <p:txBody>
            <a:bodyPr wrap="none" lIns="0" tIns="0" rIns="0" bIns="0" anchor="t" anchorCtr="0">
              <a:spAutoFit/>
            </a:bodyPr>
            <a:lstStyle/>
            <a:p>
              <a:pPr algn="ctr"/>
              <a:r>
                <a:rPr lang="en-IN" sz="1090" dirty="0">
                  <a:solidFill>
                    <a:srgbClr val="667085"/>
                  </a:solidFill>
                  <a:latin typeface="Calibri"/>
                  <a:ea typeface="Calibri"/>
                  <a:cs typeface="Calibri"/>
                </a:rPr>
                <a:t>AI checks on every MPLADS work — flags what needs checking, with the evidence</a:t>
              </a:r>
            </a:p>
          </p:txBody>
        </p:sp>
      </p:grpSp>
      <p:grpSp>
        <p:nvGrpSpPr>
          <p:cNvPr id="46" name="ps-details"/>
          <p:cNvGrpSpPr/>
          <p:nvPr/>
        </p:nvGrpSpPr>
        <p:grpSpPr>
          <a:xfrm>
            <a:off x="419100" y="2357914"/>
            <a:ext cx="5905500" cy="3049714"/>
            <a:chOff x="419100" y="2357914"/>
            <a:chExt cx="5905500" cy="3049714"/>
          </a:xfrm>
        </p:grpSpPr>
        <p:sp>
          <p:nvSpPr>
            <p:cNvPr id="17" name="Ellipse 17"/>
            <p:cNvSpPr/>
            <p:nvPr/>
          </p:nvSpPr>
          <p:spPr>
            <a:xfrm>
              <a:off x="428625" y="2409825"/>
              <a:ext cx="57150" cy="57150"/>
            </a:xfrm>
            <a:prstGeom prst="ellipse">
              <a:avLst/>
            </a:prstGeom>
            <a:solidFill>
              <a:srgbClr val="E8871E"/>
            </a:solidFill>
            <a:ln>
              <a:noFill/>
            </a:ln>
          </p:spPr>
        </p:sp>
        <p:sp>
          <p:nvSpPr>
            <p:cNvPr id="18" name="TextBox 18"/>
            <p:cNvSpPr txBox="1"/>
            <p:nvPr/>
          </p:nvSpPr>
          <p:spPr>
            <a:xfrm>
              <a:off x="565023" y="2357914"/>
              <a:ext cx="1750977" cy="249364"/>
            </a:xfrm>
            <a:prstGeom prst="rect">
              <a:avLst/>
            </a:prstGeom>
            <a:noFill/>
            <a:ln>
              <a:noFill/>
            </a:ln>
          </p:spPr>
          <p:txBody>
            <a:bodyPr wrap="none" lIns="0" tIns="0" rIns="0" bIns="0" anchor="t" anchorCtr="0">
              <a:spAutoFit/>
            </a:bodyPr>
            <a:lstStyle/>
            <a:p>
              <a:pPr algn="l"/>
              <a:r>
                <a:rPr lang="en-IN" sz="1280" b="1" dirty="0">
                  <a:solidFill>
                    <a:srgbClr val="1D2939"/>
                  </a:solidFill>
                  <a:latin typeface="Calibri"/>
                  <a:ea typeface="Calibri"/>
                  <a:cs typeface="Calibri"/>
                </a:rPr>
                <a:t>Problem Statement ID –</a:t>
              </a:r>
            </a:p>
          </p:txBody>
        </p:sp>
        <p:sp>
          <p:nvSpPr>
            <p:cNvPr id="19" name="TextBox 19"/>
            <p:cNvSpPr txBox="1"/>
            <p:nvPr/>
          </p:nvSpPr>
          <p:spPr>
            <a:xfrm>
              <a:off x="2489073" y="2357914"/>
              <a:ext cx="717281" cy="249364"/>
            </a:xfrm>
            <a:prstGeom prst="rect">
              <a:avLst/>
            </a:prstGeom>
            <a:noFill/>
            <a:ln>
              <a:noFill/>
            </a:ln>
          </p:spPr>
          <p:txBody>
            <a:bodyPr wrap="none" lIns="0" tIns="0" rIns="0" bIns="0" anchor="t" anchorCtr="0">
              <a:spAutoFit/>
            </a:bodyPr>
            <a:lstStyle/>
            <a:p>
              <a:pPr algn="l"/>
              <a:r>
                <a:rPr lang="en-IN" sz="1280" dirty="0">
                  <a:solidFill>
                    <a:srgbClr val="344054"/>
                  </a:solidFill>
                  <a:latin typeface="Calibri"/>
                  <a:ea typeface="Calibri"/>
                  <a:cs typeface="Calibri"/>
                </a:rPr>
                <a:t>SIH26102</a:t>
              </a:r>
            </a:p>
          </p:txBody>
        </p:sp>
        <p:sp>
          <p:nvSpPr>
            <p:cNvPr id="20" name="Line 20"/>
            <p:cNvSpPr/>
            <p:nvPr/>
          </p:nvSpPr>
          <p:spPr>
            <a:xfrm>
              <a:off x="419100" y="2647950"/>
              <a:ext cx="5905500" cy="9525"/>
            </a:xfrm>
            <a:custGeom>
              <a:avLst/>
              <a:gdLst/>
              <a:ahLst/>
              <a:cxnLst/>
              <a:rect l="l" t="t" r="r" b="b"/>
              <a:pathLst>
                <a:path w="5905500" h="9525">
                  <a:moveTo>
                    <a:pt x="0" y="0"/>
                  </a:moveTo>
                  <a:lnTo>
                    <a:pt x="5905500" y="0"/>
                  </a:lnTo>
                </a:path>
              </a:pathLst>
            </a:custGeom>
            <a:noFill/>
            <a:ln w="7620">
              <a:solidFill>
                <a:srgbClr val="D0D5DD"/>
              </a:solidFill>
            </a:ln>
          </p:spPr>
        </p:sp>
        <p:sp>
          <p:nvSpPr>
            <p:cNvPr id="21" name="Ellipse 21"/>
            <p:cNvSpPr/>
            <p:nvPr/>
          </p:nvSpPr>
          <p:spPr>
            <a:xfrm>
              <a:off x="428625" y="2771775"/>
              <a:ext cx="57150" cy="57150"/>
            </a:xfrm>
            <a:prstGeom prst="ellipse">
              <a:avLst/>
            </a:prstGeom>
            <a:solidFill>
              <a:srgbClr val="E8871E"/>
            </a:solidFill>
            <a:ln>
              <a:noFill/>
            </a:ln>
          </p:spPr>
        </p:sp>
        <p:sp>
          <p:nvSpPr>
            <p:cNvPr id="22" name="TextBox 22"/>
            <p:cNvSpPr txBox="1"/>
            <p:nvPr/>
          </p:nvSpPr>
          <p:spPr>
            <a:xfrm>
              <a:off x="565023" y="2719864"/>
              <a:ext cx="1833855" cy="249364"/>
            </a:xfrm>
            <a:prstGeom prst="rect">
              <a:avLst/>
            </a:prstGeom>
            <a:noFill/>
            <a:ln>
              <a:noFill/>
            </a:ln>
          </p:spPr>
          <p:txBody>
            <a:bodyPr wrap="none" lIns="0" tIns="0" rIns="0" bIns="0" anchor="t" anchorCtr="0">
              <a:spAutoFit/>
            </a:bodyPr>
            <a:lstStyle/>
            <a:p>
              <a:pPr algn="l"/>
              <a:r>
                <a:rPr lang="en-IN" sz="1280" b="1" dirty="0">
                  <a:solidFill>
                    <a:srgbClr val="1D2939"/>
                  </a:solidFill>
                  <a:latin typeface="Calibri"/>
                  <a:ea typeface="Calibri"/>
                  <a:cs typeface="Calibri"/>
                </a:rPr>
                <a:t>Problem Statement Title-</a:t>
              </a:r>
            </a:p>
          </p:txBody>
        </p:sp>
        <p:sp>
          <p:nvSpPr>
            <p:cNvPr id="23" name="TextBox 23"/>
            <p:cNvSpPr txBox="1"/>
            <p:nvPr/>
          </p:nvSpPr>
          <p:spPr>
            <a:xfrm>
              <a:off x="2489073" y="2719864"/>
              <a:ext cx="3585633" cy="668465"/>
            </a:xfrm>
            <a:prstGeom prst="rect">
              <a:avLst/>
            </a:prstGeom>
            <a:noFill/>
            <a:ln>
              <a:noFill/>
            </a:ln>
          </p:spPr>
          <p:txBody>
            <a:bodyPr wrap="none" lIns="0" tIns="0" rIns="0" bIns="0" anchor="t" anchorCtr="0">
              <a:spAutoFit/>
            </a:bodyPr>
            <a:lstStyle/>
            <a:p>
              <a:pPr algn="l">
                <a:lnSpc>
                  <a:spcPts val="1650"/>
                </a:lnSpc>
              </a:pPr>
              <a:r>
                <a:rPr lang="en-IN" sz="1280" dirty="0">
                  <a:solidFill>
                    <a:srgbClr val="344054"/>
                  </a:solidFill>
                  <a:latin typeface="Calibri"/>
                  <a:ea typeface="Calibri"/>
                  <a:cs typeface="Calibri"/>
                </a:rPr>
                <a:t>Development of an AI-powered system to detect</a:t>
              </a:r>
              <a:br/>
              <a:r>
                <a:rPr lang="en-IN" sz="1280" dirty="0">
                  <a:solidFill>
                    <a:srgbClr val="344054"/>
                  </a:solidFill>
                  <a:latin typeface="Calibri"/>
                  <a:ea typeface="Calibri"/>
                  <a:cs typeface="Calibri"/>
                </a:rPr>
                <a:t>anomalies, fraud, and inefficiencies in MPLAD Scheme</a:t>
              </a:r>
              <a:br/>
              <a:r>
                <a:rPr lang="en-IN" sz="1280" dirty="0">
                  <a:solidFill>
                    <a:srgbClr val="344054"/>
                  </a:solidFill>
                  <a:latin typeface="Calibri"/>
                  <a:ea typeface="Calibri"/>
                  <a:cs typeface="Calibri"/>
                </a:rPr>
                <a:t>implementation regd.</a:t>
              </a:r>
            </a:p>
          </p:txBody>
        </p:sp>
        <p:sp>
          <p:nvSpPr>
            <p:cNvPr id="24" name="Line 24"/>
            <p:cNvSpPr/>
            <p:nvPr/>
          </p:nvSpPr>
          <p:spPr>
            <a:xfrm>
              <a:off x="419100" y="3429000"/>
              <a:ext cx="5905500" cy="9525"/>
            </a:xfrm>
            <a:custGeom>
              <a:avLst/>
              <a:gdLst/>
              <a:ahLst/>
              <a:cxnLst/>
              <a:rect l="l" t="t" r="r" b="b"/>
              <a:pathLst>
                <a:path w="5905500" h="9525">
                  <a:moveTo>
                    <a:pt x="0" y="0"/>
                  </a:moveTo>
                  <a:lnTo>
                    <a:pt x="5905500" y="0"/>
                  </a:lnTo>
                </a:path>
              </a:pathLst>
            </a:custGeom>
            <a:noFill/>
            <a:ln w="7620">
              <a:solidFill>
                <a:srgbClr val="D0D5DD"/>
              </a:solidFill>
            </a:ln>
          </p:spPr>
        </p:sp>
        <p:sp>
          <p:nvSpPr>
            <p:cNvPr id="25" name="Ellipse 25"/>
            <p:cNvSpPr/>
            <p:nvPr/>
          </p:nvSpPr>
          <p:spPr>
            <a:xfrm>
              <a:off x="428625" y="3552825"/>
              <a:ext cx="57150" cy="57150"/>
            </a:xfrm>
            <a:prstGeom prst="ellipse">
              <a:avLst/>
            </a:prstGeom>
            <a:solidFill>
              <a:srgbClr val="E8871E"/>
            </a:solidFill>
            <a:ln>
              <a:noFill/>
            </a:ln>
          </p:spPr>
        </p:sp>
        <p:sp>
          <p:nvSpPr>
            <p:cNvPr id="26" name="TextBox 26"/>
            <p:cNvSpPr txBox="1"/>
            <p:nvPr/>
          </p:nvSpPr>
          <p:spPr>
            <a:xfrm>
              <a:off x="565023" y="3500914"/>
              <a:ext cx="990616" cy="249364"/>
            </a:xfrm>
            <a:prstGeom prst="rect">
              <a:avLst/>
            </a:prstGeom>
            <a:noFill/>
            <a:ln>
              <a:noFill/>
            </a:ln>
          </p:spPr>
          <p:txBody>
            <a:bodyPr wrap="none" lIns="0" tIns="0" rIns="0" bIns="0" anchor="t" anchorCtr="0">
              <a:spAutoFit/>
            </a:bodyPr>
            <a:lstStyle/>
            <a:p>
              <a:pPr algn="l"/>
              <a:r>
                <a:rPr lang="en-IN" sz="1280" b="1" dirty="0">
                  <a:solidFill>
                    <a:srgbClr val="1D2939"/>
                  </a:solidFill>
                  <a:latin typeface="Calibri"/>
                  <a:ea typeface="Calibri"/>
                  <a:cs typeface="Calibri"/>
                </a:rPr>
                <a:t>Organisation-</a:t>
              </a:r>
            </a:p>
          </p:txBody>
        </p:sp>
        <p:sp>
          <p:nvSpPr>
            <p:cNvPr id="27" name="TextBox 27"/>
            <p:cNvSpPr txBox="1"/>
            <p:nvPr/>
          </p:nvSpPr>
          <p:spPr>
            <a:xfrm>
              <a:off x="2489073" y="3500914"/>
              <a:ext cx="3420488" cy="458914"/>
            </a:xfrm>
            <a:prstGeom prst="rect">
              <a:avLst/>
            </a:prstGeom>
            <a:noFill/>
            <a:ln>
              <a:noFill/>
            </a:ln>
          </p:spPr>
          <p:txBody>
            <a:bodyPr wrap="none" lIns="0" tIns="0" rIns="0" bIns="0" anchor="t" anchorCtr="0">
              <a:spAutoFit/>
            </a:bodyPr>
            <a:lstStyle/>
            <a:p>
              <a:pPr algn="l">
                <a:lnSpc>
                  <a:spcPts val="1650"/>
                </a:lnSpc>
              </a:pPr>
              <a:r>
                <a:rPr lang="en-IN" sz="1280" dirty="0">
                  <a:solidFill>
                    <a:srgbClr val="344054"/>
                  </a:solidFill>
                  <a:latin typeface="Calibri"/>
                  <a:ea typeface="Calibri"/>
                  <a:cs typeface="Calibri"/>
                </a:rPr>
                <a:t>Ministry of Statistics &amp; Programme Implementation</a:t>
              </a:r>
              <a:br/>
              <a:r>
                <a:rPr lang="en-IN" sz="1280" dirty="0">
                  <a:solidFill>
                    <a:srgbClr val="344054"/>
                  </a:solidFill>
                  <a:latin typeface="Calibri"/>
                  <a:ea typeface="Calibri"/>
                  <a:cs typeface="Calibri"/>
                </a:rPr>
                <a:t>(MoSPI)</a:t>
              </a:r>
            </a:p>
          </p:txBody>
        </p:sp>
        <p:sp>
          <p:nvSpPr>
            <p:cNvPr id="28" name="Line 28"/>
            <p:cNvSpPr/>
            <p:nvPr/>
          </p:nvSpPr>
          <p:spPr>
            <a:xfrm>
              <a:off x="419100" y="4000500"/>
              <a:ext cx="5905500" cy="9525"/>
            </a:xfrm>
            <a:custGeom>
              <a:avLst/>
              <a:gdLst/>
              <a:ahLst/>
              <a:cxnLst/>
              <a:rect l="l" t="t" r="r" b="b"/>
              <a:pathLst>
                <a:path w="5905500" h="9525">
                  <a:moveTo>
                    <a:pt x="0" y="0"/>
                  </a:moveTo>
                  <a:lnTo>
                    <a:pt x="5905500" y="0"/>
                  </a:lnTo>
                </a:path>
              </a:pathLst>
            </a:custGeom>
            <a:noFill/>
            <a:ln w="7620">
              <a:solidFill>
                <a:srgbClr val="D0D5DD"/>
              </a:solidFill>
            </a:ln>
          </p:spPr>
        </p:sp>
        <p:sp>
          <p:nvSpPr>
            <p:cNvPr id="29" name="Ellipse 29"/>
            <p:cNvSpPr/>
            <p:nvPr/>
          </p:nvSpPr>
          <p:spPr>
            <a:xfrm>
              <a:off x="428625" y="4124325"/>
              <a:ext cx="57150" cy="57150"/>
            </a:xfrm>
            <a:prstGeom prst="ellipse">
              <a:avLst/>
            </a:prstGeom>
            <a:solidFill>
              <a:srgbClr val="E8871E"/>
            </a:solidFill>
            <a:ln>
              <a:noFill/>
            </a:ln>
          </p:spPr>
        </p:sp>
        <p:sp>
          <p:nvSpPr>
            <p:cNvPr id="30" name="TextBox 30"/>
            <p:cNvSpPr txBox="1"/>
            <p:nvPr/>
          </p:nvSpPr>
          <p:spPr>
            <a:xfrm>
              <a:off x="565023" y="4072414"/>
              <a:ext cx="563316" cy="249364"/>
            </a:xfrm>
            <a:prstGeom prst="rect">
              <a:avLst/>
            </a:prstGeom>
            <a:noFill/>
            <a:ln>
              <a:noFill/>
            </a:ln>
          </p:spPr>
          <p:txBody>
            <a:bodyPr wrap="none" lIns="0" tIns="0" rIns="0" bIns="0" anchor="t" anchorCtr="0">
              <a:spAutoFit/>
            </a:bodyPr>
            <a:lstStyle/>
            <a:p>
              <a:pPr algn="l"/>
              <a:r>
                <a:rPr lang="en-IN" sz="1280" b="1" dirty="0">
                  <a:solidFill>
                    <a:srgbClr val="1D2939"/>
                  </a:solidFill>
                  <a:latin typeface="Calibri"/>
                  <a:ea typeface="Calibri"/>
                  <a:cs typeface="Calibri"/>
                </a:rPr>
                <a:t>Theme-</a:t>
              </a:r>
            </a:p>
          </p:txBody>
        </p:sp>
        <p:sp>
          <p:nvSpPr>
            <p:cNvPr id="31" name="TextBox 31"/>
            <p:cNvSpPr txBox="1"/>
            <p:nvPr/>
          </p:nvSpPr>
          <p:spPr>
            <a:xfrm>
              <a:off x="2489073" y="4072414"/>
              <a:ext cx="1316501" cy="249364"/>
            </a:xfrm>
            <a:prstGeom prst="rect">
              <a:avLst/>
            </a:prstGeom>
            <a:noFill/>
            <a:ln>
              <a:noFill/>
            </a:ln>
          </p:spPr>
          <p:txBody>
            <a:bodyPr wrap="none" lIns="0" tIns="0" rIns="0" bIns="0" anchor="t" anchorCtr="0">
              <a:spAutoFit/>
            </a:bodyPr>
            <a:lstStyle/>
            <a:p>
              <a:pPr algn="l"/>
              <a:r>
                <a:rPr lang="en-IN" sz="1280" dirty="0">
                  <a:solidFill>
                    <a:srgbClr val="344054"/>
                  </a:solidFill>
                  <a:latin typeface="Calibri"/>
                  <a:ea typeface="Calibri"/>
                  <a:cs typeface="Calibri"/>
                </a:rPr>
                <a:t>Smart Automation</a:t>
              </a:r>
            </a:p>
          </p:txBody>
        </p:sp>
        <p:sp>
          <p:nvSpPr>
            <p:cNvPr id="32" name="Line 32"/>
            <p:cNvSpPr/>
            <p:nvPr/>
          </p:nvSpPr>
          <p:spPr>
            <a:xfrm>
              <a:off x="419100" y="4362450"/>
              <a:ext cx="5905500" cy="9525"/>
            </a:xfrm>
            <a:custGeom>
              <a:avLst/>
              <a:gdLst/>
              <a:ahLst/>
              <a:cxnLst/>
              <a:rect l="l" t="t" r="r" b="b"/>
              <a:pathLst>
                <a:path w="5905500" h="9525">
                  <a:moveTo>
                    <a:pt x="0" y="0"/>
                  </a:moveTo>
                  <a:lnTo>
                    <a:pt x="5905500" y="0"/>
                  </a:lnTo>
                </a:path>
              </a:pathLst>
            </a:custGeom>
            <a:noFill/>
            <a:ln w="7620">
              <a:solidFill>
                <a:srgbClr val="D0D5DD"/>
              </a:solidFill>
            </a:ln>
          </p:spPr>
        </p:sp>
        <p:sp>
          <p:nvSpPr>
            <p:cNvPr id="33" name="Ellipse 33"/>
            <p:cNvSpPr/>
            <p:nvPr/>
          </p:nvSpPr>
          <p:spPr>
            <a:xfrm>
              <a:off x="428625" y="4486275"/>
              <a:ext cx="57150" cy="57150"/>
            </a:xfrm>
            <a:prstGeom prst="ellipse">
              <a:avLst/>
            </a:prstGeom>
            <a:solidFill>
              <a:srgbClr val="E8871E"/>
            </a:solidFill>
            <a:ln>
              <a:noFill/>
            </a:ln>
          </p:spPr>
        </p:sp>
        <p:sp>
          <p:nvSpPr>
            <p:cNvPr id="34" name="TextBox 34"/>
            <p:cNvSpPr txBox="1"/>
            <p:nvPr/>
          </p:nvSpPr>
          <p:spPr>
            <a:xfrm>
              <a:off x="565023" y="4434364"/>
              <a:ext cx="933155" cy="249364"/>
            </a:xfrm>
            <a:prstGeom prst="rect">
              <a:avLst/>
            </a:prstGeom>
            <a:noFill/>
            <a:ln>
              <a:noFill/>
            </a:ln>
          </p:spPr>
          <p:txBody>
            <a:bodyPr wrap="none" lIns="0" tIns="0" rIns="0" bIns="0" anchor="t" anchorCtr="0">
              <a:spAutoFit/>
            </a:bodyPr>
            <a:lstStyle/>
            <a:p>
              <a:pPr algn="l"/>
              <a:r>
                <a:rPr lang="en-IN" sz="1280" b="1" dirty="0">
                  <a:solidFill>
                    <a:srgbClr val="1D2939"/>
                  </a:solidFill>
                  <a:latin typeface="Calibri"/>
                  <a:ea typeface="Calibri"/>
                  <a:cs typeface="Calibri"/>
                </a:rPr>
                <a:t>PS Category-</a:t>
              </a:r>
            </a:p>
          </p:txBody>
        </p:sp>
        <p:sp>
          <p:nvSpPr>
            <p:cNvPr id="35" name="TextBox 35"/>
            <p:cNvSpPr txBox="1"/>
            <p:nvPr/>
          </p:nvSpPr>
          <p:spPr>
            <a:xfrm>
              <a:off x="2489073" y="4434364"/>
              <a:ext cx="649299" cy="249364"/>
            </a:xfrm>
            <a:prstGeom prst="rect">
              <a:avLst/>
            </a:prstGeom>
            <a:noFill/>
            <a:ln>
              <a:noFill/>
            </a:ln>
          </p:spPr>
          <p:txBody>
            <a:bodyPr wrap="none" lIns="0" tIns="0" rIns="0" bIns="0" anchor="t" anchorCtr="0">
              <a:spAutoFit/>
            </a:bodyPr>
            <a:lstStyle/>
            <a:p>
              <a:pPr algn="l"/>
              <a:r>
                <a:rPr lang="en-IN" sz="1280" dirty="0">
                  <a:solidFill>
                    <a:srgbClr val="344054"/>
                  </a:solidFill>
                  <a:latin typeface="Calibri"/>
                  <a:ea typeface="Calibri"/>
                  <a:cs typeface="Calibri"/>
                </a:rPr>
                <a:t>Software</a:t>
              </a:r>
            </a:p>
          </p:txBody>
        </p:sp>
        <p:sp>
          <p:nvSpPr>
            <p:cNvPr id="38" name="Line 38"/>
            <p:cNvSpPr/>
            <p:nvPr/>
          </p:nvSpPr>
          <p:spPr>
            <a:xfrm>
              <a:off x="419100" y="4724400"/>
              <a:ext cx="5905500" cy="9525"/>
            </a:xfrm>
            <a:custGeom>
              <a:avLst/>
              <a:gdLst/>
              <a:ahLst/>
              <a:cxnLst/>
              <a:rect l="l" t="t" r="r" b="b"/>
              <a:pathLst>
                <a:path w="5905500" h="9525">
                  <a:moveTo>
                    <a:pt x="0" y="0"/>
                  </a:moveTo>
                  <a:lnTo>
                    <a:pt x="5905500" y="0"/>
                  </a:lnTo>
                </a:path>
              </a:pathLst>
            </a:custGeom>
            <a:noFill/>
            <a:ln w="7620">
              <a:solidFill>
                <a:srgbClr val="D0D5DD"/>
              </a:solidFill>
            </a:ln>
          </p:spPr>
        </p:sp>
        <p:sp>
          <p:nvSpPr>
            <p:cNvPr id="39" name="Ellipse 39"/>
            <p:cNvSpPr/>
            <p:nvPr/>
          </p:nvSpPr>
          <p:spPr>
            <a:xfrm>
              <a:off x="428625" y="4848225"/>
              <a:ext cx="57150" cy="57150"/>
            </a:xfrm>
            <a:prstGeom prst="ellipse">
              <a:avLst/>
            </a:prstGeom>
            <a:solidFill>
              <a:srgbClr val="E8871E"/>
            </a:solidFill>
            <a:ln>
              <a:noFill/>
            </a:ln>
          </p:spPr>
        </p:sp>
        <p:sp>
          <p:nvSpPr>
            <p:cNvPr id="40" name="TextBox 40"/>
            <p:cNvSpPr txBox="1"/>
            <p:nvPr/>
          </p:nvSpPr>
          <p:spPr>
            <a:xfrm>
              <a:off x="565023" y="4796314"/>
              <a:ext cx="674760" cy="249364"/>
            </a:xfrm>
            <a:prstGeom prst="rect">
              <a:avLst/>
            </a:prstGeom>
            <a:noFill/>
            <a:ln>
              <a:noFill/>
            </a:ln>
          </p:spPr>
          <p:txBody>
            <a:bodyPr wrap="none" lIns="0" tIns="0" rIns="0" bIns="0" anchor="t" anchorCtr="0">
              <a:spAutoFit/>
            </a:bodyPr>
            <a:lstStyle/>
            <a:p>
              <a:pPr algn="l"/>
              <a:r>
                <a:rPr lang="en-IN" sz="1280" b="1" dirty="0">
                  <a:solidFill>
                    <a:srgbClr val="1D2939"/>
                  </a:solidFill>
                  <a:latin typeface="Calibri"/>
                  <a:ea typeface="Calibri"/>
                  <a:cs typeface="Calibri"/>
                </a:rPr>
                <a:t>Team ID-</a:t>
              </a:r>
            </a:p>
          </p:txBody>
        </p:sp>
        <p:sp>
          <p:nvSpPr>
            <p:cNvPr id="41" name="TextBox 41"/>
            <p:cNvSpPr txBox="1"/>
            <p:nvPr/>
          </p:nvSpPr>
          <p:spPr>
            <a:xfrm>
              <a:off x="2489073" y="4796314"/>
              <a:ext cx="536925" cy="249364"/>
            </a:xfrm>
            <a:prstGeom prst="rect">
              <a:avLst/>
            </a:prstGeom>
            <a:noFill/>
            <a:ln>
              <a:noFill/>
            </a:ln>
          </p:spPr>
          <p:txBody>
            <a:bodyPr wrap="none" lIns="0" tIns="0" rIns="0" bIns="0" anchor="t" anchorCtr="0">
              <a:spAutoFit/>
            </a:bodyPr>
            <a:lstStyle/>
            <a:p>
              <a:pPr algn="l"/>
              <a:r>
                <a:rPr lang="en-IN" sz="1280" dirty="0">
                  <a:solidFill>
                    <a:srgbClr val="344054"/>
                  </a:solidFill>
                  <a:latin typeface="Calibri"/>
                  <a:ea typeface="Calibri"/>
                  <a:cs typeface="Calibri"/>
                </a:rPr>
                <a:t>121911</a:t>
              </a:r>
            </a:p>
          </p:txBody>
        </p:sp>
        <p:sp>
          <p:nvSpPr>
            <p:cNvPr id="42" name="Line 42"/>
            <p:cNvSpPr/>
            <p:nvPr/>
          </p:nvSpPr>
          <p:spPr>
            <a:xfrm>
              <a:off x="419100" y="5086350"/>
              <a:ext cx="5905500" cy="9525"/>
            </a:xfrm>
            <a:custGeom>
              <a:avLst/>
              <a:gdLst/>
              <a:ahLst/>
              <a:cxnLst/>
              <a:rect l="l" t="t" r="r" b="b"/>
              <a:pathLst>
                <a:path w="5905500" h="9525">
                  <a:moveTo>
                    <a:pt x="0" y="0"/>
                  </a:moveTo>
                  <a:lnTo>
                    <a:pt x="5905500" y="0"/>
                  </a:lnTo>
                </a:path>
              </a:pathLst>
            </a:custGeom>
            <a:noFill/>
            <a:ln w="7620">
              <a:solidFill>
                <a:srgbClr val="D0D5DD"/>
              </a:solidFill>
            </a:ln>
          </p:spPr>
        </p:sp>
        <p:sp>
          <p:nvSpPr>
            <p:cNvPr id="43" name="Ellipse 43"/>
            <p:cNvSpPr/>
            <p:nvPr/>
          </p:nvSpPr>
          <p:spPr>
            <a:xfrm>
              <a:off x="428625" y="5210175"/>
              <a:ext cx="57150" cy="57150"/>
            </a:xfrm>
            <a:prstGeom prst="ellipse">
              <a:avLst/>
            </a:prstGeom>
            <a:solidFill>
              <a:srgbClr val="E8871E"/>
            </a:solidFill>
            <a:ln>
              <a:noFill/>
            </a:ln>
          </p:spPr>
        </p:sp>
        <p:sp>
          <p:nvSpPr>
            <p:cNvPr id="44" name="TextBox 44"/>
            <p:cNvSpPr txBox="1"/>
            <p:nvPr/>
          </p:nvSpPr>
          <p:spPr>
            <a:xfrm>
              <a:off x="565023" y="5158264"/>
              <a:ext cx="940415" cy="249364"/>
            </a:xfrm>
            <a:prstGeom prst="rect">
              <a:avLst/>
            </a:prstGeom>
            <a:noFill/>
            <a:ln>
              <a:noFill/>
            </a:ln>
          </p:spPr>
          <p:txBody>
            <a:bodyPr wrap="none" lIns="0" tIns="0" rIns="0" bIns="0" anchor="t" anchorCtr="0">
              <a:spAutoFit/>
            </a:bodyPr>
            <a:lstStyle/>
            <a:p>
              <a:pPr algn="l"/>
              <a:r>
                <a:rPr lang="en-IN" sz="1280" b="1" dirty="0">
                  <a:solidFill>
                    <a:srgbClr val="1D2939"/>
                  </a:solidFill>
                  <a:latin typeface="Calibri"/>
                  <a:ea typeface="Calibri"/>
                  <a:cs typeface="Calibri"/>
                </a:rPr>
                <a:t>Team Name-</a:t>
              </a:r>
            </a:p>
          </p:txBody>
        </p:sp>
        <p:sp>
          <p:nvSpPr>
            <p:cNvPr id="45" name="TextBox 45"/>
            <p:cNvSpPr txBox="1"/>
            <p:nvPr/>
          </p:nvSpPr>
          <p:spPr>
            <a:xfrm>
              <a:off x="2489073" y="5158264"/>
              <a:ext cx="921392" cy="249364"/>
            </a:xfrm>
            <a:prstGeom prst="rect">
              <a:avLst/>
            </a:prstGeom>
            <a:noFill/>
            <a:ln>
              <a:noFill/>
            </a:ln>
          </p:spPr>
          <p:txBody>
            <a:bodyPr wrap="none" lIns="0" tIns="0" rIns="0" bIns="0" anchor="t" anchorCtr="0">
              <a:spAutoFit/>
            </a:bodyPr>
            <a:lstStyle/>
            <a:p>
              <a:pPr algn="l"/>
              <a:r>
                <a:rPr lang="en-IN" sz="1280" dirty="0">
                  <a:solidFill>
                    <a:srgbClr val="344054"/>
                  </a:solidFill>
                  <a:latin typeface="Calibri"/>
                  <a:ea typeface="Calibri"/>
                  <a:cs typeface="Calibri"/>
                </a:rPr>
                <a:t>NeuralNexus</a:t>
              </a:r>
            </a:p>
          </p:txBody>
        </p:sp>
      </p:grpSp>
    </p:spTree>
  </p:cSld>
  <p:clrMapOvr>
    <a:masterClrMapping/>
  </p:clrMapOvr>
</p:sld>
</file>

<file path=ppt/slides/slide2.xml><?xml version="1.0" encoding="utf-8"?>
<p:sld xmlns:a="http://schemas.openxmlformats.org/drawingml/2006/main" xmlns:a14="http://schemas.microsoft.com/office/drawing/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grpSp>
        <p:nvGrpSpPr>
          <p:cNvPr id="5" name="Title 1"/>
          <p:cNvGrpSpPr/>
          <p:nvPr/>
        </p:nvGrpSpPr>
        <p:grpSpPr>
          <a:xfrm>
            <a:off x="182975" y="0"/>
            <a:ext cx="10972800" cy="1298448"/>
            <a:chOff x="182975" y="0"/>
            <a:chExt cx="10972800" cy="1298448"/>
          </a:xfrm>
        </p:grpSpPr>
        <p:sp>
          <p:nvSpPr>
            <p:cNvPr id="3" name="Freeform 3"/>
            <p:cNvSpPr/>
            <p:nvPr/>
          </p:nvSpPr>
          <p:spPr>
            <a:xfrm>
              <a:off x="182975" y="0"/>
              <a:ext cx="10972800" cy="1143000"/>
            </a:xfrm>
            <a:custGeom>
              <a:avLst/>
              <a:gdLst/>
              <a:ahLst/>
              <a:cxnLst/>
              <a:rect l="l" t="t" r="r" b="b"/>
              <a:pathLst>
                <a:path w="10972800" h="1143000">
                  <a:moveTo>
                    <a:pt x="0" y="0"/>
                  </a:moveTo>
                  <a:lnTo>
                    <a:pt x="10972800" y="0"/>
                  </a:lnTo>
                  <a:lnTo>
                    <a:pt x="10972800" y="1143000"/>
                  </a:lnTo>
                  <a:lnTo>
                    <a:pt x="0" y="1143000"/>
                  </a:lnTo>
                  <a:close/>
                </a:path>
              </a:pathLst>
            </a:custGeom>
            <a:noFill/>
            <a:ln>
              <a:noFill/>
            </a:ln>
          </p:spPr>
        </p:sp>
        <p:sp>
          <p:nvSpPr>
            <p:cNvPr id="4" name="TextBox 4"/>
            <p:cNvSpPr txBox="1"/>
            <p:nvPr/>
          </p:nvSpPr>
          <p:spPr>
            <a:xfrm>
              <a:off x="2208656" y="594360"/>
              <a:ext cx="6921439" cy="704088"/>
            </a:xfrm>
            <a:prstGeom prst="rect">
              <a:avLst/>
            </a:prstGeom>
            <a:noFill/>
            <a:ln>
              <a:noFill/>
            </a:ln>
          </p:spPr>
          <p:txBody>
            <a:bodyPr wrap="none" lIns="0" tIns="0" rIns="0" bIns="0" anchor="t" anchorCtr="0">
              <a:spAutoFit/>
            </a:bodyPr>
            <a:lstStyle/>
            <a:p>
              <a:pPr algn="ctr"/>
              <a:r>
                <a:rPr lang="en-IN" sz="3600" b="1" dirty="0">
                  <a:solidFill>
                    <a:srgbClr val="000000"/>
                  </a:solidFill>
                  <a:latin typeface="Times New Roman"/>
                  <a:ea typeface="Times New Roman"/>
                  <a:cs typeface="Times New Roman"/>
                </a:rPr>
                <a:t>DRISHTI</a:t>
              </a:r>
              <a:r>
                <a:rPr lang="en-IN" sz="1800" i="1" dirty="0">
                  <a:solidFill>
                    <a:srgbClr val="344054"/>
                  </a:solidFill>
                  <a:latin typeface="Times New Roman"/>
                  <a:ea typeface="Times New Roman"/>
                  <a:cs typeface="Times New Roman"/>
                </a:rPr>
                <a:t xml:space="preserve">  ·  the AI-eye on every MPLADS rupee</a:t>
              </a:r>
            </a:p>
          </p:txBody>
        </p:sp>
      </p:gr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p:cNvSpPr/>
          <p:nvPr/>
        </p:nvSpPr>
        <p:spPr>
          <a:xfrm>
            <a:off x="329756" y="252222"/>
            <a:ext cx="1251871" cy="807339"/>
          </a:xfrm>
          <a:prstGeom prst="ellipse">
            <a:avLst/>
          </a:prstGeom>
          <a:solidFill>
            <a:srgbClr val="FFFFFF"/>
          </a:solidFill>
          <a:ln w="9525">
            <a:solidFill>
              <a:srgbClr val="8064A2"/>
            </a:solidFill>
          </a:ln>
        </p:spPr>
        <p:txBody>
          <a:bodyPr wrap="none" lIns="95" tIns="290798" rIns="0" bIns="0" anchor="t" anchorCtr="0">
            <a:noAutofit/>
          </a:bodyPr>
          <a:lstStyle/>
          <a:p>
            <a:pPr algn="ctr"/>
            <a:r>
              <a:rPr lang="en-IN" sz="1580" b="1" dirty="0">
                <a:solidFill>
                  <a:srgbClr val="0B3D6E"/>
                </a:solidFill>
                <a:latin typeface="Calibri"/>
                <a:ea typeface="Calibri"/>
                <a:cs typeface="Calibri"/>
              </a:rPr>
              <a:t>NeuralNexus</a:t>
            </a:r>
          </a:p>
        </p:txBody>
      </p:sp>
      <p:pic>
        <p:nvPicPr>
          <p:cNvPr id="11" name="Picture 10"/>
          <p:cNvPicPr>
            <a:picLocks noChangeAspect="1"/>
          </p:cNvPicPr>
          <p:nvPr/>
        </p:nvPicPr>
        <p:blipFill>
          <a:blip r:embed="rId3">
            <a:extLst>
              <a:ext uri="{28A0092B-C50C-407E-A947-70E740481C1C}">
                <a14:useLocalDpi val="0"/>
              </a:ext>
            </a:extLst>
          </a:blip>
          <a:stretch>
            <a:fillRect/>
          </a:stretch>
        </p:blipFill>
        <p:spPr>
          <a:xfrm>
            <a:off x="9780086" y="1500"/>
            <a:ext cx="2249850" cy="1062337"/>
          </a:xfrm>
          <a:prstGeom prst="rect">
            <a:avLst/>
          </a:prstGeom>
        </p:spPr>
      </p:pic>
      <p:grpSp>
        <p:nvGrpSpPr>
          <p:cNvPr id="19" name="solution"/>
          <p:cNvGrpSpPr/>
          <p:nvPr/>
        </p:nvGrpSpPr>
        <p:grpSpPr>
          <a:xfrm>
            <a:off x="299085" y="1231106"/>
            <a:ext cx="11588115" cy="477203"/>
            <a:chOff x="299085" y="1231106"/>
            <a:chExt cx="11588115" cy="477203"/>
          </a:xfrm>
        </p:grpSpPr>
        <p:sp>
          <p:nvSpPr>
            <p:cNvPr id="15" name="Polygon 15"/>
            <p:cNvSpPr/>
            <p:nvPr/>
          </p:nvSpPr>
          <p:spPr>
            <a:xfrm>
              <a:off x="304800" y="1257776"/>
              <a:ext cx="95250" cy="95250"/>
            </a:xfrm>
            <a:custGeom>
              <a:avLst/>
              <a:gdLst/>
              <a:ahLst/>
              <a:cxnLst/>
              <a:rect l="l" t="t" r="r" b="b"/>
              <a:pathLst>
                <a:path w="95250" h="95250">
                  <a:moveTo>
                    <a:pt x="47625" y="0"/>
                  </a:moveTo>
                  <a:lnTo>
                    <a:pt x="95250" y="47625"/>
                  </a:lnTo>
                  <a:lnTo>
                    <a:pt x="47625" y="95250"/>
                  </a:lnTo>
                  <a:lnTo>
                    <a:pt x="0" y="47625"/>
                  </a:lnTo>
                  <a:close/>
                </a:path>
              </a:pathLst>
            </a:custGeom>
            <a:solidFill>
              <a:srgbClr val="E8871E"/>
            </a:solidFill>
            <a:ln>
              <a:noFill/>
            </a:ln>
          </p:spPr>
        </p:sp>
        <p:sp>
          <p:nvSpPr>
            <p:cNvPr id="16" name="TextBox 16"/>
            <p:cNvSpPr txBox="1"/>
            <p:nvPr/>
          </p:nvSpPr>
          <p:spPr>
            <a:xfrm>
              <a:off x="451485" y="1231106"/>
              <a:ext cx="3762736" cy="220028"/>
            </a:xfrm>
            <a:prstGeom prst="rect">
              <a:avLst/>
            </a:prstGeom>
            <a:noFill/>
            <a:ln>
              <a:noFill/>
            </a:ln>
          </p:spPr>
          <p:txBody>
            <a:bodyPr wrap="none" lIns="0" tIns="0" rIns="0" bIns="0" anchor="t" anchorCtr="0">
              <a:spAutoFit/>
            </a:bodyPr>
            <a:lstStyle/>
            <a:p>
              <a:pPr algn="l"/>
              <a:r>
                <a:rPr lang="en-IN" sz="1120" b="1" dirty="0">
                  <a:solidFill>
                    <a:srgbClr val="0B3D6E"/>
                  </a:solidFill>
                  <a:latin typeface="Calibri"/>
                  <a:ea typeface="Calibri"/>
                  <a:cs typeface="Calibri"/>
                </a:rPr>
                <a:t>Proposed Solution (Describe your Idea/Solution/Prototype)</a:t>
              </a:r>
            </a:p>
          </p:txBody>
        </p:sp>
        <p:sp>
          <p:nvSpPr>
            <p:cNvPr id="17" name="Line 17"/>
            <p:cNvSpPr/>
            <p:nvPr/>
          </p:nvSpPr>
          <p:spPr>
            <a:xfrm>
              <a:off x="304800" y="1419225"/>
              <a:ext cx="11582400" cy="9525"/>
            </a:xfrm>
            <a:custGeom>
              <a:avLst/>
              <a:gdLst/>
              <a:ahLst/>
              <a:cxnLst/>
              <a:rect l="l" t="t" r="r" b="b"/>
              <a:pathLst>
                <a:path w="11582400" h="9525">
                  <a:moveTo>
                    <a:pt x="0" y="0"/>
                  </a:moveTo>
                  <a:lnTo>
                    <a:pt x="11582400" y="0"/>
                  </a:lnTo>
                </a:path>
              </a:pathLst>
            </a:custGeom>
            <a:noFill/>
            <a:ln w="9525">
              <a:solidFill>
                <a:srgbClr val="D0D5DD"/>
              </a:solidFill>
            </a:ln>
          </p:spPr>
        </p:sp>
        <p:sp>
          <p:nvSpPr>
            <p:cNvPr id="18" name="TextBox 18"/>
            <p:cNvSpPr txBox="1"/>
            <p:nvPr/>
          </p:nvSpPr>
          <p:spPr>
            <a:xfrm>
              <a:off x="299085" y="1488281"/>
              <a:ext cx="6892728" cy="220028"/>
            </a:xfrm>
            <a:prstGeom prst="rect">
              <a:avLst/>
            </a:prstGeom>
            <a:noFill/>
            <a:ln>
              <a:noFill/>
            </a:ln>
          </p:spPr>
          <p:txBody>
            <a:bodyPr wrap="none" lIns="0" tIns="0" rIns="0" bIns="0" anchor="t" anchorCtr="0">
              <a:spAutoFit/>
            </a:bodyPr>
            <a:lstStyle/>
            <a:p>
              <a:pPr algn="l"/>
              <a:r>
                <a:rPr lang="en-IN" sz="1120" b="1" dirty="0">
                  <a:solidFill>
                    <a:srgbClr val="1D2939"/>
                  </a:solidFill>
                  <a:latin typeface="Calibri"/>
                  <a:ea typeface="Calibri"/>
                  <a:cs typeface="Calibri"/>
                </a:rPr>
                <a:t xml:space="preserve">A read-only AI layer on eSAKSHI. </a:t>
              </a:r>
              <a:r>
                <a:rPr lang="en-IN" sz="1120" dirty="0">
                  <a:solidFill>
                    <a:srgbClr val="344054"/>
                  </a:solidFill>
                  <a:latin typeface="Calibri"/>
                  <a:ea typeface="Calibri"/>
                  <a:cs typeface="Calibri"/>
                </a:rPr>
                <a:t>Every work is checked; only the risky ones reach an officer, with the evidence.</a:t>
              </a:r>
            </a:p>
          </p:txBody>
        </p:sp>
      </p:grpSp>
      <p:grpSp>
        <p:nvGrpSpPr>
          <p:cNvPr id="145" name="pipeline"/>
          <p:cNvGrpSpPr/>
          <p:nvPr/>
        </p:nvGrpSpPr>
        <p:grpSpPr>
          <a:xfrm>
            <a:off x="300038" y="1849993"/>
            <a:ext cx="11587162" cy="2737723"/>
            <a:chOff x="300038" y="1849993"/>
            <a:chExt cx="11587162" cy="2737723"/>
          </a:xfrm>
        </p:grpSpPr>
        <p:sp>
          <p:nvSpPr>
            <p:cNvPr id="20" name="TextBox 20"/>
            <p:cNvSpPr txBox="1"/>
            <p:nvPr/>
          </p:nvSpPr>
          <p:spPr>
            <a:xfrm>
              <a:off x="300038" y="1849993"/>
              <a:ext cx="2793674" cy="169069"/>
            </a:xfrm>
            <a:prstGeom prst="rect">
              <a:avLst/>
            </a:prstGeom>
            <a:noFill/>
            <a:ln>
              <a:noFill/>
            </a:ln>
          </p:spPr>
          <p:txBody>
            <a:bodyPr wrap="none" lIns="0" tIns="0" rIns="0" bIns="0" anchor="t" anchorCtr="0">
              <a:spAutoFit/>
            </a:bodyPr>
            <a:lstStyle/>
            <a:p>
              <a:pPr algn="l"/>
              <a:r>
                <a:rPr lang="en-IN" sz="860" b="1" dirty="0">
                  <a:solidFill>
                    <a:srgbClr val="0B3D6E"/>
                  </a:solidFill>
                  <a:latin typeface="Calibri"/>
                  <a:ea typeface="Calibri"/>
                  <a:cs typeface="Calibri"/>
                </a:rPr>
                <a:t>DETAILED EXPLANATION OF THE PROPOSED SOLUTION</a:t>
              </a:r>
            </a:p>
          </p:txBody>
        </p:sp>
        <p:sp>
          <p:nvSpPr>
            <p:cNvPr id="21" name="Ellipse 21"/>
            <p:cNvSpPr/>
            <p:nvPr/>
          </p:nvSpPr>
          <p:spPr>
            <a:xfrm>
              <a:off x="476250" y="2686050"/>
              <a:ext cx="685800" cy="685800"/>
            </a:xfrm>
            <a:prstGeom prst="ellipse">
              <a:avLst/>
            </a:prstGeom>
            <a:solidFill>
              <a:srgbClr val="F2F5F9"/>
            </a:solidFill>
            <a:ln w="14288">
              <a:solidFill>
                <a:srgbClr val="D0D5DD"/>
              </a:solidFill>
            </a:ln>
          </p:spPr>
        </p:sp>
        <p:grpSp>
          <p:nvGrpSpPr>
            <p:cNvPr id="24" name="Group 24"/>
            <p:cNvGrpSpPr/>
            <p:nvPr/>
          </p:nvGrpSpPr>
          <p:grpSpPr>
            <a:xfrm>
              <a:off x="671274" y="2868751"/>
              <a:ext cx="295752" cy="320398"/>
              <a:chOff x="671274" y="2868751"/>
              <a:chExt cx="295752" cy="320398"/>
            </a:xfrm>
          </p:grpSpPr>
          <p:sp>
            <p:nvSpPr>
              <p:cNvPr id="22" name="Freeform 22"/>
              <p:cNvSpPr/>
              <p:nvPr/>
            </p:nvSpPr>
            <p:spPr>
              <a:xfrm>
                <a:off x="683597" y="2881074"/>
                <a:ext cx="271106" cy="147876"/>
              </a:xfrm>
              <a:custGeom>
                <a:avLst/>
                <a:gdLst/>
                <a:ahLst/>
                <a:cxnLst/>
                <a:rect l="l" t="t" r="r" b="b"/>
                <a:pathLst>
                  <a:path w="271106" h="147876">
                    <a:moveTo>
                      <a:pt x="271106" y="73938"/>
                    </a:moveTo>
                    <a:cubicBezTo>
                      <a:pt x="271106" y="114773"/>
                      <a:pt x="210415" y="147876"/>
                      <a:pt x="135553" y="147876"/>
                    </a:cubicBezTo>
                    <a:cubicBezTo>
                      <a:pt x="60691" y="147876"/>
                      <a:pt x="0" y="114773"/>
                      <a:pt x="0" y="73938"/>
                    </a:cubicBezTo>
                    <a:cubicBezTo>
                      <a:pt x="0" y="33103"/>
                      <a:pt x="60691" y="0"/>
                      <a:pt x="135553" y="0"/>
                    </a:cubicBezTo>
                    <a:cubicBezTo>
                      <a:pt x="210415" y="0"/>
                      <a:pt x="271106" y="33103"/>
                      <a:pt x="271106" y="73938"/>
                    </a:cubicBezTo>
                    <a:close/>
                  </a:path>
                </a:pathLst>
              </a:custGeom>
              <a:solidFill>
                <a:srgbClr val="0B3D6E">
                  <a:alpha val="20000"/>
                </a:srgbClr>
              </a:solidFill>
              <a:ln>
                <a:noFill/>
              </a:ln>
            </p:spPr>
          </p:sp>
          <p:sp>
            <p:nvSpPr>
              <p:cNvPr id="23" name="Freeform 23"/>
              <p:cNvSpPr/>
              <p:nvPr/>
            </p:nvSpPr>
            <p:spPr>
              <a:xfrm>
                <a:off x="671274" y="2868751"/>
                <a:ext cx="295752" cy="320398"/>
              </a:xfrm>
              <a:custGeom>
                <a:avLst/>
                <a:gdLst/>
                <a:ahLst/>
                <a:cxnLst/>
                <a:rect l="l" t="t" r="r" b="b"/>
                <a:pathLst>
                  <a:path w="295752" h="320398">
                    <a:moveTo>
                      <a:pt x="147876" y="0"/>
                    </a:moveTo>
                    <a:cubicBezTo>
                      <a:pt x="64958" y="0"/>
                      <a:pt x="0" y="37893"/>
                      <a:pt x="0" y="86261"/>
                    </a:cubicBezTo>
                    <a:lnTo>
                      <a:pt x="0" y="234137"/>
                    </a:lnTo>
                    <a:cubicBezTo>
                      <a:pt x="0" y="282504"/>
                      <a:pt x="64958" y="320398"/>
                      <a:pt x="147876" y="320398"/>
                    </a:cubicBezTo>
                    <a:cubicBezTo>
                      <a:pt x="230794" y="320398"/>
                      <a:pt x="295752" y="282504"/>
                      <a:pt x="295752" y="234137"/>
                    </a:cubicBezTo>
                    <a:lnTo>
                      <a:pt x="295752" y="86261"/>
                    </a:lnTo>
                    <a:cubicBezTo>
                      <a:pt x="295752" y="37893"/>
                      <a:pt x="230794" y="0"/>
                      <a:pt x="147876" y="0"/>
                    </a:cubicBezTo>
                    <a:close/>
                    <a:moveTo>
                      <a:pt x="271106" y="160199"/>
                    </a:moveTo>
                    <a:cubicBezTo>
                      <a:pt x="271106" y="175017"/>
                      <a:pt x="258968" y="190128"/>
                      <a:pt x="237818" y="201666"/>
                    </a:cubicBezTo>
                    <a:cubicBezTo>
                      <a:pt x="214004" y="214651"/>
                      <a:pt x="182057" y="221814"/>
                      <a:pt x="147876" y="221814"/>
                    </a:cubicBezTo>
                    <a:cubicBezTo>
                      <a:pt x="113695" y="221814"/>
                      <a:pt x="81748" y="214651"/>
                      <a:pt x="57933" y="201666"/>
                    </a:cubicBezTo>
                    <a:cubicBezTo>
                      <a:pt x="36784" y="190128"/>
                      <a:pt x="24646" y="175017"/>
                      <a:pt x="24646" y="160199"/>
                    </a:cubicBezTo>
                    <a:lnTo>
                      <a:pt x="24646" y="134567"/>
                    </a:lnTo>
                    <a:cubicBezTo>
                      <a:pt x="50925" y="157673"/>
                      <a:pt x="95857" y="172522"/>
                      <a:pt x="147876" y="172522"/>
                    </a:cubicBezTo>
                    <a:cubicBezTo>
                      <a:pt x="199894" y="172522"/>
                      <a:pt x="244827" y="157611"/>
                      <a:pt x="271106" y="134567"/>
                    </a:cubicBezTo>
                    <a:close/>
                    <a:moveTo>
                      <a:pt x="57933" y="44794"/>
                    </a:moveTo>
                    <a:cubicBezTo>
                      <a:pt x="81748" y="31809"/>
                      <a:pt x="113695" y="24646"/>
                      <a:pt x="147876" y="24646"/>
                    </a:cubicBezTo>
                    <a:cubicBezTo>
                      <a:pt x="182057" y="24646"/>
                      <a:pt x="214004" y="31809"/>
                      <a:pt x="237818" y="44794"/>
                    </a:cubicBezTo>
                    <a:cubicBezTo>
                      <a:pt x="258968" y="56331"/>
                      <a:pt x="271106" y="71443"/>
                      <a:pt x="271106" y="86261"/>
                    </a:cubicBezTo>
                    <a:cubicBezTo>
                      <a:pt x="271106" y="101079"/>
                      <a:pt x="258968" y="116190"/>
                      <a:pt x="237818" y="127728"/>
                    </a:cubicBezTo>
                    <a:cubicBezTo>
                      <a:pt x="214004" y="140713"/>
                      <a:pt x="182057" y="147876"/>
                      <a:pt x="147876" y="147876"/>
                    </a:cubicBezTo>
                    <a:cubicBezTo>
                      <a:pt x="113695" y="147876"/>
                      <a:pt x="81748" y="140713"/>
                      <a:pt x="57933" y="127728"/>
                    </a:cubicBezTo>
                    <a:cubicBezTo>
                      <a:pt x="36784" y="116190"/>
                      <a:pt x="24646" y="101079"/>
                      <a:pt x="24646" y="86261"/>
                    </a:cubicBezTo>
                    <a:cubicBezTo>
                      <a:pt x="24646" y="71443"/>
                      <a:pt x="36784" y="56331"/>
                      <a:pt x="57933" y="44794"/>
                    </a:cubicBezTo>
                    <a:close/>
                    <a:moveTo>
                      <a:pt x="237818" y="275604"/>
                    </a:moveTo>
                    <a:cubicBezTo>
                      <a:pt x="214004" y="288589"/>
                      <a:pt x="182057" y="295752"/>
                      <a:pt x="147876" y="295752"/>
                    </a:cubicBezTo>
                    <a:cubicBezTo>
                      <a:pt x="113695" y="295752"/>
                      <a:pt x="81748" y="288589"/>
                      <a:pt x="57933" y="275604"/>
                    </a:cubicBezTo>
                    <a:cubicBezTo>
                      <a:pt x="36784" y="264066"/>
                      <a:pt x="24646" y="248955"/>
                      <a:pt x="24646" y="234137"/>
                    </a:cubicBezTo>
                    <a:lnTo>
                      <a:pt x="24646" y="208505"/>
                    </a:lnTo>
                    <a:cubicBezTo>
                      <a:pt x="50925" y="231611"/>
                      <a:pt x="95857" y="246460"/>
                      <a:pt x="147876" y="246460"/>
                    </a:cubicBezTo>
                    <a:cubicBezTo>
                      <a:pt x="199894" y="246460"/>
                      <a:pt x="244827" y="231549"/>
                      <a:pt x="271106" y="208505"/>
                    </a:cubicBezTo>
                    <a:lnTo>
                      <a:pt x="271106" y="234137"/>
                    </a:lnTo>
                    <a:cubicBezTo>
                      <a:pt x="271106" y="248955"/>
                      <a:pt x="258968" y="264066"/>
                      <a:pt x="237818" y="275604"/>
                    </a:cubicBezTo>
                    <a:close/>
                  </a:path>
                </a:pathLst>
              </a:custGeom>
              <a:solidFill>
                <a:srgbClr val="0B3D6E"/>
              </a:solidFill>
              <a:ln>
                <a:noFill/>
              </a:ln>
            </p:spPr>
          </p:sp>
        </p:grpSp>
        <p:sp>
          <p:nvSpPr>
            <p:cNvPr id="25" name="TextBox 25"/>
            <p:cNvSpPr txBox="1"/>
            <p:nvPr/>
          </p:nvSpPr>
          <p:spPr>
            <a:xfrm>
              <a:off x="554510" y="3429952"/>
              <a:ext cx="529281" cy="205359"/>
            </a:xfrm>
            <a:prstGeom prst="rect">
              <a:avLst/>
            </a:prstGeom>
            <a:noFill/>
            <a:ln>
              <a:noFill/>
            </a:ln>
          </p:spPr>
          <p:txBody>
            <a:bodyPr wrap="none" lIns="0" tIns="0" rIns="0" bIns="0" anchor="t" anchorCtr="0">
              <a:spAutoFit/>
            </a:bodyPr>
            <a:lstStyle/>
            <a:p>
              <a:pPr algn="ctr"/>
              <a:r>
                <a:rPr lang="en-IN" sz="1050" b="1" dirty="0">
                  <a:solidFill>
                    <a:srgbClr val="1D2939"/>
                  </a:solidFill>
                  <a:latin typeface="Calibri"/>
                  <a:ea typeface="Calibri"/>
                  <a:cs typeface="Calibri"/>
                </a:rPr>
                <a:t>eSAKSHI</a:t>
              </a:r>
            </a:p>
          </p:txBody>
        </p:sp>
        <p:sp>
          <p:nvSpPr>
            <p:cNvPr id="26" name="TextBox 26"/>
            <p:cNvSpPr txBox="1"/>
            <p:nvPr/>
          </p:nvSpPr>
          <p:spPr>
            <a:xfrm>
              <a:off x="487163" y="3606641"/>
              <a:ext cx="663974"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works, papers,</a:t>
              </a:r>
            </a:p>
          </p:txBody>
        </p:sp>
        <p:sp>
          <p:nvSpPr>
            <p:cNvPr id="27" name="TextBox 27"/>
            <p:cNvSpPr txBox="1"/>
            <p:nvPr/>
          </p:nvSpPr>
          <p:spPr>
            <a:xfrm>
              <a:off x="565418" y="3739991"/>
              <a:ext cx="507465"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site photos</a:t>
              </a:r>
            </a:p>
          </p:txBody>
        </p:sp>
        <p:sp>
          <p:nvSpPr>
            <p:cNvPr id="28" name="Line 28"/>
            <p:cNvSpPr/>
            <p:nvPr/>
          </p:nvSpPr>
          <p:spPr>
            <a:xfrm>
              <a:off x="1200150" y="3028950"/>
              <a:ext cx="285750" cy="1"/>
            </a:xfrm>
            <a:prstGeom prst="line">
              <a:avLst/>
            </a:prstGeom>
            <a:noFill/>
            <a:ln w="15240">
              <a:solidFill>
                <a:srgbClr val="0B3D6E"/>
              </a:solidFill>
              <a:tailEnd type="triangle" w="lg" len="lg"/>
            </a:ln>
          </p:spPr>
        </p:sp>
        <p:sp>
          <p:nvSpPr>
            <p:cNvPr id="29" name="Rectangle 29"/>
            <p:cNvSpPr/>
            <p:nvPr/>
          </p:nvSpPr>
          <p:spPr>
            <a:xfrm>
              <a:off x="1543050" y="2057400"/>
              <a:ext cx="6667500" cy="2019300"/>
            </a:xfrm>
            <a:prstGeom prst="roundRect">
              <a:avLst>
                <a:gd name="adj" fmla="val 3774"/>
              </a:avLst>
            </a:prstGeom>
            <a:solidFill>
              <a:srgbClr val="FFFFFF"/>
            </a:solidFill>
            <a:ln w="9525">
              <a:solidFill>
                <a:srgbClr val="D0D5DD"/>
              </a:solidFill>
            </a:ln>
          </p:spPr>
        </p:sp>
        <p:sp>
          <p:nvSpPr>
            <p:cNvPr id="30" name="Polygon 30"/>
            <p:cNvSpPr/>
            <p:nvPr/>
          </p:nvSpPr>
          <p:spPr>
            <a:xfrm>
              <a:off x="1638300" y="2152650"/>
              <a:ext cx="1600200" cy="266700"/>
            </a:xfrm>
            <a:custGeom>
              <a:avLst/>
              <a:gdLst/>
              <a:ahLst/>
              <a:cxnLst/>
              <a:rect l="l" t="t" r="r" b="b"/>
              <a:pathLst>
                <a:path w="1600200" h="266700">
                  <a:moveTo>
                    <a:pt x="0" y="0"/>
                  </a:moveTo>
                  <a:lnTo>
                    <a:pt x="1485900" y="0"/>
                  </a:lnTo>
                  <a:lnTo>
                    <a:pt x="1600200" y="133350"/>
                  </a:lnTo>
                  <a:lnTo>
                    <a:pt x="1485900" y="266700"/>
                  </a:lnTo>
                  <a:lnTo>
                    <a:pt x="0" y="266700"/>
                  </a:lnTo>
                  <a:close/>
                </a:path>
              </a:pathLst>
            </a:custGeom>
            <a:solidFill>
              <a:srgbClr val="0B3D6E"/>
            </a:solidFill>
            <a:ln>
              <a:noFill/>
            </a:ln>
          </p:spPr>
        </p:sp>
        <p:sp>
          <p:nvSpPr>
            <p:cNvPr id="31" name="TextBox 31"/>
            <p:cNvSpPr txBox="1"/>
            <p:nvPr/>
          </p:nvSpPr>
          <p:spPr>
            <a:xfrm>
              <a:off x="2046767" y="2236470"/>
              <a:ext cx="802316" cy="176212"/>
            </a:xfrm>
            <a:prstGeom prst="rect">
              <a:avLst/>
            </a:prstGeom>
            <a:noFill/>
            <a:ln>
              <a:noFill/>
            </a:ln>
          </p:spPr>
          <p:txBody>
            <a:bodyPr wrap="none" lIns="0" tIns="0" rIns="0" bIns="0" anchor="t" anchorCtr="0">
              <a:spAutoFit/>
            </a:bodyPr>
            <a:lstStyle/>
            <a:p>
              <a:pPr algn="ctr"/>
              <a:r>
                <a:rPr lang="en-IN" sz="900" b="1" dirty="0">
                  <a:solidFill>
                    <a:srgbClr val="FFFFFF"/>
                  </a:solidFill>
                  <a:latin typeface="Calibri"/>
                  <a:ea typeface="Calibri"/>
                  <a:cs typeface="Calibri"/>
                </a:rPr>
                <a:t>Before sanction</a:t>
              </a:r>
            </a:p>
          </p:txBody>
        </p:sp>
        <p:sp>
          <p:nvSpPr>
            <p:cNvPr id="32" name="Rectangle 32"/>
            <p:cNvSpPr/>
            <p:nvPr/>
          </p:nvSpPr>
          <p:spPr>
            <a:xfrm>
              <a:off x="1676400" y="2533650"/>
              <a:ext cx="1485900" cy="266700"/>
            </a:xfrm>
            <a:prstGeom prst="roundRect">
              <a:avLst>
                <a:gd name="adj" fmla="val 17857"/>
              </a:avLst>
            </a:prstGeom>
            <a:solidFill>
              <a:srgbClr val="F2F5F9"/>
            </a:solidFill>
            <a:ln>
              <a:noFill/>
            </a:ln>
          </p:spPr>
        </p:sp>
        <p:grpSp>
          <p:nvGrpSpPr>
            <p:cNvPr id="35" name="Group 35"/>
            <p:cNvGrpSpPr/>
            <p:nvPr/>
          </p:nvGrpSpPr>
          <p:grpSpPr>
            <a:xfrm>
              <a:off x="1751409" y="2589609"/>
              <a:ext cx="154781" cy="154781"/>
              <a:chOff x="1751409" y="2589609"/>
              <a:chExt cx="154781" cy="154781"/>
            </a:xfrm>
          </p:grpSpPr>
          <p:sp>
            <p:nvSpPr>
              <p:cNvPr id="33" name="Freeform 33"/>
              <p:cNvSpPr/>
              <p:nvPr/>
            </p:nvSpPr>
            <p:spPr>
              <a:xfrm>
                <a:off x="1757362" y="2595562"/>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rgbClr val="0B3D6E">
                  <a:alpha val="20000"/>
                </a:srgbClr>
              </a:solidFill>
              <a:ln>
                <a:noFill/>
              </a:ln>
            </p:spPr>
          </p:sp>
          <p:sp>
            <p:nvSpPr>
              <p:cNvPr id="34" name="Freeform 34"/>
              <p:cNvSpPr/>
              <p:nvPr/>
            </p:nvSpPr>
            <p:spPr>
              <a:xfrm>
                <a:off x="1751409" y="2589609"/>
                <a:ext cx="154781" cy="154781"/>
              </a:xfrm>
              <a:custGeom>
                <a:avLst/>
                <a:gdLst/>
                <a:ahLst/>
                <a:cxnLst/>
                <a:rect l="l" t="t" r="r" b="b"/>
                <a:pathLst>
                  <a:path w="154781" h="154781">
                    <a:moveTo>
                      <a:pt x="77391" y="0"/>
                    </a:moveTo>
                    <a:cubicBezTo>
                      <a:pt x="34649" y="0"/>
                      <a:pt x="0" y="34649"/>
                      <a:pt x="0" y="77391"/>
                    </a:cubicBezTo>
                    <a:cubicBezTo>
                      <a:pt x="0" y="120132"/>
                      <a:pt x="34649" y="154781"/>
                      <a:pt x="77391" y="154781"/>
                    </a:cubicBezTo>
                    <a:cubicBezTo>
                      <a:pt x="120132" y="154781"/>
                      <a:pt x="154781" y="120132"/>
                      <a:pt x="154781" y="77391"/>
                    </a:cubicBezTo>
                    <a:cubicBezTo>
                      <a:pt x="154736" y="34668"/>
                      <a:pt x="120114" y="45"/>
                      <a:pt x="77391" y="0"/>
                    </a:cubicBezTo>
                    <a:close/>
                    <a:moveTo>
                      <a:pt x="142875" y="77391"/>
                    </a:moveTo>
                    <a:cubicBezTo>
                      <a:pt x="142890" y="92702"/>
                      <a:pt x="137513" y="107529"/>
                      <a:pt x="127687" y="119271"/>
                    </a:cubicBezTo>
                    <a:lnTo>
                      <a:pt x="35510" y="27087"/>
                    </a:lnTo>
                    <a:cubicBezTo>
                      <a:pt x="55031" y="10847"/>
                      <a:pt x="82180" y="7356"/>
                      <a:pt x="105174" y="18130"/>
                    </a:cubicBezTo>
                    <a:cubicBezTo>
                      <a:pt x="128168" y="28903"/>
                      <a:pt x="142860" y="51998"/>
                      <a:pt x="142875" y="77391"/>
                    </a:cubicBezTo>
                    <a:close/>
                    <a:moveTo>
                      <a:pt x="11906" y="77391"/>
                    </a:moveTo>
                    <a:cubicBezTo>
                      <a:pt x="11891" y="62080"/>
                      <a:pt x="17268" y="47252"/>
                      <a:pt x="27094" y="35510"/>
                    </a:cubicBezTo>
                    <a:lnTo>
                      <a:pt x="119271" y="127695"/>
                    </a:lnTo>
                    <a:cubicBezTo>
                      <a:pt x="99750" y="143934"/>
                      <a:pt x="72601" y="147425"/>
                      <a:pt x="49607" y="136652"/>
                    </a:cubicBezTo>
                    <a:cubicBezTo>
                      <a:pt x="26614" y="125878"/>
                      <a:pt x="11921" y="102783"/>
                      <a:pt x="11906" y="77391"/>
                    </a:cubicBezTo>
                    <a:close/>
                  </a:path>
                </a:pathLst>
              </a:custGeom>
              <a:solidFill>
                <a:srgbClr val="0B3D6E"/>
              </a:solidFill>
              <a:ln>
                <a:noFill/>
              </a:ln>
            </p:spPr>
          </p:sp>
        </p:grpSp>
        <p:sp>
          <p:nvSpPr>
            <p:cNvPr id="36" name="TextBox 36"/>
            <p:cNvSpPr txBox="1"/>
            <p:nvPr/>
          </p:nvSpPr>
          <p:spPr>
            <a:xfrm>
              <a:off x="1976438" y="2613422"/>
              <a:ext cx="491895"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Eligibility</a:t>
              </a:r>
            </a:p>
          </p:txBody>
        </p:sp>
        <p:sp>
          <p:nvSpPr>
            <p:cNvPr id="37" name="Ellipse 37"/>
            <p:cNvSpPr/>
            <p:nvPr/>
          </p:nvSpPr>
          <p:spPr>
            <a:xfrm>
              <a:off x="3005138" y="2624138"/>
              <a:ext cx="85725" cy="85725"/>
            </a:xfrm>
            <a:prstGeom prst="ellipse">
              <a:avLst/>
            </a:prstGeom>
            <a:solidFill>
              <a:srgbClr val="0070C0"/>
            </a:solidFill>
            <a:ln>
              <a:noFill/>
            </a:ln>
          </p:spPr>
        </p:sp>
        <p:sp>
          <p:nvSpPr>
            <p:cNvPr id="38" name="Rectangle 38"/>
            <p:cNvSpPr/>
            <p:nvPr/>
          </p:nvSpPr>
          <p:spPr>
            <a:xfrm>
              <a:off x="1676400" y="2833688"/>
              <a:ext cx="1485900" cy="266700"/>
            </a:xfrm>
            <a:prstGeom prst="roundRect">
              <a:avLst>
                <a:gd name="adj" fmla="val 17857"/>
              </a:avLst>
            </a:prstGeom>
            <a:solidFill>
              <a:srgbClr val="F2F5F9"/>
            </a:solidFill>
            <a:ln>
              <a:noFill/>
            </a:ln>
          </p:spPr>
        </p:sp>
        <p:grpSp>
          <p:nvGrpSpPr>
            <p:cNvPr id="41" name="Group 41"/>
            <p:cNvGrpSpPr/>
            <p:nvPr/>
          </p:nvGrpSpPr>
          <p:grpSpPr>
            <a:xfrm>
              <a:off x="1757362" y="2895600"/>
              <a:ext cx="142875" cy="142875"/>
              <a:chOff x="1757362" y="2895600"/>
              <a:chExt cx="142875" cy="142875"/>
            </a:xfrm>
          </p:grpSpPr>
          <p:sp>
            <p:nvSpPr>
              <p:cNvPr id="39" name="Freeform 39"/>
              <p:cNvSpPr/>
              <p:nvPr/>
            </p:nvSpPr>
            <p:spPr>
              <a:xfrm>
                <a:off x="1799034" y="2901553"/>
                <a:ext cx="95250" cy="95250"/>
              </a:xfrm>
              <a:custGeom>
                <a:avLst/>
                <a:gdLst/>
                <a:ahLst/>
                <a:cxnLst/>
                <a:rect l="l" t="t" r="r" b="b"/>
                <a:pathLst>
                  <a:path w="95250" h="95250">
                    <a:moveTo>
                      <a:pt x="95250" y="0"/>
                    </a:moveTo>
                    <a:lnTo>
                      <a:pt x="95250" y="95250"/>
                    </a:lnTo>
                    <a:lnTo>
                      <a:pt x="59531" y="95250"/>
                    </a:lnTo>
                    <a:lnTo>
                      <a:pt x="59531" y="35719"/>
                    </a:lnTo>
                    <a:lnTo>
                      <a:pt x="0" y="35719"/>
                    </a:lnTo>
                    <a:lnTo>
                      <a:pt x="0" y="0"/>
                    </a:lnTo>
                    <a:close/>
                  </a:path>
                </a:pathLst>
              </a:custGeom>
              <a:solidFill>
                <a:srgbClr val="0B3D6E">
                  <a:alpha val="20000"/>
                </a:srgbClr>
              </a:solidFill>
              <a:ln>
                <a:noFill/>
              </a:ln>
            </p:spPr>
          </p:sp>
          <p:sp>
            <p:nvSpPr>
              <p:cNvPr id="40" name="Freeform 40"/>
              <p:cNvSpPr/>
              <p:nvPr/>
            </p:nvSpPr>
            <p:spPr>
              <a:xfrm>
                <a:off x="1757362" y="2895600"/>
                <a:ext cx="142875" cy="142875"/>
              </a:xfrm>
              <a:custGeom>
                <a:avLst/>
                <a:gdLst/>
                <a:ahLst/>
                <a:cxnLst/>
                <a:rect l="l" t="t" r="r" b="b"/>
                <a:pathLst>
                  <a:path w="142875" h="142875">
                    <a:moveTo>
                      <a:pt x="136922" y="0"/>
                    </a:moveTo>
                    <a:lnTo>
                      <a:pt x="41672" y="0"/>
                    </a:lnTo>
                    <a:cubicBezTo>
                      <a:pt x="38384" y="0"/>
                      <a:pt x="35719" y="2665"/>
                      <a:pt x="35719" y="5953"/>
                    </a:cubicBezTo>
                    <a:lnTo>
                      <a:pt x="35719" y="35719"/>
                    </a:lnTo>
                    <a:lnTo>
                      <a:pt x="5953" y="35719"/>
                    </a:lnTo>
                    <a:cubicBezTo>
                      <a:pt x="2665" y="35719"/>
                      <a:pt x="0" y="38384"/>
                      <a:pt x="0" y="41672"/>
                    </a:cubicBezTo>
                    <a:lnTo>
                      <a:pt x="0" y="136922"/>
                    </a:lnTo>
                    <a:cubicBezTo>
                      <a:pt x="0" y="140210"/>
                      <a:pt x="2665" y="142875"/>
                      <a:pt x="5953" y="142875"/>
                    </a:cubicBezTo>
                    <a:lnTo>
                      <a:pt x="101203" y="142875"/>
                    </a:lnTo>
                    <a:cubicBezTo>
                      <a:pt x="104491" y="142875"/>
                      <a:pt x="107156" y="140210"/>
                      <a:pt x="107156" y="136922"/>
                    </a:cubicBezTo>
                    <a:lnTo>
                      <a:pt x="107156" y="107156"/>
                    </a:lnTo>
                    <a:lnTo>
                      <a:pt x="136922" y="107156"/>
                    </a:lnTo>
                    <a:cubicBezTo>
                      <a:pt x="140210" y="107156"/>
                      <a:pt x="142875" y="104491"/>
                      <a:pt x="142875" y="101203"/>
                    </a:cubicBezTo>
                    <a:lnTo>
                      <a:pt x="142875" y="5953"/>
                    </a:lnTo>
                    <a:cubicBezTo>
                      <a:pt x="142875" y="2665"/>
                      <a:pt x="140210" y="0"/>
                      <a:pt x="136922" y="0"/>
                    </a:cubicBezTo>
                    <a:close/>
                    <a:moveTo>
                      <a:pt x="95250" y="130969"/>
                    </a:moveTo>
                    <a:lnTo>
                      <a:pt x="11906" y="130969"/>
                    </a:lnTo>
                    <a:lnTo>
                      <a:pt x="11906" y="47625"/>
                    </a:lnTo>
                    <a:lnTo>
                      <a:pt x="95250" y="47625"/>
                    </a:lnTo>
                    <a:close/>
                    <a:moveTo>
                      <a:pt x="130969" y="95250"/>
                    </a:moveTo>
                    <a:lnTo>
                      <a:pt x="107156" y="95250"/>
                    </a:lnTo>
                    <a:lnTo>
                      <a:pt x="107156" y="41672"/>
                    </a:lnTo>
                    <a:cubicBezTo>
                      <a:pt x="107156" y="38384"/>
                      <a:pt x="104491" y="35719"/>
                      <a:pt x="101203" y="35719"/>
                    </a:cubicBezTo>
                    <a:lnTo>
                      <a:pt x="47625" y="35719"/>
                    </a:lnTo>
                    <a:lnTo>
                      <a:pt x="47625" y="11906"/>
                    </a:lnTo>
                    <a:lnTo>
                      <a:pt x="130969" y="11906"/>
                    </a:lnTo>
                    <a:close/>
                  </a:path>
                </a:pathLst>
              </a:custGeom>
              <a:solidFill>
                <a:srgbClr val="0B3D6E"/>
              </a:solidFill>
              <a:ln>
                <a:noFill/>
              </a:ln>
            </p:spPr>
          </p:sp>
        </p:grpSp>
        <p:sp>
          <p:nvSpPr>
            <p:cNvPr id="42" name="TextBox 42"/>
            <p:cNvSpPr txBox="1"/>
            <p:nvPr/>
          </p:nvSpPr>
          <p:spPr>
            <a:xfrm>
              <a:off x="1976438" y="2913459"/>
              <a:ext cx="897525"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Duplicate &amp; Split</a:t>
              </a:r>
            </a:p>
          </p:txBody>
        </p:sp>
        <p:sp>
          <p:nvSpPr>
            <p:cNvPr id="43" name="Ellipse 43"/>
            <p:cNvSpPr/>
            <p:nvPr/>
          </p:nvSpPr>
          <p:spPr>
            <a:xfrm>
              <a:off x="3005138" y="2924175"/>
              <a:ext cx="85725" cy="85725"/>
            </a:xfrm>
            <a:prstGeom prst="ellipse">
              <a:avLst/>
            </a:prstGeom>
            <a:solidFill>
              <a:srgbClr val="0070C0"/>
            </a:solidFill>
            <a:ln>
              <a:noFill/>
            </a:ln>
          </p:spPr>
        </p:sp>
        <p:sp>
          <p:nvSpPr>
            <p:cNvPr id="44" name="Rectangle 44"/>
            <p:cNvSpPr/>
            <p:nvPr/>
          </p:nvSpPr>
          <p:spPr>
            <a:xfrm>
              <a:off x="1676400" y="3133725"/>
              <a:ext cx="1485900" cy="266700"/>
            </a:xfrm>
            <a:prstGeom prst="roundRect">
              <a:avLst>
                <a:gd name="adj" fmla="val 17857"/>
              </a:avLst>
            </a:prstGeom>
            <a:solidFill>
              <a:srgbClr val="F2F5F9"/>
            </a:solidFill>
            <a:ln>
              <a:noFill/>
            </a:ln>
          </p:spPr>
        </p:sp>
        <p:grpSp>
          <p:nvGrpSpPr>
            <p:cNvPr id="47" name="Group 47"/>
            <p:cNvGrpSpPr/>
            <p:nvPr/>
          </p:nvGrpSpPr>
          <p:grpSpPr>
            <a:xfrm>
              <a:off x="1780689" y="3195638"/>
              <a:ext cx="107642" cy="149245"/>
              <a:chOff x="1780689" y="3195638"/>
              <a:chExt cx="107642" cy="149245"/>
            </a:xfrm>
          </p:grpSpPr>
          <p:sp>
            <p:nvSpPr>
              <p:cNvPr id="45" name="Freeform 45"/>
              <p:cNvSpPr/>
              <p:nvPr/>
            </p:nvSpPr>
            <p:spPr>
              <a:xfrm>
                <a:off x="1787128" y="3201591"/>
                <a:ext cx="65484" cy="77391"/>
              </a:xfrm>
              <a:custGeom>
                <a:avLst/>
                <a:gdLst/>
                <a:ahLst/>
                <a:cxnLst/>
                <a:rect l="l" t="t" r="r" b="b"/>
                <a:pathLst>
                  <a:path w="65484" h="77391">
                    <a:moveTo>
                      <a:pt x="65484" y="38695"/>
                    </a:moveTo>
                    <a:cubicBezTo>
                      <a:pt x="65484" y="60066"/>
                      <a:pt x="48160" y="77391"/>
                      <a:pt x="26789" y="77391"/>
                    </a:cubicBezTo>
                    <a:lnTo>
                      <a:pt x="0" y="77391"/>
                    </a:lnTo>
                    <a:lnTo>
                      <a:pt x="0" y="0"/>
                    </a:lnTo>
                    <a:lnTo>
                      <a:pt x="26789" y="0"/>
                    </a:lnTo>
                    <a:cubicBezTo>
                      <a:pt x="48160" y="0"/>
                      <a:pt x="65484" y="17324"/>
                      <a:pt x="65484" y="38695"/>
                    </a:cubicBezTo>
                    <a:close/>
                  </a:path>
                </a:pathLst>
              </a:custGeom>
              <a:solidFill>
                <a:srgbClr val="0B3D6E">
                  <a:alpha val="20000"/>
                </a:srgbClr>
              </a:solidFill>
              <a:ln>
                <a:noFill/>
              </a:ln>
            </p:spPr>
          </p:sp>
          <p:sp>
            <p:nvSpPr>
              <p:cNvPr id="46" name="Freeform 46"/>
              <p:cNvSpPr/>
              <p:nvPr/>
            </p:nvSpPr>
            <p:spPr>
              <a:xfrm>
                <a:off x="1780689" y="3195638"/>
                <a:ext cx="107642" cy="149245"/>
              </a:xfrm>
              <a:custGeom>
                <a:avLst/>
                <a:gdLst/>
                <a:ahLst/>
                <a:cxnLst/>
                <a:rect l="l" t="t" r="r" b="b"/>
                <a:pathLst>
                  <a:path w="107642" h="149245">
                    <a:moveTo>
                      <a:pt x="107642" y="35719"/>
                    </a:moveTo>
                    <a:cubicBezTo>
                      <a:pt x="107642" y="39007"/>
                      <a:pt x="104977" y="41672"/>
                      <a:pt x="101689" y="41672"/>
                    </a:cubicBezTo>
                    <a:lnTo>
                      <a:pt x="77765" y="41672"/>
                    </a:lnTo>
                    <a:cubicBezTo>
                      <a:pt x="77832" y="42654"/>
                      <a:pt x="77876" y="43644"/>
                      <a:pt x="77876" y="44648"/>
                    </a:cubicBezTo>
                    <a:cubicBezTo>
                      <a:pt x="77848" y="69295"/>
                      <a:pt x="57875" y="89268"/>
                      <a:pt x="33228" y="89297"/>
                    </a:cubicBezTo>
                    <a:lnTo>
                      <a:pt x="21835" y="89297"/>
                    </a:lnTo>
                    <a:lnTo>
                      <a:pt x="75927" y="138470"/>
                    </a:lnTo>
                    <a:cubicBezTo>
                      <a:pt x="77530" y="139892"/>
                      <a:pt x="78245" y="142068"/>
                      <a:pt x="77798" y="144164"/>
                    </a:cubicBezTo>
                    <a:cubicBezTo>
                      <a:pt x="77351" y="146261"/>
                      <a:pt x="75811" y="147955"/>
                      <a:pt x="73767" y="148600"/>
                    </a:cubicBezTo>
                    <a:cubicBezTo>
                      <a:pt x="71722" y="149245"/>
                      <a:pt x="69489" y="148741"/>
                      <a:pt x="67920" y="147280"/>
                    </a:cubicBezTo>
                    <a:lnTo>
                      <a:pt x="2435" y="87749"/>
                    </a:lnTo>
                    <a:cubicBezTo>
                      <a:pt x="615" y="86095"/>
                      <a:pt x="0" y="83492"/>
                      <a:pt x="887" y="81198"/>
                    </a:cubicBezTo>
                    <a:cubicBezTo>
                      <a:pt x="1773" y="78904"/>
                      <a:pt x="3979" y="77391"/>
                      <a:pt x="6439" y="77391"/>
                    </a:cubicBezTo>
                    <a:lnTo>
                      <a:pt x="33228" y="77391"/>
                    </a:lnTo>
                    <a:cubicBezTo>
                      <a:pt x="51302" y="77370"/>
                      <a:pt x="65950" y="62723"/>
                      <a:pt x="65970" y="44648"/>
                    </a:cubicBezTo>
                    <a:cubicBezTo>
                      <a:pt x="65970" y="43644"/>
                      <a:pt x="65918" y="42654"/>
                      <a:pt x="65829" y="41672"/>
                    </a:cubicBezTo>
                    <a:lnTo>
                      <a:pt x="6439" y="41672"/>
                    </a:lnTo>
                    <a:cubicBezTo>
                      <a:pt x="3151" y="41672"/>
                      <a:pt x="486" y="39007"/>
                      <a:pt x="486" y="35719"/>
                    </a:cubicBezTo>
                    <a:cubicBezTo>
                      <a:pt x="486" y="32431"/>
                      <a:pt x="3151" y="29766"/>
                      <a:pt x="6439" y="29766"/>
                    </a:cubicBezTo>
                    <a:lnTo>
                      <a:pt x="62376" y="29766"/>
                    </a:lnTo>
                    <a:cubicBezTo>
                      <a:pt x="56785" y="18810"/>
                      <a:pt x="45527" y="11912"/>
                      <a:pt x="33228" y="11906"/>
                    </a:cubicBezTo>
                    <a:lnTo>
                      <a:pt x="6439" y="11906"/>
                    </a:lnTo>
                    <a:cubicBezTo>
                      <a:pt x="3151" y="11906"/>
                      <a:pt x="486" y="9241"/>
                      <a:pt x="486" y="5953"/>
                    </a:cubicBezTo>
                    <a:cubicBezTo>
                      <a:pt x="486" y="2665"/>
                      <a:pt x="3151" y="0"/>
                      <a:pt x="6439" y="0"/>
                    </a:cubicBezTo>
                    <a:lnTo>
                      <a:pt x="101689" y="0"/>
                    </a:lnTo>
                    <a:cubicBezTo>
                      <a:pt x="104977" y="0"/>
                      <a:pt x="107642" y="2665"/>
                      <a:pt x="107642" y="5953"/>
                    </a:cubicBezTo>
                    <a:cubicBezTo>
                      <a:pt x="107642" y="9241"/>
                      <a:pt x="104977" y="11906"/>
                      <a:pt x="101689" y="11906"/>
                    </a:cubicBezTo>
                    <a:lnTo>
                      <a:pt x="63544" y="11906"/>
                    </a:lnTo>
                    <a:cubicBezTo>
                      <a:pt x="68854" y="16820"/>
                      <a:pt x="72894" y="22948"/>
                      <a:pt x="75316" y="29766"/>
                    </a:cubicBezTo>
                    <a:lnTo>
                      <a:pt x="101689" y="29766"/>
                    </a:lnTo>
                    <a:cubicBezTo>
                      <a:pt x="104977" y="29766"/>
                      <a:pt x="107642" y="32431"/>
                      <a:pt x="107642" y="35719"/>
                    </a:cubicBezTo>
                    <a:close/>
                  </a:path>
                </a:pathLst>
              </a:custGeom>
              <a:solidFill>
                <a:srgbClr val="0B3D6E"/>
              </a:solidFill>
              <a:ln>
                <a:noFill/>
              </a:ln>
            </p:spPr>
          </p:sp>
        </p:grpSp>
        <p:sp>
          <p:nvSpPr>
            <p:cNvPr id="48" name="TextBox 48"/>
            <p:cNvSpPr txBox="1"/>
            <p:nvPr/>
          </p:nvSpPr>
          <p:spPr>
            <a:xfrm>
              <a:off x="1976438" y="3213497"/>
              <a:ext cx="242129"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Cost</a:t>
              </a:r>
            </a:p>
          </p:txBody>
        </p:sp>
        <p:sp>
          <p:nvSpPr>
            <p:cNvPr id="49" name="Ellipse 49"/>
            <p:cNvSpPr/>
            <p:nvPr/>
          </p:nvSpPr>
          <p:spPr>
            <a:xfrm>
              <a:off x="3005138" y="3224212"/>
              <a:ext cx="85725" cy="85725"/>
            </a:xfrm>
            <a:prstGeom prst="ellipse">
              <a:avLst/>
            </a:prstGeom>
            <a:solidFill>
              <a:srgbClr val="1E7B45"/>
            </a:solidFill>
            <a:ln>
              <a:noFill/>
            </a:ln>
          </p:spPr>
        </p:sp>
        <p:sp>
          <p:nvSpPr>
            <p:cNvPr id="50" name="Polygon 50"/>
            <p:cNvSpPr/>
            <p:nvPr/>
          </p:nvSpPr>
          <p:spPr>
            <a:xfrm>
              <a:off x="3257550" y="2152650"/>
              <a:ext cx="1600200" cy="266700"/>
            </a:xfrm>
            <a:custGeom>
              <a:avLst/>
              <a:gdLst/>
              <a:ahLst/>
              <a:cxnLst/>
              <a:rect l="l" t="t" r="r" b="b"/>
              <a:pathLst>
                <a:path w="1600200" h="266700">
                  <a:moveTo>
                    <a:pt x="0" y="0"/>
                  </a:moveTo>
                  <a:lnTo>
                    <a:pt x="1485900" y="0"/>
                  </a:lnTo>
                  <a:lnTo>
                    <a:pt x="1600200" y="133350"/>
                  </a:lnTo>
                  <a:lnTo>
                    <a:pt x="1485900" y="266700"/>
                  </a:lnTo>
                  <a:lnTo>
                    <a:pt x="0" y="266700"/>
                  </a:lnTo>
                  <a:lnTo>
                    <a:pt x="114300" y="133350"/>
                  </a:lnTo>
                  <a:close/>
                </a:path>
              </a:pathLst>
            </a:custGeom>
            <a:solidFill>
              <a:srgbClr val="1B5A94"/>
            </a:solidFill>
            <a:ln>
              <a:noFill/>
            </a:ln>
          </p:spPr>
        </p:sp>
        <p:sp>
          <p:nvSpPr>
            <p:cNvPr id="51" name="TextBox 51"/>
            <p:cNvSpPr txBox="1"/>
            <p:nvPr/>
          </p:nvSpPr>
          <p:spPr>
            <a:xfrm>
              <a:off x="3600969" y="2236470"/>
              <a:ext cx="1008612" cy="176212"/>
            </a:xfrm>
            <a:prstGeom prst="rect">
              <a:avLst/>
            </a:prstGeom>
            <a:noFill/>
            <a:ln>
              <a:noFill/>
            </a:ln>
          </p:spPr>
          <p:txBody>
            <a:bodyPr wrap="none" lIns="0" tIns="0" rIns="0" bIns="0" anchor="t" anchorCtr="0">
              <a:spAutoFit/>
            </a:bodyPr>
            <a:lstStyle/>
            <a:p>
              <a:pPr algn="ctr"/>
              <a:r>
                <a:rPr lang="en-IN" sz="900" b="1" dirty="0">
                  <a:solidFill>
                    <a:srgbClr val="FFFFFF"/>
                  </a:solidFill>
                  <a:latin typeface="Calibri"/>
                  <a:ea typeface="Calibri"/>
                  <a:cs typeface="Calibri"/>
                </a:rPr>
                <a:t>During construction</a:t>
              </a:r>
            </a:p>
          </p:txBody>
        </p:sp>
        <p:sp>
          <p:nvSpPr>
            <p:cNvPr id="52" name="Rectangle 52"/>
            <p:cNvSpPr/>
            <p:nvPr/>
          </p:nvSpPr>
          <p:spPr>
            <a:xfrm>
              <a:off x="3295650" y="2533650"/>
              <a:ext cx="1485900" cy="266700"/>
            </a:xfrm>
            <a:prstGeom prst="roundRect">
              <a:avLst>
                <a:gd name="adj" fmla="val 17857"/>
              </a:avLst>
            </a:prstGeom>
            <a:solidFill>
              <a:srgbClr val="F2F5F9"/>
            </a:solidFill>
            <a:ln>
              <a:noFill/>
            </a:ln>
          </p:spPr>
        </p:sp>
        <p:grpSp>
          <p:nvGrpSpPr>
            <p:cNvPr id="55" name="Group 55"/>
            <p:cNvGrpSpPr/>
            <p:nvPr/>
          </p:nvGrpSpPr>
          <p:grpSpPr>
            <a:xfrm>
              <a:off x="3364706" y="2589609"/>
              <a:ext cx="166688" cy="136922"/>
              <a:chOff x="3364706" y="2589609"/>
              <a:chExt cx="166688" cy="136922"/>
            </a:xfrm>
          </p:grpSpPr>
          <p:sp>
            <p:nvSpPr>
              <p:cNvPr id="53" name="Freeform 53"/>
              <p:cNvSpPr/>
              <p:nvPr/>
            </p:nvSpPr>
            <p:spPr>
              <a:xfrm>
                <a:off x="3382557" y="2609932"/>
                <a:ext cx="130986" cy="80881"/>
              </a:xfrm>
              <a:custGeom>
                <a:avLst/>
                <a:gdLst/>
                <a:ahLst/>
                <a:cxnLst/>
                <a:rect l="l" t="t" r="r" b="b"/>
                <a:pathLst>
                  <a:path w="130986" h="80881">
                    <a:moveTo>
                      <a:pt x="47634" y="0"/>
                    </a:moveTo>
                    <a:lnTo>
                      <a:pt x="47634" y="80881"/>
                    </a:lnTo>
                    <a:lnTo>
                      <a:pt x="9" y="80881"/>
                    </a:lnTo>
                    <a:lnTo>
                      <a:pt x="9" y="63021"/>
                    </a:lnTo>
                    <a:cubicBezTo>
                      <a:pt x="0" y="33726"/>
                      <a:pt x="19449" y="7990"/>
                      <a:pt x="47634" y="0"/>
                    </a:cubicBezTo>
                    <a:close/>
                    <a:moveTo>
                      <a:pt x="83352" y="0"/>
                    </a:moveTo>
                    <a:lnTo>
                      <a:pt x="83352" y="80881"/>
                    </a:lnTo>
                    <a:lnTo>
                      <a:pt x="130977" y="80881"/>
                    </a:lnTo>
                    <a:lnTo>
                      <a:pt x="130977" y="63021"/>
                    </a:lnTo>
                    <a:cubicBezTo>
                      <a:pt x="130986" y="33726"/>
                      <a:pt x="111537" y="7990"/>
                      <a:pt x="83352" y="0"/>
                    </a:cubicBezTo>
                    <a:close/>
                  </a:path>
                </a:pathLst>
              </a:custGeom>
              <a:solidFill>
                <a:srgbClr val="0B3D6E">
                  <a:alpha val="20000"/>
                </a:srgbClr>
              </a:solidFill>
              <a:ln>
                <a:noFill/>
              </a:ln>
            </p:spPr>
          </p:sp>
          <p:sp>
            <p:nvSpPr>
              <p:cNvPr id="54" name="Freeform 54"/>
              <p:cNvSpPr/>
              <p:nvPr/>
            </p:nvSpPr>
            <p:spPr>
              <a:xfrm>
                <a:off x="3364706" y="2589609"/>
                <a:ext cx="166688" cy="136922"/>
              </a:xfrm>
              <a:custGeom>
                <a:avLst/>
                <a:gdLst/>
                <a:ahLst/>
                <a:cxnLst/>
                <a:rect l="l" t="t" r="r" b="b"/>
                <a:pathLst>
                  <a:path w="166688" h="136922">
                    <a:moveTo>
                      <a:pt x="154781" y="95250"/>
                    </a:moveTo>
                    <a:lnTo>
                      <a:pt x="154781" y="83344"/>
                    </a:lnTo>
                    <a:cubicBezTo>
                      <a:pt x="154699" y="53096"/>
                      <a:pt x="135647" y="26152"/>
                      <a:pt x="107156" y="15992"/>
                    </a:cubicBezTo>
                    <a:lnTo>
                      <a:pt x="107156" y="11906"/>
                    </a:lnTo>
                    <a:cubicBezTo>
                      <a:pt x="107156" y="5331"/>
                      <a:pt x="101826" y="0"/>
                      <a:pt x="95250" y="0"/>
                    </a:cubicBezTo>
                    <a:lnTo>
                      <a:pt x="71438" y="0"/>
                    </a:lnTo>
                    <a:cubicBezTo>
                      <a:pt x="64862" y="0"/>
                      <a:pt x="59531" y="5331"/>
                      <a:pt x="59531" y="11906"/>
                    </a:cubicBezTo>
                    <a:lnTo>
                      <a:pt x="59531" y="15992"/>
                    </a:lnTo>
                    <a:cubicBezTo>
                      <a:pt x="31041" y="26152"/>
                      <a:pt x="11988" y="53096"/>
                      <a:pt x="11906" y="83344"/>
                    </a:cubicBezTo>
                    <a:lnTo>
                      <a:pt x="11906" y="95250"/>
                    </a:lnTo>
                    <a:cubicBezTo>
                      <a:pt x="5331" y="95250"/>
                      <a:pt x="0" y="100581"/>
                      <a:pt x="0" y="107156"/>
                    </a:cubicBezTo>
                    <a:lnTo>
                      <a:pt x="0" y="125016"/>
                    </a:lnTo>
                    <a:cubicBezTo>
                      <a:pt x="0" y="131591"/>
                      <a:pt x="5331" y="136922"/>
                      <a:pt x="11906" y="136922"/>
                    </a:cubicBezTo>
                    <a:lnTo>
                      <a:pt x="154781" y="136922"/>
                    </a:lnTo>
                    <a:cubicBezTo>
                      <a:pt x="161357" y="136922"/>
                      <a:pt x="166688" y="131591"/>
                      <a:pt x="166688" y="125016"/>
                    </a:cubicBezTo>
                    <a:lnTo>
                      <a:pt x="166688" y="107156"/>
                    </a:lnTo>
                    <a:cubicBezTo>
                      <a:pt x="166688" y="100581"/>
                      <a:pt x="161357" y="95250"/>
                      <a:pt x="154781" y="95250"/>
                    </a:cubicBezTo>
                    <a:close/>
                    <a:moveTo>
                      <a:pt x="142875" y="83344"/>
                    </a:moveTo>
                    <a:lnTo>
                      <a:pt x="142875" y="95250"/>
                    </a:lnTo>
                    <a:lnTo>
                      <a:pt x="107156" y="95250"/>
                    </a:lnTo>
                    <a:lnTo>
                      <a:pt x="107156" y="28776"/>
                    </a:lnTo>
                    <a:cubicBezTo>
                      <a:pt x="128806" y="38300"/>
                      <a:pt x="142808" y="59691"/>
                      <a:pt x="142875" y="83344"/>
                    </a:cubicBezTo>
                    <a:close/>
                    <a:moveTo>
                      <a:pt x="95250" y="11906"/>
                    </a:moveTo>
                    <a:lnTo>
                      <a:pt x="95250" y="95250"/>
                    </a:lnTo>
                    <a:lnTo>
                      <a:pt x="71438" y="95250"/>
                    </a:lnTo>
                    <a:lnTo>
                      <a:pt x="71438" y="11906"/>
                    </a:lnTo>
                    <a:close/>
                    <a:moveTo>
                      <a:pt x="23812" y="83344"/>
                    </a:moveTo>
                    <a:cubicBezTo>
                      <a:pt x="23879" y="59691"/>
                      <a:pt x="37881" y="38300"/>
                      <a:pt x="59531" y="28776"/>
                    </a:cubicBezTo>
                    <a:lnTo>
                      <a:pt x="59531" y="95250"/>
                    </a:lnTo>
                    <a:lnTo>
                      <a:pt x="23812" y="95250"/>
                    </a:lnTo>
                    <a:close/>
                    <a:moveTo>
                      <a:pt x="154781" y="125016"/>
                    </a:moveTo>
                    <a:lnTo>
                      <a:pt x="11906" y="125016"/>
                    </a:lnTo>
                    <a:lnTo>
                      <a:pt x="11906" y="107156"/>
                    </a:lnTo>
                    <a:lnTo>
                      <a:pt x="154781" y="107156"/>
                    </a:lnTo>
                    <a:lnTo>
                      <a:pt x="154781" y="125016"/>
                    </a:lnTo>
                    <a:close/>
                  </a:path>
                </a:pathLst>
              </a:custGeom>
              <a:solidFill>
                <a:srgbClr val="0B3D6E"/>
              </a:solidFill>
              <a:ln>
                <a:noFill/>
              </a:ln>
            </p:spPr>
          </p:sp>
        </p:grpSp>
        <p:sp>
          <p:nvSpPr>
            <p:cNvPr id="56" name="TextBox 56"/>
            <p:cNvSpPr txBox="1"/>
            <p:nvPr/>
          </p:nvSpPr>
          <p:spPr>
            <a:xfrm>
              <a:off x="3595688" y="2613422"/>
              <a:ext cx="692992"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Site Progress</a:t>
              </a:r>
            </a:p>
          </p:txBody>
        </p:sp>
        <p:sp>
          <p:nvSpPr>
            <p:cNvPr id="57" name="Ellipse 57"/>
            <p:cNvSpPr/>
            <p:nvPr/>
          </p:nvSpPr>
          <p:spPr>
            <a:xfrm>
              <a:off x="4629150" y="2628900"/>
              <a:ext cx="76200" cy="76200"/>
            </a:xfrm>
            <a:prstGeom prst="ellipse">
              <a:avLst/>
            </a:prstGeom>
            <a:solidFill>
              <a:srgbClr val="FFFFFF"/>
            </a:solidFill>
            <a:ln w="12382">
              <a:solidFill>
                <a:srgbClr val="667085"/>
              </a:solidFill>
            </a:ln>
          </p:spPr>
        </p:sp>
        <p:sp>
          <p:nvSpPr>
            <p:cNvPr id="58" name="Rectangle 58"/>
            <p:cNvSpPr/>
            <p:nvPr/>
          </p:nvSpPr>
          <p:spPr>
            <a:xfrm>
              <a:off x="3295650" y="2833688"/>
              <a:ext cx="1485900" cy="266700"/>
            </a:xfrm>
            <a:prstGeom prst="roundRect">
              <a:avLst>
                <a:gd name="adj" fmla="val 17857"/>
              </a:avLst>
            </a:prstGeom>
            <a:solidFill>
              <a:srgbClr val="F2F5F9"/>
            </a:solidFill>
            <a:ln>
              <a:noFill/>
            </a:ln>
          </p:spPr>
        </p:sp>
        <p:grpSp>
          <p:nvGrpSpPr>
            <p:cNvPr id="61" name="Group 61"/>
            <p:cNvGrpSpPr/>
            <p:nvPr/>
          </p:nvGrpSpPr>
          <p:grpSpPr>
            <a:xfrm>
              <a:off x="3370659" y="2901553"/>
              <a:ext cx="154781" cy="130969"/>
              <a:chOff x="3370659" y="2901553"/>
              <a:chExt cx="154781" cy="130969"/>
            </a:xfrm>
          </p:grpSpPr>
          <p:sp>
            <p:nvSpPr>
              <p:cNvPr id="59" name="Freeform 59"/>
              <p:cNvSpPr/>
              <p:nvPr/>
            </p:nvSpPr>
            <p:spPr>
              <a:xfrm>
                <a:off x="3376612" y="2907506"/>
                <a:ext cx="142875" cy="96783"/>
              </a:xfrm>
              <a:custGeom>
                <a:avLst/>
                <a:gdLst/>
                <a:ahLst/>
                <a:cxnLst/>
                <a:rect l="l" t="t" r="r" b="b"/>
                <a:pathLst>
                  <a:path w="142875" h="96783">
                    <a:moveTo>
                      <a:pt x="142875" y="5953"/>
                    </a:moveTo>
                    <a:lnTo>
                      <a:pt x="142875" y="96783"/>
                    </a:lnTo>
                    <a:lnTo>
                      <a:pt x="113318" y="67226"/>
                    </a:lnTo>
                    <a:cubicBezTo>
                      <a:pt x="110993" y="64903"/>
                      <a:pt x="107226" y="64903"/>
                      <a:pt x="104902" y="67226"/>
                    </a:cubicBezTo>
                    <a:lnTo>
                      <a:pt x="85807" y="86320"/>
                    </a:lnTo>
                    <a:lnTo>
                      <a:pt x="48860" y="49366"/>
                    </a:lnTo>
                    <a:cubicBezTo>
                      <a:pt x="47744" y="48248"/>
                      <a:pt x="46228" y="47620"/>
                      <a:pt x="44648" y="47620"/>
                    </a:cubicBezTo>
                    <a:cubicBezTo>
                      <a:pt x="43068" y="47620"/>
                      <a:pt x="41553" y="48248"/>
                      <a:pt x="40437" y="49366"/>
                    </a:cubicBezTo>
                    <a:lnTo>
                      <a:pt x="0" y="89810"/>
                    </a:lnTo>
                    <a:lnTo>
                      <a:pt x="0" y="5953"/>
                    </a:lnTo>
                    <a:cubicBezTo>
                      <a:pt x="0" y="2665"/>
                      <a:pt x="2665" y="0"/>
                      <a:pt x="5953" y="0"/>
                    </a:cubicBezTo>
                    <a:lnTo>
                      <a:pt x="136922" y="0"/>
                    </a:lnTo>
                    <a:cubicBezTo>
                      <a:pt x="140210" y="0"/>
                      <a:pt x="142875" y="2665"/>
                      <a:pt x="142875" y="5953"/>
                    </a:cubicBezTo>
                    <a:close/>
                  </a:path>
                </a:pathLst>
              </a:custGeom>
              <a:solidFill>
                <a:srgbClr val="0B3D6E">
                  <a:alpha val="20000"/>
                </a:srgbClr>
              </a:solidFill>
              <a:ln>
                <a:noFill/>
              </a:ln>
            </p:spPr>
          </p:sp>
          <p:sp>
            <p:nvSpPr>
              <p:cNvPr id="60" name="Freeform 60"/>
              <p:cNvSpPr/>
              <p:nvPr/>
            </p:nvSpPr>
            <p:spPr>
              <a:xfrm>
                <a:off x="3370659" y="2901553"/>
                <a:ext cx="154781" cy="130969"/>
              </a:xfrm>
              <a:custGeom>
                <a:avLst/>
                <a:gdLst/>
                <a:ahLst/>
                <a:cxnLst/>
                <a:rect l="l" t="t" r="r" b="b"/>
                <a:pathLst>
                  <a:path w="154781" h="130969">
                    <a:moveTo>
                      <a:pt x="142875" y="0"/>
                    </a:moveTo>
                    <a:lnTo>
                      <a:pt x="11906" y="0"/>
                    </a:lnTo>
                    <a:cubicBezTo>
                      <a:pt x="5331" y="0"/>
                      <a:pt x="0" y="5331"/>
                      <a:pt x="0" y="11906"/>
                    </a:cubicBezTo>
                    <a:lnTo>
                      <a:pt x="0" y="119062"/>
                    </a:lnTo>
                    <a:cubicBezTo>
                      <a:pt x="0" y="125638"/>
                      <a:pt x="5331" y="130969"/>
                      <a:pt x="11906" y="130969"/>
                    </a:cubicBezTo>
                    <a:lnTo>
                      <a:pt x="142875" y="130969"/>
                    </a:lnTo>
                    <a:cubicBezTo>
                      <a:pt x="149451" y="130969"/>
                      <a:pt x="154781" y="125638"/>
                      <a:pt x="154781" y="119062"/>
                    </a:cubicBezTo>
                    <a:lnTo>
                      <a:pt x="154781" y="11906"/>
                    </a:lnTo>
                    <a:cubicBezTo>
                      <a:pt x="154781" y="5331"/>
                      <a:pt x="149451" y="0"/>
                      <a:pt x="142875" y="0"/>
                    </a:cubicBezTo>
                    <a:close/>
                    <a:moveTo>
                      <a:pt x="142875" y="11906"/>
                    </a:moveTo>
                    <a:lnTo>
                      <a:pt x="142875" y="88367"/>
                    </a:lnTo>
                    <a:lnTo>
                      <a:pt x="123475" y="68974"/>
                    </a:lnTo>
                    <a:cubicBezTo>
                      <a:pt x="121242" y="66741"/>
                      <a:pt x="118214" y="65486"/>
                      <a:pt x="115055" y="65486"/>
                    </a:cubicBezTo>
                    <a:cubicBezTo>
                      <a:pt x="111897" y="65486"/>
                      <a:pt x="108868" y="66741"/>
                      <a:pt x="106635" y="68974"/>
                    </a:cubicBezTo>
                    <a:lnTo>
                      <a:pt x="91753" y="83857"/>
                    </a:lnTo>
                    <a:lnTo>
                      <a:pt x="59010" y="51115"/>
                    </a:lnTo>
                    <a:cubicBezTo>
                      <a:pt x="54361" y="46469"/>
                      <a:pt x="46827" y="46469"/>
                      <a:pt x="42178" y="51115"/>
                    </a:cubicBezTo>
                    <a:lnTo>
                      <a:pt x="11906" y="81387"/>
                    </a:lnTo>
                    <a:lnTo>
                      <a:pt x="11906" y="11906"/>
                    </a:lnTo>
                    <a:close/>
                    <a:moveTo>
                      <a:pt x="11906" y="98227"/>
                    </a:moveTo>
                    <a:lnTo>
                      <a:pt x="50602" y="59531"/>
                    </a:lnTo>
                    <a:lnTo>
                      <a:pt x="110133" y="119062"/>
                    </a:lnTo>
                    <a:lnTo>
                      <a:pt x="11906" y="119062"/>
                    </a:lnTo>
                    <a:close/>
                    <a:moveTo>
                      <a:pt x="142875" y="119062"/>
                    </a:moveTo>
                    <a:lnTo>
                      <a:pt x="126973" y="119062"/>
                    </a:lnTo>
                    <a:lnTo>
                      <a:pt x="100184" y="92273"/>
                    </a:lnTo>
                    <a:lnTo>
                      <a:pt x="115066" y="77391"/>
                    </a:lnTo>
                    <a:lnTo>
                      <a:pt x="142875" y="105207"/>
                    </a:lnTo>
                    <a:lnTo>
                      <a:pt x="142875" y="119062"/>
                    </a:lnTo>
                    <a:close/>
                    <a:moveTo>
                      <a:pt x="89297" y="44648"/>
                    </a:moveTo>
                    <a:cubicBezTo>
                      <a:pt x="89297" y="39717"/>
                      <a:pt x="93295" y="35719"/>
                      <a:pt x="98227" y="35719"/>
                    </a:cubicBezTo>
                    <a:cubicBezTo>
                      <a:pt x="103158" y="35719"/>
                      <a:pt x="107156" y="39717"/>
                      <a:pt x="107156" y="44648"/>
                    </a:cubicBezTo>
                    <a:cubicBezTo>
                      <a:pt x="107156" y="49580"/>
                      <a:pt x="103158" y="53578"/>
                      <a:pt x="98227" y="53578"/>
                    </a:cubicBezTo>
                    <a:cubicBezTo>
                      <a:pt x="93295" y="53578"/>
                      <a:pt x="89297" y="49580"/>
                      <a:pt x="89297" y="44648"/>
                    </a:cubicBezTo>
                    <a:close/>
                  </a:path>
                </a:pathLst>
              </a:custGeom>
              <a:solidFill>
                <a:srgbClr val="0B3D6E"/>
              </a:solidFill>
              <a:ln>
                <a:noFill/>
              </a:ln>
            </p:spPr>
          </p:sp>
        </p:grpSp>
        <p:sp>
          <p:nvSpPr>
            <p:cNvPr id="62" name="TextBox 62"/>
            <p:cNvSpPr txBox="1"/>
            <p:nvPr/>
          </p:nvSpPr>
          <p:spPr>
            <a:xfrm>
              <a:off x="3595688" y="2913459"/>
              <a:ext cx="847736"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Photo Forensics</a:t>
              </a:r>
            </a:p>
          </p:txBody>
        </p:sp>
        <p:sp>
          <p:nvSpPr>
            <p:cNvPr id="63" name="Ellipse 63"/>
            <p:cNvSpPr/>
            <p:nvPr/>
          </p:nvSpPr>
          <p:spPr>
            <a:xfrm>
              <a:off x="4624388" y="2924175"/>
              <a:ext cx="85725" cy="85725"/>
            </a:xfrm>
            <a:prstGeom prst="ellipse">
              <a:avLst/>
            </a:prstGeom>
            <a:solidFill>
              <a:srgbClr val="0070C0"/>
            </a:solidFill>
            <a:ln>
              <a:noFill/>
            </a:ln>
          </p:spPr>
        </p:sp>
        <p:sp>
          <p:nvSpPr>
            <p:cNvPr id="64" name="Rectangle 64"/>
            <p:cNvSpPr/>
            <p:nvPr/>
          </p:nvSpPr>
          <p:spPr>
            <a:xfrm>
              <a:off x="3295650" y="3133725"/>
              <a:ext cx="1485900" cy="266700"/>
            </a:xfrm>
            <a:prstGeom prst="roundRect">
              <a:avLst>
                <a:gd name="adj" fmla="val 17857"/>
              </a:avLst>
            </a:prstGeom>
            <a:solidFill>
              <a:srgbClr val="F2F5F9"/>
            </a:solidFill>
            <a:ln>
              <a:noFill/>
            </a:ln>
          </p:spPr>
        </p:sp>
        <p:grpSp>
          <p:nvGrpSpPr>
            <p:cNvPr id="67" name="Group 67"/>
            <p:cNvGrpSpPr/>
            <p:nvPr/>
          </p:nvGrpSpPr>
          <p:grpSpPr>
            <a:xfrm>
              <a:off x="3382566" y="3183731"/>
              <a:ext cx="130969" cy="167045"/>
              <a:chOff x="3382566" y="3183731"/>
              <a:chExt cx="130969" cy="167045"/>
            </a:xfrm>
          </p:grpSpPr>
          <p:sp>
            <p:nvSpPr>
              <p:cNvPr id="65" name="Freeform 65"/>
              <p:cNvSpPr/>
              <p:nvPr/>
            </p:nvSpPr>
            <p:spPr>
              <a:xfrm>
                <a:off x="3388519" y="3189684"/>
                <a:ext cx="119062" cy="154781"/>
              </a:xfrm>
              <a:custGeom>
                <a:avLst/>
                <a:gdLst/>
                <a:ahLst/>
                <a:cxnLst/>
                <a:rect l="l" t="t" r="r" b="b"/>
                <a:pathLst>
                  <a:path w="119062" h="154781">
                    <a:moveTo>
                      <a:pt x="59531" y="0"/>
                    </a:moveTo>
                    <a:cubicBezTo>
                      <a:pt x="26653" y="0"/>
                      <a:pt x="0" y="26653"/>
                      <a:pt x="0" y="59531"/>
                    </a:cubicBezTo>
                    <a:cubicBezTo>
                      <a:pt x="0" y="113109"/>
                      <a:pt x="59531" y="154781"/>
                      <a:pt x="59531" y="154781"/>
                    </a:cubicBezTo>
                    <a:cubicBezTo>
                      <a:pt x="59531" y="154781"/>
                      <a:pt x="119062" y="113109"/>
                      <a:pt x="119062" y="59531"/>
                    </a:cubicBezTo>
                    <a:cubicBezTo>
                      <a:pt x="119062" y="26653"/>
                      <a:pt x="92409" y="0"/>
                      <a:pt x="59531" y="0"/>
                    </a:cubicBezTo>
                    <a:close/>
                    <a:moveTo>
                      <a:pt x="59531" y="83344"/>
                    </a:moveTo>
                    <a:cubicBezTo>
                      <a:pt x="46380" y="83344"/>
                      <a:pt x="35719" y="72683"/>
                      <a:pt x="35719" y="59531"/>
                    </a:cubicBezTo>
                    <a:cubicBezTo>
                      <a:pt x="35719" y="46380"/>
                      <a:pt x="46380" y="35719"/>
                      <a:pt x="59531" y="35719"/>
                    </a:cubicBezTo>
                    <a:cubicBezTo>
                      <a:pt x="72683" y="35719"/>
                      <a:pt x="83344" y="46380"/>
                      <a:pt x="83344" y="59531"/>
                    </a:cubicBezTo>
                    <a:cubicBezTo>
                      <a:pt x="83344" y="72683"/>
                      <a:pt x="72683" y="83344"/>
                      <a:pt x="59531" y="83344"/>
                    </a:cubicBezTo>
                    <a:close/>
                  </a:path>
                </a:pathLst>
              </a:custGeom>
              <a:solidFill>
                <a:srgbClr val="0B3D6E">
                  <a:alpha val="20000"/>
                </a:srgbClr>
              </a:solidFill>
              <a:ln>
                <a:noFill/>
              </a:ln>
            </p:spPr>
          </p:sp>
          <p:sp>
            <p:nvSpPr>
              <p:cNvPr id="66" name="Freeform 66"/>
              <p:cNvSpPr/>
              <p:nvPr/>
            </p:nvSpPr>
            <p:spPr>
              <a:xfrm>
                <a:off x="3382566" y="3183731"/>
                <a:ext cx="130969" cy="167045"/>
              </a:xfrm>
              <a:custGeom>
                <a:avLst/>
                <a:gdLst/>
                <a:ahLst/>
                <a:cxnLst/>
                <a:rect l="l" t="t" r="r" b="b"/>
                <a:pathLst>
                  <a:path w="130969" h="167045">
                    <a:moveTo>
                      <a:pt x="65484" y="35719"/>
                    </a:moveTo>
                    <a:cubicBezTo>
                      <a:pt x="49045" y="35719"/>
                      <a:pt x="35719" y="49045"/>
                      <a:pt x="35719" y="65484"/>
                    </a:cubicBezTo>
                    <a:cubicBezTo>
                      <a:pt x="35719" y="81923"/>
                      <a:pt x="49045" y="95250"/>
                      <a:pt x="65484" y="95250"/>
                    </a:cubicBezTo>
                    <a:cubicBezTo>
                      <a:pt x="81923" y="95250"/>
                      <a:pt x="95250" y="81923"/>
                      <a:pt x="95250" y="65484"/>
                    </a:cubicBezTo>
                    <a:cubicBezTo>
                      <a:pt x="95250" y="49045"/>
                      <a:pt x="81923" y="35719"/>
                      <a:pt x="65484" y="35719"/>
                    </a:cubicBezTo>
                    <a:close/>
                    <a:moveTo>
                      <a:pt x="65484" y="83344"/>
                    </a:moveTo>
                    <a:cubicBezTo>
                      <a:pt x="55621" y="83344"/>
                      <a:pt x="47625" y="75348"/>
                      <a:pt x="47625" y="65484"/>
                    </a:cubicBezTo>
                    <a:cubicBezTo>
                      <a:pt x="47625" y="55621"/>
                      <a:pt x="55621" y="47625"/>
                      <a:pt x="65484" y="47625"/>
                    </a:cubicBezTo>
                    <a:cubicBezTo>
                      <a:pt x="75348" y="47625"/>
                      <a:pt x="83344" y="55621"/>
                      <a:pt x="83344" y="65484"/>
                    </a:cubicBezTo>
                    <a:cubicBezTo>
                      <a:pt x="83344" y="75348"/>
                      <a:pt x="75348" y="83344"/>
                      <a:pt x="65484" y="83344"/>
                    </a:cubicBezTo>
                    <a:close/>
                    <a:moveTo>
                      <a:pt x="65484" y="0"/>
                    </a:moveTo>
                    <a:cubicBezTo>
                      <a:pt x="29335" y="41"/>
                      <a:pt x="41" y="29335"/>
                      <a:pt x="0" y="65484"/>
                    </a:cubicBezTo>
                    <a:cubicBezTo>
                      <a:pt x="0" y="88850"/>
                      <a:pt x="10797" y="113615"/>
                      <a:pt x="31254" y="137108"/>
                    </a:cubicBezTo>
                    <a:cubicBezTo>
                      <a:pt x="40446" y="147724"/>
                      <a:pt x="50791" y="157283"/>
                      <a:pt x="62099" y="165608"/>
                    </a:cubicBezTo>
                    <a:cubicBezTo>
                      <a:pt x="64149" y="167045"/>
                      <a:pt x="66879" y="167045"/>
                      <a:pt x="68930" y="165608"/>
                    </a:cubicBezTo>
                    <a:cubicBezTo>
                      <a:pt x="80216" y="157279"/>
                      <a:pt x="90542" y="147720"/>
                      <a:pt x="99715" y="137108"/>
                    </a:cubicBezTo>
                    <a:cubicBezTo>
                      <a:pt x="120142" y="113615"/>
                      <a:pt x="130969" y="88850"/>
                      <a:pt x="130969" y="65484"/>
                    </a:cubicBezTo>
                    <a:cubicBezTo>
                      <a:pt x="130928" y="29335"/>
                      <a:pt x="101633" y="41"/>
                      <a:pt x="65484" y="0"/>
                    </a:cubicBezTo>
                    <a:close/>
                    <a:moveTo>
                      <a:pt x="65484" y="153293"/>
                    </a:moveTo>
                    <a:cubicBezTo>
                      <a:pt x="53184" y="143619"/>
                      <a:pt x="11906" y="108086"/>
                      <a:pt x="11906" y="65484"/>
                    </a:cubicBezTo>
                    <a:cubicBezTo>
                      <a:pt x="11906" y="35894"/>
                      <a:pt x="35894" y="11906"/>
                      <a:pt x="65484" y="11906"/>
                    </a:cubicBezTo>
                    <a:cubicBezTo>
                      <a:pt x="95075" y="11906"/>
                      <a:pt x="119062" y="35894"/>
                      <a:pt x="119062" y="65484"/>
                    </a:cubicBezTo>
                    <a:cubicBezTo>
                      <a:pt x="119062" y="108072"/>
                      <a:pt x="77785" y="143619"/>
                      <a:pt x="65484" y="153293"/>
                    </a:cubicBezTo>
                    <a:close/>
                  </a:path>
                </a:pathLst>
              </a:custGeom>
              <a:solidFill>
                <a:srgbClr val="0B3D6E"/>
              </a:solidFill>
              <a:ln>
                <a:noFill/>
              </a:ln>
            </p:spPr>
          </p:sp>
        </p:grpSp>
        <p:sp>
          <p:nvSpPr>
            <p:cNvPr id="68" name="TextBox 68"/>
            <p:cNvSpPr txBox="1"/>
            <p:nvPr/>
          </p:nvSpPr>
          <p:spPr>
            <a:xfrm>
              <a:off x="3595688" y="3213497"/>
              <a:ext cx="715690"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Geo-Location</a:t>
              </a:r>
            </a:p>
          </p:txBody>
        </p:sp>
        <p:sp>
          <p:nvSpPr>
            <p:cNvPr id="69" name="Ellipse 69"/>
            <p:cNvSpPr/>
            <p:nvPr/>
          </p:nvSpPr>
          <p:spPr>
            <a:xfrm>
              <a:off x="4624388" y="3224212"/>
              <a:ext cx="85725" cy="85725"/>
            </a:xfrm>
            <a:prstGeom prst="ellipse">
              <a:avLst/>
            </a:prstGeom>
            <a:solidFill>
              <a:srgbClr val="0070C0"/>
            </a:solidFill>
            <a:ln>
              <a:noFill/>
            </a:ln>
          </p:spPr>
        </p:sp>
        <p:sp>
          <p:nvSpPr>
            <p:cNvPr id="70" name="Rectangle 70"/>
            <p:cNvSpPr/>
            <p:nvPr/>
          </p:nvSpPr>
          <p:spPr>
            <a:xfrm>
              <a:off x="3295650" y="3433762"/>
              <a:ext cx="1485900" cy="266700"/>
            </a:xfrm>
            <a:prstGeom prst="roundRect">
              <a:avLst>
                <a:gd name="adj" fmla="val 17857"/>
              </a:avLst>
            </a:prstGeom>
            <a:solidFill>
              <a:srgbClr val="F2F5F9"/>
            </a:solidFill>
            <a:ln>
              <a:noFill/>
            </a:ln>
          </p:spPr>
        </p:sp>
        <p:grpSp>
          <p:nvGrpSpPr>
            <p:cNvPr id="73" name="Group 73"/>
            <p:cNvGrpSpPr/>
            <p:nvPr/>
          </p:nvGrpSpPr>
          <p:grpSpPr>
            <a:xfrm>
              <a:off x="3382566" y="3489721"/>
              <a:ext cx="130970" cy="154782"/>
              <a:chOff x="3382566" y="3489721"/>
              <a:chExt cx="130970" cy="154782"/>
            </a:xfrm>
          </p:grpSpPr>
          <p:sp>
            <p:nvSpPr>
              <p:cNvPr id="71" name="Freeform 71"/>
              <p:cNvSpPr/>
              <p:nvPr/>
            </p:nvSpPr>
            <p:spPr>
              <a:xfrm>
                <a:off x="3465909" y="3495675"/>
                <a:ext cx="41672" cy="41672"/>
              </a:xfrm>
              <a:custGeom>
                <a:avLst/>
                <a:gdLst/>
                <a:ahLst/>
                <a:cxnLst/>
                <a:rect l="l" t="t" r="r" b="b"/>
                <a:pathLst>
                  <a:path w="41672" h="41672">
                    <a:moveTo>
                      <a:pt x="41672" y="41672"/>
                    </a:moveTo>
                    <a:lnTo>
                      <a:pt x="0" y="41672"/>
                    </a:lnTo>
                    <a:lnTo>
                      <a:pt x="0" y="0"/>
                    </a:lnTo>
                    <a:close/>
                  </a:path>
                </a:pathLst>
              </a:custGeom>
              <a:solidFill>
                <a:srgbClr val="0B3D6E">
                  <a:alpha val="20000"/>
                </a:srgbClr>
              </a:solidFill>
              <a:ln>
                <a:noFill/>
              </a:ln>
            </p:spPr>
          </p:sp>
          <p:sp>
            <p:nvSpPr>
              <p:cNvPr id="72" name="Freeform 72"/>
              <p:cNvSpPr/>
              <p:nvPr/>
            </p:nvSpPr>
            <p:spPr>
              <a:xfrm>
                <a:off x="3382566" y="3489721"/>
                <a:ext cx="130970" cy="154782"/>
              </a:xfrm>
              <a:custGeom>
                <a:avLst/>
                <a:gdLst/>
                <a:ahLst/>
                <a:cxnLst/>
                <a:rect l="l" t="t" r="r" b="b"/>
                <a:pathLst>
                  <a:path w="130970" h="154782">
                    <a:moveTo>
                      <a:pt x="129227" y="43414"/>
                    </a:moveTo>
                    <a:lnTo>
                      <a:pt x="87556" y="1743"/>
                    </a:lnTo>
                    <a:cubicBezTo>
                      <a:pt x="86438" y="626"/>
                      <a:pt x="84923" y="0"/>
                      <a:pt x="83344" y="1"/>
                    </a:cubicBezTo>
                    <a:lnTo>
                      <a:pt x="11906" y="1"/>
                    </a:lnTo>
                    <a:cubicBezTo>
                      <a:pt x="5331" y="1"/>
                      <a:pt x="0" y="5332"/>
                      <a:pt x="0" y="11907"/>
                    </a:cubicBezTo>
                    <a:lnTo>
                      <a:pt x="0" y="142876"/>
                    </a:lnTo>
                    <a:cubicBezTo>
                      <a:pt x="0" y="149452"/>
                      <a:pt x="5331" y="154782"/>
                      <a:pt x="11906" y="154782"/>
                    </a:cubicBezTo>
                    <a:lnTo>
                      <a:pt x="119062" y="154782"/>
                    </a:lnTo>
                    <a:cubicBezTo>
                      <a:pt x="125638" y="154782"/>
                      <a:pt x="130969" y="149452"/>
                      <a:pt x="130969" y="142876"/>
                    </a:cubicBezTo>
                    <a:lnTo>
                      <a:pt x="130969" y="47626"/>
                    </a:lnTo>
                    <a:cubicBezTo>
                      <a:pt x="130970" y="46047"/>
                      <a:pt x="130344" y="44532"/>
                      <a:pt x="129227" y="43414"/>
                    </a:cubicBezTo>
                    <a:close/>
                    <a:moveTo>
                      <a:pt x="89297" y="20324"/>
                    </a:moveTo>
                    <a:lnTo>
                      <a:pt x="110646" y="41673"/>
                    </a:lnTo>
                    <a:lnTo>
                      <a:pt x="89297" y="41673"/>
                    </a:lnTo>
                    <a:close/>
                    <a:moveTo>
                      <a:pt x="119062" y="142876"/>
                    </a:moveTo>
                    <a:lnTo>
                      <a:pt x="11906" y="142876"/>
                    </a:lnTo>
                    <a:lnTo>
                      <a:pt x="11906" y="11907"/>
                    </a:lnTo>
                    <a:lnTo>
                      <a:pt x="77391" y="11907"/>
                    </a:lnTo>
                    <a:lnTo>
                      <a:pt x="77391" y="47626"/>
                    </a:lnTo>
                    <a:cubicBezTo>
                      <a:pt x="77391" y="50914"/>
                      <a:pt x="80056" y="53579"/>
                      <a:pt x="83344" y="53579"/>
                    </a:cubicBezTo>
                    <a:lnTo>
                      <a:pt x="119062" y="53579"/>
                    </a:lnTo>
                    <a:lnTo>
                      <a:pt x="119062" y="142876"/>
                    </a:lnTo>
                    <a:close/>
                    <a:moveTo>
                      <a:pt x="95250" y="83345"/>
                    </a:moveTo>
                    <a:cubicBezTo>
                      <a:pt x="95250" y="86633"/>
                      <a:pt x="92585" y="89298"/>
                      <a:pt x="89297" y="89298"/>
                    </a:cubicBezTo>
                    <a:lnTo>
                      <a:pt x="41672" y="89298"/>
                    </a:lnTo>
                    <a:cubicBezTo>
                      <a:pt x="38384" y="89298"/>
                      <a:pt x="35719" y="86633"/>
                      <a:pt x="35719" y="83345"/>
                    </a:cubicBezTo>
                    <a:cubicBezTo>
                      <a:pt x="35719" y="80057"/>
                      <a:pt x="38384" y="77392"/>
                      <a:pt x="41672" y="77392"/>
                    </a:cubicBezTo>
                    <a:lnTo>
                      <a:pt x="89297" y="77392"/>
                    </a:lnTo>
                    <a:cubicBezTo>
                      <a:pt x="92585" y="77392"/>
                      <a:pt x="95250" y="80057"/>
                      <a:pt x="95250" y="83345"/>
                    </a:cubicBezTo>
                    <a:close/>
                    <a:moveTo>
                      <a:pt x="95250" y="107157"/>
                    </a:moveTo>
                    <a:cubicBezTo>
                      <a:pt x="95250" y="110445"/>
                      <a:pt x="92585" y="113111"/>
                      <a:pt x="89297" y="113111"/>
                    </a:cubicBezTo>
                    <a:lnTo>
                      <a:pt x="41672" y="113111"/>
                    </a:lnTo>
                    <a:cubicBezTo>
                      <a:pt x="38384" y="113111"/>
                      <a:pt x="35719" y="110445"/>
                      <a:pt x="35719" y="107157"/>
                    </a:cubicBezTo>
                    <a:cubicBezTo>
                      <a:pt x="35719" y="103870"/>
                      <a:pt x="38384" y="101204"/>
                      <a:pt x="41672" y="101204"/>
                    </a:cubicBezTo>
                    <a:lnTo>
                      <a:pt x="89297" y="101204"/>
                    </a:lnTo>
                    <a:cubicBezTo>
                      <a:pt x="92585" y="101204"/>
                      <a:pt x="95250" y="103870"/>
                      <a:pt x="95250" y="107157"/>
                    </a:cubicBezTo>
                    <a:close/>
                  </a:path>
                </a:pathLst>
              </a:custGeom>
              <a:solidFill>
                <a:srgbClr val="0B3D6E"/>
              </a:solidFill>
              <a:ln>
                <a:noFill/>
              </a:ln>
            </p:spPr>
          </p:sp>
        </p:grpSp>
        <p:sp>
          <p:nvSpPr>
            <p:cNvPr id="74" name="TextBox 74"/>
            <p:cNvSpPr txBox="1"/>
            <p:nvPr/>
          </p:nvSpPr>
          <p:spPr>
            <a:xfrm>
              <a:off x="3595688" y="3513534"/>
              <a:ext cx="560478"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Document</a:t>
              </a:r>
            </a:p>
          </p:txBody>
        </p:sp>
        <p:sp>
          <p:nvSpPr>
            <p:cNvPr id="75" name="Ellipse 75"/>
            <p:cNvSpPr/>
            <p:nvPr/>
          </p:nvSpPr>
          <p:spPr>
            <a:xfrm>
              <a:off x="4624388" y="3524250"/>
              <a:ext cx="85725" cy="85725"/>
            </a:xfrm>
            <a:prstGeom prst="ellipse">
              <a:avLst/>
            </a:prstGeom>
            <a:solidFill>
              <a:srgbClr val="0070C0"/>
            </a:solidFill>
            <a:ln>
              <a:noFill/>
            </a:ln>
          </p:spPr>
        </p:sp>
        <p:sp>
          <p:nvSpPr>
            <p:cNvPr id="76" name="Rectangle 76"/>
            <p:cNvSpPr/>
            <p:nvPr/>
          </p:nvSpPr>
          <p:spPr>
            <a:xfrm>
              <a:off x="3295650" y="3733800"/>
              <a:ext cx="1485900" cy="266700"/>
            </a:xfrm>
            <a:prstGeom prst="roundRect">
              <a:avLst>
                <a:gd name="adj" fmla="val 17857"/>
              </a:avLst>
            </a:prstGeom>
            <a:solidFill>
              <a:srgbClr val="F2F5F9"/>
            </a:solidFill>
            <a:ln>
              <a:noFill/>
            </a:ln>
          </p:spPr>
        </p:sp>
        <p:grpSp>
          <p:nvGrpSpPr>
            <p:cNvPr id="79" name="Group 79"/>
            <p:cNvGrpSpPr/>
            <p:nvPr/>
          </p:nvGrpSpPr>
          <p:grpSpPr>
            <a:xfrm>
              <a:off x="3369621" y="3788598"/>
              <a:ext cx="155819" cy="155942"/>
              <a:chOff x="3369621" y="3788598"/>
              <a:chExt cx="155819" cy="155942"/>
            </a:xfrm>
          </p:grpSpPr>
          <p:sp>
            <p:nvSpPr>
              <p:cNvPr id="77" name="Freeform 77"/>
              <p:cNvSpPr/>
              <p:nvPr/>
            </p:nvSpPr>
            <p:spPr>
              <a:xfrm>
                <a:off x="3369621" y="3788598"/>
                <a:ext cx="143169" cy="136379"/>
              </a:xfrm>
              <a:custGeom>
                <a:avLst/>
                <a:gdLst/>
                <a:ahLst/>
                <a:cxnLst/>
                <a:rect l="l" t="t" r="r" b="b"/>
                <a:pathLst>
                  <a:path w="143169" h="136379">
                    <a:moveTo>
                      <a:pt x="143169" y="108846"/>
                    </a:moveTo>
                    <a:cubicBezTo>
                      <a:pt x="138035" y="119792"/>
                      <a:pt x="130217" y="129263"/>
                      <a:pt x="120443" y="136379"/>
                    </a:cubicBezTo>
                    <a:lnTo>
                      <a:pt x="113478" y="129406"/>
                    </a:lnTo>
                    <a:cubicBezTo>
                      <a:pt x="112732" y="128657"/>
                      <a:pt x="111799" y="128120"/>
                      <a:pt x="110777" y="127851"/>
                    </a:cubicBezTo>
                    <a:lnTo>
                      <a:pt x="94800" y="123639"/>
                    </a:lnTo>
                    <a:cubicBezTo>
                      <a:pt x="91868" y="122868"/>
                      <a:pt x="89984" y="120016"/>
                      <a:pt x="90424" y="117016"/>
                    </a:cubicBezTo>
                    <a:lnTo>
                      <a:pt x="92196" y="104961"/>
                    </a:lnTo>
                    <a:cubicBezTo>
                      <a:pt x="92500" y="102893"/>
                      <a:pt x="93867" y="101136"/>
                      <a:pt x="95797" y="100333"/>
                    </a:cubicBezTo>
                    <a:lnTo>
                      <a:pt x="118464" y="90912"/>
                    </a:lnTo>
                    <a:cubicBezTo>
                      <a:pt x="120602" y="90025"/>
                      <a:pt x="123060" y="90457"/>
                      <a:pt x="124767" y="92021"/>
                    </a:cubicBezTo>
                    <a:close/>
                    <a:moveTo>
                      <a:pt x="102160" y="61437"/>
                    </a:moveTo>
                    <a:lnTo>
                      <a:pt x="118657" y="42238"/>
                    </a:lnTo>
                    <a:cubicBezTo>
                      <a:pt x="119585" y="41162"/>
                      <a:pt x="120097" y="39789"/>
                      <a:pt x="120101" y="38368"/>
                    </a:cubicBezTo>
                    <a:lnTo>
                      <a:pt x="120101" y="20509"/>
                    </a:lnTo>
                    <a:cubicBezTo>
                      <a:pt x="91586" y="0"/>
                      <a:pt x="52392" y="3263"/>
                      <a:pt x="27661" y="28205"/>
                    </a:cubicBezTo>
                    <a:cubicBezTo>
                      <a:pt x="2930" y="53148"/>
                      <a:pt x="0" y="92368"/>
                      <a:pt x="20751" y="120707"/>
                    </a:cubicBezTo>
                    <a:lnTo>
                      <a:pt x="28132" y="115856"/>
                    </a:lnTo>
                    <a:cubicBezTo>
                      <a:pt x="29793" y="114759"/>
                      <a:pt x="30795" y="112905"/>
                      <a:pt x="30804" y="110915"/>
                    </a:cubicBezTo>
                    <a:lnTo>
                      <a:pt x="30960" y="83954"/>
                    </a:lnTo>
                    <a:cubicBezTo>
                      <a:pt x="30968" y="82786"/>
                      <a:pt x="31317" y="81645"/>
                      <a:pt x="31965" y="80673"/>
                    </a:cubicBezTo>
                    <a:lnTo>
                      <a:pt x="47547" y="57381"/>
                    </a:lnTo>
                    <a:cubicBezTo>
                      <a:pt x="48450" y="56041"/>
                      <a:pt x="49859" y="55125"/>
                      <a:pt x="51450" y="54845"/>
                    </a:cubicBezTo>
                    <a:cubicBezTo>
                      <a:pt x="53042" y="54564"/>
                      <a:pt x="54679" y="54942"/>
                      <a:pt x="55986" y="55893"/>
                    </a:cubicBezTo>
                    <a:lnTo>
                      <a:pt x="70727" y="65567"/>
                    </a:lnTo>
                    <a:cubicBezTo>
                      <a:pt x="71968" y="66461"/>
                      <a:pt x="73504" y="66847"/>
                      <a:pt x="75021" y="66646"/>
                    </a:cubicBezTo>
                    <a:lnTo>
                      <a:pt x="98431" y="63476"/>
                    </a:lnTo>
                    <a:cubicBezTo>
                      <a:pt x="99883" y="63278"/>
                      <a:pt x="101210" y="62552"/>
                      <a:pt x="102160" y="61437"/>
                    </a:cubicBezTo>
                    <a:close/>
                  </a:path>
                </a:pathLst>
              </a:custGeom>
              <a:solidFill>
                <a:srgbClr val="0B3D6E">
                  <a:alpha val="20000"/>
                </a:srgbClr>
              </a:solidFill>
              <a:ln>
                <a:noFill/>
              </a:ln>
            </p:spPr>
          </p:sp>
          <p:sp>
            <p:nvSpPr>
              <p:cNvPr id="78" name="Freeform 78"/>
              <p:cNvSpPr/>
              <p:nvPr/>
            </p:nvSpPr>
            <p:spPr>
              <a:xfrm>
                <a:off x="3370659" y="3789759"/>
                <a:ext cx="154781" cy="154781"/>
              </a:xfrm>
              <a:custGeom>
                <a:avLst/>
                <a:gdLst/>
                <a:ahLst/>
                <a:cxnLst/>
                <a:rect l="l" t="t" r="r" b="b"/>
                <a:pathLst>
                  <a:path w="154781" h="154781">
                    <a:moveTo>
                      <a:pt x="77391" y="0"/>
                    </a:moveTo>
                    <a:cubicBezTo>
                      <a:pt x="34649" y="0"/>
                      <a:pt x="0" y="34649"/>
                      <a:pt x="0" y="77391"/>
                    </a:cubicBezTo>
                    <a:cubicBezTo>
                      <a:pt x="0" y="120132"/>
                      <a:pt x="34649" y="154781"/>
                      <a:pt x="77391" y="154781"/>
                    </a:cubicBezTo>
                    <a:cubicBezTo>
                      <a:pt x="120132" y="154781"/>
                      <a:pt x="154781" y="120132"/>
                      <a:pt x="154781" y="77391"/>
                    </a:cubicBezTo>
                    <a:cubicBezTo>
                      <a:pt x="154736" y="34668"/>
                      <a:pt x="120114" y="45"/>
                      <a:pt x="77391" y="0"/>
                    </a:cubicBezTo>
                    <a:close/>
                    <a:moveTo>
                      <a:pt x="77391" y="11906"/>
                    </a:moveTo>
                    <a:cubicBezTo>
                      <a:pt x="90078" y="11893"/>
                      <a:pt x="102493" y="15586"/>
                      <a:pt x="113109" y="22533"/>
                    </a:cubicBezTo>
                    <a:lnTo>
                      <a:pt x="113109" y="37207"/>
                    </a:lnTo>
                    <a:lnTo>
                      <a:pt x="96612" y="56361"/>
                    </a:lnTo>
                    <a:lnTo>
                      <a:pt x="73194" y="59531"/>
                    </a:lnTo>
                    <a:lnTo>
                      <a:pt x="72963" y="59368"/>
                    </a:lnTo>
                    <a:lnTo>
                      <a:pt x="58326" y="49798"/>
                    </a:lnTo>
                    <a:cubicBezTo>
                      <a:pt x="55704" y="47951"/>
                      <a:pt x="52448" y="47240"/>
                      <a:pt x="49295" y="47826"/>
                    </a:cubicBezTo>
                    <a:cubicBezTo>
                      <a:pt x="46142" y="48411"/>
                      <a:pt x="43359" y="50244"/>
                      <a:pt x="41575" y="52908"/>
                    </a:cubicBezTo>
                    <a:lnTo>
                      <a:pt x="25993" y="76200"/>
                    </a:lnTo>
                    <a:cubicBezTo>
                      <a:pt x="24695" y="78141"/>
                      <a:pt x="23996" y="80421"/>
                      <a:pt x="23984" y="82756"/>
                    </a:cubicBezTo>
                    <a:lnTo>
                      <a:pt x="23812" y="109716"/>
                    </a:lnTo>
                    <a:lnTo>
                      <a:pt x="21379" y="111316"/>
                    </a:lnTo>
                    <a:cubicBezTo>
                      <a:pt x="9131" y="91095"/>
                      <a:pt x="8734" y="65842"/>
                      <a:pt x="20339" y="45245"/>
                    </a:cubicBezTo>
                    <a:cubicBezTo>
                      <a:pt x="31944" y="24649"/>
                      <a:pt x="53750" y="11906"/>
                      <a:pt x="77391" y="11906"/>
                    </a:cubicBezTo>
                    <a:close/>
                    <a:moveTo>
                      <a:pt x="28493" y="120901"/>
                    </a:moveTo>
                    <a:lnTo>
                      <a:pt x="30368" y="119673"/>
                    </a:lnTo>
                    <a:cubicBezTo>
                      <a:pt x="33694" y="117479"/>
                      <a:pt x="35702" y="113767"/>
                      <a:pt x="35719" y="109783"/>
                    </a:cubicBezTo>
                    <a:lnTo>
                      <a:pt x="35875" y="82823"/>
                    </a:lnTo>
                    <a:lnTo>
                      <a:pt x="51472" y="59531"/>
                    </a:lnTo>
                    <a:cubicBezTo>
                      <a:pt x="51549" y="59590"/>
                      <a:pt x="51628" y="59645"/>
                      <a:pt x="51710" y="59695"/>
                    </a:cubicBezTo>
                    <a:lnTo>
                      <a:pt x="66348" y="69272"/>
                    </a:lnTo>
                    <a:cubicBezTo>
                      <a:pt x="68801" y="71003"/>
                      <a:pt x="71819" y="71740"/>
                      <a:pt x="74794" y="71333"/>
                    </a:cubicBezTo>
                    <a:lnTo>
                      <a:pt x="98227" y="68156"/>
                    </a:lnTo>
                    <a:cubicBezTo>
                      <a:pt x="101116" y="67770"/>
                      <a:pt x="103764" y="66338"/>
                      <a:pt x="105668" y="64130"/>
                    </a:cubicBezTo>
                    <a:lnTo>
                      <a:pt x="122166" y="44961"/>
                    </a:lnTo>
                    <a:cubicBezTo>
                      <a:pt x="124011" y="42799"/>
                      <a:pt x="125021" y="40049"/>
                      <a:pt x="125016" y="37207"/>
                    </a:cubicBezTo>
                    <a:lnTo>
                      <a:pt x="125016" y="32497"/>
                    </a:lnTo>
                    <a:cubicBezTo>
                      <a:pt x="141416" y="49848"/>
                      <a:pt x="147056" y="74759"/>
                      <a:pt x="139727" y="97482"/>
                    </a:cubicBezTo>
                    <a:lnTo>
                      <a:pt x="127717" y="86499"/>
                    </a:lnTo>
                    <a:cubicBezTo>
                      <a:pt x="124308" y="83370"/>
                      <a:pt x="119395" y="82499"/>
                      <a:pt x="115119" y="84266"/>
                    </a:cubicBezTo>
                    <a:lnTo>
                      <a:pt x="92452" y="93680"/>
                    </a:lnTo>
                    <a:cubicBezTo>
                      <a:pt x="88597" y="95298"/>
                      <a:pt x="85867" y="98810"/>
                      <a:pt x="85249" y="102944"/>
                    </a:cubicBezTo>
                    <a:lnTo>
                      <a:pt x="83470" y="114992"/>
                    </a:lnTo>
                    <a:cubicBezTo>
                      <a:pt x="82585" y="120996"/>
                      <a:pt x="86358" y="126706"/>
                      <a:pt x="92229" y="128245"/>
                    </a:cubicBezTo>
                    <a:lnTo>
                      <a:pt x="108198" y="132457"/>
                    </a:lnTo>
                    <a:lnTo>
                      <a:pt x="109954" y="134221"/>
                    </a:lnTo>
                    <a:cubicBezTo>
                      <a:pt x="83074" y="149643"/>
                      <a:pt x="49061" y="144081"/>
                      <a:pt x="28493" y="120901"/>
                    </a:cubicBezTo>
                    <a:close/>
                    <a:moveTo>
                      <a:pt x="119807" y="127248"/>
                    </a:moveTo>
                    <a:lnTo>
                      <a:pt x="116607" y="124041"/>
                    </a:lnTo>
                    <a:cubicBezTo>
                      <a:pt x="115114" y="122543"/>
                      <a:pt x="113249" y="121469"/>
                      <a:pt x="111204" y="120930"/>
                    </a:cubicBezTo>
                    <a:lnTo>
                      <a:pt x="95250" y="116718"/>
                    </a:lnTo>
                    <a:lnTo>
                      <a:pt x="97028" y="104671"/>
                    </a:lnTo>
                    <a:lnTo>
                      <a:pt x="119688" y="95250"/>
                    </a:lnTo>
                    <a:lnTo>
                      <a:pt x="134689" y="109002"/>
                    </a:lnTo>
                    <a:cubicBezTo>
                      <a:pt x="130866" y="115929"/>
                      <a:pt x="125824" y="122110"/>
                      <a:pt x="119807" y="127248"/>
                    </a:cubicBezTo>
                    <a:close/>
                  </a:path>
                </a:pathLst>
              </a:custGeom>
              <a:solidFill>
                <a:srgbClr val="0B3D6E"/>
              </a:solidFill>
              <a:ln>
                <a:noFill/>
              </a:ln>
            </p:spPr>
          </p:sp>
        </p:grpSp>
        <p:sp>
          <p:nvSpPr>
            <p:cNvPr id="80" name="TextBox 80"/>
            <p:cNvSpPr txBox="1"/>
            <p:nvPr/>
          </p:nvSpPr>
          <p:spPr>
            <a:xfrm>
              <a:off x="3595688" y="3813572"/>
              <a:ext cx="442909"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Satellite</a:t>
              </a:r>
            </a:p>
          </p:txBody>
        </p:sp>
        <p:sp>
          <p:nvSpPr>
            <p:cNvPr id="81" name="Ellipse 81"/>
            <p:cNvSpPr/>
            <p:nvPr/>
          </p:nvSpPr>
          <p:spPr>
            <a:xfrm>
              <a:off x="4629150" y="3829050"/>
              <a:ext cx="76200" cy="76200"/>
            </a:xfrm>
            <a:prstGeom prst="ellipse">
              <a:avLst/>
            </a:prstGeom>
            <a:solidFill>
              <a:srgbClr val="FFFFFF"/>
            </a:solidFill>
            <a:ln w="12382">
              <a:solidFill>
                <a:srgbClr val="667085"/>
              </a:solidFill>
            </a:ln>
          </p:spPr>
        </p:sp>
        <p:sp>
          <p:nvSpPr>
            <p:cNvPr id="82" name="Polygon 82"/>
            <p:cNvSpPr/>
            <p:nvPr/>
          </p:nvSpPr>
          <p:spPr>
            <a:xfrm>
              <a:off x="4876800" y="2152650"/>
              <a:ext cx="1600200" cy="266700"/>
            </a:xfrm>
            <a:custGeom>
              <a:avLst/>
              <a:gdLst/>
              <a:ahLst/>
              <a:cxnLst/>
              <a:rect l="l" t="t" r="r" b="b"/>
              <a:pathLst>
                <a:path w="1600200" h="266700">
                  <a:moveTo>
                    <a:pt x="0" y="0"/>
                  </a:moveTo>
                  <a:lnTo>
                    <a:pt x="1485900" y="0"/>
                  </a:lnTo>
                  <a:lnTo>
                    <a:pt x="1600200" y="133350"/>
                  </a:lnTo>
                  <a:lnTo>
                    <a:pt x="1485900" y="266700"/>
                  </a:lnTo>
                  <a:lnTo>
                    <a:pt x="0" y="266700"/>
                  </a:lnTo>
                  <a:lnTo>
                    <a:pt x="114300" y="133350"/>
                  </a:lnTo>
                  <a:close/>
                </a:path>
              </a:pathLst>
            </a:custGeom>
            <a:solidFill>
              <a:srgbClr val="0B3D6E"/>
            </a:solidFill>
            <a:ln>
              <a:noFill/>
            </a:ln>
          </p:spPr>
        </p:sp>
        <p:sp>
          <p:nvSpPr>
            <p:cNvPr id="83" name="TextBox 83"/>
            <p:cNvSpPr txBox="1"/>
            <p:nvPr/>
          </p:nvSpPr>
          <p:spPr>
            <a:xfrm>
              <a:off x="5354539" y="2236470"/>
              <a:ext cx="739972" cy="176212"/>
            </a:xfrm>
            <a:prstGeom prst="rect">
              <a:avLst/>
            </a:prstGeom>
            <a:noFill/>
            <a:ln>
              <a:noFill/>
            </a:ln>
          </p:spPr>
          <p:txBody>
            <a:bodyPr wrap="none" lIns="0" tIns="0" rIns="0" bIns="0" anchor="t" anchorCtr="0">
              <a:spAutoFit/>
            </a:bodyPr>
            <a:lstStyle/>
            <a:p>
              <a:pPr algn="ctr"/>
              <a:r>
                <a:rPr lang="en-IN" sz="900" b="1" dirty="0">
                  <a:solidFill>
                    <a:srgbClr val="FFFFFF"/>
                  </a:solidFill>
                  <a:latin typeface="Calibri"/>
                  <a:ea typeface="Calibri"/>
                  <a:cs typeface="Calibri"/>
                </a:rPr>
                <a:t>Money &amp; time</a:t>
              </a:r>
            </a:p>
          </p:txBody>
        </p:sp>
        <p:sp>
          <p:nvSpPr>
            <p:cNvPr id="84" name="Rectangle 84"/>
            <p:cNvSpPr/>
            <p:nvPr/>
          </p:nvSpPr>
          <p:spPr>
            <a:xfrm>
              <a:off x="4914900" y="2533650"/>
              <a:ext cx="1485900" cy="266700"/>
            </a:xfrm>
            <a:prstGeom prst="roundRect">
              <a:avLst>
                <a:gd name="adj" fmla="val 17857"/>
              </a:avLst>
            </a:prstGeom>
            <a:solidFill>
              <a:srgbClr val="F2F5F9"/>
            </a:solidFill>
            <a:ln>
              <a:noFill/>
            </a:ln>
          </p:spPr>
        </p:sp>
        <p:grpSp>
          <p:nvGrpSpPr>
            <p:cNvPr id="87" name="Group 87"/>
            <p:cNvGrpSpPr/>
            <p:nvPr/>
          </p:nvGrpSpPr>
          <p:grpSpPr>
            <a:xfrm>
              <a:off x="5013722" y="2589609"/>
              <a:ext cx="107156" cy="154781"/>
              <a:chOff x="5013722" y="2589609"/>
              <a:chExt cx="107156" cy="154781"/>
            </a:xfrm>
          </p:grpSpPr>
          <p:sp>
            <p:nvSpPr>
              <p:cNvPr id="85" name="Freeform 85"/>
              <p:cNvSpPr/>
              <p:nvPr/>
            </p:nvSpPr>
            <p:spPr>
              <a:xfrm>
                <a:off x="5027615" y="2637234"/>
                <a:ext cx="79065" cy="29766"/>
              </a:xfrm>
              <a:custGeom>
                <a:avLst/>
                <a:gdLst/>
                <a:ahLst/>
                <a:cxnLst/>
                <a:rect l="l" t="t" r="r" b="b"/>
                <a:pathLst>
                  <a:path w="79065" h="29766">
                    <a:moveTo>
                      <a:pt x="79065" y="0"/>
                    </a:moveTo>
                    <a:lnTo>
                      <a:pt x="39685" y="29766"/>
                    </a:lnTo>
                    <a:lnTo>
                      <a:pt x="0" y="0"/>
                    </a:lnTo>
                    <a:close/>
                  </a:path>
                </a:pathLst>
              </a:custGeom>
              <a:solidFill>
                <a:srgbClr val="0B3D6E">
                  <a:alpha val="20000"/>
                </a:srgbClr>
              </a:solidFill>
              <a:ln>
                <a:noFill/>
              </a:ln>
            </p:spPr>
          </p:sp>
          <p:sp>
            <p:nvSpPr>
              <p:cNvPr id="86" name="Freeform 86"/>
              <p:cNvSpPr/>
              <p:nvPr/>
            </p:nvSpPr>
            <p:spPr>
              <a:xfrm>
                <a:off x="5013722" y="2589609"/>
                <a:ext cx="107156" cy="154781"/>
              </a:xfrm>
              <a:custGeom>
                <a:avLst/>
                <a:gdLst/>
                <a:ahLst/>
                <a:cxnLst/>
                <a:rect l="l" t="t" r="r" b="b"/>
                <a:pathLst>
                  <a:path w="107156" h="154781">
                    <a:moveTo>
                      <a:pt x="107156" y="38427"/>
                    </a:moveTo>
                    <a:lnTo>
                      <a:pt x="107156" y="11906"/>
                    </a:lnTo>
                    <a:cubicBezTo>
                      <a:pt x="107156" y="5331"/>
                      <a:pt x="101826" y="0"/>
                      <a:pt x="95250" y="0"/>
                    </a:cubicBezTo>
                    <a:lnTo>
                      <a:pt x="11906" y="0"/>
                    </a:lnTo>
                    <a:cubicBezTo>
                      <a:pt x="5331" y="0"/>
                      <a:pt x="0" y="5331"/>
                      <a:pt x="0" y="11906"/>
                    </a:cubicBezTo>
                    <a:lnTo>
                      <a:pt x="0" y="38695"/>
                    </a:lnTo>
                    <a:cubicBezTo>
                      <a:pt x="8" y="42441"/>
                      <a:pt x="1771" y="45966"/>
                      <a:pt x="4762" y="48220"/>
                    </a:cubicBezTo>
                    <a:lnTo>
                      <a:pt x="43659" y="77391"/>
                    </a:lnTo>
                    <a:lnTo>
                      <a:pt x="4762" y="106561"/>
                    </a:lnTo>
                    <a:cubicBezTo>
                      <a:pt x="1771" y="108815"/>
                      <a:pt x="8" y="112340"/>
                      <a:pt x="0" y="116086"/>
                    </a:cubicBezTo>
                    <a:lnTo>
                      <a:pt x="0" y="142875"/>
                    </a:lnTo>
                    <a:cubicBezTo>
                      <a:pt x="0" y="149451"/>
                      <a:pt x="5331" y="154781"/>
                      <a:pt x="11906" y="154781"/>
                    </a:cubicBezTo>
                    <a:lnTo>
                      <a:pt x="95250" y="154781"/>
                    </a:lnTo>
                    <a:cubicBezTo>
                      <a:pt x="101826" y="154781"/>
                      <a:pt x="107156" y="149451"/>
                      <a:pt x="107156" y="142875"/>
                    </a:cubicBezTo>
                    <a:lnTo>
                      <a:pt x="107156" y="116354"/>
                    </a:lnTo>
                    <a:cubicBezTo>
                      <a:pt x="107148" y="112623"/>
                      <a:pt x="105401" y="109110"/>
                      <a:pt x="102431" y="106851"/>
                    </a:cubicBezTo>
                    <a:lnTo>
                      <a:pt x="63453" y="77391"/>
                    </a:lnTo>
                    <a:lnTo>
                      <a:pt x="102431" y="47930"/>
                    </a:lnTo>
                    <a:cubicBezTo>
                      <a:pt x="105401" y="45672"/>
                      <a:pt x="107148" y="42158"/>
                      <a:pt x="107156" y="38427"/>
                    </a:cubicBezTo>
                    <a:close/>
                    <a:moveTo>
                      <a:pt x="11906" y="11906"/>
                    </a:moveTo>
                    <a:lnTo>
                      <a:pt x="95250" y="11906"/>
                    </a:lnTo>
                    <a:lnTo>
                      <a:pt x="95250" y="38427"/>
                    </a:lnTo>
                    <a:lnTo>
                      <a:pt x="90956" y="41672"/>
                    </a:lnTo>
                    <a:lnTo>
                      <a:pt x="15873" y="41672"/>
                    </a:lnTo>
                    <a:lnTo>
                      <a:pt x="11906" y="38695"/>
                    </a:lnTo>
                    <a:close/>
                    <a:moveTo>
                      <a:pt x="53578" y="69949"/>
                    </a:moveTo>
                    <a:lnTo>
                      <a:pt x="31752" y="53578"/>
                    </a:lnTo>
                    <a:lnTo>
                      <a:pt x="75210" y="53578"/>
                    </a:lnTo>
                    <a:close/>
                    <a:moveTo>
                      <a:pt x="95250" y="142875"/>
                    </a:moveTo>
                    <a:lnTo>
                      <a:pt x="11906" y="142875"/>
                    </a:lnTo>
                    <a:lnTo>
                      <a:pt x="11906" y="116086"/>
                    </a:lnTo>
                    <a:lnTo>
                      <a:pt x="47625" y="89297"/>
                    </a:lnTo>
                    <a:lnTo>
                      <a:pt x="47625" y="107156"/>
                    </a:lnTo>
                    <a:cubicBezTo>
                      <a:pt x="47625" y="110444"/>
                      <a:pt x="50290" y="113109"/>
                      <a:pt x="53578" y="113109"/>
                    </a:cubicBezTo>
                    <a:cubicBezTo>
                      <a:pt x="56866" y="113109"/>
                      <a:pt x="59531" y="110444"/>
                      <a:pt x="59531" y="107156"/>
                    </a:cubicBezTo>
                    <a:lnTo>
                      <a:pt x="59531" y="89356"/>
                    </a:lnTo>
                    <a:lnTo>
                      <a:pt x="95250" y="116354"/>
                    </a:lnTo>
                    <a:close/>
                  </a:path>
                </a:pathLst>
              </a:custGeom>
              <a:solidFill>
                <a:srgbClr val="0B3D6E"/>
              </a:solidFill>
              <a:ln>
                <a:noFill/>
              </a:ln>
            </p:spPr>
          </p:sp>
        </p:grpSp>
        <p:sp>
          <p:nvSpPr>
            <p:cNvPr id="88" name="TextBox 88"/>
            <p:cNvSpPr txBox="1"/>
            <p:nvPr/>
          </p:nvSpPr>
          <p:spPr>
            <a:xfrm>
              <a:off x="5214938" y="2613422"/>
              <a:ext cx="309845"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Delay</a:t>
              </a:r>
            </a:p>
          </p:txBody>
        </p:sp>
        <p:sp>
          <p:nvSpPr>
            <p:cNvPr id="89" name="Ellipse 89"/>
            <p:cNvSpPr/>
            <p:nvPr/>
          </p:nvSpPr>
          <p:spPr>
            <a:xfrm>
              <a:off x="6243638" y="2624138"/>
              <a:ext cx="85725" cy="85725"/>
            </a:xfrm>
            <a:prstGeom prst="ellipse">
              <a:avLst/>
            </a:prstGeom>
            <a:solidFill>
              <a:srgbClr val="0070C0"/>
            </a:solidFill>
            <a:ln>
              <a:noFill/>
            </a:ln>
          </p:spPr>
        </p:sp>
        <p:sp>
          <p:nvSpPr>
            <p:cNvPr id="90" name="Rectangle 90"/>
            <p:cNvSpPr/>
            <p:nvPr/>
          </p:nvSpPr>
          <p:spPr>
            <a:xfrm>
              <a:off x="4914900" y="2833688"/>
              <a:ext cx="1485900" cy="266700"/>
            </a:xfrm>
            <a:prstGeom prst="roundRect">
              <a:avLst>
                <a:gd name="adj" fmla="val 17857"/>
              </a:avLst>
            </a:prstGeom>
            <a:solidFill>
              <a:srgbClr val="F2F5F9"/>
            </a:solidFill>
            <a:ln>
              <a:noFill/>
            </a:ln>
          </p:spPr>
        </p:sp>
        <p:grpSp>
          <p:nvGrpSpPr>
            <p:cNvPr id="93" name="Group 93"/>
            <p:cNvGrpSpPr/>
            <p:nvPr/>
          </p:nvGrpSpPr>
          <p:grpSpPr>
            <a:xfrm>
              <a:off x="4972050" y="2887335"/>
              <a:ext cx="181053" cy="145187"/>
              <a:chOff x="4972050" y="2887335"/>
              <a:chExt cx="181053" cy="145187"/>
            </a:xfrm>
          </p:grpSpPr>
          <p:sp>
            <p:nvSpPr>
              <p:cNvPr id="91" name="Freeform 91"/>
              <p:cNvSpPr/>
              <p:nvPr/>
            </p:nvSpPr>
            <p:spPr>
              <a:xfrm>
                <a:off x="4978003" y="2893966"/>
                <a:ext cx="166830" cy="132603"/>
              </a:xfrm>
              <a:custGeom>
                <a:avLst/>
                <a:gdLst/>
                <a:ahLst/>
                <a:cxnLst/>
                <a:rect l="l" t="t" r="r" b="b"/>
                <a:pathLst>
                  <a:path w="166830" h="132603">
                    <a:moveTo>
                      <a:pt x="5953" y="90931"/>
                    </a:moveTo>
                    <a:lnTo>
                      <a:pt x="29766" y="90931"/>
                    </a:lnTo>
                    <a:lnTo>
                      <a:pt x="29766" y="132603"/>
                    </a:lnTo>
                    <a:lnTo>
                      <a:pt x="5953" y="132603"/>
                    </a:lnTo>
                    <a:cubicBezTo>
                      <a:pt x="2665" y="132603"/>
                      <a:pt x="0" y="129938"/>
                      <a:pt x="0" y="126650"/>
                    </a:cubicBezTo>
                    <a:lnTo>
                      <a:pt x="0" y="96884"/>
                    </a:lnTo>
                    <a:cubicBezTo>
                      <a:pt x="0" y="93597"/>
                      <a:pt x="2665" y="90931"/>
                      <a:pt x="5953" y="90931"/>
                    </a:cubicBezTo>
                    <a:close/>
                    <a:moveTo>
                      <a:pt x="145852" y="19494"/>
                    </a:moveTo>
                    <a:cubicBezTo>
                      <a:pt x="142762" y="19496"/>
                      <a:pt x="139712" y="20185"/>
                      <a:pt x="136922" y="21510"/>
                    </a:cubicBezTo>
                    <a:lnTo>
                      <a:pt x="136922" y="21510"/>
                    </a:lnTo>
                    <a:cubicBezTo>
                      <a:pt x="136506" y="12335"/>
                      <a:pt x="130131" y="4514"/>
                      <a:pt x="121227" y="2257"/>
                    </a:cubicBezTo>
                    <a:cubicBezTo>
                      <a:pt x="112324" y="0"/>
                      <a:pt x="102993" y="3839"/>
                      <a:pt x="98256" y="11708"/>
                    </a:cubicBezTo>
                    <a:cubicBezTo>
                      <a:pt x="93519" y="19578"/>
                      <a:pt x="94494" y="29620"/>
                      <a:pt x="100656" y="36432"/>
                    </a:cubicBezTo>
                    <a:cubicBezTo>
                      <a:pt x="106817" y="43243"/>
                      <a:pt x="116712" y="45217"/>
                      <a:pt x="125016" y="41290"/>
                    </a:cubicBezTo>
                    <a:lnTo>
                      <a:pt x="125016" y="41290"/>
                    </a:lnTo>
                    <a:cubicBezTo>
                      <a:pt x="125540" y="52657"/>
                      <a:pt x="135088" y="61502"/>
                      <a:pt x="146462" y="61156"/>
                    </a:cubicBezTo>
                    <a:cubicBezTo>
                      <a:pt x="157837" y="60810"/>
                      <a:pt x="166830" y="51403"/>
                      <a:pt x="166663" y="40024"/>
                    </a:cubicBezTo>
                    <a:cubicBezTo>
                      <a:pt x="166496" y="28646"/>
                      <a:pt x="157231" y="19506"/>
                      <a:pt x="145852" y="19494"/>
                    </a:cubicBezTo>
                    <a:close/>
                  </a:path>
                </a:pathLst>
              </a:custGeom>
              <a:solidFill>
                <a:srgbClr val="0B3D6E">
                  <a:alpha val="20000"/>
                </a:srgbClr>
              </a:solidFill>
              <a:ln>
                <a:noFill/>
              </a:ln>
            </p:spPr>
          </p:sp>
          <p:sp>
            <p:nvSpPr>
              <p:cNvPr id="92" name="Freeform 92"/>
              <p:cNvSpPr/>
              <p:nvPr/>
            </p:nvSpPr>
            <p:spPr>
              <a:xfrm>
                <a:off x="4972050" y="2887335"/>
                <a:ext cx="181053" cy="145187"/>
              </a:xfrm>
              <a:custGeom>
                <a:avLst/>
                <a:gdLst/>
                <a:ahLst/>
                <a:cxnLst/>
                <a:rect l="l" t="t" r="r" b="b"/>
                <a:pathLst>
                  <a:path w="181053" h="145187">
                    <a:moveTo>
                      <a:pt x="171398" y="89420"/>
                    </a:moveTo>
                    <a:cubicBezTo>
                      <a:pt x="166908" y="85966"/>
                      <a:pt x="161064" y="84802"/>
                      <a:pt x="155592" y="86273"/>
                    </a:cubicBezTo>
                    <a:lnTo>
                      <a:pt x="124458" y="93431"/>
                    </a:lnTo>
                    <a:cubicBezTo>
                      <a:pt x="125925" y="87232"/>
                      <a:pt x="124476" y="80702"/>
                      <a:pt x="120524" y="75705"/>
                    </a:cubicBezTo>
                    <a:cubicBezTo>
                      <a:pt x="116571" y="70709"/>
                      <a:pt x="110550" y="67795"/>
                      <a:pt x="104180" y="67796"/>
                    </a:cubicBezTo>
                    <a:lnTo>
                      <a:pt x="66928" y="67796"/>
                    </a:lnTo>
                    <a:cubicBezTo>
                      <a:pt x="60609" y="67780"/>
                      <a:pt x="54546" y="70290"/>
                      <a:pt x="50088" y="74768"/>
                    </a:cubicBezTo>
                    <a:lnTo>
                      <a:pt x="33256" y="91608"/>
                    </a:lnTo>
                    <a:lnTo>
                      <a:pt x="11906" y="91608"/>
                    </a:lnTo>
                    <a:cubicBezTo>
                      <a:pt x="5331" y="91608"/>
                      <a:pt x="0" y="96939"/>
                      <a:pt x="0" y="103515"/>
                    </a:cubicBezTo>
                    <a:lnTo>
                      <a:pt x="0" y="133280"/>
                    </a:lnTo>
                    <a:cubicBezTo>
                      <a:pt x="0" y="139856"/>
                      <a:pt x="5331" y="145186"/>
                      <a:pt x="11906" y="145186"/>
                    </a:cubicBezTo>
                    <a:lnTo>
                      <a:pt x="89297" y="145186"/>
                    </a:lnTo>
                    <a:cubicBezTo>
                      <a:pt x="89784" y="145187"/>
                      <a:pt x="90269" y="145127"/>
                      <a:pt x="90741" y="145008"/>
                    </a:cubicBezTo>
                    <a:lnTo>
                      <a:pt x="138366" y="133102"/>
                    </a:lnTo>
                    <a:cubicBezTo>
                      <a:pt x="138669" y="133029"/>
                      <a:pt x="138965" y="132930"/>
                      <a:pt x="139251" y="132804"/>
                    </a:cubicBezTo>
                    <a:lnTo>
                      <a:pt x="168176" y="120496"/>
                    </a:lnTo>
                    <a:lnTo>
                      <a:pt x="168503" y="120347"/>
                    </a:lnTo>
                    <a:cubicBezTo>
                      <a:pt x="174155" y="117523"/>
                      <a:pt x="177950" y="111985"/>
                      <a:pt x="178545" y="105695"/>
                    </a:cubicBezTo>
                    <a:cubicBezTo>
                      <a:pt x="179140" y="99405"/>
                      <a:pt x="176450" y="93254"/>
                      <a:pt x="171428" y="89420"/>
                    </a:cubicBezTo>
                    <a:close/>
                    <a:moveTo>
                      <a:pt x="11906" y="103515"/>
                    </a:moveTo>
                    <a:lnTo>
                      <a:pt x="29766" y="103515"/>
                    </a:lnTo>
                    <a:lnTo>
                      <a:pt x="29766" y="133280"/>
                    </a:lnTo>
                    <a:lnTo>
                      <a:pt x="11906" y="133280"/>
                    </a:lnTo>
                    <a:close/>
                    <a:moveTo>
                      <a:pt x="163287" y="109624"/>
                    </a:moveTo>
                    <a:lnTo>
                      <a:pt x="135009" y="121664"/>
                    </a:lnTo>
                    <a:lnTo>
                      <a:pt x="88553" y="133280"/>
                    </a:lnTo>
                    <a:lnTo>
                      <a:pt x="41672" y="133280"/>
                    </a:lnTo>
                    <a:lnTo>
                      <a:pt x="41672" y="100024"/>
                    </a:lnTo>
                    <a:lnTo>
                      <a:pt x="58512" y="83192"/>
                    </a:lnTo>
                    <a:cubicBezTo>
                      <a:pt x="60737" y="80949"/>
                      <a:pt x="63769" y="79692"/>
                      <a:pt x="66928" y="79702"/>
                    </a:cubicBezTo>
                    <a:lnTo>
                      <a:pt x="104180" y="79702"/>
                    </a:lnTo>
                    <a:cubicBezTo>
                      <a:pt x="109111" y="79702"/>
                      <a:pt x="113109" y="83700"/>
                      <a:pt x="113109" y="88632"/>
                    </a:cubicBezTo>
                    <a:cubicBezTo>
                      <a:pt x="113109" y="93563"/>
                      <a:pt x="109111" y="97561"/>
                      <a:pt x="104180" y="97561"/>
                    </a:cubicBezTo>
                    <a:lnTo>
                      <a:pt x="83344" y="97561"/>
                    </a:lnTo>
                    <a:cubicBezTo>
                      <a:pt x="80056" y="97561"/>
                      <a:pt x="77391" y="100227"/>
                      <a:pt x="77391" y="103515"/>
                    </a:cubicBezTo>
                    <a:cubicBezTo>
                      <a:pt x="77391" y="106802"/>
                      <a:pt x="80056" y="109468"/>
                      <a:pt x="83344" y="109468"/>
                    </a:cubicBezTo>
                    <a:lnTo>
                      <a:pt x="107156" y="109468"/>
                    </a:lnTo>
                    <a:cubicBezTo>
                      <a:pt x="107604" y="109466"/>
                      <a:pt x="108051" y="109416"/>
                      <a:pt x="108488" y="109319"/>
                    </a:cubicBezTo>
                    <a:lnTo>
                      <a:pt x="158346" y="97852"/>
                    </a:lnTo>
                    <a:lnTo>
                      <a:pt x="158576" y="97792"/>
                    </a:lnTo>
                    <a:cubicBezTo>
                      <a:pt x="161728" y="96917"/>
                      <a:pt x="165033" y="98560"/>
                      <a:pt x="166238" y="101601"/>
                    </a:cubicBezTo>
                    <a:cubicBezTo>
                      <a:pt x="167443" y="104642"/>
                      <a:pt x="166160" y="108103"/>
                      <a:pt x="163264" y="109624"/>
                    </a:cubicBezTo>
                    <a:close/>
                    <a:moveTo>
                      <a:pt x="122039" y="55890"/>
                    </a:moveTo>
                    <a:cubicBezTo>
                      <a:pt x="123510" y="55891"/>
                      <a:pt x="124978" y="55772"/>
                      <a:pt x="126429" y="55532"/>
                    </a:cubicBezTo>
                    <a:cubicBezTo>
                      <a:pt x="130973" y="69028"/>
                      <a:pt x="145280" y="76610"/>
                      <a:pt x="158999" y="72794"/>
                    </a:cubicBezTo>
                    <a:cubicBezTo>
                      <a:pt x="172718" y="68977"/>
                      <a:pt x="181053" y="55094"/>
                      <a:pt x="177974" y="41192"/>
                    </a:cubicBezTo>
                    <a:cubicBezTo>
                      <a:pt x="174894" y="27289"/>
                      <a:pt x="161476" y="18225"/>
                      <a:pt x="147429" y="20558"/>
                    </a:cubicBezTo>
                    <a:cubicBezTo>
                      <a:pt x="143068" y="7596"/>
                      <a:pt x="129644" y="0"/>
                      <a:pt x="116287" y="2936"/>
                    </a:cubicBezTo>
                    <a:cubicBezTo>
                      <a:pt x="102930" y="5872"/>
                      <a:pt x="93930" y="18398"/>
                      <a:pt x="95406" y="31993"/>
                    </a:cubicBezTo>
                    <a:cubicBezTo>
                      <a:pt x="96883" y="45589"/>
                      <a:pt x="108363" y="55890"/>
                      <a:pt x="122039" y="55890"/>
                    </a:cubicBezTo>
                    <a:close/>
                    <a:moveTo>
                      <a:pt x="166688" y="46960"/>
                    </a:moveTo>
                    <a:cubicBezTo>
                      <a:pt x="166688" y="55179"/>
                      <a:pt x="160024" y="61843"/>
                      <a:pt x="151805" y="61843"/>
                    </a:cubicBezTo>
                    <a:cubicBezTo>
                      <a:pt x="143585" y="61843"/>
                      <a:pt x="136922" y="55179"/>
                      <a:pt x="136922" y="46960"/>
                    </a:cubicBezTo>
                    <a:cubicBezTo>
                      <a:pt x="136922" y="38740"/>
                      <a:pt x="143585" y="32077"/>
                      <a:pt x="151805" y="32077"/>
                    </a:cubicBezTo>
                    <a:cubicBezTo>
                      <a:pt x="160024" y="32077"/>
                      <a:pt x="166688" y="38740"/>
                      <a:pt x="166688" y="46960"/>
                    </a:cubicBezTo>
                    <a:close/>
                    <a:moveTo>
                      <a:pt x="122039" y="14218"/>
                    </a:moveTo>
                    <a:cubicBezTo>
                      <a:pt x="128711" y="14221"/>
                      <a:pt x="134566" y="18664"/>
                      <a:pt x="136364" y="25090"/>
                    </a:cubicBezTo>
                    <a:cubicBezTo>
                      <a:pt x="130199" y="29427"/>
                      <a:pt x="126147" y="36162"/>
                      <a:pt x="125202" y="43641"/>
                    </a:cubicBezTo>
                    <a:cubicBezTo>
                      <a:pt x="124162" y="43865"/>
                      <a:pt x="123102" y="43980"/>
                      <a:pt x="122039" y="43983"/>
                    </a:cubicBezTo>
                    <a:cubicBezTo>
                      <a:pt x="113820" y="43983"/>
                      <a:pt x="107156" y="37320"/>
                      <a:pt x="107156" y="29100"/>
                    </a:cubicBezTo>
                    <a:cubicBezTo>
                      <a:pt x="107156" y="20881"/>
                      <a:pt x="113820" y="14218"/>
                      <a:pt x="122039" y="14218"/>
                    </a:cubicBezTo>
                    <a:close/>
                  </a:path>
                </a:pathLst>
              </a:custGeom>
              <a:solidFill>
                <a:srgbClr val="0B3D6E"/>
              </a:solidFill>
              <a:ln>
                <a:noFill/>
              </a:ln>
            </p:spPr>
          </p:sp>
        </p:grpSp>
        <p:sp>
          <p:nvSpPr>
            <p:cNvPr id="94" name="TextBox 94"/>
            <p:cNvSpPr txBox="1"/>
            <p:nvPr/>
          </p:nvSpPr>
          <p:spPr>
            <a:xfrm>
              <a:off x="5214938" y="2913459"/>
              <a:ext cx="559075"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Fund Flow</a:t>
              </a:r>
            </a:p>
          </p:txBody>
        </p:sp>
        <p:sp>
          <p:nvSpPr>
            <p:cNvPr id="95" name="Ellipse 95"/>
            <p:cNvSpPr/>
            <p:nvPr/>
          </p:nvSpPr>
          <p:spPr>
            <a:xfrm>
              <a:off x="6243638" y="2924175"/>
              <a:ext cx="85725" cy="85725"/>
            </a:xfrm>
            <a:prstGeom prst="ellipse">
              <a:avLst/>
            </a:prstGeom>
            <a:solidFill>
              <a:srgbClr val="0070C0"/>
            </a:solidFill>
            <a:ln>
              <a:noFill/>
            </a:ln>
          </p:spPr>
        </p:sp>
        <p:sp>
          <p:nvSpPr>
            <p:cNvPr id="96" name="Rectangle 96"/>
            <p:cNvSpPr/>
            <p:nvPr/>
          </p:nvSpPr>
          <p:spPr>
            <a:xfrm>
              <a:off x="4914900" y="3133725"/>
              <a:ext cx="1485900" cy="266700"/>
            </a:xfrm>
            <a:prstGeom prst="roundRect">
              <a:avLst>
                <a:gd name="adj" fmla="val 17857"/>
              </a:avLst>
            </a:prstGeom>
            <a:solidFill>
              <a:srgbClr val="F2F5F9"/>
            </a:solidFill>
            <a:ln>
              <a:noFill/>
            </a:ln>
          </p:spPr>
        </p:sp>
        <p:grpSp>
          <p:nvGrpSpPr>
            <p:cNvPr id="99" name="Group 99"/>
            <p:cNvGrpSpPr/>
            <p:nvPr/>
          </p:nvGrpSpPr>
          <p:grpSpPr>
            <a:xfrm>
              <a:off x="4971668" y="3207162"/>
              <a:ext cx="192547" cy="131343"/>
              <a:chOff x="4971668" y="3207162"/>
              <a:chExt cx="192547" cy="131343"/>
            </a:xfrm>
          </p:grpSpPr>
          <p:sp>
            <p:nvSpPr>
              <p:cNvPr id="97" name="Freeform 97"/>
              <p:cNvSpPr/>
              <p:nvPr/>
            </p:nvSpPr>
            <p:spPr>
              <a:xfrm>
                <a:off x="5001816" y="3213497"/>
                <a:ext cx="119062" cy="101203"/>
              </a:xfrm>
              <a:custGeom>
                <a:avLst/>
                <a:gdLst/>
                <a:ahLst/>
                <a:cxnLst/>
                <a:rect l="l" t="t" r="r" b="b"/>
                <a:pathLst>
                  <a:path w="119062" h="101203">
                    <a:moveTo>
                      <a:pt x="119062" y="71438"/>
                    </a:moveTo>
                    <a:lnTo>
                      <a:pt x="89297" y="101203"/>
                    </a:lnTo>
                    <a:lnTo>
                      <a:pt x="41672" y="89297"/>
                    </a:lnTo>
                    <a:lnTo>
                      <a:pt x="0" y="59531"/>
                    </a:lnTo>
                    <a:lnTo>
                      <a:pt x="24319" y="10887"/>
                    </a:lnTo>
                    <a:lnTo>
                      <a:pt x="65484" y="0"/>
                    </a:lnTo>
                    <a:lnTo>
                      <a:pt x="106650" y="10887"/>
                    </a:lnTo>
                    <a:lnTo>
                      <a:pt x="106859" y="11906"/>
                    </a:lnTo>
                    <a:lnTo>
                      <a:pt x="77391" y="11906"/>
                    </a:lnTo>
                    <a:lnTo>
                      <a:pt x="43413" y="44864"/>
                    </a:lnTo>
                    <a:cubicBezTo>
                      <a:pt x="42134" y="46143"/>
                      <a:pt x="41505" y="47934"/>
                      <a:pt x="41705" y="49732"/>
                    </a:cubicBezTo>
                    <a:cubicBezTo>
                      <a:pt x="41905" y="51530"/>
                      <a:pt x="42911" y="53140"/>
                      <a:pt x="44440" y="54106"/>
                    </a:cubicBezTo>
                    <a:cubicBezTo>
                      <a:pt x="57470" y="62433"/>
                      <a:pt x="75158" y="61860"/>
                      <a:pt x="89297" y="47625"/>
                    </a:cubicBezTo>
                    <a:close/>
                  </a:path>
                </a:pathLst>
              </a:custGeom>
              <a:solidFill>
                <a:srgbClr val="0B3D6E">
                  <a:alpha val="20000"/>
                </a:srgbClr>
              </a:solidFill>
              <a:ln>
                <a:noFill/>
              </a:ln>
            </p:spPr>
          </p:sp>
          <p:sp>
            <p:nvSpPr>
              <p:cNvPr id="98" name="Freeform 98"/>
              <p:cNvSpPr/>
              <p:nvPr/>
            </p:nvSpPr>
            <p:spPr>
              <a:xfrm>
                <a:off x="4971668" y="3207162"/>
                <a:ext cx="192547" cy="131343"/>
              </a:xfrm>
              <a:custGeom>
                <a:avLst/>
                <a:gdLst/>
                <a:ahLst/>
                <a:cxnLst/>
                <a:rect l="l" t="t" r="r" b="b"/>
                <a:pathLst>
                  <a:path w="192547" h="131343">
                    <a:moveTo>
                      <a:pt x="189617" y="44963"/>
                    </a:moveTo>
                    <a:lnTo>
                      <a:pt x="170626" y="6967"/>
                    </a:lnTo>
                    <a:cubicBezTo>
                      <a:pt x="169213" y="4143"/>
                      <a:pt x="166736" y="1996"/>
                      <a:pt x="163740" y="998"/>
                    </a:cubicBezTo>
                    <a:cubicBezTo>
                      <a:pt x="160744" y="0"/>
                      <a:pt x="157474" y="233"/>
                      <a:pt x="154650" y="1647"/>
                    </a:cubicBezTo>
                    <a:lnTo>
                      <a:pt x="136143" y="10896"/>
                    </a:lnTo>
                    <a:lnTo>
                      <a:pt x="97157" y="583"/>
                    </a:lnTo>
                    <a:cubicBezTo>
                      <a:pt x="96157" y="322"/>
                      <a:pt x="95107" y="322"/>
                      <a:pt x="94106" y="583"/>
                    </a:cubicBezTo>
                    <a:lnTo>
                      <a:pt x="55121" y="10896"/>
                    </a:lnTo>
                    <a:lnTo>
                      <a:pt x="36614" y="1647"/>
                    </a:lnTo>
                    <a:cubicBezTo>
                      <a:pt x="33790" y="233"/>
                      <a:pt x="30520" y="0"/>
                      <a:pt x="27524" y="998"/>
                    </a:cubicBezTo>
                    <a:cubicBezTo>
                      <a:pt x="24527" y="1996"/>
                      <a:pt x="22050" y="4143"/>
                      <a:pt x="20637" y="6967"/>
                    </a:cubicBezTo>
                    <a:lnTo>
                      <a:pt x="1647" y="44956"/>
                    </a:lnTo>
                    <a:cubicBezTo>
                      <a:pt x="233" y="47780"/>
                      <a:pt x="0" y="51050"/>
                      <a:pt x="998" y="54046"/>
                    </a:cubicBezTo>
                    <a:cubicBezTo>
                      <a:pt x="1996" y="57042"/>
                      <a:pt x="4143" y="59520"/>
                      <a:pt x="6967" y="60932"/>
                    </a:cubicBezTo>
                    <a:lnTo>
                      <a:pt x="27059" y="70986"/>
                    </a:lnTo>
                    <a:lnTo>
                      <a:pt x="68352" y="100476"/>
                    </a:lnTo>
                    <a:cubicBezTo>
                      <a:pt x="68960" y="100909"/>
                      <a:pt x="69644" y="101224"/>
                      <a:pt x="70368" y="101406"/>
                    </a:cubicBezTo>
                    <a:lnTo>
                      <a:pt x="117993" y="113313"/>
                    </a:lnTo>
                    <a:cubicBezTo>
                      <a:pt x="120022" y="113821"/>
                      <a:pt x="122169" y="113228"/>
                      <a:pt x="123649" y="111750"/>
                    </a:cubicBezTo>
                    <a:lnTo>
                      <a:pt x="164628" y="70763"/>
                    </a:lnTo>
                    <a:lnTo>
                      <a:pt x="184289" y="60932"/>
                    </a:lnTo>
                    <a:cubicBezTo>
                      <a:pt x="190166" y="57990"/>
                      <a:pt x="192547" y="50842"/>
                      <a:pt x="189609" y="44963"/>
                    </a:cubicBezTo>
                    <a:close/>
                    <a:moveTo>
                      <a:pt x="148771" y="69795"/>
                    </a:moveTo>
                    <a:lnTo>
                      <a:pt x="123165" y="49287"/>
                    </a:lnTo>
                    <a:cubicBezTo>
                      <a:pt x="120789" y="47384"/>
                      <a:pt x="117361" y="47580"/>
                      <a:pt x="115218" y="49741"/>
                    </a:cubicBezTo>
                    <a:cubicBezTo>
                      <a:pt x="101964" y="63090"/>
                      <a:pt x="87193" y="61401"/>
                      <a:pt x="77772" y="55448"/>
                    </a:cubicBezTo>
                    <a:lnTo>
                      <a:pt x="109949" y="24194"/>
                    </a:lnTo>
                    <a:lnTo>
                      <a:pt x="133620" y="24194"/>
                    </a:lnTo>
                    <a:lnTo>
                      <a:pt x="153868" y="64683"/>
                    </a:lnTo>
                    <a:close/>
                    <a:moveTo>
                      <a:pt x="31286" y="12288"/>
                    </a:moveTo>
                    <a:lnTo>
                      <a:pt x="46518" y="19893"/>
                    </a:lnTo>
                    <a:lnTo>
                      <a:pt x="27491" y="57882"/>
                    </a:lnTo>
                    <a:lnTo>
                      <a:pt x="12288" y="50284"/>
                    </a:lnTo>
                    <a:close/>
                    <a:moveTo>
                      <a:pt x="117606" y="100937"/>
                    </a:moveTo>
                    <a:lnTo>
                      <a:pt x="74364" y="90133"/>
                    </a:lnTo>
                    <a:lnTo>
                      <a:pt x="37752" y="63983"/>
                    </a:lnTo>
                    <a:lnTo>
                      <a:pt x="58588" y="22312"/>
                    </a:lnTo>
                    <a:lnTo>
                      <a:pt x="95632" y="12496"/>
                    </a:lnTo>
                    <a:lnTo>
                      <a:pt x="102924" y="14424"/>
                    </a:lnTo>
                    <a:lnTo>
                      <a:pt x="69438" y="46928"/>
                    </a:lnTo>
                    <a:lnTo>
                      <a:pt x="69378" y="46995"/>
                    </a:lnTo>
                    <a:cubicBezTo>
                      <a:pt x="66825" y="49548"/>
                      <a:pt x="65569" y="53122"/>
                      <a:pt x="65962" y="56711"/>
                    </a:cubicBezTo>
                    <a:cubicBezTo>
                      <a:pt x="66356" y="60301"/>
                      <a:pt x="68357" y="63517"/>
                      <a:pt x="71403" y="65457"/>
                    </a:cubicBezTo>
                    <a:cubicBezTo>
                      <a:pt x="86702" y="75227"/>
                      <a:pt x="105164" y="73642"/>
                      <a:pt x="119705" y="61736"/>
                    </a:cubicBezTo>
                    <a:lnTo>
                      <a:pt x="140280" y="78264"/>
                    </a:lnTo>
                    <a:close/>
                    <a:moveTo>
                      <a:pt x="163743" y="57874"/>
                    </a:moveTo>
                    <a:lnTo>
                      <a:pt x="144752" y="19923"/>
                    </a:lnTo>
                    <a:lnTo>
                      <a:pt x="159978" y="12288"/>
                    </a:lnTo>
                    <a:lnTo>
                      <a:pt x="178976" y="50284"/>
                    </a:lnTo>
                    <a:close/>
                    <a:moveTo>
                      <a:pt x="98445" y="126834"/>
                    </a:moveTo>
                    <a:cubicBezTo>
                      <a:pt x="97783" y="129481"/>
                      <a:pt x="95406" y="131339"/>
                      <a:pt x="92678" y="131343"/>
                    </a:cubicBezTo>
                    <a:cubicBezTo>
                      <a:pt x="92188" y="131342"/>
                      <a:pt x="91701" y="131282"/>
                      <a:pt x="91226" y="131164"/>
                    </a:cubicBezTo>
                    <a:lnTo>
                      <a:pt x="60218" y="123411"/>
                    </a:lnTo>
                    <a:cubicBezTo>
                      <a:pt x="59493" y="123232"/>
                      <a:pt x="58808" y="122916"/>
                      <a:pt x="58201" y="122480"/>
                    </a:cubicBezTo>
                    <a:lnTo>
                      <a:pt x="38593" y="108476"/>
                    </a:lnTo>
                    <a:cubicBezTo>
                      <a:pt x="36089" y="106509"/>
                      <a:pt x="35575" y="102920"/>
                      <a:pt x="37428" y="100330"/>
                    </a:cubicBezTo>
                    <a:cubicBezTo>
                      <a:pt x="39281" y="97740"/>
                      <a:pt x="42844" y="97066"/>
                      <a:pt x="45514" y="98802"/>
                    </a:cubicBezTo>
                    <a:lnTo>
                      <a:pt x="64199" y="112152"/>
                    </a:lnTo>
                    <a:lnTo>
                      <a:pt x="94143" y="119623"/>
                    </a:lnTo>
                    <a:cubicBezTo>
                      <a:pt x="97332" y="120421"/>
                      <a:pt x="99271" y="123652"/>
                      <a:pt x="98474" y="126841"/>
                    </a:cubicBezTo>
                    <a:close/>
                  </a:path>
                </a:pathLst>
              </a:custGeom>
              <a:solidFill>
                <a:srgbClr val="0B3D6E"/>
              </a:solidFill>
              <a:ln>
                <a:noFill/>
              </a:ln>
            </p:spPr>
          </p:sp>
        </p:grpSp>
        <p:sp>
          <p:nvSpPr>
            <p:cNvPr id="100" name="TextBox 100"/>
            <p:cNvSpPr txBox="1"/>
            <p:nvPr/>
          </p:nvSpPr>
          <p:spPr>
            <a:xfrm>
              <a:off x="5214938" y="3213497"/>
              <a:ext cx="576808"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Contractor</a:t>
              </a:r>
            </a:p>
          </p:txBody>
        </p:sp>
        <p:sp>
          <p:nvSpPr>
            <p:cNvPr id="101" name="Ellipse 101"/>
            <p:cNvSpPr/>
            <p:nvPr/>
          </p:nvSpPr>
          <p:spPr>
            <a:xfrm>
              <a:off x="6243638" y="3224212"/>
              <a:ext cx="85725" cy="85725"/>
            </a:xfrm>
            <a:prstGeom prst="ellipse">
              <a:avLst/>
            </a:prstGeom>
            <a:solidFill>
              <a:srgbClr val="0070C0"/>
            </a:solidFill>
            <a:ln>
              <a:noFill/>
            </a:ln>
          </p:spPr>
        </p:sp>
        <p:sp>
          <p:nvSpPr>
            <p:cNvPr id="102" name="Polygon 102"/>
            <p:cNvSpPr/>
            <p:nvPr/>
          </p:nvSpPr>
          <p:spPr>
            <a:xfrm>
              <a:off x="6496050" y="2152650"/>
              <a:ext cx="1600200" cy="266700"/>
            </a:xfrm>
            <a:custGeom>
              <a:avLst/>
              <a:gdLst/>
              <a:ahLst/>
              <a:cxnLst/>
              <a:rect l="l" t="t" r="r" b="b"/>
              <a:pathLst>
                <a:path w="1600200" h="266700">
                  <a:moveTo>
                    <a:pt x="0" y="0"/>
                  </a:moveTo>
                  <a:lnTo>
                    <a:pt x="1485900" y="0"/>
                  </a:lnTo>
                  <a:lnTo>
                    <a:pt x="1600200" y="133350"/>
                  </a:lnTo>
                  <a:lnTo>
                    <a:pt x="1485900" y="266700"/>
                  </a:lnTo>
                  <a:lnTo>
                    <a:pt x="0" y="266700"/>
                  </a:lnTo>
                  <a:lnTo>
                    <a:pt x="114300" y="133350"/>
                  </a:lnTo>
                  <a:close/>
                </a:path>
              </a:pathLst>
            </a:custGeom>
            <a:solidFill>
              <a:srgbClr val="1B5A94"/>
            </a:solidFill>
            <a:ln>
              <a:noFill/>
            </a:ln>
          </p:spPr>
        </p:sp>
        <p:sp>
          <p:nvSpPr>
            <p:cNvPr id="103" name="TextBox 103"/>
            <p:cNvSpPr txBox="1"/>
            <p:nvPr/>
          </p:nvSpPr>
          <p:spPr>
            <a:xfrm>
              <a:off x="6908750" y="2236470"/>
              <a:ext cx="870050" cy="176212"/>
            </a:xfrm>
            <a:prstGeom prst="rect">
              <a:avLst/>
            </a:prstGeom>
            <a:noFill/>
            <a:ln>
              <a:noFill/>
            </a:ln>
          </p:spPr>
          <p:txBody>
            <a:bodyPr wrap="none" lIns="0" tIns="0" rIns="0" bIns="0" anchor="t" anchorCtr="0">
              <a:spAutoFit/>
            </a:bodyPr>
            <a:lstStyle/>
            <a:p>
              <a:pPr algn="ctr"/>
              <a:r>
                <a:rPr lang="en-IN" sz="900" b="1" dirty="0">
                  <a:solidFill>
                    <a:srgbClr val="FFFFFF"/>
                  </a:solidFill>
                  <a:latin typeface="Calibri"/>
                  <a:ea typeface="Calibri"/>
                  <a:cs typeface="Calibri"/>
                </a:rPr>
                <a:t>After completion</a:t>
              </a:r>
            </a:p>
          </p:txBody>
        </p:sp>
        <p:sp>
          <p:nvSpPr>
            <p:cNvPr id="104" name="Rectangle 104"/>
            <p:cNvSpPr/>
            <p:nvPr/>
          </p:nvSpPr>
          <p:spPr>
            <a:xfrm>
              <a:off x="6534150" y="2533650"/>
              <a:ext cx="1485900" cy="266700"/>
            </a:xfrm>
            <a:prstGeom prst="roundRect">
              <a:avLst>
                <a:gd name="adj" fmla="val 17857"/>
              </a:avLst>
            </a:prstGeom>
            <a:solidFill>
              <a:srgbClr val="F2F5F9"/>
            </a:solidFill>
            <a:ln>
              <a:noFill/>
            </a:ln>
          </p:spPr>
        </p:sp>
        <p:grpSp>
          <p:nvGrpSpPr>
            <p:cNvPr id="107" name="Group 107"/>
            <p:cNvGrpSpPr/>
            <p:nvPr/>
          </p:nvGrpSpPr>
          <p:grpSpPr>
            <a:xfrm>
              <a:off x="6621066" y="2601516"/>
              <a:ext cx="130969" cy="130969"/>
              <a:chOff x="6621066" y="2601516"/>
              <a:chExt cx="130969" cy="130969"/>
            </a:xfrm>
          </p:grpSpPr>
          <p:sp>
            <p:nvSpPr>
              <p:cNvPr id="105" name="Freeform 105"/>
              <p:cNvSpPr/>
              <p:nvPr/>
            </p:nvSpPr>
            <p:spPr>
              <a:xfrm>
                <a:off x="6627019" y="2607469"/>
                <a:ext cx="119062" cy="119062"/>
              </a:xfrm>
              <a:custGeom>
                <a:avLst/>
                <a:gdLst/>
                <a:ahLst/>
                <a:cxnLst/>
                <a:rect l="l" t="t" r="r" b="b"/>
                <a:pathLst>
                  <a:path w="119062" h="119062">
                    <a:moveTo>
                      <a:pt x="47625" y="5953"/>
                    </a:moveTo>
                    <a:lnTo>
                      <a:pt x="47625" y="41672"/>
                    </a:lnTo>
                    <a:cubicBezTo>
                      <a:pt x="47625" y="44960"/>
                      <a:pt x="44960" y="47625"/>
                      <a:pt x="41672" y="47625"/>
                    </a:cubicBezTo>
                    <a:lnTo>
                      <a:pt x="5953" y="47625"/>
                    </a:lnTo>
                    <a:cubicBezTo>
                      <a:pt x="2665" y="47625"/>
                      <a:pt x="0" y="44960"/>
                      <a:pt x="0" y="41672"/>
                    </a:cubicBezTo>
                    <a:lnTo>
                      <a:pt x="0" y="5953"/>
                    </a:lnTo>
                    <a:cubicBezTo>
                      <a:pt x="0" y="2665"/>
                      <a:pt x="2665" y="0"/>
                      <a:pt x="5953" y="0"/>
                    </a:cubicBezTo>
                    <a:lnTo>
                      <a:pt x="41672" y="0"/>
                    </a:lnTo>
                    <a:cubicBezTo>
                      <a:pt x="44960" y="0"/>
                      <a:pt x="47625" y="2665"/>
                      <a:pt x="47625" y="5953"/>
                    </a:cubicBezTo>
                    <a:close/>
                    <a:moveTo>
                      <a:pt x="41672" y="71438"/>
                    </a:moveTo>
                    <a:lnTo>
                      <a:pt x="5953" y="71438"/>
                    </a:lnTo>
                    <a:cubicBezTo>
                      <a:pt x="2665" y="71438"/>
                      <a:pt x="0" y="74103"/>
                      <a:pt x="0" y="77391"/>
                    </a:cubicBezTo>
                    <a:lnTo>
                      <a:pt x="0" y="113109"/>
                    </a:lnTo>
                    <a:cubicBezTo>
                      <a:pt x="0" y="116397"/>
                      <a:pt x="2665" y="119062"/>
                      <a:pt x="5953" y="119062"/>
                    </a:cubicBezTo>
                    <a:lnTo>
                      <a:pt x="41672" y="119062"/>
                    </a:lnTo>
                    <a:cubicBezTo>
                      <a:pt x="44960" y="119062"/>
                      <a:pt x="47625" y="116397"/>
                      <a:pt x="47625" y="113109"/>
                    </a:cubicBezTo>
                    <a:lnTo>
                      <a:pt x="47625" y="77391"/>
                    </a:lnTo>
                    <a:cubicBezTo>
                      <a:pt x="47625" y="74103"/>
                      <a:pt x="44960" y="71438"/>
                      <a:pt x="41672" y="71438"/>
                    </a:cubicBezTo>
                    <a:close/>
                    <a:moveTo>
                      <a:pt x="113109" y="0"/>
                    </a:moveTo>
                    <a:lnTo>
                      <a:pt x="77391" y="0"/>
                    </a:lnTo>
                    <a:cubicBezTo>
                      <a:pt x="74103" y="0"/>
                      <a:pt x="71438" y="2665"/>
                      <a:pt x="71438" y="5953"/>
                    </a:cubicBezTo>
                    <a:lnTo>
                      <a:pt x="71438" y="41672"/>
                    </a:lnTo>
                    <a:cubicBezTo>
                      <a:pt x="71438" y="44960"/>
                      <a:pt x="74103" y="47625"/>
                      <a:pt x="77391" y="47625"/>
                    </a:cubicBezTo>
                    <a:lnTo>
                      <a:pt x="113109" y="47625"/>
                    </a:lnTo>
                    <a:cubicBezTo>
                      <a:pt x="116397" y="47625"/>
                      <a:pt x="119062" y="44960"/>
                      <a:pt x="119062" y="41672"/>
                    </a:cubicBezTo>
                    <a:lnTo>
                      <a:pt x="119062" y="5953"/>
                    </a:lnTo>
                    <a:cubicBezTo>
                      <a:pt x="119062" y="2665"/>
                      <a:pt x="116397" y="0"/>
                      <a:pt x="113109" y="0"/>
                    </a:cubicBezTo>
                    <a:close/>
                  </a:path>
                </a:pathLst>
              </a:custGeom>
              <a:solidFill>
                <a:srgbClr val="0B3D6E">
                  <a:alpha val="20000"/>
                </a:srgbClr>
              </a:solidFill>
              <a:ln>
                <a:noFill/>
              </a:ln>
            </p:spPr>
          </p:sp>
          <p:sp>
            <p:nvSpPr>
              <p:cNvPr id="106" name="Freeform 106"/>
              <p:cNvSpPr/>
              <p:nvPr/>
            </p:nvSpPr>
            <p:spPr>
              <a:xfrm>
                <a:off x="6621066" y="2601516"/>
                <a:ext cx="130969" cy="130969"/>
              </a:xfrm>
              <a:custGeom>
                <a:avLst/>
                <a:gdLst/>
                <a:ahLst/>
                <a:cxnLst/>
                <a:rect l="l" t="t" r="r" b="b"/>
                <a:pathLst>
                  <a:path w="130969" h="130969">
                    <a:moveTo>
                      <a:pt x="47625" y="0"/>
                    </a:moveTo>
                    <a:lnTo>
                      <a:pt x="11906" y="0"/>
                    </a:lnTo>
                    <a:cubicBezTo>
                      <a:pt x="5331" y="0"/>
                      <a:pt x="0" y="5331"/>
                      <a:pt x="0" y="11906"/>
                    </a:cubicBezTo>
                    <a:lnTo>
                      <a:pt x="0" y="47625"/>
                    </a:lnTo>
                    <a:cubicBezTo>
                      <a:pt x="0" y="54201"/>
                      <a:pt x="5331" y="59531"/>
                      <a:pt x="11906" y="59531"/>
                    </a:cubicBezTo>
                    <a:lnTo>
                      <a:pt x="47625" y="59531"/>
                    </a:lnTo>
                    <a:cubicBezTo>
                      <a:pt x="54201" y="59531"/>
                      <a:pt x="59531" y="54201"/>
                      <a:pt x="59531" y="47625"/>
                    </a:cubicBezTo>
                    <a:lnTo>
                      <a:pt x="59531" y="11906"/>
                    </a:lnTo>
                    <a:cubicBezTo>
                      <a:pt x="59531" y="5331"/>
                      <a:pt x="54201" y="0"/>
                      <a:pt x="47625" y="0"/>
                    </a:cubicBezTo>
                    <a:close/>
                    <a:moveTo>
                      <a:pt x="47625" y="47625"/>
                    </a:moveTo>
                    <a:lnTo>
                      <a:pt x="11906" y="47625"/>
                    </a:lnTo>
                    <a:lnTo>
                      <a:pt x="11906" y="11906"/>
                    </a:lnTo>
                    <a:lnTo>
                      <a:pt x="47625" y="11906"/>
                    </a:lnTo>
                    <a:lnTo>
                      <a:pt x="47625" y="47625"/>
                    </a:lnTo>
                    <a:close/>
                    <a:moveTo>
                      <a:pt x="47625" y="71438"/>
                    </a:moveTo>
                    <a:lnTo>
                      <a:pt x="11906" y="71438"/>
                    </a:lnTo>
                    <a:cubicBezTo>
                      <a:pt x="5331" y="71438"/>
                      <a:pt x="0" y="76768"/>
                      <a:pt x="0" y="83344"/>
                    </a:cubicBezTo>
                    <a:lnTo>
                      <a:pt x="0" y="119062"/>
                    </a:lnTo>
                    <a:cubicBezTo>
                      <a:pt x="0" y="125638"/>
                      <a:pt x="5331" y="130969"/>
                      <a:pt x="11906" y="130969"/>
                    </a:cubicBezTo>
                    <a:lnTo>
                      <a:pt x="47625" y="130969"/>
                    </a:lnTo>
                    <a:cubicBezTo>
                      <a:pt x="54201" y="130969"/>
                      <a:pt x="59531" y="125638"/>
                      <a:pt x="59531" y="119062"/>
                    </a:cubicBezTo>
                    <a:lnTo>
                      <a:pt x="59531" y="83344"/>
                    </a:lnTo>
                    <a:cubicBezTo>
                      <a:pt x="59531" y="76768"/>
                      <a:pt x="54201" y="71438"/>
                      <a:pt x="47625" y="71438"/>
                    </a:cubicBezTo>
                    <a:close/>
                    <a:moveTo>
                      <a:pt x="47625" y="119062"/>
                    </a:moveTo>
                    <a:lnTo>
                      <a:pt x="11906" y="119062"/>
                    </a:lnTo>
                    <a:lnTo>
                      <a:pt x="11906" y="83344"/>
                    </a:lnTo>
                    <a:lnTo>
                      <a:pt x="47625" y="83344"/>
                    </a:lnTo>
                    <a:lnTo>
                      <a:pt x="47625" y="119062"/>
                    </a:lnTo>
                    <a:close/>
                    <a:moveTo>
                      <a:pt x="119062" y="0"/>
                    </a:moveTo>
                    <a:lnTo>
                      <a:pt x="83344" y="0"/>
                    </a:lnTo>
                    <a:cubicBezTo>
                      <a:pt x="76768" y="0"/>
                      <a:pt x="71438" y="5331"/>
                      <a:pt x="71438" y="11906"/>
                    </a:cubicBezTo>
                    <a:lnTo>
                      <a:pt x="71438" y="47625"/>
                    </a:lnTo>
                    <a:cubicBezTo>
                      <a:pt x="71438" y="54201"/>
                      <a:pt x="76768" y="59531"/>
                      <a:pt x="83344" y="59531"/>
                    </a:cubicBezTo>
                    <a:lnTo>
                      <a:pt x="119062" y="59531"/>
                    </a:lnTo>
                    <a:cubicBezTo>
                      <a:pt x="125638" y="59531"/>
                      <a:pt x="130969" y="54201"/>
                      <a:pt x="130969" y="47625"/>
                    </a:cubicBezTo>
                    <a:lnTo>
                      <a:pt x="130969" y="11906"/>
                    </a:lnTo>
                    <a:cubicBezTo>
                      <a:pt x="130969" y="5331"/>
                      <a:pt x="125638" y="0"/>
                      <a:pt x="119062" y="0"/>
                    </a:cubicBezTo>
                    <a:close/>
                    <a:moveTo>
                      <a:pt x="119062" y="47625"/>
                    </a:moveTo>
                    <a:lnTo>
                      <a:pt x="83344" y="47625"/>
                    </a:lnTo>
                    <a:lnTo>
                      <a:pt x="83344" y="11906"/>
                    </a:lnTo>
                    <a:lnTo>
                      <a:pt x="119062" y="11906"/>
                    </a:lnTo>
                    <a:lnTo>
                      <a:pt x="119062" y="47625"/>
                    </a:lnTo>
                    <a:close/>
                    <a:moveTo>
                      <a:pt x="71438" y="101203"/>
                    </a:moveTo>
                    <a:lnTo>
                      <a:pt x="71438" y="77391"/>
                    </a:lnTo>
                    <a:cubicBezTo>
                      <a:pt x="71438" y="74103"/>
                      <a:pt x="74103" y="71438"/>
                      <a:pt x="77391" y="71438"/>
                    </a:cubicBezTo>
                    <a:cubicBezTo>
                      <a:pt x="80678" y="71438"/>
                      <a:pt x="83344" y="74103"/>
                      <a:pt x="83344" y="77391"/>
                    </a:cubicBezTo>
                    <a:lnTo>
                      <a:pt x="83344" y="101203"/>
                    </a:lnTo>
                    <a:cubicBezTo>
                      <a:pt x="83344" y="104491"/>
                      <a:pt x="80678" y="107156"/>
                      <a:pt x="77391" y="107156"/>
                    </a:cubicBezTo>
                    <a:cubicBezTo>
                      <a:pt x="74103" y="107156"/>
                      <a:pt x="71438" y="104491"/>
                      <a:pt x="71438" y="101203"/>
                    </a:cubicBezTo>
                    <a:close/>
                    <a:moveTo>
                      <a:pt x="130969" y="89297"/>
                    </a:moveTo>
                    <a:cubicBezTo>
                      <a:pt x="130969" y="92585"/>
                      <a:pt x="128303" y="95250"/>
                      <a:pt x="125016" y="95250"/>
                    </a:cubicBezTo>
                    <a:lnTo>
                      <a:pt x="107156" y="95250"/>
                    </a:lnTo>
                    <a:lnTo>
                      <a:pt x="107156" y="125016"/>
                    </a:lnTo>
                    <a:cubicBezTo>
                      <a:pt x="107156" y="128303"/>
                      <a:pt x="104491" y="130969"/>
                      <a:pt x="101203" y="130969"/>
                    </a:cubicBezTo>
                    <a:lnTo>
                      <a:pt x="77391" y="130969"/>
                    </a:lnTo>
                    <a:cubicBezTo>
                      <a:pt x="74103" y="130969"/>
                      <a:pt x="71438" y="128303"/>
                      <a:pt x="71438" y="125016"/>
                    </a:cubicBezTo>
                    <a:cubicBezTo>
                      <a:pt x="71438" y="121728"/>
                      <a:pt x="74103" y="119062"/>
                      <a:pt x="77391" y="119062"/>
                    </a:cubicBezTo>
                    <a:lnTo>
                      <a:pt x="95250" y="119062"/>
                    </a:lnTo>
                    <a:lnTo>
                      <a:pt x="95250" y="77391"/>
                    </a:lnTo>
                    <a:cubicBezTo>
                      <a:pt x="95250" y="74103"/>
                      <a:pt x="97915" y="71438"/>
                      <a:pt x="101203" y="71438"/>
                    </a:cubicBezTo>
                    <a:cubicBezTo>
                      <a:pt x="104491" y="71438"/>
                      <a:pt x="107156" y="74103"/>
                      <a:pt x="107156" y="77391"/>
                    </a:cubicBezTo>
                    <a:lnTo>
                      <a:pt x="107156" y="83344"/>
                    </a:lnTo>
                    <a:lnTo>
                      <a:pt x="125016" y="83344"/>
                    </a:lnTo>
                    <a:cubicBezTo>
                      <a:pt x="128303" y="83344"/>
                      <a:pt x="130969" y="86009"/>
                      <a:pt x="130969" y="89297"/>
                    </a:cubicBezTo>
                    <a:close/>
                    <a:moveTo>
                      <a:pt x="130969" y="113109"/>
                    </a:moveTo>
                    <a:lnTo>
                      <a:pt x="130969" y="125016"/>
                    </a:lnTo>
                    <a:cubicBezTo>
                      <a:pt x="130969" y="128303"/>
                      <a:pt x="128303" y="130969"/>
                      <a:pt x="125016" y="130969"/>
                    </a:cubicBezTo>
                    <a:cubicBezTo>
                      <a:pt x="121728" y="130969"/>
                      <a:pt x="119062" y="128303"/>
                      <a:pt x="119062" y="125016"/>
                    </a:cubicBezTo>
                    <a:lnTo>
                      <a:pt x="119062" y="113109"/>
                    </a:lnTo>
                    <a:cubicBezTo>
                      <a:pt x="119062" y="109822"/>
                      <a:pt x="121728" y="107156"/>
                      <a:pt x="125016" y="107156"/>
                    </a:cubicBezTo>
                    <a:cubicBezTo>
                      <a:pt x="128303" y="107156"/>
                      <a:pt x="130969" y="109822"/>
                      <a:pt x="130969" y="113109"/>
                    </a:cubicBezTo>
                    <a:close/>
                  </a:path>
                </a:pathLst>
              </a:custGeom>
              <a:solidFill>
                <a:srgbClr val="0B3D6E"/>
              </a:solidFill>
              <a:ln>
                <a:noFill/>
              </a:ln>
            </p:spPr>
          </p:sp>
        </p:grpSp>
        <p:sp>
          <p:nvSpPr>
            <p:cNvPr id="108" name="TextBox 108"/>
            <p:cNvSpPr txBox="1"/>
            <p:nvPr/>
          </p:nvSpPr>
          <p:spPr>
            <a:xfrm>
              <a:off x="6834188" y="2613422"/>
              <a:ext cx="694528"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Citizen check</a:t>
              </a:r>
            </a:p>
          </p:txBody>
        </p:sp>
        <p:sp>
          <p:nvSpPr>
            <p:cNvPr id="109" name="Ellipse 109"/>
            <p:cNvSpPr/>
            <p:nvPr/>
          </p:nvSpPr>
          <p:spPr>
            <a:xfrm>
              <a:off x="7867650" y="2628900"/>
              <a:ext cx="76200" cy="76200"/>
            </a:xfrm>
            <a:prstGeom prst="ellipse">
              <a:avLst/>
            </a:prstGeom>
            <a:solidFill>
              <a:srgbClr val="FFFFFF"/>
            </a:solidFill>
            <a:ln w="12382">
              <a:solidFill>
                <a:srgbClr val="667085"/>
              </a:solidFill>
            </a:ln>
          </p:spPr>
        </p:sp>
        <p:sp>
          <p:nvSpPr>
            <p:cNvPr id="110" name="TextBox 110"/>
            <p:cNvSpPr txBox="1"/>
            <p:nvPr/>
          </p:nvSpPr>
          <p:spPr>
            <a:xfrm>
              <a:off x="6094106" y="3571399"/>
              <a:ext cx="803887" cy="190690"/>
            </a:xfrm>
            <a:prstGeom prst="rect">
              <a:avLst/>
            </a:prstGeom>
            <a:noFill/>
            <a:ln>
              <a:noFill/>
            </a:ln>
          </p:spPr>
          <p:txBody>
            <a:bodyPr wrap="none" lIns="0" tIns="0" rIns="0" bIns="0" anchor="t" anchorCtr="0">
              <a:spAutoFit/>
            </a:bodyPr>
            <a:lstStyle/>
            <a:p>
              <a:pPr algn="ctr"/>
              <a:r>
                <a:rPr lang="en-IN" sz="980" b="1" dirty="0">
                  <a:solidFill>
                    <a:srgbClr val="0B3D6E"/>
                  </a:solidFill>
                  <a:latin typeface="Calibri"/>
                  <a:ea typeface="Calibri"/>
                  <a:cs typeface="Calibri"/>
                </a:rPr>
                <a:t>12 AI AGENTS</a:t>
              </a:r>
            </a:p>
          </p:txBody>
        </p:sp>
        <p:sp>
          <p:nvSpPr>
            <p:cNvPr id="111" name="TextBox 111"/>
            <p:cNvSpPr txBox="1"/>
            <p:nvPr/>
          </p:nvSpPr>
          <p:spPr>
            <a:xfrm>
              <a:off x="5880961" y="3739991"/>
              <a:ext cx="1230178"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each answers one question</a:t>
              </a:r>
            </a:p>
          </p:txBody>
        </p:sp>
        <p:sp>
          <p:nvSpPr>
            <p:cNvPr id="112" name="TextBox 112"/>
            <p:cNvSpPr txBox="1"/>
            <p:nvPr/>
          </p:nvSpPr>
          <p:spPr>
            <a:xfrm>
              <a:off x="6146456" y="3873341"/>
              <a:ext cx="699188"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about the work</a:t>
              </a:r>
            </a:p>
          </p:txBody>
        </p:sp>
        <p:sp>
          <p:nvSpPr>
            <p:cNvPr id="113" name="Line 113"/>
            <p:cNvSpPr/>
            <p:nvPr/>
          </p:nvSpPr>
          <p:spPr>
            <a:xfrm>
              <a:off x="8229600" y="3028950"/>
              <a:ext cx="304800" cy="1"/>
            </a:xfrm>
            <a:prstGeom prst="line">
              <a:avLst/>
            </a:prstGeom>
            <a:noFill/>
            <a:ln w="15240">
              <a:solidFill>
                <a:srgbClr val="0B3D6E"/>
              </a:solidFill>
              <a:tailEnd type="triangle" w="lg" len="lg"/>
            </a:ln>
          </p:spPr>
        </p:sp>
        <p:sp>
          <p:nvSpPr>
            <p:cNvPr id="114" name="Rectangle 114"/>
            <p:cNvSpPr/>
            <p:nvPr/>
          </p:nvSpPr>
          <p:spPr>
            <a:xfrm>
              <a:off x="8572500" y="2114550"/>
              <a:ext cx="3314700" cy="552450"/>
            </a:xfrm>
            <a:prstGeom prst="roundRect">
              <a:avLst>
                <a:gd name="adj" fmla="val 13793"/>
              </a:avLst>
            </a:prstGeom>
            <a:solidFill>
              <a:srgbClr val="FDF1E4"/>
            </a:solidFill>
            <a:ln w="11430">
              <a:solidFill>
                <a:srgbClr val="E8871E"/>
              </a:solidFill>
            </a:ln>
          </p:spPr>
        </p:sp>
        <p:sp>
          <p:nvSpPr>
            <p:cNvPr id="115" name="Ellipse 115"/>
            <p:cNvSpPr/>
            <p:nvPr/>
          </p:nvSpPr>
          <p:spPr>
            <a:xfrm>
              <a:off x="8686800" y="2200275"/>
              <a:ext cx="381000" cy="381000"/>
            </a:xfrm>
            <a:prstGeom prst="ellipse">
              <a:avLst/>
            </a:prstGeom>
            <a:solidFill>
              <a:srgbClr val="FFFFFF"/>
            </a:solidFill>
            <a:ln>
              <a:noFill/>
            </a:ln>
          </p:spPr>
        </p:sp>
        <p:grpSp>
          <p:nvGrpSpPr>
            <p:cNvPr id="118" name="Group 118"/>
            <p:cNvGrpSpPr/>
            <p:nvPr/>
          </p:nvGrpSpPr>
          <p:grpSpPr>
            <a:xfrm>
              <a:off x="8781455" y="2315397"/>
              <a:ext cx="191762" cy="130147"/>
              <a:chOff x="8781455" y="2315397"/>
              <a:chExt cx="191762" cy="130147"/>
            </a:xfrm>
          </p:grpSpPr>
          <p:sp>
            <p:nvSpPr>
              <p:cNvPr id="116" name="Freeform 116"/>
              <p:cNvSpPr/>
              <p:nvPr/>
            </p:nvSpPr>
            <p:spPr>
              <a:xfrm>
                <a:off x="8788301" y="2322230"/>
                <a:ext cx="177999" cy="116468"/>
              </a:xfrm>
              <a:custGeom>
                <a:avLst/>
                <a:gdLst/>
                <a:ahLst/>
                <a:cxnLst/>
                <a:rect l="l" t="t" r="r" b="b"/>
                <a:pathLst>
                  <a:path w="177999" h="116468">
                    <a:moveTo>
                      <a:pt x="177999" y="89083"/>
                    </a:moveTo>
                    <a:lnTo>
                      <a:pt x="177999" y="109622"/>
                    </a:lnTo>
                    <a:cubicBezTo>
                      <a:pt x="177999" y="113403"/>
                      <a:pt x="174933" y="116468"/>
                      <a:pt x="171152" y="116468"/>
                    </a:cubicBezTo>
                    <a:lnTo>
                      <a:pt x="6846" y="116468"/>
                    </a:lnTo>
                    <a:cubicBezTo>
                      <a:pt x="3065" y="116468"/>
                      <a:pt x="0" y="113403"/>
                      <a:pt x="0" y="109622"/>
                    </a:cubicBezTo>
                    <a:lnTo>
                      <a:pt x="0" y="90050"/>
                    </a:lnTo>
                    <a:cubicBezTo>
                      <a:pt x="0" y="40861"/>
                      <a:pt x="39493" y="255"/>
                      <a:pt x="88683" y="84"/>
                    </a:cubicBezTo>
                    <a:cubicBezTo>
                      <a:pt x="112342" y="0"/>
                      <a:pt x="135060" y="9340"/>
                      <a:pt x="151819" y="26039"/>
                    </a:cubicBezTo>
                    <a:cubicBezTo>
                      <a:pt x="168579" y="42739"/>
                      <a:pt x="177999" y="65424"/>
                      <a:pt x="177999" y="89083"/>
                    </a:cubicBezTo>
                    <a:close/>
                  </a:path>
                </a:pathLst>
              </a:custGeom>
              <a:solidFill>
                <a:srgbClr val="E8871E">
                  <a:alpha val="20000"/>
                </a:srgbClr>
              </a:solidFill>
              <a:ln>
                <a:noFill/>
              </a:ln>
            </p:spPr>
          </p:sp>
          <p:sp>
            <p:nvSpPr>
              <p:cNvPr id="117" name="Freeform 117"/>
              <p:cNvSpPr/>
              <p:nvPr/>
            </p:nvSpPr>
            <p:spPr>
              <a:xfrm>
                <a:off x="8781455" y="2315397"/>
                <a:ext cx="191762" cy="130147"/>
              </a:xfrm>
              <a:custGeom>
                <a:avLst/>
                <a:gdLst/>
                <a:ahLst/>
                <a:cxnLst/>
                <a:rect l="l" t="t" r="r" b="b"/>
                <a:pathLst>
                  <a:path w="191762" h="130147">
                    <a:moveTo>
                      <a:pt x="163502" y="28029"/>
                    </a:moveTo>
                    <a:cubicBezTo>
                      <a:pt x="145578" y="10064"/>
                      <a:pt x="121223" y="0"/>
                      <a:pt x="95845" y="71"/>
                    </a:cubicBezTo>
                    <a:lnTo>
                      <a:pt x="95503" y="71"/>
                    </a:lnTo>
                    <a:cubicBezTo>
                      <a:pt x="42848" y="251"/>
                      <a:pt x="0" y="43715"/>
                      <a:pt x="0" y="96884"/>
                    </a:cubicBezTo>
                    <a:lnTo>
                      <a:pt x="0" y="116455"/>
                    </a:lnTo>
                    <a:cubicBezTo>
                      <a:pt x="0" y="124017"/>
                      <a:pt x="6130" y="130147"/>
                      <a:pt x="13692" y="130147"/>
                    </a:cubicBezTo>
                    <a:lnTo>
                      <a:pt x="177999" y="130147"/>
                    </a:lnTo>
                    <a:cubicBezTo>
                      <a:pt x="185561" y="130147"/>
                      <a:pt x="191691" y="124017"/>
                      <a:pt x="191691" y="116455"/>
                    </a:cubicBezTo>
                    <a:lnTo>
                      <a:pt x="191691" y="95917"/>
                    </a:lnTo>
                    <a:cubicBezTo>
                      <a:pt x="191762" y="70426"/>
                      <a:pt x="181608" y="45972"/>
                      <a:pt x="163502" y="28029"/>
                    </a:cubicBezTo>
                    <a:close/>
                    <a:moveTo>
                      <a:pt x="177999" y="116455"/>
                    </a:moveTo>
                    <a:lnTo>
                      <a:pt x="88751" y="116455"/>
                    </a:lnTo>
                    <a:lnTo>
                      <a:pt x="135613" y="52016"/>
                    </a:lnTo>
                    <a:cubicBezTo>
                      <a:pt x="137839" y="48958"/>
                      <a:pt x="137164" y="44675"/>
                      <a:pt x="134106" y="42449"/>
                    </a:cubicBezTo>
                    <a:cubicBezTo>
                      <a:pt x="131049" y="40223"/>
                      <a:pt x="126765" y="40897"/>
                      <a:pt x="124539" y="43955"/>
                    </a:cubicBezTo>
                    <a:lnTo>
                      <a:pt x="71816" y="116455"/>
                    </a:lnTo>
                    <a:lnTo>
                      <a:pt x="13692" y="116455"/>
                    </a:lnTo>
                    <a:lnTo>
                      <a:pt x="13692" y="96884"/>
                    </a:lnTo>
                    <a:cubicBezTo>
                      <a:pt x="13692" y="94248"/>
                      <a:pt x="13821" y="91646"/>
                      <a:pt x="14060" y="89071"/>
                    </a:cubicBezTo>
                    <a:lnTo>
                      <a:pt x="34230" y="89071"/>
                    </a:lnTo>
                    <a:cubicBezTo>
                      <a:pt x="38011" y="89071"/>
                      <a:pt x="41077" y="86005"/>
                      <a:pt x="41077" y="82224"/>
                    </a:cubicBezTo>
                    <a:cubicBezTo>
                      <a:pt x="41077" y="78443"/>
                      <a:pt x="38011" y="75378"/>
                      <a:pt x="34230" y="75378"/>
                    </a:cubicBezTo>
                    <a:lnTo>
                      <a:pt x="16491" y="75378"/>
                    </a:lnTo>
                    <a:cubicBezTo>
                      <a:pt x="25322" y="42123"/>
                      <a:pt x="54144" y="16981"/>
                      <a:pt x="88999" y="14054"/>
                    </a:cubicBezTo>
                    <a:lnTo>
                      <a:pt x="88999" y="34302"/>
                    </a:lnTo>
                    <a:cubicBezTo>
                      <a:pt x="88999" y="38083"/>
                      <a:pt x="92064" y="41148"/>
                      <a:pt x="95845" y="41148"/>
                    </a:cubicBezTo>
                    <a:cubicBezTo>
                      <a:pt x="99626" y="41148"/>
                      <a:pt x="102691" y="38083"/>
                      <a:pt x="102691" y="34302"/>
                    </a:cubicBezTo>
                    <a:lnTo>
                      <a:pt x="102691" y="14046"/>
                    </a:lnTo>
                    <a:cubicBezTo>
                      <a:pt x="137500" y="16975"/>
                      <a:pt x="166663" y="41565"/>
                      <a:pt x="175431" y="75378"/>
                    </a:cubicBezTo>
                    <a:lnTo>
                      <a:pt x="157460" y="75378"/>
                    </a:lnTo>
                    <a:cubicBezTo>
                      <a:pt x="153679" y="75378"/>
                      <a:pt x="150614" y="78443"/>
                      <a:pt x="150614" y="82224"/>
                    </a:cubicBezTo>
                    <a:cubicBezTo>
                      <a:pt x="150614" y="86005"/>
                      <a:pt x="153679" y="89071"/>
                      <a:pt x="157460" y="89071"/>
                    </a:cubicBezTo>
                    <a:lnTo>
                      <a:pt x="177716" y="89071"/>
                    </a:lnTo>
                    <a:cubicBezTo>
                      <a:pt x="177896" y="91338"/>
                      <a:pt x="177999" y="93615"/>
                      <a:pt x="177999" y="95917"/>
                    </a:cubicBezTo>
                    <a:close/>
                  </a:path>
                </a:pathLst>
              </a:custGeom>
              <a:solidFill>
                <a:srgbClr val="E8871E"/>
              </a:solidFill>
              <a:ln>
                <a:noFill/>
              </a:ln>
            </p:spPr>
          </p:sp>
        </p:grpSp>
        <p:sp>
          <p:nvSpPr>
            <p:cNvPr id="119" name="TextBox 119"/>
            <p:cNvSpPr txBox="1"/>
            <p:nvPr/>
          </p:nvSpPr>
          <p:spPr>
            <a:xfrm>
              <a:off x="9157335" y="2231231"/>
              <a:ext cx="637665" cy="220028"/>
            </a:xfrm>
            <a:prstGeom prst="rect">
              <a:avLst/>
            </a:prstGeom>
            <a:noFill/>
            <a:ln>
              <a:noFill/>
            </a:ln>
          </p:spPr>
          <p:txBody>
            <a:bodyPr wrap="none" lIns="0" tIns="0" rIns="0" bIns="0" anchor="t" anchorCtr="0">
              <a:spAutoFit/>
            </a:bodyPr>
            <a:lstStyle/>
            <a:p>
              <a:pPr algn="l"/>
              <a:r>
                <a:rPr lang="en-IN" sz="1120" b="1" dirty="0">
                  <a:solidFill>
                    <a:srgbClr val="1D2939"/>
                  </a:solidFill>
                  <a:latin typeface="Calibri"/>
                  <a:ea typeface="Calibri"/>
                  <a:cs typeface="Calibri"/>
                </a:rPr>
                <a:t>Risk score</a:t>
              </a:r>
            </a:p>
          </p:txBody>
        </p:sp>
        <p:sp>
          <p:nvSpPr>
            <p:cNvPr id="120" name="TextBox 120"/>
            <p:cNvSpPr txBox="1"/>
            <p:nvPr/>
          </p:nvSpPr>
          <p:spPr>
            <a:xfrm>
              <a:off x="9158288" y="2426970"/>
              <a:ext cx="992444"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0–100, parts add up</a:t>
              </a:r>
            </a:p>
          </p:txBody>
        </p:sp>
        <p:sp>
          <p:nvSpPr>
            <p:cNvPr id="121" name="Line 121"/>
            <p:cNvSpPr/>
            <p:nvPr/>
          </p:nvSpPr>
          <p:spPr>
            <a:xfrm>
              <a:off x="10229850" y="2667000"/>
              <a:ext cx="1" cy="152400"/>
            </a:xfrm>
            <a:prstGeom prst="line">
              <a:avLst/>
            </a:prstGeom>
            <a:noFill/>
            <a:ln w="15240">
              <a:solidFill>
                <a:srgbClr val="0B3D6E"/>
              </a:solidFill>
              <a:tailEnd type="triangle" w="lg" len="lg"/>
            </a:ln>
          </p:spPr>
        </p:sp>
        <p:sp>
          <p:nvSpPr>
            <p:cNvPr id="122" name="Rectangle 122"/>
            <p:cNvSpPr/>
            <p:nvPr/>
          </p:nvSpPr>
          <p:spPr>
            <a:xfrm>
              <a:off x="8572500" y="2838450"/>
              <a:ext cx="3314700" cy="552450"/>
            </a:xfrm>
            <a:prstGeom prst="roundRect">
              <a:avLst>
                <a:gd name="adj" fmla="val 13793"/>
              </a:avLst>
            </a:prstGeom>
            <a:solidFill>
              <a:srgbClr val="E8F1FA"/>
            </a:solidFill>
            <a:ln w="11430">
              <a:solidFill>
                <a:srgbClr val="0B3D6E"/>
              </a:solidFill>
            </a:ln>
          </p:spPr>
        </p:sp>
        <p:sp>
          <p:nvSpPr>
            <p:cNvPr id="123" name="Ellipse 123"/>
            <p:cNvSpPr/>
            <p:nvPr/>
          </p:nvSpPr>
          <p:spPr>
            <a:xfrm>
              <a:off x="8686800" y="2924175"/>
              <a:ext cx="381000" cy="381000"/>
            </a:xfrm>
            <a:prstGeom prst="ellipse">
              <a:avLst/>
            </a:prstGeom>
            <a:solidFill>
              <a:srgbClr val="FFFFFF"/>
            </a:solidFill>
            <a:ln>
              <a:noFill/>
            </a:ln>
          </p:spPr>
        </p:sp>
        <p:grpSp>
          <p:nvGrpSpPr>
            <p:cNvPr id="126" name="Group 126"/>
            <p:cNvGrpSpPr/>
            <p:nvPr/>
          </p:nvGrpSpPr>
          <p:grpSpPr>
            <a:xfrm>
              <a:off x="8794174" y="3032178"/>
              <a:ext cx="165279" cy="157805"/>
              <a:chOff x="8794174" y="3032178"/>
              <a:chExt cx="165279" cy="157805"/>
            </a:xfrm>
          </p:grpSpPr>
          <p:sp>
            <p:nvSpPr>
              <p:cNvPr id="124" name="Freeform 124"/>
              <p:cNvSpPr/>
              <p:nvPr/>
            </p:nvSpPr>
            <p:spPr>
              <a:xfrm>
                <a:off x="8856762" y="3059906"/>
                <a:ext cx="95845" cy="109538"/>
              </a:xfrm>
              <a:custGeom>
                <a:avLst/>
                <a:gdLst/>
                <a:ahLst/>
                <a:cxnLst/>
                <a:rect l="l" t="t" r="r" b="b"/>
                <a:pathLst>
                  <a:path w="95845" h="109538">
                    <a:moveTo>
                      <a:pt x="95845" y="0"/>
                    </a:moveTo>
                    <a:lnTo>
                      <a:pt x="95845" y="109538"/>
                    </a:lnTo>
                    <a:lnTo>
                      <a:pt x="0" y="109538"/>
                    </a:lnTo>
                    <a:lnTo>
                      <a:pt x="0" y="0"/>
                    </a:lnTo>
                    <a:close/>
                  </a:path>
                </a:pathLst>
              </a:custGeom>
              <a:solidFill>
                <a:srgbClr val="0B3D6E">
                  <a:alpha val="20000"/>
                </a:srgbClr>
              </a:solidFill>
              <a:ln>
                <a:noFill/>
              </a:ln>
            </p:spPr>
          </p:sp>
          <p:sp>
            <p:nvSpPr>
              <p:cNvPr id="125" name="Freeform 125"/>
              <p:cNvSpPr/>
              <p:nvPr/>
            </p:nvSpPr>
            <p:spPr>
              <a:xfrm>
                <a:off x="8794174" y="3032178"/>
                <a:ext cx="165279" cy="157805"/>
              </a:xfrm>
              <a:custGeom>
                <a:avLst/>
                <a:gdLst/>
                <a:ahLst/>
                <a:cxnLst/>
                <a:rect l="l" t="t" r="r" b="b"/>
                <a:pathLst>
                  <a:path w="165279" h="157805">
                    <a:moveTo>
                      <a:pt x="165279" y="82497"/>
                    </a:moveTo>
                    <a:cubicBezTo>
                      <a:pt x="165279" y="86278"/>
                      <a:pt x="162214" y="89343"/>
                      <a:pt x="158433" y="89343"/>
                    </a:cubicBezTo>
                    <a:lnTo>
                      <a:pt x="62588" y="89343"/>
                    </a:lnTo>
                    <a:cubicBezTo>
                      <a:pt x="58807" y="89343"/>
                      <a:pt x="55742" y="86278"/>
                      <a:pt x="55742" y="82497"/>
                    </a:cubicBezTo>
                    <a:cubicBezTo>
                      <a:pt x="55742" y="78716"/>
                      <a:pt x="58807" y="75651"/>
                      <a:pt x="62588" y="75651"/>
                    </a:cubicBezTo>
                    <a:lnTo>
                      <a:pt x="158433" y="75651"/>
                    </a:lnTo>
                    <a:cubicBezTo>
                      <a:pt x="162214" y="75651"/>
                      <a:pt x="165279" y="78716"/>
                      <a:pt x="165279" y="82497"/>
                    </a:cubicBezTo>
                    <a:close/>
                    <a:moveTo>
                      <a:pt x="62588" y="34574"/>
                    </a:moveTo>
                    <a:lnTo>
                      <a:pt x="158433" y="34574"/>
                    </a:lnTo>
                    <a:cubicBezTo>
                      <a:pt x="162214" y="34574"/>
                      <a:pt x="165279" y="31509"/>
                      <a:pt x="165279" y="27728"/>
                    </a:cubicBezTo>
                    <a:cubicBezTo>
                      <a:pt x="165279" y="23947"/>
                      <a:pt x="162214" y="20882"/>
                      <a:pt x="158433" y="20882"/>
                    </a:cubicBezTo>
                    <a:lnTo>
                      <a:pt x="62588" y="20882"/>
                    </a:lnTo>
                    <a:cubicBezTo>
                      <a:pt x="58807" y="20882"/>
                      <a:pt x="55742" y="23947"/>
                      <a:pt x="55742" y="27728"/>
                    </a:cubicBezTo>
                    <a:cubicBezTo>
                      <a:pt x="55742" y="31509"/>
                      <a:pt x="58807" y="34574"/>
                      <a:pt x="62588" y="34574"/>
                    </a:cubicBezTo>
                    <a:close/>
                    <a:moveTo>
                      <a:pt x="158433" y="130419"/>
                    </a:moveTo>
                    <a:lnTo>
                      <a:pt x="62588" y="130419"/>
                    </a:lnTo>
                    <a:cubicBezTo>
                      <a:pt x="58807" y="130419"/>
                      <a:pt x="55742" y="133484"/>
                      <a:pt x="55742" y="137265"/>
                    </a:cubicBezTo>
                    <a:cubicBezTo>
                      <a:pt x="55742" y="141046"/>
                      <a:pt x="58807" y="144112"/>
                      <a:pt x="62588" y="144112"/>
                    </a:cubicBezTo>
                    <a:lnTo>
                      <a:pt x="158433" y="144112"/>
                    </a:lnTo>
                    <a:cubicBezTo>
                      <a:pt x="162214" y="144112"/>
                      <a:pt x="165279" y="141046"/>
                      <a:pt x="165279" y="137265"/>
                    </a:cubicBezTo>
                    <a:cubicBezTo>
                      <a:pt x="165279" y="133484"/>
                      <a:pt x="162214" y="130419"/>
                      <a:pt x="158433" y="130419"/>
                    </a:cubicBezTo>
                    <a:close/>
                    <a:moveTo>
                      <a:pt x="10883" y="20163"/>
                    </a:moveTo>
                    <a:lnTo>
                      <a:pt x="14665" y="18263"/>
                    </a:lnTo>
                    <a:lnTo>
                      <a:pt x="14665" y="61958"/>
                    </a:lnTo>
                    <a:cubicBezTo>
                      <a:pt x="14665" y="65739"/>
                      <a:pt x="17730" y="68804"/>
                      <a:pt x="21511" y="68804"/>
                    </a:cubicBezTo>
                    <a:cubicBezTo>
                      <a:pt x="25292" y="68804"/>
                      <a:pt x="28358" y="65739"/>
                      <a:pt x="28358" y="61958"/>
                    </a:cubicBezTo>
                    <a:lnTo>
                      <a:pt x="28358" y="7190"/>
                    </a:lnTo>
                    <a:cubicBezTo>
                      <a:pt x="28359" y="4816"/>
                      <a:pt x="27131" y="2610"/>
                      <a:pt x="25112" y="1362"/>
                    </a:cubicBezTo>
                    <a:cubicBezTo>
                      <a:pt x="23093" y="113"/>
                      <a:pt x="20571" y="0"/>
                      <a:pt x="18448" y="1062"/>
                    </a:cubicBezTo>
                    <a:lnTo>
                      <a:pt x="4756" y="7908"/>
                    </a:lnTo>
                    <a:cubicBezTo>
                      <a:pt x="1372" y="9600"/>
                      <a:pt x="0" y="13715"/>
                      <a:pt x="1692" y="17099"/>
                    </a:cubicBezTo>
                    <a:cubicBezTo>
                      <a:pt x="3384" y="20483"/>
                      <a:pt x="7499" y="21855"/>
                      <a:pt x="10883" y="20163"/>
                    </a:cubicBezTo>
                    <a:close/>
                    <a:moveTo>
                      <a:pt x="41853" y="107074"/>
                    </a:moveTo>
                    <a:cubicBezTo>
                      <a:pt x="41088" y="101595"/>
                      <a:pt x="38121" y="96666"/>
                      <a:pt x="33638" y="93425"/>
                    </a:cubicBezTo>
                    <a:cubicBezTo>
                      <a:pt x="24404" y="86720"/>
                      <a:pt x="11524" y="88494"/>
                      <a:pt x="4448" y="97447"/>
                    </a:cubicBezTo>
                    <a:cubicBezTo>
                      <a:pt x="3146" y="99118"/>
                      <a:pt x="2115" y="100984"/>
                      <a:pt x="1392" y="102975"/>
                    </a:cubicBezTo>
                    <a:cubicBezTo>
                      <a:pt x="364" y="105311"/>
                      <a:pt x="721" y="108025"/>
                      <a:pt x="2317" y="110016"/>
                    </a:cubicBezTo>
                    <a:cubicBezTo>
                      <a:pt x="3914" y="112007"/>
                      <a:pt x="6485" y="112945"/>
                      <a:pt x="8989" y="112449"/>
                    </a:cubicBezTo>
                    <a:cubicBezTo>
                      <a:pt x="11492" y="111953"/>
                      <a:pt x="13512" y="110105"/>
                      <a:pt x="14229" y="107656"/>
                    </a:cubicBezTo>
                    <a:cubicBezTo>
                      <a:pt x="14469" y="107000"/>
                      <a:pt x="14809" y="106385"/>
                      <a:pt x="15239" y="105833"/>
                    </a:cubicBezTo>
                    <a:cubicBezTo>
                      <a:pt x="17748" y="102707"/>
                      <a:pt x="22272" y="102108"/>
                      <a:pt x="25508" y="104473"/>
                    </a:cubicBezTo>
                    <a:cubicBezTo>
                      <a:pt x="27022" y="105544"/>
                      <a:pt x="28031" y="107190"/>
                      <a:pt x="28298" y="109025"/>
                    </a:cubicBezTo>
                    <a:cubicBezTo>
                      <a:pt x="28542" y="110788"/>
                      <a:pt x="28056" y="112574"/>
                      <a:pt x="26954" y="113972"/>
                    </a:cubicBezTo>
                    <a:cubicBezTo>
                      <a:pt x="26929" y="114001"/>
                      <a:pt x="26906" y="114033"/>
                      <a:pt x="26886" y="114066"/>
                    </a:cubicBezTo>
                    <a:lnTo>
                      <a:pt x="2334" y="146859"/>
                    </a:lnTo>
                    <a:cubicBezTo>
                      <a:pt x="782" y="148934"/>
                      <a:pt x="535" y="151708"/>
                      <a:pt x="1697" y="154025"/>
                    </a:cubicBezTo>
                    <a:cubicBezTo>
                      <a:pt x="2858" y="156342"/>
                      <a:pt x="5228" y="157805"/>
                      <a:pt x="7819" y="157804"/>
                    </a:cubicBezTo>
                    <a:lnTo>
                      <a:pt x="35204" y="157804"/>
                    </a:lnTo>
                    <a:cubicBezTo>
                      <a:pt x="38985" y="157804"/>
                      <a:pt x="42050" y="154739"/>
                      <a:pt x="42050" y="150958"/>
                    </a:cubicBezTo>
                    <a:cubicBezTo>
                      <a:pt x="42050" y="147177"/>
                      <a:pt x="38985" y="144112"/>
                      <a:pt x="35204" y="144112"/>
                    </a:cubicBezTo>
                    <a:lnTo>
                      <a:pt x="21511" y="144112"/>
                    </a:lnTo>
                    <a:lnTo>
                      <a:pt x="37839" y="122264"/>
                    </a:lnTo>
                    <a:cubicBezTo>
                      <a:pt x="41184" y="117956"/>
                      <a:pt x="42633" y="112472"/>
                      <a:pt x="41853" y="107074"/>
                    </a:cubicBezTo>
                    <a:close/>
                  </a:path>
                </a:pathLst>
              </a:custGeom>
              <a:solidFill>
                <a:srgbClr val="0B3D6E"/>
              </a:solidFill>
              <a:ln>
                <a:noFill/>
              </a:ln>
            </p:spPr>
          </p:sp>
        </p:grpSp>
        <p:sp>
          <p:nvSpPr>
            <p:cNvPr id="127" name="TextBox 127"/>
            <p:cNvSpPr txBox="1"/>
            <p:nvPr/>
          </p:nvSpPr>
          <p:spPr>
            <a:xfrm>
              <a:off x="9157335" y="2955131"/>
              <a:ext cx="1165666" cy="220028"/>
            </a:xfrm>
            <a:prstGeom prst="rect">
              <a:avLst/>
            </a:prstGeom>
            <a:noFill/>
            <a:ln>
              <a:noFill/>
            </a:ln>
          </p:spPr>
          <p:txBody>
            <a:bodyPr wrap="none" lIns="0" tIns="0" rIns="0" bIns="0" anchor="t" anchorCtr="0">
              <a:spAutoFit/>
            </a:bodyPr>
            <a:lstStyle/>
            <a:p>
              <a:pPr algn="l"/>
              <a:r>
                <a:rPr lang="en-IN" sz="1120" b="1" dirty="0">
                  <a:solidFill>
                    <a:srgbClr val="1D2939"/>
                  </a:solidFill>
                  <a:latin typeface="Calibri"/>
                  <a:ea typeface="Calibri"/>
                  <a:cs typeface="Calibri"/>
                </a:rPr>
                <a:t>Ranked review list</a:t>
              </a:r>
            </a:p>
          </p:txBody>
        </p:sp>
        <p:sp>
          <p:nvSpPr>
            <p:cNvPr id="128" name="TextBox 128"/>
            <p:cNvSpPr txBox="1"/>
            <p:nvPr/>
          </p:nvSpPr>
          <p:spPr>
            <a:xfrm>
              <a:off x="9158288" y="3150870"/>
              <a:ext cx="636602"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risk × money</a:t>
              </a:r>
            </a:p>
          </p:txBody>
        </p:sp>
        <p:sp>
          <p:nvSpPr>
            <p:cNvPr id="129" name="Line 129"/>
            <p:cNvSpPr/>
            <p:nvPr/>
          </p:nvSpPr>
          <p:spPr>
            <a:xfrm>
              <a:off x="10229850" y="3390900"/>
              <a:ext cx="1" cy="152400"/>
            </a:xfrm>
            <a:prstGeom prst="line">
              <a:avLst/>
            </a:prstGeom>
            <a:noFill/>
            <a:ln w="15240">
              <a:solidFill>
                <a:srgbClr val="0B3D6E"/>
              </a:solidFill>
              <a:tailEnd type="triangle" w="lg" len="lg"/>
            </a:ln>
          </p:spPr>
        </p:sp>
        <p:sp>
          <p:nvSpPr>
            <p:cNvPr id="130" name="Rectangle 130"/>
            <p:cNvSpPr/>
            <p:nvPr/>
          </p:nvSpPr>
          <p:spPr>
            <a:xfrm>
              <a:off x="8572500" y="3562350"/>
              <a:ext cx="3314700" cy="552450"/>
            </a:xfrm>
            <a:prstGeom prst="roundRect">
              <a:avLst>
                <a:gd name="adj" fmla="val 13793"/>
              </a:avLst>
            </a:prstGeom>
            <a:solidFill>
              <a:srgbClr val="E7F4EC"/>
            </a:solidFill>
            <a:ln w="11430">
              <a:solidFill>
                <a:srgbClr val="1E7B45"/>
              </a:solidFill>
            </a:ln>
          </p:spPr>
        </p:sp>
        <p:sp>
          <p:nvSpPr>
            <p:cNvPr id="131" name="Ellipse 131"/>
            <p:cNvSpPr/>
            <p:nvPr/>
          </p:nvSpPr>
          <p:spPr>
            <a:xfrm>
              <a:off x="8686800" y="3648075"/>
              <a:ext cx="381000" cy="381000"/>
            </a:xfrm>
            <a:prstGeom prst="ellipse">
              <a:avLst/>
            </a:prstGeom>
            <a:solidFill>
              <a:srgbClr val="FFFFFF"/>
            </a:solidFill>
            <a:ln>
              <a:noFill/>
            </a:ln>
          </p:spPr>
        </p:sp>
        <p:grpSp>
          <p:nvGrpSpPr>
            <p:cNvPr id="134" name="Group 134"/>
            <p:cNvGrpSpPr/>
            <p:nvPr/>
          </p:nvGrpSpPr>
          <p:grpSpPr>
            <a:xfrm>
              <a:off x="8780672" y="3756388"/>
              <a:ext cx="206838" cy="151478"/>
              <a:chOff x="8780672" y="3756388"/>
              <a:chExt cx="206838" cy="151478"/>
            </a:xfrm>
          </p:grpSpPr>
          <p:sp>
            <p:nvSpPr>
              <p:cNvPr id="132" name="Freeform 132"/>
              <p:cNvSpPr/>
              <p:nvPr/>
            </p:nvSpPr>
            <p:spPr>
              <a:xfrm>
                <a:off x="8808839" y="3763268"/>
                <a:ext cx="102691" cy="102691"/>
              </a:xfrm>
              <a:custGeom>
                <a:avLst/>
                <a:gdLst/>
                <a:ahLst/>
                <a:cxnLst/>
                <a:rect l="l" t="t" r="r" b="b"/>
                <a:pathLst>
                  <a:path w="102691" h="102691">
                    <a:moveTo>
                      <a:pt x="102691" y="51346"/>
                    </a:moveTo>
                    <a:cubicBezTo>
                      <a:pt x="102691" y="79703"/>
                      <a:pt x="79703" y="102691"/>
                      <a:pt x="51346" y="102691"/>
                    </a:cubicBezTo>
                    <a:cubicBezTo>
                      <a:pt x="22988" y="102691"/>
                      <a:pt x="0" y="79703"/>
                      <a:pt x="0" y="51346"/>
                    </a:cubicBezTo>
                    <a:cubicBezTo>
                      <a:pt x="0" y="22988"/>
                      <a:pt x="22988" y="0"/>
                      <a:pt x="51346" y="0"/>
                    </a:cubicBezTo>
                    <a:cubicBezTo>
                      <a:pt x="79703" y="0"/>
                      <a:pt x="102691" y="22988"/>
                      <a:pt x="102691" y="51346"/>
                    </a:cubicBezTo>
                    <a:close/>
                  </a:path>
                </a:pathLst>
              </a:custGeom>
              <a:solidFill>
                <a:srgbClr val="1E7B45">
                  <a:alpha val="20000"/>
                </a:srgbClr>
              </a:solidFill>
              <a:ln>
                <a:noFill/>
              </a:ln>
            </p:spPr>
          </p:sp>
          <p:sp>
            <p:nvSpPr>
              <p:cNvPr id="133" name="Freeform 133"/>
              <p:cNvSpPr/>
              <p:nvPr/>
            </p:nvSpPr>
            <p:spPr>
              <a:xfrm>
                <a:off x="8780672" y="3756388"/>
                <a:ext cx="206838" cy="151478"/>
              </a:xfrm>
              <a:custGeom>
                <a:avLst/>
                <a:gdLst/>
                <a:ahLst/>
                <a:cxnLst/>
                <a:rect l="l" t="t" r="r" b="b"/>
                <a:pathLst>
                  <a:path w="206838" h="151478">
                    <a:moveTo>
                      <a:pt x="110320" y="107586"/>
                    </a:moveTo>
                    <a:cubicBezTo>
                      <a:pt x="132370" y="93853"/>
                      <a:pt x="142646" y="67169"/>
                      <a:pt x="135505" y="42193"/>
                    </a:cubicBezTo>
                    <a:cubicBezTo>
                      <a:pt x="128363" y="17217"/>
                      <a:pt x="105532" y="0"/>
                      <a:pt x="79555" y="0"/>
                    </a:cubicBezTo>
                    <a:cubicBezTo>
                      <a:pt x="53579" y="0"/>
                      <a:pt x="30748" y="17217"/>
                      <a:pt x="23606" y="42193"/>
                    </a:cubicBezTo>
                    <a:cubicBezTo>
                      <a:pt x="16464" y="67169"/>
                      <a:pt x="26741" y="93853"/>
                      <a:pt x="48791" y="107586"/>
                    </a:cubicBezTo>
                    <a:cubicBezTo>
                      <a:pt x="31119" y="113371"/>
                      <a:pt x="15219" y="124180"/>
                      <a:pt x="2434" y="139395"/>
                    </a:cubicBezTo>
                    <a:cubicBezTo>
                      <a:pt x="0" y="142290"/>
                      <a:pt x="374" y="146610"/>
                      <a:pt x="3268" y="149044"/>
                    </a:cubicBezTo>
                    <a:cubicBezTo>
                      <a:pt x="6163" y="151478"/>
                      <a:pt x="10483" y="151104"/>
                      <a:pt x="12917" y="148209"/>
                    </a:cubicBezTo>
                    <a:cubicBezTo>
                      <a:pt x="30092" y="127705"/>
                      <a:pt x="53763" y="116418"/>
                      <a:pt x="79513" y="116418"/>
                    </a:cubicBezTo>
                    <a:cubicBezTo>
                      <a:pt x="105262" y="116418"/>
                      <a:pt x="128933" y="127705"/>
                      <a:pt x="146151" y="148209"/>
                    </a:cubicBezTo>
                    <a:cubicBezTo>
                      <a:pt x="148585" y="151104"/>
                      <a:pt x="152905" y="151478"/>
                      <a:pt x="155799" y="149044"/>
                    </a:cubicBezTo>
                    <a:cubicBezTo>
                      <a:pt x="158694" y="146610"/>
                      <a:pt x="159068" y="142290"/>
                      <a:pt x="156634" y="139395"/>
                    </a:cubicBezTo>
                    <a:cubicBezTo>
                      <a:pt x="143849" y="124180"/>
                      <a:pt x="127949" y="113371"/>
                      <a:pt x="110320" y="107586"/>
                    </a:cubicBezTo>
                    <a:close/>
                    <a:moveTo>
                      <a:pt x="35013" y="58226"/>
                    </a:moveTo>
                    <a:cubicBezTo>
                      <a:pt x="35013" y="33650"/>
                      <a:pt x="54936" y="13726"/>
                      <a:pt x="79513" y="13726"/>
                    </a:cubicBezTo>
                    <a:cubicBezTo>
                      <a:pt x="104089" y="13726"/>
                      <a:pt x="124012" y="33650"/>
                      <a:pt x="124012" y="58226"/>
                    </a:cubicBezTo>
                    <a:cubicBezTo>
                      <a:pt x="124012" y="82803"/>
                      <a:pt x="104089" y="102726"/>
                      <a:pt x="79513" y="102726"/>
                    </a:cubicBezTo>
                    <a:cubicBezTo>
                      <a:pt x="54948" y="102697"/>
                      <a:pt x="35041" y="82791"/>
                      <a:pt x="35013" y="58226"/>
                    </a:cubicBezTo>
                    <a:close/>
                    <a:moveTo>
                      <a:pt x="204163" y="87031"/>
                    </a:moveTo>
                    <a:lnTo>
                      <a:pt x="176778" y="114415"/>
                    </a:lnTo>
                    <a:cubicBezTo>
                      <a:pt x="175494" y="115701"/>
                      <a:pt x="173752" y="116423"/>
                      <a:pt x="171935" y="116423"/>
                    </a:cubicBezTo>
                    <a:cubicBezTo>
                      <a:pt x="170118" y="116423"/>
                      <a:pt x="168375" y="115701"/>
                      <a:pt x="167091" y="114415"/>
                    </a:cubicBezTo>
                    <a:lnTo>
                      <a:pt x="153399" y="100723"/>
                    </a:lnTo>
                    <a:cubicBezTo>
                      <a:pt x="150724" y="98048"/>
                      <a:pt x="150724" y="93711"/>
                      <a:pt x="153399" y="91036"/>
                    </a:cubicBezTo>
                    <a:cubicBezTo>
                      <a:pt x="156074" y="88361"/>
                      <a:pt x="160411" y="88361"/>
                      <a:pt x="163086" y="91036"/>
                    </a:cubicBezTo>
                    <a:lnTo>
                      <a:pt x="171935" y="99893"/>
                    </a:lnTo>
                    <a:lnTo>
                      <a:pt x="194476" y="77344"/>
                    </a:lnTo>
                    <a:cubicBezTo>
                      <a:pt x="197151" y="74669"/>
                      <a:pt x="201488" y="74669"/>
                      <a:pt x="204163" y="77344"/>
                    </a:cubicBezTo>
                    <a:cubicBezTo>
                      <a:pt x="206838" y="80019"/>
                      <a:pt x="206838" y="84356"/>
                      <a:pt x="204163" y="87031"/>
                    </a:cubicBezTo>
                    <a:close/>
                  </a:path>
                </a:pathLst>
              </a:custGeom>
              <a:solidFill>
                <a:srgbClr val="1E7B45"/>
              </a:solidFill>
              <a:ln>
                <a:noFill/>
              </a:ln>
            </p:spPr>
          </p:sp>
        </p:grpSp>
        <p:sp>
          <p:nvSpPr>
            <p:cNvPr id="135" name="TextBox 135"/>
            <p:cNvSpPr txBox="1"/>
            <p:nvPr/>
          </p:nvSpPr>
          <p:spPr>
            <a:xfrm>
              <a:off x="9157335" y="3679031"/>
              <a:ext cx="950192" cy="220028"/>
            </a:xfrm>
            <a:prstGeom prst="rect">
              <a:avLst/>
            </a:prstGeom>
            <a:noFill/>
            <a:ln>
              <a:noFill/>
            </a:ln>
          </p:spPr>
          <p:txBody>
            <a:bodyPr wrap="none" lIns="0" tIns="0" rIns="0" bIns="0" anchor="t" anchorCtr="0">
              <a:spAutoFit/>
            </a:bodyPr>
            <a:lstStyle/>
            <a:p>
              <a:pPr algn="l"/>
              <a:r>
                <a:rPr lang="en-IN" sz="1120" b="1" dirty="0">
                  <a:solidFill>
                    <a:srgbClr val="1D2939"/>
                  </a:solidFill>
                  <a:latin typeface="Calibri"/>
                  <a:ea typeface="Calibri"/>
                  <a:cs typeface="Calibri"/>
                </a:rPr>
                <a:t>Officer decides</a:t>
              </a:r>
            </a:p>
          </p:txBody>
        </p:sp>
        <p:sp>
          <p:nvSpPr>
            <p:cNvPr id="136" name="TextBox 136"/>
            <p:cNvSpPr txBox="1"/>
            <p:nvPr/>
          </p:nvSpPr>
          <p:spPr>
            <a:xfrm>
              <a:off x="9158288" y="3874770"/>
              <a:ext cx="1269023"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visits, then gives a verdict</a:t>
              </a:r>
            </a:p>
          </p:txBody>
        </p:sp>
        <p:sp>
          <p:nvSpPr>
            <p:cNvPr id="137" name="Freeform 137"/>
            <p:cNvSpPr/>
            <p:nvPr/>
          </p:nvSpPr>
          <p:spPr>
            <a:xfrm>
              <a:off x="4876800" y="4114800"/>
              <a:ext cx="6724650" cy="133350"/>
            </a:xfrm>
            <a:custGeom>
              <a:avLst/>
              <a:gdLst/>
              <a:ahLst/>
              <a:cxnLst/>
              <a:rect l="l" t="t" r="r" b="b"/>
              <a:pathLst>
                <a:path w="6724650" h="133350">
                  <a:moveTo>
                    <a:pt x="6724650" y="0"/>
                  </a:moveTo>
                  <a:lnTo>
                    <a:pt x="6724650" y="133350"/>
                  </a:lnTo>
                  <a:lnTo>
                    <a:pt x="0" y="133350"/>
                  </a:lnTo>
                  <a:lnTo>
                    <a:pt x="0" y="0"/>
                  </a:lnTo>
                </a:path>
              </a:pathLst>
            </a:custGeom>
            <a:noFill/>
            <a:ln w="13335">
              <a:solidFill>
                <a:srgbClr val="1E7B45"/>
              </a:solidFill>
              <a:custDash>
                <a:ds d="357143" sp="285714"/>
              </a:custDash>
              <a:tailEnd type="triangle" w="lg" len="lg"/>
            </a:ln>
          </p:spPr>
        </p:sp>
        <p:sp>
          <p:nvSpPr>
            <p:cNvPr id="138" name="TextBox 138"/>
            <p:cNvSpPr txBox="1"/>
            <p:nvPr/>
          </p:nvSpPr>
          <p:spPr>
            <a:xfrm>
              <a:off x="8400758" y="4321016"/>
              <a:ext cx="1734134" cy="161925"/>
            </a:xfrm>
            <a:prstGeom prst="rect">
              <a:avLst/>
            </a:prstGeom>
            <a:noFill/>
            <a:ln>
              <a:noFill/>
            </a:ln>
          </p:spPr>
          <p:txBody>
            <a:bodyPr wrap="none" lIns="0" tIns="0" rIns="0" bIns="0" anchor="t" anchorCtr="0">
              <a:spAutoFit/>
            </a:bodyPr>
            <a:lstStyle/>
            <a:p>
              <a:pPr algn="ctr"/>
              <a:r>
                <a:rPr lang="en-IN" sz="820" b="1" dirty="0">
                  <a:solidFill>
                    <a:srgbClr val="1E7B45"/>
                  </a:solidFill>
                  <a:latin typeface="Calibri"/>
                  <a:ea typeface="Calibri"/>
                  <a:cs typeface="Calibri"/>
                </a:rPr>
                <a:t>verdicts become training labels (next)</a:t>
              </a:r>
            </a:p>
          </p:txBody>
        </p:sp>
        <p:sp>
          <p:nvSpPr>
            <p:cNvPr id="139" name="Ellipse 139"/>
            <p:cNvSpPr/>
            <p:nvPr/>
          </p:nvSpPr>
          <p:spPr>
            <a:xfrm>
              <a:off x="338138" y="4433888"/>
              <a:ext cx="85725" cy="85725"/>
            </a:xfrm>
            <a:prstGeom prst="ellipse">
              <a:avLst/>
            </a:prstGeom>
            <a:solidFill>
              <a:srgbClr val="1E7B45"/>
            </a:solidFill>
            <a:ln>
              <a:noFill/>
            </a:ln>
          </p:spPr>
        </p:sp>
        <p:sp>
          <p:nvSpPr>
            <p:cNvPr id="140" name="TextBox 140"/>
            <p:cNvSpPr txBox="1"/>
            <p:nvPr/>
          </p:nvSpPr>
          <p:spPr>
            <a:xfrm>
              <a:off x="461962" y="4425791"/>
              <a:ext cx="164985"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live</a:t>
              </a:r>
            </a:p>
          </p:txBody>
        </p:sp>
        <p:sp>
          <p:nvSpPr>
            <p:cNvPr id="141" name="Ellipse 141"/>
            <p:cNvSpPr/>
            <p:nvPr/>
          </p:nvSpPr>
          <p:spPr>
            <a:xfrm>
              <a:off x="757238" y="4433888"/>
              <a:ext cx="85725" cy="85725"/>
            </a:xfrm>
            <a:prstGeom prst="ellipse">
              <a:avLst/>
            </a:prstGeom>
            <a:solidFill>
              <a:srgbClr val="0070C0"/>
            </a:solidFill>
            <a:ln>
              <a:noFill/>
            </a:ln>
          </p:spPr>
        </p:sp>
        <p:sp>
          <p:nvSpPr>
            <p:cNvPr id="142" name="TextBox 142"/>
            <p:cNvSpPr txBox="1"/>
            <p:nvPr/>
          </p:nvSpPr>
          <p:spPr>
            <a:xfrm>
              <a:off x="881062" y="4425791"/>
              <a:ext cx="1343930"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tested on real eSAKSHI works</a:t>
              </a:r>
            </a:p>
          </p:txBody>
        </p:sp>
        <p:sp>
          <p:nvSpPr>
            <p:cNvPr id="143" name="Ellipse 143"/>
            <p:cNvSpPr/>
            <p:nvPr/>
          </p:nvSpPr>
          <p:spPr>
            <a:xfrm>
              <a:off x="2457450" y="4438650"/>
              <a:ext cx="76200" cy="76200"/>
            </a:xfrm>
            <a:prstGeom prst="ellipse">
              <a:avLst/>
            </a:prstGeom>
            <a:solidFill>
              <a:srgbClr val="FFFFFF"/>
            </a:solidFill>
            <a:ln w="12382">
              <a:solidFill>
                <a:srgbClr val="667085"/>
              </a:solidFill>
            </a:ln>
          </p:spPr>
        </p:sp>
        <p:sp>
          <p:nvSpPr>
            <p:cNvPr id="144" name="TextBox 144"/>
            <p:cNvSpPr txBox="1"/>
            <p:nvPr/>
          </p:nvSpPr>
          <p:spPr>
            <a:xfrm>
              <a:off x="2576512" y="4425791"/>
              <a:ext cx="374657"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planned</a:t>
              </a:r>
            </a:p>
          </p:txBody>
        </p:sp>
      </p:grpSp>
      <p:grpSp>
        <p:nvGrpSpPr>
          <p:cNvPr id="185" name="problem-fix"/>
          <p:cNvGrpSpPr/>
          <p:nvPr/>
        </p:nvGrpSpPr>
        <p:grpSpPr>
          <a:xfrm>
            <a:off x="304800" y="4698206"/>
            <a:ext cx="5715000" cy="1569006"/>
            <a:chOff x="304800" y="4698206"/>
            <a:chExt cx="5715000" cy="1569006"/>
          </a:xfrm>
        </p:grpSpPr>
        <p:sp>
          <p:nvSpPr>
            <p:cNvPr id="146" name="Polygon 146"/>
            <p:cNvSpPr/>
            <p:nvPr/>
          </p:nvSpPr>
          <p:spPr>
            <a:xfrm>
              <a:off x="304800" y="4724876"/>
              <a:ext cx="95250" cy="95250"/>
            </a:xfrm>
            <a:custGeom>
              <a:avLst/>
              <a:gdLst/>
              <a:ahLst/>
              <a:cxnLst/>
              <a:rect l="l" t="t" r="r" b="b"/>
              <a:pathLst>
                <a:path w="95250" h="95250">
                  <a:moveTo>
                    <a:pt x="47625" y="0"/>
                  </a:moveTo>
                  <a:lnTo>
                    <a:pt x="95250" y="47625"/>
                  </a:lnTo>
                  <a:lnTo>
                    <a:pt x="47625" y="95250"/>
                  </a:lnTo>
                  <a:lnTo>
                    <a:pt x="0" y="47625"/>
                  </a:lnTo>
                  <a:close/>
                </a:path>
              </a:pathLst>
            </a:custGeom>
            <a:solidFill>
              <a:srgbClr val="E8871E"/>
            </a:solidFill>
            <a:ln>
              <a:noFill/>
            </a:ln>
          </p:spPr>
        </p:sp>
        <p:sp>
          <p:nvSpPr>
            <p:cNvPr id="147" name="TextBox 147"/>
            <p:cNvSpPr txBox="1"/>
            <p:nvPr/>
          </p:nvSpPr>
          <p:spPr>
            <a:xfrm>
              <a:off x="451485" y="4698206"/>
              <a:ext cx="1893255" cy="220028"/>
            </a:xfrm>
            <a:prstGeom prst="rect">
              <a:avLst/>
            </a:prstGeom>
            <a:noFill/>
            <a:ln>
              <a:noFill/>
            </a:ln>
          </p:spPr>
          <p:txBody>
            <a:bodyPr wrap="none" lIns="0" tIns="0" rIns="0" bIns="0" anchor="t" anchorCtr="0">
              <a:spAutoFit/>
            </a:bodyPr>
            <a:lstStyle/>
            <a:p>
              <a:pPr algn="l"/>
              <a:r>
                <a:rPr lang="en-IN" sz="1120" b="1" dirty="0">
                  <a:solidFill>
                    <a:srgbClr val="0B3D6E"/>
                  </a:solidFill>
                  <a:latin typeface="Calibri"/>
                  <a:ea typeface="Calibri"/>
                  <a:cs typeface="Calibri"/>
                </a:rPr>
                <a:t>How it addresses the problem</a:t>
              </a:r>
            </a:p>
          </p:txBody>
        </p:sp>
        <p:sp>
          <p:nvSpPr>
            <p:cNvPr id="148" name="Line 148"/>
            <p:cNvSpPr/>
            <p:nvPr/>
          </p:nvSpPr>
          <p:spPr>
            <a:xfrm>
              <a:off x="304800" y="4886325"/>
              <a:ext cx="5715000" cy="9525"/>
            </a:xfrm>
            <a:custGeom>
              <a:avLst/>
              <a:gdLst/>
              <a:ahLst/>
              <a:cxnLst/>
              <a:rect l="l" t="t" r="r" b="b"/>
              <a:pathLst>
                <a:path w="5715000" h="9525">
                  <a:moveTo>
                    <a:pt x="0" y="0"/>
                  </a:moveTo>
                  <a:lnTo>
                    <a:pt x="5715000" y="0"/>
                  </a:lnTo>
                </a:path>
              </a:pathLst>
            </a:custGeom>
            <a:noFill/>
            <a:ln w="9525">
              <a:solidFill>
                <a:srgbClr val="D0D5DD"/>
              </a:solidFill>
            </a:ln>
          </p:spPr>
        </p:sp>
        <p:sp>
          <p:nvSpPr>
            <p:cNvPr id="149" name="Ellipse 149"/>
            <p:cNvSpPr/>
            <p:nvPr/>
          </p:nvSpPr>
          <p:spPr>
            <a:xfrm>
              <a:off x="323850" y="5019675"/>
              <a:ext cx="342900" cy="342900"/>
            </a:xfrm>
            <a:prstGeom prst="ellipse">
              <a:avLst/>
            </a:prstGeom>
            <a:solidFill>
              <a:srgbClr val="FDECEA"/>
            </a:solidFill>
            <a:ln>
              <a:noFill/>
            </a:ln>
          </p:spPr>
        </p:sp>
        <p:grpSp>
          <p:nvGrpSpPr>
            <p:cNvPr id="152" name="Group 152"/>
            <p:cNvGrpSpPr/>
            <p:nvPr/>
          </p:nvGrpSpPr>
          <p:grpSpPr>
            <a:xfrm>
              <a:off x="415201" y="5111026"/>
              <a:ext cx="173089" cy="160199"/>
              <a:chOff x="415201" y="5111026"/>
              <a:chExt cx="173089" cy="160199"/>
            </a:xfrm>
          </p:grpSpPr>
          <p:sp>
            <p:nvSpPr>
              <p:cNvPr id="150" name="Freeform 150"/>
              <p:cNvSpPr/>
              <p:nvPr/>
            </p:nvSpPr>
            <p:spPr>
              <a:xfrm>
                <a:off x="421362" y="5147995"/>
                <a:ext cx="160199" cy="61615"/>
              </a:xfrm>
              <a:custGeom>
                <a:avLst/>
                <a:gdLst/>
                <a:ahLst/>
                <a:cxnLst/>
                <a:rect l="l" t="t" r="r" b="b"/>
                <a:pathLst>
                  <a:path w="160199" h="61615">
                    <a:moveTo>
                      <a:pt x="160199" y="30807"/>
                    </a:moveTo>
                    <a:lnTo>
                      <a:pt x="134305" y="59574"/>
                    </a:lnTo>
                    <a:cubicBezTo>
                      <a:pt x="133138" y="60871"/>
                      <a:pt x="131475" y="61613"/>
                      <a:pt x="129730" y="61615"/>
                    </a:cubicBezTo>
                    <a:lnTo>
                      <a:pt x="6161" y="61615"/>
                    </a:lnTo>
                    <a:cubicBezTo>
                      <a:pt x="2759" y="61615"/>
                      <a:pt x="0" y="58856"/>
                      <a:pt x="0" y="55453"/>
                    </a:cubicBezTo>
                    <a:lnTo>
                      <a:pt x="0" y="6161"/>
                    </a:lnTo>
                    <a:cubicBezTo>
                      <a:pt x="0" y="2759"/>
                      <a:pt x="2759" y="0"/>
                      <a:pt x="6161" y="0"/>
                    </a:cubicBezTo>
                    <a:lnTo>
                      <a:pt x="129730" y="0"/>
                    </a:lnTo>
                    <a:cubicBezTo>
                      <a:pt x="131475" y="2"/>
                      <a:pt x="133138" y="743"/>
                      <a:pt x="134305" y="2041"/>
                    </a:cubicBezTo>
                    <a:close/>
                  </a:path>
                </a:pathLst>
              </a:custGeom>
              <a:solidFill>
                <a:srgbClr val="B42318">
                  <a:alpha val="20000"/>
                </a:srgbClr>
              </a:solidFill>
              <a:ln>
                <a:noFill/>
              </a:ln>
            </p:spPr>
          </p:sp>
          <p:sp>
            <p:nvSpPr>
              <p:cNvPr id="151" name="Freeform 151"/>
              <p:cNvSpPr/>
              <p:nvPr/>
            </p:nvSpPr>
            <p:spPr>
              <a:xfrm>
                <a:off x="415201" y="5111026"/>
                <a:ext cx="173089" cy="160199"/>
              </a:xfrm>
              <a:custGeom>
                <a:avLst/>
                <a:gdLst/>
                <a:ahLst/>
                <a:cxnLst/>
                <a:rect l="l" t="t" r="r" b="b"/>
                <a:pathLst>
                  <a:path w="173089" h="160199">
                    <a:moveTo>
                      <a:pt x="170981" y="63656"/>
                    </a:moveTo>
                    <a:lnTo>
                      <a:pt x="145049" y="34889"/>
                    </a:lnTo>
                    <a:cubicBezTo>
                      <a:pt x="142713" y="32292"/>
                      <a:pt x="139385" y="30809"/>
                      <a:pt x="135892" y="30807"/>
                    </a:cubicBezTo>
                    <a:lnTo>
                      <a:pt x="86261" y="30807"/>
                    </a:lnTo>
                    <a:lnTo>
                      <a:pt x="86261" y="6161"/>
                    </a:lnTo>
                    <a:cubicBezTo>
                      <a:pt x="86261" y="2759"/>
                      <a:pt x="83502" y="0"/>
                      <a:pt x="80099" y="0"/>
                    </a:cubicBezTo>
                    <a:cubicBezTo>
                      <a:pt x="76696" y="0"/>
                      <a:pt x="73938" y="2759"/>
                      <a:pt x="73938" y="6161"/>
                    </a:cubicBezTo>
                    <a:lnTo>
                      <a:pt x="73938" y="30807"/>
                    </a:lnTo>
                    <a:lnTo>
                      <a:pt x="12323" y="30807"/>
                    </a:lnTo>
                    <a:cubicBezTo>
                      <a:pt x="5517" y="30807"/>
                      <a:pt x="0" y="36325"/>
                      <a:pt x="0" y="43130"/>
                    </a:cubicBezTo>
                    <a:lnTo>
                      <a:pt x="0" y="92422"/>
                    </a:lnTo>
                    <a:cubicBezTo>
                      <a:pt x="0" y="99228"/>
                      <a:pt x="5517" y="104745"/>
                      <a:pt x="12323" y="104745"/>
                    </a:cubicBezTo>
                    <a:lnTo>
                      <a:pt x="73938" y="104745"/>
                    </a:lnTo>
                    <a:lnTo>
                      <a:pt x="73938" y="154037"/>
                    </a:lnTo>
                    <a:cubicBezTo>
                      <a:pt x="73938" y="157440"/>
                      <a:pt x="76696" y="160199"/>
                      <a:pt x="80099" y="160199"/>
                    </a:cubicBezTo>
                    <a:cubicBezTo>
                      <a:pt x="83502" y="160199"/>
                      <a:pt x="86261" y="157440"/>
                      <a:pt x="86261" y="154037"/>
                    </a:cubicBezTo>
                    <a:lnTo>
                      <a:pt x="86261" y="104745"/>
                    </a:lnTo>
                    <a:lnTo>
                      <a:pt x="135892" y="104745"/>
                    </a:lnTo>
                    <a:cubicBezTo>
                      <a:pt x="139385" y="104744"/>
                      <a:pt x="142713" y="103260"/>
                      <a:pt x="145049" y="100663"/>
                    </a:cubicBezTo>
                    <a:lnTo>
                      <a:pt x="170981" y="71897"/>
                    </a:lnTo>
                    <a:cubicBezTo>
                      <a:pt x="173089" y="69554"/>
                      <a:pt x="173089" y="65999"/>
                      <a:pt x="170981" y="63656"/>
                    </a:cubicBezTo>
                    <a:close/>
                    <a:moveTo>
                      <a:pt x="135892" y="92422"/>
                    </a:moveTo>
                    <a:lnTo>
                      <a:pt x="12323" y="92422"/>
                    </a:lnTo>
                    <a:lnTo>
                      <a:pt x="12323" y="43130"/>
                    </a:lnTo>
                    <a:lnTo>
                      <a:pt x="135892" y="43130"/>
                    </a:lnTo>
                    <a:lnTo>
                      <a:pt x="158073" y="67776"/>
                    </a:lnTo>
                    <a:close/>
                  </a:path>
                </a:pathLst>
              </a:custGeom>
              <a:solidFill>
                <a:srgbClr val="B42318"/>
              </a:solidFill>
              <a:ln>
                <a:noFill/>
              </a:ln>
            </p:spPr>
          </p:sp>
        </p:grpSp>
        <p:sp>
          <p:nvSpPr>
            <p:cNvPr id="153" name="TextBox 153"/>
            <p:cNvSpPr txBox="1"/>
            <p:nvPr/>
          </p:nvSpPr>
          <p:spPr>
            <a:xfrm>
              <a:off x="736092" y="5026342"/>
              <a:ext cx="428985" cy="264033"/>
            </a:xfrm>
            <a:prstGeom prst="rect">
              <a:avLst/>
            </a:prstGeom>
            <a:noFill/>
            <a:ln>
              <a:noFill/>
            </a:ln>
          </p:spPr>
          <p:txBody>
            <a:bodyPr wrap="none" lIns="0" tIns="0" rIns="0" bIns="0" anchor="t" anchorCtr="0">
              <a:spAutoFit/>
            </a:bodyPr>
            <a:lstStyle/>
            <a:p>
              <a:pPr algn="l"/>
              <a:r>
                <a:rPr lang="en-IN" sz="1350" b="1" dirty="0">
                  <a:solidFill>
                    <a:srgbClr val="B42318"/>
                  </a:solidFill>
                  <a:latin typeface="Calibri"/>
                  <a:ea typeface="Calibri"/>
                  <a:cs typeface="Calibri"/>
                </a:rPr>
                <a:t>4,918</a:t>
              </a:r>
            </a:p>
          </p:txBody>
        </p:sp>
        <p:sp>
          <p:nvSpPr>
            <p:cNvPr id="154" name="TextBox 154"/>
            <p:cNvSpPr txBox="1"/>
            <p:nvPr/>
          </p:nvSpPr>
          <p:spPr>
            <a:xfrm>
              <a:off x="738188" y="5221843"/>
              <a:ext cx="1300801" cy="169069"/>
            </a:xfrm>
            <a:prstGeom prst="rect">
              <a:avLst/>
            </a:prstGeom>
            <a:noFill/>
            <a:ln>
              <a:noFill/>
            </a:ln>
          </p:spPr>
          <p:txBody>
            <a:bodyPr wrap="none" lIns="0" tIns="0" rIns="0" bIns="0" anchor="t" anchorCtr="0">
              <a:spAutoFit/>
            </a:bodyPr>
            <a:lstStyle/>
            <a:p>
              <a:pPr algn="l"/>
              <a:r>
                <a:rPr lang="en-IN" sz="860" dirty="0">
                  <a:solidFill>
                    <a:srgbClr val="667085"/>
                  </a:solidFill>
                  <a:latin typeface="Calibri"/>
                  <a:ea typeface="Calibri"/>
                  <a:cs typeface="Calibri"/>
                </a:rPr>
                <a:t>works had no plaque (CAG)</a:t>
              </a:r>
            </a:p>
          </p:txBody>
        </p:sp>
        <p:sp>
          <p:nvSpPr>
            <p:cNvPr id="155" name="Line 155"/>
            <p:cNvSpPr/>
            <p:nvPr/>
          </p:nvSpPr>
          <p:spPr>
            <a:xfrm>
              <a:off x="2781300" y="5191125"/>
              <a:ext cx="514350" cy="1"/>
            </a:xfrm>
            <a:prstGeom prst="line">
              <a:avLst/>
            </a:prstGeom>
            <a:noFill/>
            <a:ln w="15240">
              <a:solidFill>
                <a:srgbClr val="0B3D6E"/>
              </a:solidFill>
              <a:tailEnd type="triangle" w="lg" len="lg"/>
            </a:ln>
          </p:spPr>
        </p:sp>
        <p:sp>
          <p:nvSpPr>
            <p:cNvPr id="156" name="Ellipse 156"/>
            <p:cNvSpPr/>
            <p:nvPr/>
          </p:nvSpPr>
          <p:spPr>
            <a:xfrm>
              <a:off x="3371850" y="5019675"/>
              <a:ext cx="342900" cy="342900"/>
            </a:xfrm>
            <a:prstGeom prst="ellipse">
              <a:avLst/>
            </a:prstGeom>
            <a:solidFill>
              <a:srgbClr val="E7F4EC"/>
            </a:solidFill>
            <a:ln>
              <a:noFill/>
            </a:ln>
          </p:spPr>
        </p:sp>
        <p:grpSp>
          <p:nvGrpSpPr>
            <p:cNvPr id="159" name="Group 159"/>
            <p:cNvGrpSpPr/>
            <p:nvPr/>
          </p:nvGrpSpPr>
          <p:grpSpPr>
            <a:xfrm>
              <a:off x="3463201" y="5123349"/>
              <a:ext cx="160199" cy="135553"/>
              <a:chOff x="3463201" y="5123349"/>
              <a:chExt cx="160199" cy="135553"/>
            </a:xfrm>
          </p:grpSpPr>
          <p:sp>
            <p:nvSpPr>
              <p:cNvPr id="157" name="Freeform 157"/>
              <p:cNvSpPr/>
              <p:nvPr/>
            </p:nvSpPr>
            <p:spPr>
              <a:xfrm>
                <a:off x="3469362" y="5129510"/>
                <a:ext cx="147876" cy="100170"/>
              </a:xfrm>
              <a:custGeom>
                <a:avLst/>
                <a:gdLst/>
                <a:ahLst/>
                <a:cxnLst/>
                <a:rect l="l" t="t" r="r" b="b"/>
                <a:pathLst>
                  <a:path w="147876" h="100170">
                    <a:moveTo>
                      <a:pt x="147876" y="6161"/>
                    </a:moveTo>
                    <a:lnTo>
                      <a:pt x="147876" y="100170"/>
                    </a:lnTo>
                    <a:lnTo>
                      <a:pt x="117284" y="69579"/>
                    </a:lnTo>
                    <a:cubicBezTo>
                      <a:pt x="114878" y="67174"/>
                      <a:pt x="110979" y="67174"/>
                      <a:pt x="108573" y="69579"/>
                    </a:cubicBezTo>
                    <a:lnTo>
                      <a:pt x="88810" y="89342"/>
                    </a:lnTo>
                    <a:lnTo>
                      <a:pt x="50570" y="51094"/>
                    </a:lnTo>
                    <a:cubicBezTo>
                      <a:pt x="49415" y="49937"/>
                      <a:pt x="47846" y="49287"/>
                      <a:pt x="46211" y="49287"/>
                    </a:cubicBezTo>
                    <a:cubicBezTo>
                      <a:pt x="44576" y="49287"/>
                      <a:pt x="43008" y="49937"/>
                      <a:pt x="41852" y="51094"/>
                    </a:cubicBezTo>
                    <a:lnTo>
                      <a:pt x="0" y="92954"/>
                    </a:lnTo>
                    <a:lnTo>
                      <a:pt x="0" y="6161"/>
                    </a:lnTo>
                    <a:cubicBezTo>
                      <a:pt x="0" y="2759"/>
                      <a:pt x="2759" y="0"/>
                      <a:pt x="6161" y="0"/>
                    </a:cubicBezTo>
                    <a:lnTo>
                      <a:pt x="141714" y="0"/>
                    </a:lnTo>
                    <a:cubicBezTo>
                      <a:pt x="145117" y="0"/>
                      <a:pt x="147876" y="2759"/>
                      <a:pt x="147876" y="6161"/>
                    </a:cubicBezTo>
                    <a:close/>
                  </a:path>
                </a:pathLst>
              </a:custGeom>
              <a:solidFill>
                <a:srgbClr val="1E7B45">
                  <a:alpha val="20000"/>
                </a:srgbClr>
              </a:solidFill>
              <a:ln>
                <a:noFill/>
              </a:ln>
            </p:spPr>
          </p:sp>
          <p:sp>
            <p:nvSpPr>
              <p:cNvPr id="158" name="Freeform 158"/>
              <p:cNvSpPr/>
              <p:nvPr/>
            </p:nvSpPr>
            <p:spPr>
              <a:xfrm>
                <a:off x="3463201" y="5123349"/>
                <a:ext cx="160199" cy="135553"/>
              </a:xfrm>
              <a:custGeom>
                <a:avLst/>
                <a:gdLst/>
                <a:ahLst/>
                <a:cxnLst/>
                <a:rect l="l" t="t" r="r" b="b"/>
                <a:pathLst>
                  <a:path w="160199" h="135553">
                    <a:moveTo>
                      <a:pt x="147876" y="0"/>
                    </a:moveTo>
                    <a:lnTo>
                      <a:pt x="12323" y="0"/>
                    </a:lnTo>
                    <a:cubicBezTo>
                      <a:pt x="5517" y="0"/>
                      <a:pt x="0" y="5517"/>
                      <a:pt x="0" y="12323"/>
                    </a:cubicBezTo>
                    <a:lnTo>
                      <a:pt x="0" y="123230"/>
                    </a:lnTo>
                    <a:cubicBezTo>
                      <a:pt x="0" y="130036"/>
                      <a:pt x="5517" y="135553"/>
                      <a:pt x="12323" y="135553"/>
                    </a:cubicBezTo>
                    <a:lnTo>
                      <a:pt x="147876" y="135553"/>
                    </a:lnTo>
                    <a:cubicBezTo>
                      <a:pt x="154681" y="135553"/>
                      <a:pt x="160199" y="130036"/>
                      <a:pt x="160199" y="123230"/>
                    </a:cubicBezTo>
                    <a:lnTo>
                      <a:pt x="160199" y="12323"/>
                    </a:lnTo>
                    <a:cubicBezTo>
                      <a:pt x="160199" y="5517"/>
                      <a:pt x="154681" y="0"/>
                      <a:pt x="147876" y="0"/>
                    </a:cubicBezTo>
                    <a:close/>
                    <a:moveTo>
                      <a:pt x="147876" y="12323"/>
                    </a:moveTo>
                    <a:lnTo>
                      <a:pt x="147876" y="91460"/>
                    </a:lnTo>
                    <a:lnTo>
                      <a:pt x="127797" y="71389"/>
                    </a:lnTo>
                    <a:cubicBezTo>
                      <a:pt x="125486" y="69077"/>
                      <a:pt x="122351" y="67778"/>
                      <a:pt x="119082" y="67778"/>
                    </a:cubicBezTo>
                    <a:cubicBezTo>
                      <a:pt x="115814" y="67778"/>
                      <a:pt x="112679" y="69077"/>
                      <a:pt x="110368" y="71389"/>
                    </a:cubicBezTo>
                    <a:lnTo>
                      <a:pt x="94964" y="86792"/>
                    </a:lnTo>
                    <a:lnTo>
                      <a:pt x="61076" y="52904"/>
                    </a:lnTo>
                    <a:cubicBezTo>
                      <a:pt x="56264" y="48095"/>
                      <a:pt x="48466" y="48095"/>
                      <a:pt x="43654" y="52904"/>
                    </a:cubicBezTo>
                    <a:lnTo>
                      <a:pt x="12323" y="84235"/>
                    </a:lnTo>
                    <a:lnTo>
                      <a:pt x="12323" y="12323"/>
                    </a:lnTo>
                    <a:close/>
                    <a:moveTo>
                      <a:pt x="12323" y="101665"/>
                    </a:moveTo>
                    <a:lnTo>
                      <a:pt x="52373" y="61615"/>
                    </a:lnTo>
                    <a:lnTo>
                      <a:pt x="113987" y="123230"/>
                    </a:lnTo>
                    <a:lnTo>
                      <a:pt x="12323" y="123230"/>
                    </a:lnTo>
                    <a:close/>
                    <a:moveTo>
                      <a:pt x="147876" y="123230"/>
                    </a:moveTo>
                    <a:lnTo>
                      <a:pt x="131417" y="123230"/>
                    </a:lnTo>
                    <a:lnTo>
                      <a:pt x="103690" y="95503"/>
                    </a:lnTo>
                    <a:lnTo>
                      <a:pt x="119094" y="80099"/>
                    </a:lnTo>
                    <a:lnTo>
                      <a:pt x="147876" y="108889"/>
                    </a:lnTo>
                    <a:lnTo>
                      <a:pt x="147876" y="123230"/>
                    </a:lnTo>
                    <a:close/>
                    <a:moveTo>
                      <a:pt x="92422" y="46211"/>
                    </a:moveTo>
                    <a:cubicBezTo>
                      <a:pt x="92422" y="41107"/>
                      <a:pt x="96560" y="36969"/>
                      <a:pt x="101665" y="36969"/>
                    </a:cubicBezTo>
                    <a:cubicBezTo>
                      <a:pt x="106769" y="36969"/>
                      <a:pt x="110907" y="41107"/>
                      <a:pt x="110907" y="46211"/>
                    </a:cubicBezTo>
                    <a:cubicBezTo>
                      <a:pt x="110907" y="51315"/>
                      <a:pt x="106769" y="55453"/>
                      <a:pt x="101665" y="55453"/>
                    </a:cubicBezTo>
                    <a:cubicBezTo>
                      <a:pt x="96560" y="55453"/>
                      <a:pt x="92422" y="51315"/>
                      <a:pt x="92422" y="46211"/>
                    </a:cubicBezTo>
                    <a:close/>
                  </a:path>
                </a:pathLst>
              </a:custGeom>
              <a:solidFill>
                <a:srgbClr val="1E7B45"/>
              </a:solidFill>
              <a:ln>
                <a:noFill/>
              </a:ln>
            </p:spPr>
          </p:sp>
        </p:grpSp>
        <p:sp>
          <p:nvSpPr>
            <p:cNvPr id="160" name="TextBox 160"/>
            <p:cNvSpPr txBox="1"/>
            <p:nvPr/>
          </p:nvSpPr>
          <p:spPr>
            <a:xfrm>
              <a:off x="3785616" y="5125402"/>
              <a:ext cx="1269809" cy="205359"/>
            </a:xfrm>
            <a:prstGeom prst="rect">
              <a:avLst/>
            </a:prstGeom>
            <a:noFill/>
            <a:ln>
              <a:noFill/>
            </a:ln>
          </p:spPr>
          <p:txBody>
            <a:bodyPr wrap="none" lIns="0" tIns="0" rIns="0" bIns="0" anchor="t" anchorCtr="0">
              <a:spAutoFit/>
            </a:bodyPr>
            <a:lstStyle/>
            <a:p>
              <a:pPr algn="l"/>
              <a:r>
                <a:rPr lang="en-IN" sz="1050" b="1" dirty="0">
                  <a:solidFill>
                    <a:srgbClr val="1D2939"/>
                  </a:solidFill>
                  <a:latin typeface="Calibri"/>
                  <a:ea typeface="Calibri"/>
                  <a:cs typeface="Calibri"/>
                </a:rPr>
                <a:t>Photo + plaque check</a:t>
              </a:r>
            </a:p>
          </p:txBody>
        </p:sp>
        <p:sp>
          <p:nvSpPr>
            <p:cNvPr id="161" name="Ellipse 161"/>
            <p:cNvSpPr/>
            <p:nvPr/>
          </p:nvSpPr>
          <p:spPr>
            <a:xfrm>
              <a:off x="323850" y="5457825"/>
              <a:ext cx="342900" cy="342900"/>
            </a:xfrm>
            <a:prstGeom prst="ellipse">
              <a:avLst/>
            </a:prstGeom>
            <a:solidFill>
              <a:srgbClr val="FDECEA"/>
            </a:solidFill>
            <a:ln>
              <a:noFill/>
            </a:ln>
          </p:spPr>
        </p:sp>
        <p:grpSp>
          <p:nvGrpSpPr>
            <p:cNvPr id="164" name="Group 164"/>
            <p:cNvGrpSpPr/>
            <p:nvPr/>
          </p:nvGrpSpPr>
          <p:grpSpPr>
            <a:xfrm>
              <a:off x="439847" y="5549176"/>
              <a:ext cx="110907" cy="160199"/>
              <a:chOff x="439847" y="5549176"/>
              <a:chExt cx="110907" cy="160199"/>
            </a:xfrm>
          </p:grpSpPr>
          <p:sp>
            <p:nvSpPr>
              <p:cNvPr id="162" name="Freeform 162"/>
              <p:cNvSpPr/>
              <p:nvPr/>
            </p:nvSpPr>
            <p:spPr>
              <a:xfrm>
                <a:off x="454226" y="5598468"/>
                <a:ext cx="81832" cy="30807"/>
              </a:xfrm>
              <a:custGeom>
                <a:avLst/>
                <a:gdLst/>
                <a:ahLst/>
                <a:cxnLst/>
                <a:rect l="l" t="t" r="r" b="b"/>
                <a:pathLst>
                  <a:path w="81832" h="30807">
                    <a:moveTo>
                      <a:pt x="81832" y="0"/>
                    </a:moveTo>
                    <a:lnTo>
                      <a:pt x="41074" y="30807"/>
                    </a:lnTo>
                    <a:lnTo>
                      <a:pt x="0" y="0"/>
                    </a:lnTo>
                    <a:close/>
                  </a:path>
                </a:pathLst>
              </a:custGeom>
              <a:solidFill>
                <a:srgbClr val="B42318">
                  <a:alpha val="20000"/>
                </a:srgbClr>
              </a:solidFill>
              <a:ln>
                <a:noFill/>
              </a:ln>
            </p:spPr>
          </p:sp>
          <p:sp>
            <p:nvSpPr>
              <p:cNvPr id="163" name="Freeform 163"/>
              <p:cNvSpPr/>
              <p:nvPr/>
            </p:nvSpPr>
            <p:spPr>
              <a:xfrm>
                <a:off x="439847" y="5549176"/>
                <a:ext cx="110907" cy="160199"/>
              </a:xfrm>
              <a:custGeom>
                <a:avLst/>
                <a:gdLst/>
                <a:ahLst/>
                <a:cxnLst/>
                <a:rect l="l" t="t" r="r" b="b"/>
                <a:pathLst>
                  <a:path w="110907" h="160199">
                    <a:moveTo>
                      <a:pt x="110907" y="39772"/>
                    </a:moveTo>
                    <a:lnTo>
                      <a:pt x="110907" y="12323"/>
                    </a:lnTo>
                    <a:cubicBezTo>
                      <a:pt x="110907" y="5517"/>
                      <a:pt x="105390" y="0"/>
                      <a:pt x="98584" y="0"/>
                    </a:cubicBezTo>
                    <a:lnTo>
                      <a:pt x="12323" y="0"/>
                    </a:lnTo>
                    <a:cubicBezTo>
                      <a:pt x="5517" y="0"/>
                      <a:pt x="0" y="5517"/>
                      <a:pt x="0" y="12323"/>
                    </a:cubicBezTo>
                    <a:lnTo>
                      <a:pt x="0" y="40050"/>
                    </a:lnTo>
                    <a:cubicBezTo>
                      <a:pt x="8" y="43926"/>
                      <a:pt x="1833" y="47575"/>
                      <a:pt x="4929" y="49908"/>
                    </a:cubicBezTo>
                    <a:lnTo>
                      <a:pt x="45187" y="80099"/>
                    </a:lnTo>
                    <a:lnTo>
                      <a:pt x="4929" y="110291"/>
                    </a:lnTo>
                    <a:cubicBezTo>
                      <a:pt x="1833" y="112623"/>
                      <a:pt x="8" y="116272"/>
                      <a:pt x="0" y="120149"/>
                    </a:cubicBezTo>
                    <a:lnTo>
                      <a:pt x="0" y="147876"/>
                    </a:lnTo>
                    <a:cubicBezTo>
                      <a:pt x="0" y="154681"/>
                      <a:pt x="5517" y="160199"/>
                      <a:pt x="12323" y="160199"/>
                    </a:cubicBezTo>
                    <a:lnTo>
                      <a:pt x="98584" y="160199"/>
                    </a:lnTo>
                    <a:cubicBezTo>
                      <a:pt x="105390" y="160199"/>
                      <a:pt x="110907" y="154681"/>
                      <a:pt x="110907" y="147876"/>
                    </a:cubicBezTo>
                    <a:lnTo>
                      <a:pt x="110907" y="120426"/>
                    </a:lnTo>
                    <a:cubicBezTo>
                      <a:pt x="110898" y="116565"/>
                      <a:pt x="109090" y="112928"/>
                      <a:pt x="106016" y="110591"/>
                    </a:cubicBezTo>
                    <a:lnTo>
                      <a:pt x="65674" y="80099"/>
                    </a:lnTo>
                    <a:lnTo>
                      <a:pt x="106016" y="49608"/>
                    </a:lnTo>
                    <a:cubicBezTo>
                      <a:pt x="109090" y="47270"/>
                      <a:pt x="110898" y="43634"/>
                      <a:pt x="110907" y="39772"/>
                    </a:cubicBezTo>
                    <a:close/>
                    <a:moveTo>
                      <a:pt x="12323" y="12323"/>
                    </a:moveTo>
                    <a:lnTo>
                      <a:pt x="98584" y="12323"/>
                    </a:lnTo>
                    <a:lnTo>
                      <a:pt x="98584" y="39772"/>
                    </a:lnTo>
                    <a:lnTo>
                      <a:pt x="94140" y="43130"/>
                    </a:lnTo>
                    <a:lnTo>
                      <a:pt x="16428" y="43130"/>
                    </a:lnTo>
                    <a:lnTo>
                      <a:pt x="12323" y="40050"/>
                    </a:lnTo>
                    <a:close/>
                    <a:moveTo>
                      <a:pt x="55453" y="72397"/>
                    </a:moveTo>
                    <a:lnTo>
                      <a:pt x="32864" y="55453"/>
                    </a:lnTo>
                    <a:lnTo>
                      <a:pt x="77843" y="55453"/>
                    </a:lnTo>
                    <a:close/>
                    <a:moveTo>
                      <a:pt x="98584" y="147876"/>
                    </a:moveTo>
                    <a:lnTo>
                      <a:pt x="12323" y="147876"/>
                    </a:lnTo>
                    <a:lnTo>
                      <a:pt x="12323" y="120149"/>
                    </a:lnTo>
                    <a:lnTo>
                      <a:pt x="49292" y="92422"/>
                    </a:lnTo>
                    <a:lnTo>
                      <a:pt x="49292" y="110907"/>
                    </a:lnTo>
                    <a:cubicBezTo>
                      <a:pt x="49292" y="114310"/>
                      <a:pt x="52050" y="117068"/>
                      <a:pt x="55453" y="117068"/>
                    </a:cubicBezTo>
                    <a:cubicBezTo>
                      <a:pt x="58856" y="117068"/>
                      <a:pt x="61615" y="114310"/>
                      <a:pt x="61615" y="110907"/>
                    </a:cubicBezTo>
                    <a:lnTo>
                      <a:pt x="61615" y="92484"/>
                    </a:lnTo>
                    <a:lnTo>
                      <a:pt x="98584" y="120426"/>
                    </a:lnTo>
                    <a:close/>
                  </a:path>
                </a:pathLst>
              </a:custGeom>
              <a:solidFill>
                <a:srgbClr val="B42318"/>
              </a:solidFill>
              <a:ln>
                <a:noFill/>
              </a:ln>
            </p:spPr>
          </p:sp>
        </p:grpSp>
        <p:sp>
          <p:nvSpPr>
            <p:cNvPr id="165" name="TextBox 165"/>
            <p:cNvSpPr txBox="1"/>
            <p:nvPr/>
          </p:nvSpPr>
          <p:spPr>
            <a:xfrm>
              <a:off x="736092" y="5464492"/>
              <a:ext cx="521089" cy="264033"/>
            </a:xfrm>
            <a:prstGeom prst="rect">
              <a:avLst/>
            </a:prstGeom>
            <a:noFill/>
            <a:ln>
              <a:noFill/>
            </a:ln>
          </p:spPr>
          <p:txBody>
            <a:bodyPr wrap="none" lIns="0" tIns="0" rIns="0" bIns="0" anchor="t" anchorCtr="0">
              <a:spAutoFit/>
            </a:bodyPr>
            <a:lstStyle/>
            <a:p>
              <a:pPr algn="l"/>
              <a:r>
                <a:rPr lang="en-IN" sz="1350" b="1" dirty="0">
                  <a:solidFill>
                    <a:srgbClr val="B42318"/>
                  </a:solidFill>
                  <a:latin typeface="Calibri"/>
                  <a:ea typeface="Calibri"/>
                  <a:cs typeface="Calibri"/>
                </a:rPr>
                <a:t>12,006</a:t>
              </a:r>
            </a:p>
          </p:txBody>
        </p:sp>
        <p:sp>
          <p:nvSpPr>
            <p:cNvPr id="166" name="TextBox 166"/>
            <p:cNvSpPr txBox="1"/>
            <p:nvPr/>
          </p:nvSpPr>
          <p:spPr>
            <a:xfrm>
              <a:off x="738188" y="5659993"/>
              <a:ext cx="1341872" cy="169069"/>
            </a:xfrm>
            <a:prstGeom prst="rect">
              <a:avLst/>
            </a:prstGeom>
            <a:noFill/>
            <a:ln>
              <a:noFill/>
            </a:ln>
          </p:spPr>
          <p:txBody>
            <a:bodyPr wrap="none" lIns="0" tIns="0" rIns="0" bIns="0" anchor="t" anchorCtr="0">
              <a:spAutoFit/>
            </a:bodyPr>
            <a:lstStyle/>
            <a:p>
              <a:pPr algn="l"/>
              <a:r>
                <a:rPr lang="en-IN" sz="860" dirty="0">
                  <a:solidFill>
                    <a:srgbClr val="667085"/>
                  </a:solidFill>
                  <a:latin typeface="Calibri"/>
                  <a:ea typeface="Calibri"/>
                  <a:cs typeface="Calibri"/>
                </a:rPr>
                <a:t>works left incomplete (CAG)</a:t>
              </a:r>
            </a:p>
          </p:txBody>
        </p:sp>
        <p:sp>
          <p:nvSpPr>
            <p:cNvPr id="167" name="Line 167"/>
            <p:cNvSpPr/>
            <p:nvPr/>
          </p:nvSpPr>
          <p:spPr>
            <a:xfrm>
              <a:off x="2781300" y="5629275"/>
              <a:ext cx="514350" cy="1"/>
            </a:xfrm>
            <a:prstGeom prst="line">
              <a:avLst/>
            </a:prstGeom>
            <a:noFill/>
            <a:ln w="15240">
              <a:solidFill>
                <a:srgbClr val="0B3D6E"/>
              </a:solidFill>
              <a:tailEnd type="triangle" w="lg" len="lg"/>
            </a:ln>
          </p:spPr>
        </p:sp>
        <p:sp>
          <p:nvSpPr>
            <p:cNvPr id="168" name="Ellipse 168"/>
            <p:cNvSpPr/>
            <p:nvPr/>
          </p:nvSpPr>
          <p:spPr>
            <a:xfrm>
              <a:off x="3371850" y="5457825"/>
              <a:ext cx="342900" cy="342900"/>
            </a:xfrm>
            <a:prstGeom prst="ellipse">
              <a:avLst/>
            </a:prstGeom>
            <a:solidFill>
              <a:srgbClr val="E7F4EC"/>
            </a:solidFill>
            <a:ln>
              <a:noFill/>
            </a:ln>
          </p:spPr>
        </p:sp>
        <p:grpSp>
          <p:nvGrpSpPr>
            <p:cNvPr id="171" name="Group 171"/>
            <p:cNvGrpSpPr/>
            <p:nvPr/>
          </p:nvGrpSpPr>
          <p:grpSpPr>
            <a:xfrm>
              <a:off x="3463201" y="5549176"/>
              <a:ext cx="160199" cy="160199"/>
              <a:chOff x="3463201" y="5549176"/>
              <a:chExt cx="160199" cy="160199"/>
            </a:xfrm>
          </p:grpSpPr>
          <p:sp>
            <p:nvSpPr>
              <p:cNvPr id="169" name="Freeform 169"/>
              <p:cNvSpPr/>
              <p:nvPr/>
            </p:nvSpPr>
            <p:spPr>
              <a:xfrm>
                <a:off x="3469362" y="5555337"/>
                <a:ext cx="147876" cy="147876"/>
              </a:xfrm>
              <a:custGeom>
                <a:avLst/>
                <a:gdLst/>
                <a:ahLst/>
                <a:cxnLst/>
                <a:rect l="l" t="t" r="r" b="b"/>
                <a:pathLst>
                  <a:path w="147876" h="147876">
                    <a:moveTo>
                      <a:pt x="147876" y="73938"/>
                    </a:moveTo>
                    <a:cubicBezTo>
                      <a:pt x="147876" y="114773"/>
                      <a:pt x="114773" y="147876"/>
                      <a:pt x="73938" y="147876"/>
                    </a:cubicBezTo>
                    <a:cubicBezTo>
                      <a:pt x="33103" y="147876"/>
                      <a:pt x="0" y="114773"/>
                      <a:pt x="0" y="73938"/>
                    </a:cubicBezTo>
                    <a:cubicBezTo>
                      <a:pt x="0" y="33103"/>
                      <a:pt x="33103" y="0"/>
                      <a:pt x="73938" y="0"/>
                    </a:cubicBezTo>
                    <a:cubicBezTo>
                      <a:pt x="114773" y="0"/>
                      <a:pt x="147876" y="33103"/>
                      <a:pt x="147876" y="73938"/>
                    </a:cubicBezTo>
                    <a:close/>
                  </a:path>
                </a:pathLst>
              </a:custGeom>
              <a:solidFill>
                <a:srgbClr val="1E7B45">
                  <a:alpha val="20000"/>
                </a:srgbClr>
              </a:solidFill>
              <a:ln>
                <a:noFill/>
              </a:ln>
            </p:spPr>
          </p:sp>
          <p:sp>
            <p:nvSpPr>
              <p:cNvPr id="170" name="Freeform 170"/>
              <p:cNvSpPr/>
              <p:nvPr/>
            </p:nvSpPr>
            <p:spPr>
              <a:xfrm>
                <a:off x="3463201" y="5549176"/>
                <a:ext cx="160199" cy="160199"/>
              </a:xfrm>
              <a:custGeom>
                <a:avLst/>
                <a:gdLst/>
                <a:ahLst/>
                <a:cxnLst/>
                <a:rect l="l" t="t" r="r" b="b"/>
                <a:pathLst>
                  <a:path w="160199" h="160199">
                    <a:moveTo>
                      <a:pt x="80099" y="0"/>
                    </a:moveTo>
                    <a:cubicBezTo>
                      <a:pt x="35862" y="0"/>
                      <a:pt x="0" y="35862"/>
                      <a:pt x="0" y="80099"/>
                    </a:cubicBezTo>
                    <a:cubicBezTo>
                      <a:pt x="0" y="124337"/>
                      <a:pt x="35862" y="160199"/>
                      <a:pt x="80099" y="160199"/>
                    </a:cubicBezTo>
                    <a:cubicBezTo>
                      <a:pt x="124337" y="160199"/>
                      <a:pt x="160199" y="124337"/>
                      <a:pt x="160199" y="80099"/>
                    </a:cubicBezTo>
                    <a:cubicBezTo>
                      <a:pt x="160152" y="35881"/>
                      <a:pt x="124318" y="47"/>
                      <a:pt x="80099" y="0"/>
                    </a:cubicBezTo>
                    <a:close/>
                    <a:moveTo>
                      <a:pt x="80099" y="147876"/>
                    </a:moveTo>
                    <a:cubicBezTo>
                      <a:pt x="42667" y="147876"/>
                      <a:pt x="12323" y="117531"/>
                      <a:pt x="12323" y="80099"/>
                    </a:cubicBezTo>
                    <a:cubicBezTo>
                      <a:pt x="12323" y="42667"/>
                      <a:pt x="42667" y="12323"/>
                      <a:pt x="80099" y="12323"/>
                    </a:cubicBezTo>
                    <a:cubicBezTo>
                      <a:pt x="117531" y="12323"/>
                      <a:pt x="147876" y="42667"/>
                      <a:pt x="147876" y="80099"/>
                    </a:cubicBezTo>
                    <a:cubicBezTo>
                      <a:pt x="147833" y="117514"/>
                      <a:pt x="117514" y="147833"/>
                      <a:pt x="80099" y="147876"/>
                    </a:cubicBezTo>
                    <a:close/>
                    <a:moveTo>
                      <a:pt x="129391" y="80099"/>
                    </a:moveTo>
                    <a:cubicBezTo>
                      <a:pt x="129391" y="83502"/>
                      <a:pt x="126633" y="86261"/>
                      <a:pt x="123230" y="86261"/>
                    </a:cubicBezTo>
                    <a:lnTo>
                      <a:pt x="80099" y="86261"/>
                    </a:lnTo>
                    <a:cubicBezTo>
                      <a:pt x="76696" y="86261"/>
                      <a:pt x="73938" y="83502"/>
                      <a:pt x="73938" y="80099"/>
                    </a:cubicBezTo>
                    <a:lnTo>
                      <a:pt x="73938" y="36969"/>
                    </a:lnTo>
                    <a:cubicBezTo>
                      <a:pt x="73938" y="33566"/>
                      <a:pt x="76696" y="30807"/>
                      <a:pt x="80099" y="30807"/>
                    </a:cubicBezTo>
                    <a:cubicBezTo>
                      <a:pt x="83502" y="30807"/>
                      <a:pt x="86261" y="33566"/>
                      <a:pt x="86261" y="36969"/>
                    </a:cubicBezTo>
                    <a:lnTo>
                      <a:pt x="86261" y="73938"/>
                    </a:lnTo>
                    <a:lnTo>
                      <a:pt x="123230" y="73938"/>
                    </a:lnTo>
                    <a:cubicBezTo>
                      <a:pt x="126633" y="73938"/>
                      <a:pt x="129391" y="76696"/>
                      <a:pt x="129391" y="80099"/>
                    </a:cubicBezTo>
                    <a:close/>
                  </a:path>
                </a:pathLst>
              </a:custGeom>
              <a:solidFill>
                <a:srgbClr val="1E7B45"/>
              </a:solidFill>
              <a:ln>
                <a:noFill/>
              </a:ln>
            </p:spPr>
          </p:sp>
        </p:grpSp>
        <p:sp>
          <p:nvSpPr>
            <p:cNvPr id="172" name="TextBox 172"/>
            <p:cNvSpPr txBox="1"/>
            <p:nvPr/>
          </p:nvSpPr>
          <p:spPr>
            <a:xfrm>
              <a:off x="3785616" y="5563552"/>
              <a:ext cx="1039160" cy="205359"/>
            </a:xfrm>
            <a:prstGeom prst="rect">
              <a:avLst/>
            </a:prstGeom>
            <a:noFill/>
            <a:ln>
              <a:noFill/>
            </a:ln>
          </p:spPr>
          <p:txBody>
            <a:bodyPr wrap="none" lIns="0" tIns="0" rIns="0" bIns="0" anchor="t" anchorCtr="0">
              <a:spAutoFit/>
            </a:bodyPr>
            <a:lstStyle/>
            <a:p>
              <a:pPr algn="l"/>
              <a:r>
                <a:rPr lang="en-IN" sz="1050" b="1" dirty="0">
                  <a:solidFill>
                    <a:srgbClr val="1D2939"/>
                  </a:solidFill>
                  <a:latin typeface="Calibri"/>
                  <a:ea typeface="Calibri"/>
                  <a:cs typeface="Calibri"/>
                </a:rPr>
                <a:t>Stuck-work alerts</a:t>
              </a:r>
            </a:p>
          </p:txBody>
        </p:sp>
        <p:sp>
          <p:nvSpPr>
            <p:cNvPr id="173" name="Ellipse 173"/>
            <p:cNvSpPr/>
            <p:nvPr/>
          </p:nvSpPr>
          <p:spPr>
            <a:xfrm>
              <a:off x="323850" y="5895975"/>
              <a:ext cx="342900" cy="342900"/>
            </a:xfrm>
            <a:prstGeom prst="ellipse">
              <a:avLst/>
            </a:prstGeom>
            <a:solidFill>
              <a:srgbClr val="FDECEA"/>
            </a:solidFill>
            <a:ln>
              <a:noFill/>
            </a:ln>
          </p:spPr>
        </p:sp>
        <p:grpSp>
          <p:nvGrpSpPr>
            <p:cNvPr id="176" name="Group 176"/>
            <p:cNvGrpSpPr/>
            <p:nvPr/>
          </p:nvGrpSpPr>
          <p:grpSpPr>
            <a:xfrm>
              <a:off x="408192" y="5980287"/>
              <a:ext cx="167813" cy="167842"/>
              <a:chOff x="408192" y="5980287"/>
              <a:chExt cx="167813" cy="167842"/>
            </a:xfrm>
          </p:grpSpPr>
          <p:sp>
            <p:nvSpPr>
              <p:cNvPr id="174" name="Freeform 174"/>
              <p:cNvSpPr/>
              <p:nvPr/>
            </p:nvSpPr>
            <p:spPr>
              <a:xfrm>
                <a:off x="421362" y="5993487"/>
                <a:ext cx="123230" cy="123230"/>
              </a:xfrm>
              <a:custGeom>
                <a:avLst/>
                <a:gdLst/>
                <a:ahLst/>
                <a:cxnLst/>
                <a:rect l="l" t="t" r="r" b="b"/>
                <a:pathLst>
                  <a:path w="123230" h="123230">
                    <a:moveTo>
                      <a:pt x="123230" y="61615"/>
                    </a:moveTo>
                    <a:cubicBezTo>
                      <a:pt x="123230" y="95644"/>
                      <a:pt x="95644" y="123230"/>
                      <a:pt x="61615" y="123230"/>
                    </a:cubicBezTo>
                    <a:cubicBezTo>
                      <a:pt x="27586" y="123230"/>
                      <a:pt x="0" y="95644"/>
                      <a:pt x="0" y="61615"/>
                    </a:cubicBezTo>
                    <a:cubicBezTo>
                      <a:pt x="0" y="27586"/>
                      <a:pt x="27586" y="0"/>
                      <a:pt x="61615" y="0"/>
                    </a:cubicBezTo>
                    <a:cubicBezTo>
                      <a:pt x="95644" y="0"/>
                      <a:pt x="123230" y="27586"/>
                      <a:pt x="123230" y="61615"/>
                    </a:cubicBezTo>
                    <a:close/>
                  </a:path>
                </a:pathLst>
              </a:custGeom>
              <a:solidFill>
                <a:srgbClr val="B42318">
                  <a:alpha val="20000"/>
                </a:srgbClr>
              </a:solidFill>
              <a:ln>
                <a:noFill/>
              </a:ln>
            </p:spPr>
          </p:sp>
          <p:sp>
            <p:nvSpPr>
              <p:cNvPr id="175" name="Freeform 175"/>
              <p:cNvSpPr/>
              <p:nvPr/>
            </p:nvSpPr>
            <p:spPr>
              <a:xfrm>
                <a:off x="408192" y="5980287"/>
                <a:ext cx="167813" cy="167842"/>
              </a:xfrm>
              <a:custGeom>
                <a:avLst/>
                <a:gdLst/>
                <a:ahLst/>
                <a:cxnLst/>
                <a:rect l="l" t="t" r="r" b="b"/>
                <a:pathLst>
                  <a:path w="167813" h="167842">
                    <a:moveTo>
                      <a:pt x="165405" y="156716"/>
                    </a:moveTo>
                    <a:lnTo>
                      <a:pt x="126850" y="118161"/>
                    </a:lnTo>
                    <a:cubicBezTo>
                      <a:pt x="150110" y="90264"/>
                      <a:pt x="147314" y="49006"/>
                      <a:pt x="120501" y="24503"/>
                    </a:cubicBezTo>
                    <a:cubicBezTo>
                      <a:pt x="93689" y="0"/>
                      <a:pt x="52347" y="921"/>
                      <a:pt x="26652" y="26593"/>
                    </a:cubicBezTo>
                    <a:cubicBezTo>
                      <a:pt x="957" y="52265"/>
                      <a:pt x="0" y="93607"/>
                      <a:pt x="24479" y="120440"/>
                    </a:cubicBezTo>
                    <a:cubicBezTo>
                      <a:pt x="48958" y="147274"/>
                      <a:pt x="90214" y="150107"/>
                      <a:pt x="118131" y="126871"/>
                    </a:cubicBezTo>
                    <a:lnTo>
                      <a:pt x="156687" y="165435"/>
                    </a:lnTo>
                    <a:cubicBezTo>
                      <a:pt x="159094" y="167842"/>
                      <a:pt x="162998" y="167842"/>
                      <a:pt x="165405" y="165435"/>
                    </a:cubicBezTo>
                    <a:cubicBezTo>
                      <a:pt x="167813" y="163027"/>
                      <a:pt x="167813" y="159124"/>
                      <a:pt x="165405" y="156716"/>
                    </a:cubicBezTo>
                    <a:close/>
                    <a:moveTo>
                      <a:pt x="19332" y="74815"/>
                    </a:moveTo>
                    <a:cubicBezTo>
                      <a:pt x="19332" y="44189"/>
                      <a:pt x="44159" y="19361"/>
                      <a:pt x="74785" y="19361"/>
                    </a:cubicBezTo>
                    <a:cubicBezTo>
                      <a:pt x="105411" y="19361"/>
                      <a:pt x="130239" y="44189"/>
                      <a:pt x="130239" y="74815"/>
                    </a:cubicBezTo>
                    <a:cubicBezTo>
                      <a:pt x="130239" y="105441"/>
                      <a:pt x="105411" y="130268"/>
                      <a:pt x="74785" y="130268"/>
                    </a:cubicBezTo>
                    <a:cubicBezTo>
                      <a:pt x="44173" y="130234"/>
                      <a:pt x="19366" y="105427"/>
                      <a:pt x="19332" y="74815"/>
                    </a:cubicBezTo>
                    <a:close/>
                  </a:path>
                </a:pathLst>
              </a:custGeom>
              <a:solidFill>
                <a:srgbClr val="B42318"/>
              </a:solidFill>
              <a:ln>
                <a:noFill/>
              </a:ln>
            </p:spPr>
          </p:sp>
        </p:grpSp>
        <p:sp>
          <p:nvSpPr>
            <p:cNvPr id="177" name="TextBox 177"/>
            <p:cNvSpPr txBox="1"/>
            <p:nvPr/>
          </p:nvSpPr>
          <p:spPr>
            <a:xfrm>
              <a:off x="736092" y="5902642"/>
              <a:ext cx="330411" cy="264033"/>
            </a:xfrm>
            <a:prstGeom prst="rect">
              <a:avLst/>
            </a:prstGeom>
            <a:noFill/>
            <a:ln>
              <a:noFill/>
            </a:ln>
          </p:spPr>
          <p:txBody>
            <a:bodyPr wrap="none" lIns="0" tIns="0" rIns="0" bIns="0" anchor="t" anchorCtr="0">
              <a:spAutoFit/>
            </a:bodyPr>
            <a:lstStyle/>
            <a:p>
              <a:pPr algn="l"/>
              <a:r>
                <a:rPr lang="en-IN" sz="1350" b="1" dirty="0">
                  <a:solidFill>
                    <a:srgbClr val="B42318"/>
                  </a:solidFill>
                  <a:latin typeface="Calibri"/>
                  <a:ea typeface="Calibri"/>
                  <a:cs typeface="Calibri"/>
                </a:rPr>
                <a:t>10%</a:t>
              </a:r>
            </a:p>
          </p:txBody>
        </p:sp>
        <p:sp>
          <p:nvSpPr>
            <p:cNvPr id="178" name="TextBox 178"/>
            <p:cNvSpPr txBox="1"/>
            <p:nvPr/>
          </p:nvSpPr>
          <p:spPr>
            <a:xfrm>
              <a:off x="738188" y="6098143"/>
              <a:ext cx="1476672" cy="169069"/>
            </a:xfrm>
            <a:prstGeom prst="rect">
              <a:avLst/>
            </a:prstGeom>
            <a:noFill/>
            <a:ln>
              <a:noFill/>
            </a:ln>
          </p:spPr>
          <p:txBody>
            <a:bodyPr wrap="none" lIns="0" tIns="0" rIns="0" bIns="0" anchor="t" anchorCtr="0">
              <a:spAutoFit/>
            </a:bodyPr>
            <a:lstStyle/>
            <a:p>
              <a:pPr algn="l"/>
              <a:r>
                <a:rPr lang="en-IN" sz="860" dirty="0">
                  <a:solidFill>
                    <a:srgbClr val="667085"/>
                  </a:solidFill>
                  <a:latin typeface="Calibri"/>
                  <a:ea typeface="Calibri"/>
                  <a:cs typeface="Calibri"/>
                </a:rPr>
                <a:t>of works a district must inspect</a:t>
              </a:r>
            </a:p>
          </p:txBody>
        </p:sp>
        <p:sp>
          <p:nvSpPr>
            <p:cNvPr id="179" name="Line 179"/>
            <p:cNvSpPr/>
            <p:nvPr/>
          </p:nvSpPr>
          <p:spPr>
            <a:xfrm>
              <a:off x="2781300" y="6067425"/>
              <a:ext cx="514350" cy="1"/>
            </a:xfrm>
            <a:prstGeom prst="line">
              <a:avLst/>
            </a:prstGeom>
            <a:noFill/>
            <a:ln w="15240">
              <a:solidFill>
                <a:srgbClr val="0B3D6E"/>
              </a:solidFill>
              <a:tailEnd type="triangle" w="lg" len="lg"/>
            </a:ln>
          </p:spPr>
        </p:sp>
        <p:sp>
          <p:nvSpPr>
            <p:cNvPr id="180" name="Ellipse 180"/>
            <p:cNvSpPr/>
            <p:nvPr/>
          </p:nvSpPr>
          <p:spPr>
            <a:xfrm>
              <a:off x="3371850" y="5895975"/>
              <a:ext cx="342900" cy="342900"/>
            </a:xfrm>
            <a:prstGeom prst="ellipse">
              <a:avLst/>
            </a:prstGeom>
            <a:solidFill>
              <a:srgbClr val="E7F4EC"/>
            </a:solidFill>
            <a:ln>
              <a:noFill/>
            </a:ln>
          </p:spPr>
        </p:sp>
        <p:grpSp>
          <p:nvGrpSpPr>
            <p:cNvPr id="183" name="Group 183"/>
            <p:cNvGrpSpPr/>
            <p:nvPr/>
          </p:nvGrpSpPr>
          <p:grpSpPr>
            <a:xfrm>
              <a:off x="3475524" y="5999644"/>
              <a:ext cx="148481" cy="123235"/>
              <a:chOff x="3475524" y="5999644"/>
              <a:chExt cx="148481" cy="123235"/>
            </a:xfrm>
          </p:grpSpPr>
          <p:sp>
            <p:nvSpPr>
              <p:cNvPr id="181" name="Freeform 181"/>
              <p:cNvSpPr/>
              <p:nvPr/>
            </p:nvSpPr>
            <p:spPr>
              <a:xfrm>
                <a:off x="3481685" y="6018133"/>
                <a:ext cx="135553" cy="98584"/>
              </a:xfrm>
              <a:custGeom>
                <a:avLst/>
                <a:gdLst/>
                <a:ahLst/>
                <a:cxnLst/>
                <a:rect l="l" t="t" r="r" b="b"/>
                <a:pathLst>
                  <a:path w="135553" h="98584">
                    <a:moveTo>
                      <a:pt x="135553" y="18484"/>
                    </a:moveTo>
                    <a:lnTo>
                      <a:pt x="135553" y="86261"/>
                    </a:lnTo>
                    <a:cubicBezTo>
                      <a:pt x="135553" y="93067"/>
                      <a:pt x="130036" y="98584"/>
                      <a:pt x="123230" y="98584"/>
                    </a:cubicBezTo>
                    <a:lnTo>
                      <a:pt x="0" y="98584"/>
                    </a:lnTo>
                    <a:lnTo>
                      <a:pt x="0" y="0"/>
                    </a:lnTo>
                    <a:lnTo>
                      <a:pt x="117068" y="0"/>
                    </a:lnTo>
                    <a:close/>
                  </a:path>
                </a:pathLst>
              </a:custGeom>
              <a:solidFill>
                <a:srgbClr val="1E7B45">
                  <a:alpha val="20000"/>
                </a:srgbClr>
              </a:solidFill>
              <a:ln>
                <a:noFill/>
              </a:ln>
            </p:spPr>
          </p:sp>
          <p:sp>
            <p:nvSpPr>
              <p:cNvPr id="182" name="Freeform 182"/>
              <p:cNvSpPr/>
              <p:nvPr/>
            </p:nvSpPr>
            <p:spPr>
              <a:xfrm>
                <a:off x="3475524" y="5999644"/>
                <a:ext cx="148481" cy="123235"/>
              </a:xfrm>
              <a:custGeom>
                <a:avLst/>
                <a:gdLst/>
                <a:ahLst/>
                <a:cxnLst/>
                <a:rect l="l" t="t" r="r" b="b"/>
                <a:pathLst>
                  <a:path w="148481" h="123235">
                    <a:moveTo>
                      <a:pt x="0" y="67781"/>
                    </a:moveTo>
                    <a:cubicBezTo>
                      <a:pt x="0" y="64378"/>
                      <a:pt x="2759" y="61620"/>
                      <a:pt x="6161" y="61620"/>
                    </a:cubicBezTo>
                    <a:lnTo>
                      <a:pt x="61615" y="61620"/>
                    </a:lnTo>
                    <a:cubicBezTo>
                      <a:pt x="65018" y="61620"/>
                      <a:pt x="67776" y="64378"/>
                      <a:pt x="67776" y="67781"/>
                    </a:cubicBezTo>
                    <a:cubicBezTo>
                      <a:pt x="67776" y="71184"/>
                      <a:pt x="65018" y="73943"/>
                      <a:pt x="61615" y="73943"/>
                    </a:cubicBezTo>
                    <a:lnTo>
                      <a:pt x="6161" y="73943"/>
                    </a:lnTo>
                    <a:cubicBezTo>
                      <a:pt x="2759" y="73943"/>
                      <a:pt x="0" y="71184"/>
                      <a:pt x="0" y="67781"/>
                    </a:cubicBezTo>
                    <a:close/>
                    <a:moveTo>
                      <a:pt x="6161" y="24651"/>
                    </a:moveTo>
                    <a:lnTo>
                      <a:pt x="49292" y="24651"/>
                    </a:lnTo>
                    <a:cubicBezTo>
                      <a:pt x="52695" y="24651"/>
                      <a:pt x="55453" y="21892"/>
                      <a:pt x="55453" y="18489"/>
                    </a:cubicBezTo>
                    <a:cubicBezTo>
                      <a:pt x="55453" y="15086"/>
                      <a:pt x="52695" y="12328"/>
                      <a:pt x="49292" y="12328"/>
                    </a:cubicBezTo>
                    <a:lnTo>
                      <a:pt x="6161" y="12328"/>
                    </a:lnTo>
                    <a:cubicBezTo>
                      <a:pt x="2759" y="12328"/>
                      <a:pt x="0" y="15086"/>
                      <a:pt x="0" y="18489"/>
                    </a:cubicBezTo>
                    <a:cubicBezTo>
                      <a:pt x="0" y="21892"/>
                      <a:pt x="2759" y="24651"/>
                      <a:pt x="6161" y="24651"/>
                    </a:cubicBezTo>
                    <a:close/>
                    <a:moveTo>
                      <a:pt x="110907" y="110912"/>
                    </a:moveTo>
                    <a:lnTo>
                      <a:pt x="6161" y="110912"/>
                    </a:lnTo>
                    <a:cubicBezTo>
                      <a:pt x="2759" y="110912"/>
                      <a:pt x="0" y="113670"/>
                      <a:pt x="0" y="117073"/>
                    </a:cubicBezTo>
                    <a:cubicBezTo>
                      <a:pt x="0" y="120476"/>
                      <a:pt x="2759" y="123235"/>
                      <a:pt x="6161" y="123235"/>
                    </a:cubicBezTo>
                    <a:lnTo>
                      <a:pt x="110907" y="123235"/>
                    </a:lnTo>
                    <a:cubicBezTo>
                      <a:pt x="114310" y="123235"/>
                      <a:pt x="117068" y="120476"/>
                      <a:pt x="117068" y="117073"/>
                    </a:cubicBezTo>
                    <a:cubicBezTo>
                      <a:pt x="117068" y="113670"/>
                      <a:pt x="114310" y="110912"/>
                      <a:pt x="110907" y="110912"/>
                    </a:cubicBezTo>
                    <a:close/>
                    <a:moveTo>
                      <a:pt x="146073" y="32615"/>
                    </a:moveTo>
                    <a:lnTo>
                      <a:pt x="115266" y="1807"/>
                    </a:lnTo>
                    <a:cubicBezTo>
                      <a:pt x="114110" y="650"/>
                      <a:pt x="112542" y="0"/>
                      <a:pt x="110907" y="0"/>
                    </a:cubicBezTo>
                    <a:cubicBezTo>
                      <a:pt x="109271" y="0"/>
                      <a:pt x="107703" y="650"/>
                      <a:pt x="106548" y="1807"/>
                    </a:cubicBezTo>
                    <a:lnTo>
                      <a:pt x="75740" y="32615"/>
                    </a:lnTo>
                    <a:cubicBezTo>
                      <a:pt x="73333" y="35022"/>
                      <a:pt x="73333" y="38925"/>
                      <a:pt x="75740" y="41333"/>
                    </a:cubicBezTo>
                    <a:cubicBezTo>
                      <a:pt x="78148" y="43741"/>
                      <a:pt x="82051" y="43741"/>
                      <a:pt x="84459" y="41333"/>
                    </a:cubicBezTo>
                    <a:lnTo>
                      <a:pt x="104745" y="21039"/>
                    </a:lnTo>
                    <a:lnTo>
                      <a:pt x="104745" y="80104"/>
                    </a:lnTo>
                    <a:cubicBezTo>
                      <a:pt x="104745" y="83507"/>
                      <a:pt x="107504" y="86266"/>
                      <a:pt x="110907" y="86266"/>
                    </a:cubicBezTo>
                    <a:cubicBezTo>
                      <a:pt x="114310" y="86266"/>
                      <a:pt x="117068" y="83507"/>
                      <a:pt x="117068" y="80104"/>
                    </a:cubicBezTo>
                    <a:lnTo>
                      <a:pt x="117068" y="21039"/>
                    </a:lnTo>
                    <a:lnTo>
                      <a:pt x="137355" y="41333"/>
                    </a:lnTo>
                    <a:cubicBezTo>
                      <a:pt x="139762" y="43741"/>
                      <a:pt x="143666" y="43741"/>
                      <a:pt x="146073" y="41333"/>
                    </a:cubicBezTo>
                    <a:cubicBezTo>
                      <a:pt x="148481" y="38925"/>
                      <a:pt x="148481" y="35022"/>
                      <a:pt x="146073" y="32615"/>
                    </a:cubicBezTo>
                    <a:close/>
                  </a:path>
                </a:pathLst>
              </a:custGeom>
              <a:solidFill>
                <a:srgbClr val="1E7B45"/>
              </a:solidFill>
              <a:ln>
                <a:noFill/>
              </a:ln>
            </p:spPr>
          </p:sp>
        </p:grpSp>
        <p:sp>
          <p:nvSpPr>
            <p:cNvPr id="184" name="TextBox 184"/>
            <p:cNvSpPr txBox="1"/>
            <p:nvPr/>
          </p:nvSpPr>
          <p:spPr>
            <a:xfrm>
              <a:off x="3785616" y="6001702"/>
              <a:ext cx="1187150" cy="205359"/>
            </a:xfrm>
            <a:prstGeom prst="rect">
              <a:avLst/>
            </a:prstGeom>
            <a:noFill/>
            <a:ln>
              <a:noFill/>
            </a:ln>
          </p:spPr>
          <p:txBody>
            <a:bodyPr wrap="none" lIns="0" tIns="0" rIns="0" bIns="0" anchor="t" anchorCtr="0">
              <a:spAutoFit/>
            </a:bodyPr>
            <a:lstStyle/>
            <a:p>
              <a:pPr algn="l"/>
              <a:r>
                <a:rPr lang="en-IN" sz="1050" b="1" dirty="0">
                  <a:solidFill>
                    <a:srgbClr val="1D2939"/>
                  </a:solidFill>
                  <a:latin typeface="Calibri"/>
                  <a:ea typeface="Calibri"/>
                  <a:cs typeface="Calibri"/>
                </a:rPr>
                <a:t>Risk-ranked visit list</a:t>
              </a:r>
            </a:p>
          </p:txBody>
        </p:sp>
      </p:grpSp>
      <p:grpSp>
        <p:nvGrpSpPr>
          <p:cNvPr id="217" name="innovation"/>
          <p:cNvGrpSpPr/>
          <p:nvPr/>
        </p:nvGrpSpPr>
        <p:grpSpPr>
          <a:xfrm>
            <a:off x="6286500" y="4698206"/>
            <a:ext cx="5600700" cy="1578769"/>
            <a:chOff x="6286500" y="4698206"/>
            <a:chExt cx="5600700" cy="1578769"/>
          </a:xfrm>
        </p:grpSpPr>
        <p:sp>
          <p:nvSpPr>
            <p:cNvPr id="186" name="Polygon 186"/>
            <p:cNvSpPr/>
            <p:nvPr/>
          </p:nvSpPr>
          <p:spPr>
            <a:xfrm>
              <a:off x="6286500" y="4724876"/>
              <a:ext cx="95250" cy="95250"/>
            </a:xfrm>
            <a:custGeom>
              <a:avLst/>
              <a:gdLst/>
              <a:ahLst/>
              <a:cxnLst/>
              <a:rect l="l" t="t" r="r" b="b"/>
              <a:pathLst>
                <a:path w="95250" h="95250">
                  <a:moveTo>
                    <a:pt x="47625" y="0"/>
                  </a:moveTo>
                  <a:lnTo>
                    <a:pt x="95250" y="47625"/>
                  </a:lnTo>
                  <a:lnTo>
                    <a:pt x="47625" y="95250"/>
                  </a:lnTo>
                  <a:lnTo>
                    <a:pt x="0" y="47625"/>
                  </a:lnTo>
                  <a:close/>
                </a:path>
              </a:pathLst>
            </a:custGeom>
            <a:solidFill>
              <a:srgbClr val="E8871E"/>
            </a:solidFill>
            <a:ln>
              <a:noFill/>
            </a:ln>
          </p:spPr>
        </p:sp>
        <p:sp>
          <p:nvSpPr>
            <p:cNvPr id="187" name="TextBox 187"/>
            <p:cNvSpPr txBox="1"/>
            <p:nvPr/>
          </p:nvSpPr>
          <p:spPr>
            <a:xfrm>
              <a:off x="6433185" y="4698206"/>
              <a:ext cx="2664279" cy="220028"/>
            </a:xfrm>
            <a:prstGeom prst="rect">
              <a:avLst/>
            </a:prstGeom>
            <a:noFill/>
            <a:ln>
              <a:noFill/>
            </a:ln>
          </p:spPr>
          <p:txBody>
            <a:bodyPr wrap="none" lIns="0" tIns="0" rIns="0" bIns="0" anchor="t" anchorCtr="0">
              <a:spAutoFit/>
            </a:bodyPr>
            <a:lstStyle/>
            <a:p>
              <a:pPr algn="l"/>
              <a:r>
                <a:rPr lang="en-IN" sz="1120" b="1" dirty="0">
                  <a:solidFill>
                    <a:srgbClr val="0B3D6E"/>
                  </a:solidFill>
                  <a:latin typeface="Calibri"/>
                  <a:ea typeface="Calibri"/>
                  <a:cs typeface="Calibri"/>
                </a:rPr>
                <a:t>Innovation and uniqueness of the solution</a:t>
              </a:r>
            </a:p>
          </p:txBody>
        </p:sp>
        <p:sp>
          <p:nvSpPr>
            <p:cNvPr id="188" name="Line 188"/>
            <p:cNvSpPr/>
            <p:nvPr/>
          </p:nvSpPr>
          <p:spPr>
            <a:xfrm>
              <a:off x="6286500" y="4886325"/>
              <a:ext cx="5600700" cy="9525"/>
            </a:xfrm>
            <a:custGeom>
              <a:avLst/>
              <a:gdLst/>
              <a:ahLst/>
              <a:cxnLst/>
              <a:rect l="l" t="t" r="r" b="b"/>
              <a:pathLst>
                <a:path w="5600700" h="9525">
                  <a:moveTo>
                    <a:pt x="0" y="0"/>
                  </a:moveTo>
                  <a:lnTo>
                    <a:pt x="5600700" y="0"/>
                  </a:lnTo>
                </a:path>
              </a:pathLst>
            </a:custGeom>
            <a:noFill/>
            <a:ln w="9525">
              <a:solidFill>
                <a:srgbClr val="D0D5DD"/>
              </a:solidFill>
            </a:ln>
          </p:spPr>
        </p:sp>
        <p:sp>
          <p:nvSpPr>
            <p:cNvPr id="189" name="Rectangle 189"/>
            <p:cNvSpPr/>
            <p:nvPr/>
          </p:nvSpPr>
          <p:spPr>
            <a:xfrm>
              <a:off x="6286500" y="5000625"/>
              <a:ext cx="2752725" cy="590550"/>
            </a:xfrm>
            <a:prstGeom prst="roundRect">
              <a:avLst>
                <a:gd name="adj" fmla="val 12903"/>
              </a:avLst>
            </a:prstGeom>
            <a:solidFill>
              <a:srgbClr val="F2F5F9"/>
            </a:solidFill>
            <a:ln>
              <a:noFill/>
            </a:ln>
          </p:spPr>
        </p:sp>
        <p:sp>
          <p:nvSpPr>
            <p:cNvPr id="190" name="Ellipse 190"/>
            <p:cNvSpPr/>
            <p:nvPr/>
          </p:nvSpPr>
          <p:spPr>
            <a:xfrm>
              <a:off x="6381750" y="5105400"/>
              <a:ext cx="381000" cy="381000"/>
            </a:xfrm>
            <a:prstGeom prst="ellipse">
              <a:avLst/>
            </a:prstGeom>
            <a:solidFill>
              <a:srgbClr val="FFFFFF"/>
            </a:solidFill>
            <a:ln>
              <a:noFill/>
            </a:ln>
          </p:spPr>
        </p:sp>
        <p:grpSp>
          <p:nvGrpSpPr>
            <p:cNvPr id="193" name="Group 193"/>
            <p:cNvGrpSpPr/>
            <p:nvPr/>
          </p:nvGrpSpPr>
          <p:grpSpPr>
            <a:xfrm>
              <a:off x="6496943" y="5200055"/>
              <a:ext cx="150614" cy="192102"/>
              <a:chOff x="6496943" y="5200055"/>
              <a:chExt cx="150614" cy="192102"/>
            </a:xfrm>
          </p:grpSpPr>
          <p:sp>
            <p:nvSpPr>
              <p:cNvPr id="191" name="Freeform 191"/>
              <p:cNvSpPr/>
              <p:nvPr/>
            </p:nvSpPr>
            <p:spPr>
              <a:xfrm>
                <a:off x="6503789" y="5206901"/>
                <a:ext cx="136922" cy="177999"/>
              </a:xfrm>
              <a:custGeom>
                <a:avLst/>
                <a:gdLst/>
                <a:ahLst/>
                <a:cxnLst/>
                <a:rect l="l" t="t" r="r" b="b"/>
                <a:pathLst>
                  <a:path w="136922" h="177999">
                    <a:moveTo>
                      <a:pt x="68461" y="0"/>
                    </a:moveTo>
                    <a:cubicBezTo>
                      <a:pt x="30651" y="0"/>
                      <a:pt x="0" y="30651"/>
                      <a:pt x="0" y="68461"/>
                    </a:cubicBezTo>
                    <a:cubicBezTo>
                      <a:pt x="0" y="130076"/>
                      <a:pt x="68461" y="177999"/>
                      <a:pt x="68461" y="177999"/>
                    </a:cubicBezTo>
                    <a:cubicBezTo>
                      <a:pt x="68461" y="177999"/>
                      <a:pt x="136922" y="130076"/>
                      <a:pt x="136922" y="68461"/>
                    </a:cubicBezTo>
                    <a:cubicBezTo>
                      <a:pt x="136922" y="30651"/>
                      <a:pt x="106271" y="0"/>
                      <a:pt x="68461" y="0"/>
                    </a:cubicBezTo>
                    <a:close/>
                    <a:moveTo>
                      <a:pt x="68461" y="95845"/>
                    </a:moveTo>
                    <a:cubicBezTo>
                      <a:pt x="53337" y="95845"/>
                      <a:pt x="41077" y="83585"/>
                      <a:pt x="41077" y="68461"/>
                    </a:cubicBezTo>
                    <a:cubicBezTo>
                      <a:pt x="41077" y="53337"/>
                      <a:pt x="53337" y="41077"/>
                      <a:pt x="68461" y="41077"/>
                    </a:cubicBezTo>
                    <a:cubicBezTo>
                      <a:pt x="83585" y="41077"/>
                      <a:pt x="95845" y="53337"/>
                      <a:pt x="95845" y="68461"/>
                    </a:cubicBezTo>
                    <a:cubicBezTo>
                      <a:pt x="95845" y="83585"/>
                      <a:pt x="83585" y="95845"/>
                      <a:pt x="68461" y="95845"/>
                    </a:cubicBezTo>
                    <a:close/>
                  </a:path>
                </a:pathLst>
              </a:custGeom>
              <a:solidFill>
                <a:srgbClr val="B35900">
                  <a:alpha val="20000"/>
                </a:srgbClr>
              </a:solidFill>
              <a:ln>
                <a:noFill/>
              </a:ln>
            </p:spPr>
          </p:sp>
          <p:sp>
            <p:nvSpPr>
              <p:cNvPr id="192" name="Freeform 192"/>
              <p:cNvSpPr/>
              <p:nvPr/>
            </p:nvSpPr>
            <p:spPr>
              <a:xfrm>
                <a:off x="6496943" y="5200055"/>
                <a:ext cx="150614" cy="192102"/>
              </a:xfrm>
              <a:custGeom>
                <a:avLst/>
                <a:gdLst/>
                <a:ahLst/>
                <a:cxnLst/>
                <a:rect l="l" t="t" r="r" b="b"/>
                <a:pathLst>
                  <a:path w="150614" h="192102">
                    <a:moveTo>
                      <a:pt x="75307" y="41077"/>
                    </a:moveTo>
                    <a:cubicBezTo>
                      <a:pt x="56402" y="41077"/>
                      <a:pt x="41077" y="56402"/>
                      <a:pt x="41077" y="75307"/>
                    </a:cubicBezTo>
                    <a:cubicBezTo>
                      <a:pt x="41077" y="94212"/>
                      <a:pt x="56402" y="109538"/>
                      <a:pt x="75307" y="109538"/>
                    </a:cubicBezTo>
                    <a:cubicBezTo>
                      <a:pt x="94212" y="109538"/>
                      <a:pt x="109538" y="94212"/>
                      <a:pt x="109538" y="75307"/>
                    </a:cubicBezTo>
                    <a:cubicBezTo>
                      <a:pt x="109538" y="56402"/>
                      <a:pt x="94212" y="41077"/>
                      <a:pt x="75307" y="41077"/>
                    </a:cubicBezTo>
                    <a:close/>
                    <a:moveTo>
                      <a:pt x="75307" y="95845"/>
                    </a:moveTo>
                    <a:cubicBezTo>
                      <a:pt x="63964" y="95845"/>
                      <a:pt x="54769" y="86650"/>
                      <a:pt x="54769" y="75307"/>
                    </a:cubicBezTo>
                    <a:cubicBezTo>
                      <a:pt x="54769" y="63964"/>
                      <a:pt x="63964" y="54769"/>
                      <a:pt x="75307" y="54769"/>
                    </a:cubicBezTo>
                    <a:cubicBezTo>
                      <a:pt x="86650" y="54769"/>
                      <a:pt x="95845" y="63964"/>
                      <a:pt x="95845" y="75307"/>
                    </a:cubicBezTo>
                    <a:cubicBezTo>
                      <a:pt x="95845" y="86650"/>
                      <a:pt x="86650" y="95845"/>
                      <a:pt x="75307" y="95845"/>
                    </a:cubicBezTo>
                    <a:close/>
                    <a:moveTo>
                      <a:pt x="75307" y="0"/>
                    </a:moveTo>
                    <a:cubicBezTo>
                      <a:pt x="33736" y="47"/>
                      <a:pt x="47" y="33736"/>
                      <a:pt x="0" y="75307"/>
                    </a:cubicBezTo>
                    <a:cubicBezTo>
                      <a:pt x="0" y="102178"/>
                      <a:pt x="12417" y="130658"/>
                      <a:pt x="35942" y="157674"/>
                    </a:cubicBezTo>
                    <a:cubicBezTo>
                      <a:pt x="46513" y="169882"/>
                      <a:pt x="58410" y="180875"/>
                      <a:pt x="71413" y="190450"/>
                    </a:cubicBezTo>
                    <a:cubicBezTo>
                      <a:pt x="73771" y="192102"/>
                      <a:pt x="76911" y="192102"/>
                      <a:pt x="79269" y="190450"/>
                    </a:cubicBezTo>
                    <a:cubicBezTo>
                      <a:pt x="92249" y="180871"/>
                      <a:pt x="104123" y="169878"/>
                      <a:pt x="114672" y="157674"/>
                    </a:cubicBezTo>
                    <a:cubicBezTo>
                      <a:pt x="138163" y="130658"/>
                      <a:pt x="150614" y="102178"/>
                      <a:pt x="150614" y="75307"/>
                    </a:cubicBezTo>
                    <a:cubicBezTo>
                      <a:pt x="150567" y="33736"/>
                      <a:pt x="116878" y="47"/>
                      <a:pt x="75307" y="0"/>
                    </a:cubicBezTo>
                    <a:close/>
                    <a:moveTo>
                      <a:pt x="75307" y="176287"/>
                    </a:moveTo>
                    <a:cubicBezTo>
                      <a:pt x="61161" y="165162"/>
                      <a:pt x="13692" y="124299"/>
                      <a:pt x="13692" y="75307"/>
                    </a:cubicBezTo>
                    <a:cubicBezTo>
                      <a:pt x="13692" y="41278"/>
                      <a:pt x="41278" y="13692"/>
                      <a:pt x="75307" y="13692"/>
                    </a:cubicBezTo>
                    <a:cubicBezTo>
                      <a:pt x="109336" y="13692"/>
                      <a:pt x="136922" y="41278"/>
                      <a:pt x="136922" y="75307"/>
                    </a:cubicBezTo>
                    <a:cubicBezTo>
                      <a:pt x="136922" y="124282"/>
                      <a:pt x="89453" y="165162"/>
                      <a:pt x="75307" y="176287"/>
                    </a:cubicBezTo>
                    <a:close/>
                  </a:path>
                </a:pathLst>
              </a:custGeom>
              <a:solidFill>
                <a:srgbClr val="B35900"/>
              </a:solidFill>
              <a:ln>
                <a:noFill/>
              </a:ln>
            </p:spPr>
          </p:sp>
        </p:grpSp>
        <p:sp>
          <p:nvSpPr>
            <p:cNvPr id="194" name="TextBox 194"/>
            <p:cNvSpPr txBox="1"/>
            <p:nvPr/>
          </p:nvSpPr>
          <p:spPr>
            <a:xfrm>
              <a:off x="6852666" y="5144452"/>
              <a:ext cx="1271027" cy="205359"/>
            </a:xfrm>
            <a:prstGeom prst="rect">
              <a:avLst/>
            </a:prstGeom>
            <a:noFill/>
            <a:ln>
              <a:noFill/>
            </a:ln>
          </p:spPr>
          <p:txBody>
            <a:bodyPr wrap="none" lIns="0" tIns="0" rIns="0" bIns="0" anchor="t" anchorCtr="0">
              <a:spAutoFit/>
            </a:bodyPr>
            <a:lstStyle/>
            <a:p>
              <a:pPr algn="l"/>
              <a:r>
                <a:rPr lang="en-IN" sz="1050" b="1" dirty="0">
                  <a:solidFill>
                    <a:srgbClr val="1D2939"/>
                  </a:solidFill>
                  <a:latin typeface="Calibri"/>
                  <a:ea typeface="Calibri"/>
                  <a:cs typeface="Calibri"/>
                </a:rPr>
                <a:t>Reads the GPS stamp</a:t>
              </a:r>
            </a:p>
          </p:txBody>
        </p:sp>
        <p:sp>
          <p:nvSpPr>
            <p:cNvPr id="195" name="TextBox 195"/>
            <p:cNvSpPr txBox="1"/>
            <p:nvPr/>
          </p:nvSpPr>
          <p:spPr>
            <a:xfrm>
              <a:off x="6853238" y="5332095"/>
              <a:ext cx="1263316"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printed inside site photos</a:t>
              </a:r>
            </a:p>
          </p:txBody>
        </p:sp>
        <p:sp>
          <p:nvSpPr>
            <p:cNvPr id="196" name="Rectangle 196"/>
            <p:cNvSpPr/>
            <p:nvPr/>
          </p:nvSpPr>
          <p:spPr>
            <a:xfrm>
              <a:off x="9134475" y="5000625"/>
              <a:ext cx="2752725" cy="590550"/>
            </a:xfrm>
            <a:prstGeom prst="roundRect">
              <a:avLst>
                <a:gd name="adj" fmla="val 12903"/>
              </a:avLst>
            </a:prstGeom>
            <a:solidFill>
              <a:srgbClr val="F2F5F9"/>
            </a:solidFill>
            <a:ln>
              <a:noFill/>
            </a:ln>
          </p:spPr>
        </p:sp>
        <p:sp>
          <p:nvSpPr>
            <p:cNvPr id="197" name="Ellipse 197"/>
            <p:cNvSpPr/>
            <p:nvPr/>
          </p:nvSpPr>
          <p:spPr>
            <a:xfrm>
              <a:off x="9229725" y="5105400"/>
              <a:ext cx="381000" cy="381000"/>
            </a:xfrm>
            <a:prstGeom prst="ellipse">
              <a:avLst/>
            </a:prstGeom>
            <a:solidFill>
              <a:srgbClr val="FFFFFF"/>
            </a:solidFill>
            <a:ln>
              <a:noFill/>
            </a:ln>
          </p:spPr>
        </p:sp>
        <p:grpSp>
          <p:nvGrpSpPr>
            <p:cNvPr id="200" name="Group 200"/>
            <p:cNvGrpSpPr/>
            <p:nvPr/>
          </p:nvGrpSpPr>
          <p:grpSpPr>
            <a:xfrm>
              <a:off x="9337446" y="5206901"/>
              <a:ext cx="165585" cy="171152"/>
              <a:chOff x="9337446" y="5206901"/>
              <a:chExt cx="165585" cy="171152"/>
            </a:xfrm>
          </p:grpSpPr>
          <p:sp>
            <p:nvSpPr>
              <p:cNvPr id="198" name="Freeform 198"/>
              <p:cNvSpPr/>
              <p:nvPr/>
            </p:nvSpPr>
            <p:spPr>
              <a:xfrm>
                <a:off x="9344589" y="5315240"/>
                <a:ext cx="151247" cy="55968"/>
              </a:xfrm>
              <a:custGeom>
                <a:avLst/>
                <a:gdLst/>
                <a:ahLst/>
                <a:cxnLst/>
                <a:rect l="l" t="t" r="r" b="b"/>
                <a:pathLst>
                  <a:path w="151247" h="55968">
                    <a:moveTo>
                      <a:pt x="144097" y="55967"/>
                    </a:moveTo>
                    <a:lnTo>
                      <a:pt x="7176" y="55967"/>
                    </a:lnTo>
                    <a:cubicBezTo>
                      <a:pt x="4708" y="55968"/>
                      <a:pt x="2431" y="54640"/>
                      <a:pt x="1215" y="52493"/>
                    </a:cubicBezTo>
                    <a:cubicBezTo>
                      <a:pt x="0" y="50346"/>
                      <a:pt x="34" y="47710"/>
                      <a:pt x="1305" y="45595"/>
                    </a:cubicBezTo>
                    <a:lnTo>
                      <a:pt x="27389" y="2122"/>
                    </a:lnTo>
                    <a:lnTo>
                      <a:pt x="27389" y="2122"/>
                    </a:lnTo>
                    <a:cubicBezTo>
                      <a:pt x="38710" y="0"/>
                      <a:pt x="54773" y="916"/>
                      <a:pt x="75628" y="11467"/>
                    </a:cubicBezTo>
                    <a:cubicBezTo>
                      <a:pt x="103226" y="25442"/>
                      <a:pt x="122481" y="22515"/>
                      <a:pt x="133392" y="18014"/>
                    </a:cubicBezTo>
                    <a:lnTo>
                      <a:pt x="133392" y="18014"/>
                    </a:lnTo>
                    <a:lnTo>
                      <a:pt x="149942" y="45595"/>
                    </a:lnTo>
                    <a:cubicBezTo>
                      <a:pt x="151211" y="47706"/>
                      <a:pt x="151247" y="50336"/>
                      <a:pt x="150038" y="52482"/>
                    </a:cubicBezTo>
                    <a:cubicBezTo>
                      <a:pt x="148829" y="54628"/>
                      <a:pt x="146560" y="55958"/>
                      <a:pt x="144097" y="55967"/>
                    </a:cubicBezTo>
                    <a:close/>
                  </a:path>
                </a:pathLst>
              </a:custGeom>
              <a:solidFill>
                <a:srgbClr val="B35900">
                  <a:alpha val="20000"/>
                </a:srgbClr>
              </a:solidFill>
              <a:ln>
                <a:noFill/>
              </a:ln>
            </p:spPr>
          </p:sp>
          <p:sp>
            <p:nvSpPr>
              <p:cNvPr id="199" name="Freeform 199"/>
              <p:cNvSpPr/>
              <p:nvPr/>
            </p:nvSpPr>
            <p:spPr>
              <a:xfrm>
                <a:off x="9337446" y="5206901"/>
                <a:ext cx="165585" cy="171152"/>
              </a:xfrm>
              <a:custGeom>
                <a:avLst/>
                <a:gdLst/>
                <a:ahLst/>
                <a:cxnLst/>
                <a:rect l="l" t="t" r="r" b="b"/>
                <a:pathLst>
                  <a:path w="165585" h="171152">
                    <a:moveTo>
                      <a:pt x="162956" y="150417"/>
                    </a:moveTo>
                    <a:lnTo>
                      <a:pt x="110164" y="62402"/>
                    </a:lnTo>
                    <a:lnTo>
                      <a:pt x="110164" y="13692"/>
                    </a:lnTo>
                    <a:lnTo>
                      <a:pt x="117010" y="13692"/>
                    </a:lnTo>
                    <a:cubicBezTo>
                      <a:pt x="120791" y="13692"/>
                      <a:pt x="123856" y="10627"/>
                      <a:pt x="123856" y="6846"/>
                    </a:cubicBezTo>
                    <a:cubicBezTo>
                      <a:pt x="123856" y="3065"/>
                      <a:pt x="120791" y="0"/>
                      <a:pt x="117010" y="0"/>
                    </a:cubicBezTo>
                    <a:lnTo>
                      <a:pt x="48549" y="0"/>
                    </a:lnTo>
                    <a:cubicBezTo>
                      <a:pt x="44768" y="0"/>
                      <a:pt x="41703" y="3065"/>
                      <a:pt x="41703" y="6846"/>
                    </a:cubicBezTo>
                    <a:cubicBezTo>
                      <a:pt x="41703" y="10627"/>
                      <a:pt x="44768" y="13692"/>
                      <a:pt x="48549" y="13692"/>
                    </a:cubicBezTo>
                    <a:lnTo>
                      <a:pt x="55395" y="13692"/>
                    </a:lnTo>
                    <a:lnTo>
                      <a:pt x="55395" y="62402"/>
                    </a:lnTo>
                    <a:lnTo>
                      <a:pt x="2603" y="150417"/>
                    </a:lnTo>
                    <a:cubicBezTo>
                      <a:pt x="68" y="154643"/>
                      <a:pt x="0" y="159905"/>
                      <a:pt x="2424" y="164196"/>
                    </a:cubicBezTo>
                    <a:cubicBezTo>
                      <a:pt x="4848" y="168486"/>
                      <a:pt x="9391" y="171143"/>
                      <a:pt x="14319" y="171152"/>
                    </a:cubicBezTo>
                    <a:lnTo>
                      <a:pt x="151240" y="171152"/>
                    </a:lnTo>
                    <a:cubicBezTo>
                      <a:pt x="156173" y="171152"/>
                      <a:pt x="160724" y="168499"/>
                      <a:pt x="163154" y="164207"/>
                    </a:cubicBezTo>
                    <a:cubicBezTo>
                      <a:pt x="165585" y="159915"/>
                      <a:pt x="165519" y="154647"/>
                      <a:pt x="162982" y="150417"/>
                    </a:cubicBezTo>
                    <a:close/>
                    <a:moveTo>
                      <a:pt x="68112" y="67819"/>
                    </a:moveTo>
                    <a:cubicBezTo>
                      <a:pt x="68752" y="66758"/>
                      <a:pt x="69089" y="65541"/>
                      <a:pt x="69087" y="64302"/>
                    </a:cubicBezTo>
                    <a:lnTo>
                      <a:pt x="69087" y="13692"/>
                    </a:lnTo>
                    <a:lnTo>
                      <a:pt x="96472" y="13692"/>
                    </a:lnTo>
                    <a:lnTo>
                      <a:pt x="96472" y="64302"/>
                    </a:lnTo>
                    <a:cubicBezTo>
                      <a:pt x="96470" y="65541"/>
                      <a:pt x="96807" y="66758"/>
                      <a:pt x="97447" y="67819"/>
                    </a:cubicBezTo>
                    <a:lnTo>
                      <a:pt x="130155" y="122374"/>
                    </a:lnTo>
                    <a:cubicBezTo>
                      <a:pt x="119885" y="124402"/>
                      <a:pt x="105277" y="123546"/>
                      <a:pt x="85869" y="113722"/>
                    </a:cubicBezTo>
                    <a:cubicBezTo>
                      <a:pt x="72254" y="106833"/>
                      <a:pt x="59297" y="103179"/>
                      <a:pt x="47171" y="102760"/>
                    </a:cubicBezTo>
                    <a:close/>
                    <a:moveTo>
                      <a:pt x="14319" y="157460"/>
                    </a:moveTo>
                    <a:lnTo>
                      <a:pt x="38742" y="116743"/>
                    </a:lnTo>
                    <a:cubicBezTo>
                      <a:pt x="50937" y="115263"/>
                      <a:pt x="64680" y="118326"/>
                      <a:pt x="79665" y="125917"/>
                    </a:cubicBezTo>
                    <a:cubicBezTo>
                      <a:pt x="95924" y="134141"/>
                      <a:pt x="109616" y="136939"/>
                      <a:pt x="120741" y="136939"/>
                    </a:cubicBezTo>
                    <a:cubicBezTo>
                      <a:pt x="126399" y="136964"/>
                      <a:pt x="132032" y="136186"/>
                      <a:pt x="137471" y="134629"/>
                    </a:cubicBezTo>
                    <a:lnTo>
                      <a:pt x="151240" y="157460"/>
                    </a:lnTo>
                    <a:close/>
                  </a:path>
                </a:pathLst>
              </a:custGeom>
              <a:solidFill>
                <a:srgbClr val="B35900"/>
              </a:solidFill>
              <a:ln>
                <a:noFill/>
              </a:ln>
            </p:spPr>
          </p:sp>
        </p:grpSp>
        <p:sp>
          <p:nvSpPr>
            <p:cNvPr id="201" name="TextBox 201"/>
            <p:cNvSpPr txBox="1"/>
            <p:nvPr/>
          </p:nvSpPr>
          <p:spPr>
            <a:xfrm>
              <a:off x="9700641" y="5144452"/>
              <a:ext cx="1274222" cy="205359"/>
            </a:xfrm>
            <a:prstGeom prst="rect">
              <a:avLst/>
            </a:prstGeom>
            <a:noFill/>
            <a:ln>
              <a:noFill/>
            </a:ln>
          </p:spPr>
          <p:txBody>
            <a:bodyPr wrap="none" lIns="0" tIns="0" rIns="0" bIns="0" anchor="t" anchorCtr="0">
              <a:spAutoFit/>
            </a:bodyPr>
            <a:lstStyle/>
            <a:p>
              <a:pPr algn="l"/>
              <a:r>
                <a:rPr lang="en-IN" sz="1050" b="1" dirty="0">
                  <a:solidFill>
                    <a:srgbClr val="1D2939"/>
                  </a:solidFill>
                  <a:latin typeface="Calibri"/>
                  <a:ea typeface="Calibri"/>
                  <a:cs typeface="Calibri"/>
                </a:rPr>
                <a:t>Proven before launch</a:t>
              </a:r>
            </a:p>
          </p:txBody>
        </p:sp>
        <p:sp>
          <p:nvSpPr>
            <p:cNvPr id="202" name="TextBox 202"/>
            <p:cNvSpPr txBox="1"/>
            <p:nvPr/>
          </p:nvSpPr>
          <p:spPr>
            <a:xfrm>
              <a:off x="9701212" y="5332095"/>
              <a:ext cx="1134322"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on real eSAKSHI works</a:t>
              </a:r>
            </a:p>
          </p:txBody>
        </p:sp>
        <p:sp>
          <p:nvSpPr>
            <p:cNvPr id="203" name="Rectangle 203"/>
            <p:cNvSpPr/>
            <p:nvPr/>
          </p:nvSpPr>
          <p:spPr>
            <a:xfrm>
              <a:off x="6286500" y="5686425"/>
              <a:ext cx="2752725" cy="590550"/>
            </a:xfrm>
            <a:prstGeom prst="roundRect">
              <a:avLst>
                <a:gd name="adj" fmla="val 12903"/>
              </a:avLst>
            </a:prstGeom>
            <a:solidFill>
              <a:srgbClr val="F2F5F9"/>
            </a:solidFill>
            <a:ln>
              <a:noFill/>
            </a:ln>
          </p:spPr>
        </p:sp>
        <p:sp>
          <p:nvSpPr>
            <p:cNvPr id="204" name="Ellipse 204"/>
            <p:cNvSpPr/>
            <p:nvPr/>
          </p:nvSpPr>
          <p:spPr>
            <a:xfrm>
              <a:off x="6381750" y="5791200"/>
              <a:ext cx="381000" cy="381000"/>
            </a:xfrm>
            <a:prstGeom prst="ellipse">
              <a:avLst/>
            </a:prstGeom>
            <a:solidFill>
              <a:srgbClr val="FFFFFF"/>
            </a:solidFill>
            <a:ln>
              <a:noFill/>
            </a:ln>
          </p:spPr>
        </p:sp>
        <p:grpSp>
          <p:nvGrpSpPr>
            <p:cNvPr id="207" name="Group 207"/>
            <p:cNvGrpSpPr/>
            <p:nvPr/>
          </p:nvGrpSpPr>
          <p:grpSpPr>
            <a:xfrm>
              <a:off x="6476405" y="5885855"/>
              <a:ext cx="191691" cy="191691"/>
              <a:chOff x="6476405" y="5885855"/>
              <a:chExt cx="191691" cy="191691"/>
            </a:xfrm>
          </p:grpSpPr>
          <p:sp>
            <p:nvSpPr>
              <p:cNvPr id="205" name="Freeform 205"/>
              <p:cNvSpPr/>
              <p:nvPr/>
            </p:nvSpPr>
            <p:spPr>
              <a:xfrm>
                <a:off x="6483251" y="5892701"/>
                <a:ext cx="177999" cy="177999"/>
              </a:xfrm>
              <a:custGeom>
                <a:avLst/>
                <a:gdLst/>
                <a:ahLst/>
                <a:cxnLst/>
                <a:rect l="l" t="t" r="r" b="b"/>
                <a:pathLst>
                  <a:path w="177999" h="177999">
                    <a:moveTo>
                      <a:pt x="177999" y="88999"/>
                    </a:moveTo>
                    <a:cubicBezTo>
                      <a:pt x="177999" y="99705"/>
                      <a:pt x="162749" y="107783"/>
                      <a:pt x="158590" y="117830"/>
                    </a:cubicBezTo>
                    <a:cubicBezTo>
                      <a:pt x="154585" y="127517"/>
                      <a:pt x="159805" y="144059"/>
                      <a:pt x="151932" y="151932"/>
                    </a:cubicBezTo>
                    <a:cubicBezTo>
                      <a:pt x="144059" y="159805"/>
                      <a:pt x="127517" y="154585"/>
                      <a:pt x="117830" y="158590"/>
                    </a:cubicBezTo>
                    <a:cubicBezTo>
                      <a:pt x="107826" y="162749"/>
                      <a:pt x="99696" y="177999"/>
                      <a:pt x="88999" y="177999"/>
                    </a:cubicBezTo>
                    <a:cubicBezTo>
                      <a:pt x="78302" y="177999"/>
                      <a:pt x="70172" y="162749"/>
                      <a:pt x="60169" y="158590"/>
                    </a:cubicBezTo>
                    <a:cubicBezTo>
                      <a:pt x="50481" y="154585"/>
                      <a:pt x="33940" y="159805"/>
                      <a:pt x="26067" y="151932"/>
                    </a:cubicBezTo>
                    <a:cubicBezTo>
                      <a:pt x="18194" y="144059"/>
                      <a:pt x="23414" y="127517"/>
                      <a:pt x="19409" y="117830"/>
                    </a:cubicBezTo>
                    <a:cubicBezTo>
                      <a:pt x="15250" y="107826"/>
                      <a:pt x="0" y="99696"/>
                      <a:pt x="0" y="88999"/>
                    </a:cubicBezTo>
                    <a:cubicBezTo>
                      <a:pt x="0" y="78302"/>
                      <a:pt x="15250" y="70172"/>
                      <a:pt x="19409" y="60169"/>
                    </a:cubicBezTo>
                    <a:cubicBezTo>
                      <a:pt x="23414" y="50490"/>
                      <a:pt x="18194" y="33940"/>
                      <a:pt x="26067" y="26067"/>
                    </a:cubicBezTo>
                    <a:cubicBezTo>
                      <a:pt x="33940" y="18194"/>
                      <a:pt x="50490" y="23414"/>
                      <a:pt x="60169" y="19409"/>
                    </a:cubicBezTo>
                    <a:cubicBezTo>
                      <a:pt x="70215" y="15250"/>
                      <a:pt x="78302" y="0"/>
                      <a:pt x="88999" y="0"/>
                    </a:cubicBezTo>
                    <a:cubicBezTo>
                      <a:pt x="99696" y="0"/>
                      <a:pt x="107826" y="15250"/>
                      <a:pt x="117830" y="19409"/>
                    </a:cubicBezTo>
                    <a:cubicBezTo>
                      <a:pt x="127517" y="23414"/>
                      <a:pt x="144059" y="18194"/>
                      <a:pt x="151932" y="26067"/>
                    </a:cubicBezTo>
                    <a:cubicBezTo>
                      <a:pt x="159805" y="33940"/>
                      <a:pt x="154585" y="50481"/>
                      <a:pt x="158590" y="60169"/>
                    </a:cubicBezTo>
                    <a:cubicBezTo>
                      <a:pt x="162749" y="70215"/>
                      <a:pt x="177999" y="78302"/>
                      <a:pt x="177999" y="88999"/>
                    </a:cubicBezTo>
                    <a:close/>
                  </a:path>
                </a:pathLst>
              </a:custGeom>
              <a:solidFill>
                <a:srgbClr val="B35900">
                  <a:alpha val="20000"/>
                </a:srgbClr>
              </a:solidFill>
              <a:ln>
                <a:noFill/>
              </a:ln>
            </p:spPr>
          </p:sp>
          <p:sp>
            <p:nvSpPr>
              <p:cNvPr id="206" name="Freeform 206"/>
              <p:cNvSpPr/>
              <p:nvPr/>
            </p:nvSpPr>
            <p:spPr>
              <a:xfrm>
                <a:off x="6476405" y="5885855"/>
                <a:ext cx="191691" cy="191691"/>
              </a:xfrm>
              <a:custGeom>
                <a:avLst/>
                <a:gdLst/>
                <a:ahLst/>
                <a:cxnLst/>
                <a:rect l="l" t="t" r="r" b="b"/>
                <a:pathLst>
                  <a:path w="191691" h="191691">
                    <a:moveTo>
                      <a:pt x="179590" y="74297"/>
                    </a:moveTo>
                    <a:cubicBezTo>
                      <a:pt x="176364" y="70926"/>
                      <a:pt x="173027" y="67451"/>
                      <a:pt x="171769" y="64396"/>
                    </a:cubicBezTo>
                    <a:cubicBezTo>
                      <a:pt x="170605" y="61598"/>
                      <a:pt x="170536" y="56960"/>
                      <a:pt x="170468" y="52467"/>
                    </a:cubicBezTo>
                    <a:cubicBezTo>
                      <a:pt x="170339" y="44115"/>
                      <a:pt x="170203" y="34650"/>
                      <a:pt x="163622" y="28069"/>
                    </a:cubicBezTo>
                    <a:cubicBezTo>
                      <a:pt x="157041" y="21488"/>
                      <a:pt x="147576" y="21351"/>
                      <a:pt x="139224" y="21223"/>
                    </a:cubicBezTo>
                    <a:cubicBezTo>
                      <a:pt x="134731" y="21154"/>
                      <a:pt x="130093" y="21086"/>
                      <a:pt x="127295" y="19922"/>
                    </a:cubicBezTo>
                    <a:cubicBezTo>
                      <a:pt x="124248" y="18664"/>
                      <a:pt x="120765" y="15327"/>
                      <a:pt x="117393" y="12100"/>
                    </a:cubicBezTo>
                    <a:cubicBezTo>
                      <a:pt x="111489" y="6427"/>
                      <a:pt x="104780" y="0"/>
                      <a:pt x="95845" y="0"/>
                    </a:cubicBezTo>
                    <a:cubicBezTo>
                      <a:pt x="86911" y="0"/>
                      <a:pt x="80211" y="6427"/>
                      <a:pt x="74297" y="12100"/>
                    </a:cubicBezTo>
                    <a:cubicBezTo>
                      <a:pt x="70926" y="15327"/>
                      <a:pt x="67451" y="18664"/>
                      <a:pt x="64396" y="19922"/>
                    </a:cubicBezTo>
                    <a:cubicBezTo>
                      <a:pt x="61615" y="21086"/>
                      <a:pt x="56960" y="21154"/>
                      <a:pt x="52467" y="21223"/>
                    </a:cubicBezTo>
                    <a:cubicBezTo>
                      <a:pt x="44115" y="21351"/>
                      <a:pt x="34650" y="21488"/>
                      <a:pt x="28069" y="28069"/>
                    </a:cubicBezTo>
                    <a:cubicBezTo>
                      <a:pt x="21488" y="34650"/>
                      <a:pt x="21394" y="44115"/>
                      <a:pt x="21223" y="52467"/>
                    </a:cubicBezTo>
                    <a:cubicBezTo>
                      <a:pt x="21154" y="56960"/>
                      <a:pt x="21086" y="61598"/>
                      <a:pt x="19922" y="64396"/>
                    </a:cubicBezTo>
                    <a:cubicBezTo>
                      <a:pt x="18664" y="67443"/>
                      <a:pt x="15327" y="70926"/>
                      <a:pt x="12100" y="74297"/>
                    </a:cubicBezTo>
                    <a:cubicBezTo>
                      <a:pt x="6427" y="80202"/>
                      <a:pt x="0" y="86911"/>
                      <a:pt x="0" y="95845"/>
                    </a:cubicBezTo>
                    <a:cubicBezTo>
                      <a:pt x="0" y="104780"/>
                      <a:pt x="6427" y="111480"/>
                      <a:pt x="12100" y="117393"/>
                    </a:cubicBezTo>
                    <a:cubicBezTo>
                      <a:pt x="15327" y="120765"/>
                      <a:pt x="18664" y="124240"/>
                      <a:pt x="19922" y="127295"/>
                    </a:cubicBezTo>
                    <a:cubicBezTo>
                      <a:pt x="21086" y="130093"/>
                      <a:pt x="21154" y="134731"/>
                      <a:pt x="21223" y="139224"/>
                    </a:cubicBezTo>
                    <a:cubicBezTo>
                      <a:pt x="21351" y="147576"/>
                      <a:pt x="21488" y="157041"/>
                      <a:pt x="28069" y="163622"/>
                    </a:cubicBezTo>
                    <a:cubicBezTo>
                      <a:pt x="34650" y="170203"/>
                      <a:pt x="44115" y="170339"/>
                      <a:pt x="52467" y="170468"/>
                    </a:cubicBezTo>
                    <a:cubicBezTo>
                      <a:pt x="56960" y="170536"/>
                      <a:pt x="61598" y="170605"/>
                      <a:pt x="64396" y="171769"/>
                    </a:cubicBezTo>
                    <a:cubicBezTo>
                      <a:pt x="67443" y="173027"/>
                      <a:pt x="70926" y="176364"/>
                      <a:pt x="74297" y="179590"/>
                    </a:cubicBezTo>
                    <a:cubicBezTo>
                      <a:pt x="80202" y="185264"/>
                      <a:pt x="86911" y="191691"/>
                      <a:pt x="95845" y="191691"/>
                    </a:cubicBezTo>
                    <a:cubicBezTo>
                      <a:pt x="104780" y="191691"/>
                      <a:pt x="111480" y="185264"/>
                      <a:pt x="117393" y="179590"/>
                    </a:cubicBezTo>
                    <a:cubicBezTo>
                      <a:pt x="120765" y="176364"/>
                      <a:pt x="124240" y="173027"/>
                      <a:pt x="127295" y="171769"/>
                    </a:cubicBezTo>
                    <a:cubicBezTo>
                      <a:pt x="130093" y="170605"/>
                      <a:pt x="134731" y="170536"/>
                      <a:pt x="139224" y="170468"/>
                    </a:cubicBezTo>
                    <a:cubicBezTo>
                      <a:pt x="147576" y="170339"/>
                      <a:pt x="157041" y="170203"/>
                      <a:pt x="163622" y="163622"/>
                    </a:cubicBezTo>
                    <a:cubicBezTo>
                      <a:pt x="170203" y="157041"/>
                      <a:pt x="170339" y="147576"/>
                      <a:pt x="170468" y="139224"/>
                    </a:cubicBezTo>
                    <a:cubicBezTo>
                      <a:pt x="170536" y="134731"/>
                      <a:pt x="170605" y="130093"/>
                      <a:pt x="171769" y="127295"/>
                    </a:cubicBezTo>
                    <a:cubicBezTo>
                      <a:pt x="173027" y="124248"/>
                      <a:pt x="176364" y="120765"/>
                      <a:pt x="179590" y="117393"/>
                    </a:cubicBezTo>
                    <a:cubicBezTo>
                      <a:pt x="185264" y="111489"/>
                      <a:pt x="191691" y="104780"/>
                      <a:pt x="191691" y="95845"/>
                    </a:cubicBezTo>
                    <a:cubicBezTo>
                      <a:pt x="191691" y="86911"/>
                      <a:pt x="185264" y="80211"/>
                      <a:pt x="179590" y="74297"/>
                    </a:cubicBezTo>
                    <a:close/>
                    <a:moveTo>
                      <a:pt x="169706" y="107920"/>
                    </a:moveTo>
                    <a:cubicBezTo>
                      <a:pt x="165607" y="112199"/>
                      <a:pt x="161363" y="116623"/>
                      <a:pt x="159112" y="122057"/>
                    </a:cubicBezTo>
                    <a:cubicBezTo>
                      <a:pt x="156955" y="127278"/>
                      <a:pt x="156861" y="133242"/>
                      <a:pt x="156776" y="139019"/>
                    </a:cubicBezTo>
                    <a:cubicBezTo>
                      <a:pt x="156690" y="145009"/>
                      <a:pt x="156596" y="151282"/>
                      <a:pt x="153935" y="153935"/>
                    </a:cubicBezTo>
                    <a:cubicBezTo>
                      <a:pt x="151273" y="156587"/>
                      <a:pt x="145043" y="156690"/>
                      <a:pt x="139019" y="156776"/>
                    </a:cubicBezTo>
                    <a:cubicBezTo>
                      <a:pt x="133242" y="156861"/>
                      <a:pt x="127278" y="156955"/>
                      <a:pt x="122057" y="159112"/>
                    </a:cubicBezTo>
                    <a:cubicBezTo>
                      <a:pt x="116623" y="161363"/>
                      <a:pt x="112199" y="165607"/>
                      <a:pt x="107920" y="169706"/>
                    </a:cubicBezTo>
                    <a:cubicBezTo>
                      <a:pt x="103641" y="173805"/>
                      <a:pt x="99268" y="177999"/>
                      <a:pt x="95845" y="177999"/>
                    </a:cubicBezTo>
                    <a:cubicBezTo>
                      <a:pt x="92422" y="177999"/>
                      <a:pt x="88015" y="173788"/>
                      <a:pt x="83771" y="169706"/>
                    </a:cubicBezTo>
                    <a:cubicBezTo>
                      <a:pt x="79526" y="165624"/>
                      <a:pt x="75067" y="161363"/>
                      <a:pt x="69633" y="159112"/>
                    </a:cubicBezTo>
                    <a:cubicBezTo>
                      <a:pt x="64413" y="156955"/>
                      <a:pt x="58449" y="156861"/>
                      <a:pt x="52672" y="156776"/>
                    </a:cubicBezTo>
                    <a:cubicBezTo>
                      <a:pt x="46682" y="156690"/>
                      <a:pt x="40409" y="156596"/>
                      <a:pt x="37756" y="153935"/>
                    </a:cubicBezTo>
                    <a:cubicBezTo>
                      <a:pt x="35103" y="151273"/>
                      <a:pt x="35001" y="145043"/>
                      <a:pt x="34915" y="139019"/>
                    </a:cubicBezTo>
                    <a:cubicBezTo>
                      <a:pt x="34830" y="133242"/>
                      <a:pt x="34735" y="127278"/>
                      <a:pt x="32579" y="122057"/>
                    </a:cubicBezTo>
                    <a:cubicBezTo>
                      <a:pt x="30328" y="116623"/>
                      <a:pt x="26084" y="112199"/>
                      <a:pt x="21985" y="107920"/>
                    </a:cubicBezTo>
                    <a:cubicBezTo>
                      <a:pt x="17885" y="103641"/>
                      <a:pt x="13692" y="99268"/>
                      <a:pt x="13692" y="95845"/>
                    </a:cubicBezTo>
                    <a:cubicBezTo>
                      <a:pt x="13692" y="92422"/>
                      <a:pt x="17903" y="88015"/>
                      <a:pt x="21985" y="83771"/>
                    </a:cubicBezTo>
                    <a:cubicBezTo>
                      <a:pt x="26067" y="79526"/>
                      <a:pt x="30328" y="75067"/>
                      <a:pt x="32579" y="69633"/>
                    </a:cubicBezTo>
                    <a:cubicBezTo>
                      <a:pt x="34735" y="64413"/>
                      <a:pt x="34830" y="58449"/>
                      <a:pt x="34915" y="52672"/>
                    </a:cubicBezTo>
                    <a:cubicBezTo>
                      <a:pt x="35001" y="46682"/>
                      <a:pt x="35095" y="40409"/>
                      <a:pt x="37756" y="37756"/>
                    </a:cubicBezTo>
                    <a:cubicBezTo>
                      <a:pt x="40418" y="35103"/>
                      <a:pt x="46648" y="35001"/>
                      <a:pt x="52672" y="34915"/>
                    </a:cubicBezTo>
                    <a:cubicBezTo>
                      <a:pt x="58449" y="34830"/>
                      <a:pt x="64413" y="34735"/>
                      <a:pt x="69633" y="32579"/>
                    </a:cubicBezTo>
                    <a:cubicBezTo>
                      <a:pt x="75067" y="30328"/>
                      <a:pt x="79492" y="26084"/>
                      <a:pt x="83771" y="21985"/>
                    </a:cubicBezTo>
                    <a:cubicBezTo>
                      <a:pt x="88049" y="17885"/>
                      <a:pt x="92422" y="13692"/>
                      <a:pt x="95845" y="13692"/>
                    </a:cubicBezTo>
                    <a:cubicBezTo>
                      <a:pt x="99268" y="13692"/>
                      <a:pt x="103676" y="17903"/>
                      <a:pt x="107920" y="21985"/>
                    </a:cubicBezTo>
                    <a:cubicBezTo>
                      <a:pt x="112165" y="26067"/>
                      <a:pt x="116623" y="30328"/>
                      <a:pt x="122057" y="32579"/>
                    </a:cubicBezTo>
                    <a:cubicBezTo>
                      <a:pt x="127278" y="34735"/>
                      <a:pt x="133242" y="34830"/>
                      <a:pt x="139019" y="34915"/>
                    </a:cubicBezTo>
                    <a:cubicBezTo>
                      <a:pt x="145009" y="35001"/>
                      <a:pt x="151282" y="35095"/>
                      <a:pt x="153935" y="37756"/>
                    </a:cubicBezTo>
                    <a:cubicBezTo>
                      <a:pt x="156587" y="40418"/>
                      <a:pt x="156690" y="46648"/>
                      <a:pt x="156776" y="52672"/>
                    </a:cubicBezTo>
                    <a:cubicBezTo>
                      <a:pt x="156861" y="58449"/>
                      <a:pt x="156955" y="64413"/>
                      <a:pt x="159112" y="69633"/>
                    </a:cubicBezTo>
                    <a:cubicBezTo>
                      <a:pt x="161363" y="75067"/>
                      <a:pt x="165607" y="79492"/>
                      <a:pt x="169706" y="83771"/>
                    </a:cubicBezTo>
                    <a:cubicBezTo>
                      <a:pt x="173805" y="88049"/>
                      <a:pt x="177999" y="92422"/>
                      <a:pt x="177999" y="95845"/>
                    </a:cubicBezTo>
                    <a:cubicBezTo>
                      <a:pt x="177999" y="99268"/>
                      <a:pt x="173788" y="103676"/>
                      <a:pt x="169706" y="107920"/>
                    </a:cubicBezTo>
                    <a:close/>
                    <a:moveTo>
                      <a:pt x="134919" y="70463"/>
                    </a:moveTo>
                    <a:cubicBezTo>
                      <a:pt x="136205" y="71748"/>
                      <a:pt x="136927" y="73490"/>
                      <a:pt x="136927" y="75307"/>
                    </a:cubicBezTo>
                    <a:cubicBezTo>
                      <a:pt x="136927" y="77124"/>
                      <a:pt x="136205" y="78867"/>
                      <a:pt x="134919" y="80151"/>
                    </a:cubicBezTo>
                    <a:lnTo>
                      <a:pt x="86997" y="128073"/>
                    </a:lnTo>
                    <a:cubicBezTo>
                      <a:pt x="85713" y="129359"/>
                      <a:pt x="83970" y="130081"/>
                      <a:pt x="82153" y="130081"/>
                    </a:cubicBezTo>
                    <a:cubicBezTo>
                      <a:pt x="80336" y="130081"/>
                      <a:pt x="78594" y="129359"/>
                      <a:pt x="77310" y="128073"/>
                    </a:cubicBezTo>
                    <a:lnTo>
                      <a:pt x="56771" y="107535"/>
                    </a:lnTo>
                    <a:cubicBezTo>
                      <a:pt x="54096" y="104860"/>
                      <a:pt x="54096" y="100523"/>
                      <a:pt x="56771" y="97848"/>
                    </a:cubicBezTo>
                    <a:cubicBezTo>
                      <a:pt x="59446" y="95173"/>
                      <a:pt x="63783" y="95173"/>
                      <a:pt x="66458" y="97848"/>
                    </a:cubicBezTo>
                    <a:lnTo>
                      <a:pt x="82153" y="113551"/>
                    </a:lnTo>
                    <a:lnTo>
                      <a:pt x="125232" y="70463"/>
                    </a:lnTo>
                    <a:cubicBezTo>
                      <a:pt x="126516" y="69178"/>
                      <a:pt x="128259" y="68456"/>
                      <a:pt x="130076" y="68456"/>
                    </a:cubicBezTo>
                    <a:cubicBezTo>
                      <a:pt x="131893" y="68456"/>
                      <a:pt x="133635" y="69178"/>
                      <a:pt x="134919" y="70463"/>
                    </a:cubicBezTo>
                    <a:close/>
                  </a:path>
                </a:pathLst>
              </a:custGeom>
              <a:solidFill>
                <a:srgbClr val="B35900"/>
              </a:solidFill>
              <a:ln>
                <a:noFill/>
              </a:ln>
            </p:spPr>
          </p:sp>
        </p:grpSp>
        <p:sp>
          <p:nvSpPr>
            <p:cNvPr id="208" name="TextBox 208"/>
            <p:cNvSpPr txBox="1"/>
            <p:nvPr/>
          </p:nvSpPr>
          <p:spPr>
            <a:xfrm>
              <a:off x="6852666" y="5830252"/>
              <a:ext cx="1465164" cy="205359"/>
            </a:xfrm>
            <a:prstGeom prst="rect">
              <a:avLst/>
            </a:prstGeom>
            <a:noFill/>
            <a:ln>
              <a:noFill/>
            </a:ln>
          </p:spPr>
          <p:txBody>
            <a:bodyPr wrap="none" lIns="0" tIns="0" rIns="0" bIns="0" anchor="t" anchorCtr="0">
              <a:spAutoFit/>
            </a:bodyPr>
            <a:lstStyle/>
            <a:p>
              <a:pPr algn="l"/>
              <a:r>
                <a:rPr lang="en-IN" sz="1050" b="1" dirty="0">
                  <a:solidFill>
                    <a:srgbClr val="1D2939"/>
                  </a:solidFill>
                  <a:latin typeface="Calibri"/>
                  <a:ea typeface="Calibri"/>
                  <a:cs typeface="Calibri"/>
                </a:rPr>
                <a:t>Evidence, not accusation</a:t>
              </a:r>
            </a:p>
          </p:txBody>
        </p:sp>
        <p:sp>
          <p:nvSpPr>
            <p:cNvPr id="209" name="TextBox 209"/>
            <p:cNvSpPr txBox="1"/>
            <p:nvPr/>
          </p:nvSpPr>
          <p:spPr>
            <a:xfrm>
              <a:off x="6853238" y="6017895"/>
              <a:ext cx="1222813"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every flag cites its clause</a:t>
              </a:r>
            </a:p>
          </p:txBody>
        </p:sp>
        <p:sp>
          <p:nvSpPr>
            <p:cNvPr id="210" name="Rectangle 210"/>
            <p:cNvSpPr/>
            <p:nvPr/>
          </p:nvSpPr>
          <p:spPr>
            <a:xfrm>
              <a:off x="9134475" y="5686425"/>
              <a:ext cx="2752725" cy="590550"/>
            </a:xfrm>
            <a:prstGeom prst="roundRect">
              <a:avLst>
                <a:gd name="adj" fmla="val 12903"/>
              </a:avLst>
            </a:prstGeom>
            <a:solidFill>
              <a:srgbClr val="F2F5F9"/>
            </a:solidFill>
            <a:ln>
              <a:noFill/>
            </a:ln>
          </p:spPr>
        </p:sp>
        <p:sp>
          <p:nvSpPr>
            <p:cNvPr id="211" name="Ellipse 211"/>
            <p:cNvSpPr/>
            <p:nvPr/>
          </p:nvSpPr>
          <p:spPr>
            <a:xfrm>
              <a:off x="9229725" y="5791200"/>
              <a:ext cx="381000" cy="381000"/>
            </a:xfrm>
            <a:prstGeom prst="ellipse">
              <a:avLst/>
            </a:prstGeom>
            <a:solidFill>
              <a:srgbClr val="FFFFFF"/>
            </a:solidFill>
            <a:ln>
              <a:noFill/>
            </a:ln>
          </p:spPr>
        </p:sp>
        <p:grpSp>
          <p:nvGrpSpPr>
            <p:cNvPr id="214" name="Group 214"/>
            <p:cNvGrpSpPr/>
            <p:nvPr/>
          </p:nvGrpSpPr>
          <p:grpSpPr>
            <a:xfrm>
              <a:off x="9344918" y="5892699"/>
              <a:ext cx="150616" cy="178000"/>
              <a:chOff x="9344918" y="5892699"/>
              <a:chExt cx="150616" cy="178000"/>
            </a:xfrm>
          </p:grpSpPr>
          <p:sp>
            <p:nvSpPr>
              <p:cNvPr id="212" name="Freeform 212"/>
              <p:cNvSpPr/>
              <p:nvPr/>
            </p:nvSpPr>
            <p:spPr>
              <a:xfrm>
                <a:off x="9440763" y="5899547"/>
                <a:ext cx="47923" cy="47923"/>
              </a:xfrm>
              <a:custGeom>
                <a:avLst/>
                <a:gdLst/>
                <a:ahLst/>
                <a:cxnLst/>
                <a:rect l="l" t="t" r="r" b="b"/>
                <a:pathLst>
                  <a:path w="47923" h="47923">
                    <a:moveTo>
                      <a:pt x="47923" y="47923"/>
                    </a:moveTo>
                    <a:lnTo>
                      <a:pt x="0" y="47923"/>
                    </a:lnTo>
                    <a:lnTo>
                      <a:pt x="0" y="0"/>
                    </a:lnTo>
                    <a:close/>
                  </a:path>
                </a:pathLst>
              </a:custGeom>
              <a:solidFill>
                <a:srgbClr val="B35900">
                  <a:alpha val="20000"/>
                </a:srgbClr>
              </a:solidFill>
              <a:ln>
                <a:noFill/>
              </a:ln>
            </p:spPr>
          </p:sp>
          <p:sp>
            <p:nvSpPr>
              <p:cNvPr id="213" name="Freeform 213"/>
              <p:cNvSpPr/>
              <p:nvPr/>
            </p:nvSpPr>
            <p:spPr>
              <a:xfrm>
                <a:off x="9344918" y="5892699"/>
                <a:ext cx="150616" cy="178000"/>
              </a:xfrm>
              <a:custGeom>
                <a:avLst/>
                <a:gdLst/>
                <a:ahLst/>
                <a:cxnLst/>
                <a:rect l="l" t="t" r="r" b="b"/>
                <a:pathLst>
                  <a:path w="150616" h="178000">
                    <a:moveTo>
                      <a:pt x="148612" y="49927"/>
                    </a:moveTo>
                    <a:lnTo>
                      <a:pt x="100689" y="2004"/>
                    </a:lnTo>
                    <a:cubicBezTo>
                      <a:pt x="99404" y="720"/>
                      <a:pt x="97662" y="0"/>
                      <a:pt x="95845" y="1"/>
                    </a:cubicBezTo>
                    <a:lnTo>
                      <a:pt x="13692" y="1"/>
                    </a:lnTo>
                    <a:cubicBezTo>
                      <a:pt x="6130" y="1"/>
                      <a:pt x="0" y="6132"/>
                      <a:pt x="0" y="13694"/>
                    </a:cubicBezTo>
                    <a:lnTo>
                      <a:pt x="0" y="164308"/>
                    </a:lnTo>
                    <a:cubicBezTo>
                      <a:pt x="0" y="171870"/>
                      <a:pt x="6130" y="178000"/>
                      <a:pt x="13692" y="178000"/>
                    </a:cubicBezTo>
                    <a:lnTo>
                      <a:pt x="136922" y="178000"/>
                    </a:lnTo>
                    <a:cubicBezTo>
                      <a:pt x="144484" y="178000"/>
                      <a:pt x="150614" y="171870"/>
                      <a:pt x="150614" y="164308"/>
                    </a:cubicBezTo>
                    <a:lnTo>
                      <a:pt x="150614" y="54770"/>
                    </a:lnTo>
                    <a:cubicBezTo>
                      <a:pt x="150616" y="52954"/>
                      <a:pt x="149895" y="51212"/>
                      <a:pt x="148612" y="49927"/>
                    </a:cubicBezTo>
                    <a:close/>
                    <a:moveTo>
                      <a:pt x="102691" y="23372"/>
                    </a:moveTo>
                    <a:lnTo>
                      <a:pt x="127243" y="47924"/>
                    </a:lnTo>
                    <a:lnTo>
                      <a:pt x="102691" y="47924"/>
                    </a:lnTo>
                    <a:close/>
                    <a:moveTo>
                      <a:pt x="136922" y="164308"/>
                    </a:moveTo>
                    <a:lnTo>
                      <a:pt x="13692" y="164308"/>
                    </a:lnTo>
                    <a:lnTo>
                      <a:pt x="13692" y="13694"/>
                    </a:lnTo>
                    <a:lnTo>
                      <a:pt x="88999" y="13694"/>
                    </a:lnTo>
                    <a:lnTo>
                      <a:pt x="88999" y="54770"/>
                    </a:lnTo>
                    <a:cubicBezTo>
                      <a:pt x="88999" y="58551"/>
                      <a:pt x="92064" y="61616"/>
                      <a:pt x="95845" y="61616"/>
                    </a:cubicBezTo>
                    <a:lnTo>
                      <a:pt x="136922" y="61616"/>
                    </a:lnTo>
                    <a:lnTo>
                      <a:pt x="136922" y="164308"/>
                    </a:lnTo>
                    <a:close/>
                    <a:moveTo>
                      <a:pt x="109538" y="95847"/>
                    </a:moveTo>
                    <a:cubicBezTo>
                      <a:pt x="109538" y="99628"/>
                      <a:pt x="106472" y="102693"/>
                      <a:pt x="102691" y="102693"/>
                    </a:cubicBezTo>
                    <a:lnTo>
                      <a:pt x="47923" y="102693"/>
                    </a:lnTo>
                    <a:cubicBezTo>
                      <a:pt x="44142" y="102693"/>
                      <a:pt x="41077" y="99628"/>
                      <a:pt x="41077" y="95847"/>
                    </a:cubicBezTo>
                    <a:cubicBezTo>
                      <a:pt x="41077" y="92066"/>
                      <a:pt x="44142" y="89001"/>
                      <a:pt x="47923" y="89001"/>
                    </a:cubicBezTo>
                    <a:lnTo>
                      <a:pt x="102691" y="89001"/>
                    </a:lnTo>
                    <a:cubicBezTo>
                      <a:pt x="106472" y="89001"/>
                      <a:pt x="109538" y="92066"/>
                      <a:pt x="109538" y="95847"/>
                    </a:cubicBezTo>
                    <a:close/>
                    <a:moveTo>
                      <a:pt x="109538" y="123231"/>
                    </a:moveTo>
                    <a:cubicBezTo>
                      <a:pt x="109538" y="127012"/>
                      <a:pt x="106472" y="130077"/>
                      <a:pt x="102691" y="130077"/>
                    </a:cubicBezTo>
                    <a:lnTo>
                      <a:pt x="47923" y="130077"/>
                    </a:lnTo>
                    <a:cubicBezTo>
                      <a:pt x="44142" y="130077"/>
                      <a:pt x="41077" y="127012"/>
                      <a:pt x="41077" y="123231"/>
                    </a:cubicBezTo>
                    <a:cubicBezTo>
                      <a:pt x="41077" y="119450"/>
                      <a:pt x="44142" y="116385"/>
                      <a:pt x="47923" y="116385"/>
                    </a:cubicBezTo>
                    <a:lnTo>
                      <a:pt x="102691" y="116385"/>
                    </a:lnTo>
                    <a:cubicBezTo>
                      <a:pt x="106472" y="116385"/>
                      <a:pt x="109538" y="119450"/>
                      <a:pt x="109538" y="123231"/>
                    </a:cubicBezTo>
                    <a:close/>
                  </a:path>
                </a:pathLst>
              </a:custGeom>
              <a:solidFill>
                <a:srgbClr val="B35900"/>
              </a:solidFill>
              <a:ln>
                <a:noFill/>
              </a:ln>
            </p:spPr>
          </p:sp>
        </p:grpSp>
        <p:sp>
          <p:nvSpPr>
            <p:cNvPr id="215" name="TextBox 215"/>
            <p:cNvSpPr txBox="1"/>
            <p:nvPr/>
          </p:nvSpPr>
          <p:spPr>
            <a:xfrm>
              <a:off x="9700641" y="5830252"/>
              <a:ext cx="1270776" cy="205359"/>
            </a:xfrm>
            <a:prstGeom prst="rect">
              <a:avLst/>
            </a:prstGeom>
            <a:noFill/>
            <a:ln>
              <a:noFill/>
            </a:ln>
          </p:spPr>
          <p:txBody>
            <a:bodyPr wrap="none" lIns="0" tIns="0" rIns="0" bIns="0" anchor="t" anchorCtr="0">
              <a:spAutoFit/>
            </a:bodyPr>
            <a:lstStyle/>
            <a:p>
              <a:pPr algn="l"/>
              <a:r>
                <a:rPr lang="en-IN" sz="1050" b="1" dirty="0">
                  <a:solidFill>
                    <a:srgbClr val="1D2939"/>
                  </a:solidFill>
                  <a:latin typeface="Calibri"/>
                  <a:ea typeface="Calibri"/>
                  <a:cs typeface="Calibri"/>
                </a:rPr>
                <a:t>Reads papers for free</a:t>
              </a:r>
            </a:p>
          </p:txBody>
        </p:sp>
        <p:sp>
          <p:nvSpPr>
            <p:cNvPr id="216" name="TextBox 216"/>
            <p:cNvSpPr txBox="1"/>
            <p:nvPr/>
          </p:nvSpPr>
          <p:spPr>
            <a:xfrm>
              <a:off x="9701212" y="6017895"/>
              <a:ext cx="1602777"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certificates &amp; bills, on our server</a:t>
              </a:r>
            </a:p>
          </p:txBody>
        </p:sp>
      </p:grpSp>
    </p:spTree>
  </p:cSld>
  <p:clrMapOvr>
    <a:masterClrMapping/>
  </p:clrMapOvr>
</p:sld>
</file>

<file path=ppt/slides/slide3.xml><?xml version="1.0" encoding="utf-8"?>
<p:sld xmlns:a="http://schemas.openxmlformats.org/drawingml/2006/main" xmlns:a14="http://schemas.microsoft.com/office/drawing/2010/main" xmlns:ns2="http://schemas.microsoft.com/office/drawing/2014/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Rectangle 9">
            <a:extLst>
              <a:ext uri="{FF2B5EF4-FFF2-40B4-BE49-F238E27FC236}">
                <ns2:creationId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p:cNvSpPr/>
          <p:nvPr/>
        </p:nvSpPr>
        <p:spPr>
          <a:xfrm>
            <a:off x="329756" y="252222"/>
            <a:ext cx="1251871" cy="807339"/>
          </a:xfrm>
          <a:prstGeom prst="ellipse">
            <a:avLst/>
          </a:prstGeom>
          <a:solidFill>
            <a:srgbClr val="FFFFFF"/>
          </a:solidFill>
          <a:ln w="9525">
            <a:solidFill>
              <a:srgbClr val="8064A2"/>
            </a:solidFill>
          </a:ln>
        </p:spPr>
        <p:txBody>
          <a:bodyPr wrap="none" lIns="95" tIns="290798" rIns="0" bIns="0" anchor="t" anchorCtr="0">
            <a:noAutofit/>
          </a:bodyPr>
          <a:lstStyle/>
          <a:p>
            <a:pPr algn="ctr"/>
            <a:r>
              <a:rPr lang="en-IN" sz="1580" b="1" dirty="0">
                <a:solidFill>
                  <a:srgbClr val="0B3D6E"/>
                </a:solidFill>
                <a:latin typeface="Calibri"/>
                <a:ea typeface="Calibri"/>
                <a:cs typeface="Calibri"/>
              </a:rPr>
              <a:t>NeuralNexus</a:t>
            </a:r>
          </a:p>
        </p:txBody>
      </p:sp>
      <p:pic>
        <p:nvPicPr>
          <p:cNvPr id="12" name="Picture 11"/>
          <p:cNvPicPr>
            <a:picLocks noChangeAspect="1"/>
          </p:cNvPicPr>
          <p:nvPr/>
        </p:nvPicPr>
        <p:blipFill>
          <a:blip r:embed="rId3">
            <a:extLst>
              <a:ext uri="{28A0092B-C50C-407E-A947-70E740481C1C}">
                <a14:useLocalDpi val="0"/>
              </a:ext>
            </a:extLst>
          </a:blip>
          <a:stretch>
            <a:fillRect/>
          </a:stretch>
        </p:blipFill>
        <p:spPr>
          <a:xfrm>
            <a:off x="9780086" y="1500"/>
            <a:ext cx="2249850" cy="1062337"/>
          </a:xfrm>
          <a:prstGeom prst="rect">
            <a:avLst/>
          </a:prstGeom>
        </p:spPr>
      </p:pic>
      <p:grpSp>
        <p:nvGrpSpPr>
          <p:cNvPr id="72" name="tech-stack"/>
          <p:cNvGrpSpPr/>
          <p:nvPr/>
        </p:nvGrpSpPr>
        <p:grpSpPr>
          <a:xfrm>
            <a:off x="304800" y="1231106"/>
            <a:ext cx="3790950" cy="4699635"/>
            <a:chOff x="304800" y="1231106"/>
            <a:chExt cx="3790950" cy="4699635"/>
          </a:xfrm>
        </p:grpSpPr>
        <p:sp>
          <p:nvSpPr>
            <p:cNvPr id="13" name="Polygon 13"/>
            <p:cNvSpPr/>
            <p:nvPr/>
          </p:nvSpPr>
          <p:spPr>
            <a:xfrm>
              <a:off x="304800" y="1257776"/>
              <a:ext cx="95250" cy="95250"/>
            </a:xfrm>
            <a:custGeom>
              <a:avLst/>
              <a:gdLst/>
              <a:ahLst/>
              <a:cxnLst/>
              <a:rect l="l" t="t" r="r" b="b"/>
              <a:pathLst>
                <a:path w="95250" h="95250">
                  <a:moveTo>
                    <a:pt x="47625" y="0"/>
                  </a:moveTo>
                  <a:lnTo>
                    <a:pt x="95250" y="47625"/>
                  </a:lnTo>
                  <a:lnTo>
                    <a:pt x="47625" y="95250"/>
                  </a:lnTo>
                  <a:lnTo>
                    <a:pt x="0" y="47625"/>
                  </a:lnTo>
                  <a:close/>
                </a:path>
              </a:pathLst>
            </a:custGeom>
            <a:solidFill>
              <a:srgbClr val="E8871E"/>
            </a:solidFill>
            <a:ln>
              <a:noFill/>
            </a:ln>
          </p:spPr>
        </p:sp>
        <p:sp>
          <p:nvSpPr>
            <p:cNvPr id="14" name="TextBox 14"/>
            <p:cNvSpPr txBox="1"/>
            <p:nvPr/>
          </p:nvSpPr>
          <p:spPr>
            <a:xfrm>
              <a:off x="451485" y="1231106"/>
              <a:ext cx="3220848" cy="391478"/>
            </a:xfrm>
            <a:prstGeom prst="rect">
              <a:avLst/>
            </a:prstGeom>
            <a:noFill/>
            <a:ln>
              <a:noFill/>
            </a:ln>
          </p:spPr>
          <p:txBody>
            <a:bodyPr wrap="none" lIns="0" tIns="0" rIns="0" bIns="0" anchor="t" anchorCtr="0">
              <a:spAutoFit/>
            </a:bodyPr>
            <a:lstStyle/>
            <a:p>
              <a:pPr algn="l">
                <a:lnSpc>
                  <a:spcPts val="1350"/>
                </a:lnSpc>
              </a:pPr>
              <a:r>
                <a:rPr lang="en-IN" sz="1120" b="1" dirty="0">
                  <a:solidFill>
                    <a:srgbClr val="0B3D6E"/>
                  </a:solidFill>
                  <a:latin typeface="Calibri"/>
                  <a:ea typeface="Calibri"/>
                  <a:cs typeface="Calibri"/>
                </a:rPr>
                <a:t>Technologies to be used (e.g. programming languages,</a:t>
              </a:r>
              <a:br/>
              <a:r>
                <a:rPr lang="en-IN" sz="1120" b="1" dirty="0">
                  <a:solidFill>
                    <a:srgbClr val="0B3D6E"/>
                  </a:solidFill>
                  <a:latin typeface="Calibri"/>
                  <a:ea typeface="Calibri"/>
                  <a:cs typeface="Calibri"/>
                </a:rPr>
                <a:t>frameworks, hardware)</a:t>
              </a:r>
            </a:p>
          </p:txBody>
        </p:sp>
        <p:sp>
          <p:nvSpPr>
            <p:cNvPr id="15" name="Line 15"/>
            <p:cNvSpPr/>
            <p:nvPr/>
          </p:nvSpPr>
          <p:spPr>
            <a:xfrm>
              <a:off x="304800" y="1590675"/>
              <a:ext cx="3790950" cy="9525"/>
            </a:xfrm>
            <a:custGeom>
              <a:avLst/>
              <a:gdLst/>
              <a:ahLst/>
              <a:cxnLst/>
              <a:rect l="l" t="t" r="r" b="b"/>
              <a:pathLst>
                <a:path w="3790950" h="9525">
                  <a:moveTo>
                    <a:pt x="0" y="0"/>
                  </a:moveTo>
                  <a:lnTo>
                    <a:pt x="3790950" y="0"/>
                  </a:lnTo>
                </a:path>
              </a:pathLst>
            </a:custGeom>
            <a:noFill/>
            <a:ln w="9525">
              <a:solidFill>
                <a:srgbClr val="D0D5DD"/>
              </a:solidFill>
            </a:ln>
          </p:spPr>
        </p:sp>
        <p:sp>
          <p:nvSpPr>
            <p:cNvPr id="16" name="Rectangle 16"/>
            <p:cNvSpPr/>
            <p:nvPr/>
          </p:nvSpPr>
          <p:spPr>
            <a:xfrm>
              <a:off x="304800" y="1704975"/>
              <a:ext cx="3790950" cy="704850"/>
            </a:xfrm>
            <a:prstGeom prst="roundRect">
              <a:avLst>
                <a:gd name="adj" fmla="val 8108"/>
              </a:avLst>
            </a:prstGeom>
            <a:solidFill>
              <a:srgbClr val="F2F5F9"/>
            </a:solidFill>
            <a:ln w="9525">
              <a:solidFill>
                <a:srgbClr val="D0D5DD"/>
              </a:solidFill>
            </a:ln>
          </p:spPr>
        </p:sp>
        <p:sp>
          <p:nvSpPr>
            <p:cNvPr id="17" name="Rectangle 17"/>
            <p:cNvSpPr/>
            <p:nvPr/>
          </p:nvSpPr>
          <p:spPr>
            <a:xfrm>
              <a:off x="304800" y="1704975"/>
              <a:ext cx="47625" cy="704850"/>
            </a:xfrm>
            <a:prstGeom prst="rect">
              <a:avLst/>
            </a:prstGeom>
            <a:solidFill>
              <a:srgbClr val="0B3D6E"/>
            </a:solidFill>
            <a:ln>
              <a:noFill/>
            </a:ln>
          </p:spPr>
        </p:sp>
        <p:sp>
          <p:nvSpPr>
            <p:cNvPr id="18" name="TextBox 18"/>
            <p:cNvSpPr txBox="1"/>
            <p:nvPr/>
          </p:nvSpPr>
          <p:spPr>
            <a:xfrm>
              <a:off x="451866" y="1896428"/>
              <a:ext cx="465081" cy="205359"/>
            </a:xfrm>
            <a:prstGeom prst="rect">
              <a:avLst/>
            </a:prstGeom>
            <a:noFill/>
            <a:ln>
              <a:noFill/>
            </a:ln>
          </p:spPr>
          <p:txBody>
            <a:bodyPr wrap="none" lIns="0" tIns="0" rIns="0" bIns="0" anchor="t" anchorCtr="0">
              <a:spAutoFit/>
            </a:bodyPr>
            <a:lstStyle/>
            <a:p>
              <a:pPr algn="l"/>
              <a:r>
                <a:rPr lang="en-IN" sz="1050" b="1" dirty="0">
                  <a:solidFill>
                    <a:srgbClr val="0B3D6E"/>
                  </a:solidFill>
                  <a:latin typeface="Calibri"/>
                  <a:ea typeface="Calibri"/>
                  <a:cs typeface="Calibri"/>
                </a:rPr>
                <a:t>Screens</a:t>
              </a:r>
            </a:p>
          </p:txBody>
        </p:sp>
        <p:sp>
          <p:nvSpPr>
            <p:cNvPr id="19" name="TextBox 19"/>
            <p:cNvSpPr txBox="1"/>
            <p:nvPr/>
          </p:nvSpPr>
          <p:spPr>
            <a:xfrm>
              <a:off x="452438" y="2096214"/>
              <a:ext cx="720112" cy="154781"/>
            </a:xfrm>
            <a:prstGeom prst="rect">
              <a:avLst/>
            </a:prstGeom>
            <a:noFill/>
            <a:ln>
              <a:noFill/>
            </a:ln>
          </p:spPr>
          <p:txBody>
            <a:bodyPr wrap="none" lIns="0" tIns="0" rIns="0" bIns="0" anchor="t" anchorCtr="0">
              <a:spAutoFit/>
            </a:bodyPr>
            <a:lstStyle/>
            <a:p>
              <a:pPr algn="l"/>
              <a:r>
                <a:rPr lang="en-IN" sz="790" dirty="0">
                  <a:solidFill>
                    <a:srgbClr val="667085"/>
                  </a:solidFill>
                  <a:latin typeface="Calibri"/>
                  <a:ea typeface="Calibri"/>
                  <a:cs typeface="Calibri"/>
                </a:rPr>
                <a:t>web dashboards</a:t>
              </a:r>
            </a:p>
          </p:txBody>
        </p:sp>
        <p:sp>
          <p:nvSpPr>
            <p:cNvPr id="20" name="Freeform 20"/>
            <p:cNvSpPr/>
            <p:nvPr/>
          </p:nvSpPr>
          <p:spPr>
            <a:xfrm>
              <a:off x="1600200" y="1809750"/>
              <a:ext cx="266701" cy="266701"/>
            </a:xfrm>
            <a:custGeom>
              <a:avLst/>
              <a:gdLst/>
              <a:ahLst/>
              <a:cxnLst/>
              <a:rect l="l" t="t" r="r" b="b"/>
              <a:pathLst>
                <a:path w="266701" h="266701">
                  <a:moveTo>
                    <a:pt x="207415" y="244231"/>
                  </a:moveTo>
                  <a:cubicBezTo>
                    <a:pt x="186224" y="258422"/>
                    <a:pt x="160743" y="266701"/>
                    <a:pt x="133350" y="266701"/>
                  </a:cubicBezTo>
                  <a:cubicBezTo>
                    <a:pt x="59752" y="266701"/>
                    <a:pt x="0" y="206949"/>
                    <a:pt x="0" y="133350"/>
                  </a:cubicBezTo>
                  <a:cubicBezTo>
                    <a:pt x="0" y="59752"/>
                    <a:pt x="59752" y="0"/>
                    <a:pt x="133350" y="0"/>
                  </a:cubicBezTo>
                  <a:cubicBezTo>
                    <a:pt x="206949" y="0"/>
                    <a:pt x="266701" y="59752"/>
                    <a:pt x="266701" y="133350"/>
                  </a:cubicBezTo>
                  <a:cubicBezTo>
                    <a:pt x="266701" y="173167"/>
                    <a:pt x="249210" y="208927"/>
                    <a:pt x="221506" y="233374"/>
                  </a:cubicBezTo>
                  <a:lnTo>
                    <a:pt x="102446" y="80010"/>
                  </a:lnTo>
                  <a:lnTo>
                    <a:pt x="80010" y="80010"/>
                  </a:lnTo>
                  <a:lnTo>
                    <a:pt x="80010" y="186646"/>
                  </a:lnTo>
                  <a:lnTo>
                    <a:pt x="97957" y="186646"/>
                  </a:lnTo>
                  <a:lnTo>
                    <a:pt x="97957" y="102802"/>
                  </a:lnTo>
                  <a:lnTo>
                    <a:pt x="207415" y="244231"/>
                  </a:lnTo>
                  <a:close/>
                  <a:moveTo>
                    <a:pt x="170388" y="149408"/>
                  </a:moveTo>
                  <a:lnTo>
                    <a:pt x="188169" y="172311"/>
                  </a:lnTo>
                  <a:lnTo>
                    <a:pt x="188169" y="80010"/>
                  </a:lnTo>
                  <a:lnTo>
                    <a:pt x="170388" y="80010"/>
                  </a:lnTo>
                  <a:lnTo>
                    <a:pt x="170388" y="149408"/>
                  </a:lnTo>
                  <a:close/>
                </a:path>
              </a:pathLst>
            </a:custGeom>
            <a:solidFill>
              <a:srgbClr val="1D2939"/>
            </a:solidFill>
            <a:ln>
              <a:noFill/>
            </a:ln>
          </p:spPr>
        </p:sp>
        <p:sp>
          <p:nvSpPr>
            <p:cNvPr id="21" name="TextBox 21"/>
            <p:cNvSpPr txBox="1"/>
            <p:nvPr/>
          </p:nvSpPr>
          <p:spPr>
            <a:xfrm>
              <a:off x="1586409" y="2195512"/>
              <a:ext cx="294282"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Next.js</a:t>
              </a:r>
            </a:p>
          </p:txBody>
        </p:sp>
        <p:sp>
          <p:nvSpPr>
            <p:cNvPr id="22" name="Freeform 22"/>
            <p:cNvSpPr/>
            <p:nvPr/>
          </p:nvSpPr>
          <p:spPr>
            <a:xfrm>
              <a:off x="2190750" y="1824352"/>
              <a:ext cx="266701" cy="237530"/>
            </a:xfrm>
            <a:custGeom>
              <a:avLst/>
              <a:gdLst/>
              <a:ahLst/>
              <a:cxnLst/>
              <a:rect l="l" t="t" r="r" b="b"/>
              <a:pathLst>
                <a:path w="266701" h="237530">
                  <a:moveTo>
                    <a:pt x="158131" y="118793"/>
                  </a:moveTo>
                  <a:cubicBezTo>
                    <a:pt x="158131" y="132512"/>
                    <a:pt x="147013" y="143634"/>
                    <a:pt x="133295" y="143641"/>
                  </a:cubicBezTo>
                  <a:cubicBezTo>
                    <a:pt x="126705" y="143641"/>
                    <a:pt x="120385" y="141023"/>
                    <a:pt x="115725" y="136363"/>
                  </a:cubicBezTo>
                  <a:cubicBezTo>
                    <a:pt x="111065" y="131703"/>
                    <a:pt x="108447" y="125383"/>
                    <a:pt x="108447" y="118793"/>
                  </a:cubicBezTo>
                  <a:cubicBezTo>
                    <a:pt x="108447" y="105074"/>
                    <a:pt x="119565" y="93951"/>
                    <a:pt x="133284" y="93945"/>
                  </a:cubicBezTo>
                  <a:cubicBezTo>
                    <a:pt x="139874" y="93945"/>
                    <a:pt x="146194" y="96563"/>
                    <a:pt x="150854" y="101223"/>
                  </a:cubicBezTo>
                  <a:cubicBezTo>
                    <a:pt x="155513" y="105883"/>
                    <a:pt x="158131" y="112203"/>
                    <a:pt x="158131" y="118793"/>
                  </a:cubicBezTo>
                  <a:close/>
                  <a:moveTo>
                    <a:pt x="187557" y="0"/>
                  </a:moveTo>
                  <a:cubicBezTo>
                    <a:pt x="172600" y="0"/>
                    <a:pt x="153031" y="10668"/>
                    <a:pt x="133239" y="29137"/>
                  </a:cubicBezTo>
                  <a:cubicBezTo>
                    <a:pt x="113459" y="10768"/>
                    <a:pt x="93879" y="222"/>
                    <a:pt x="78932" y="222"/>
                  </a:cubicBezTo>
                  <a:cubicBezTo>
                    <a:pt x="74376" y="222"/>
                    <a:pt x="70231" y="1256"/>
                    <a:pt x="66642" y="3312"/>
                  </a:cubicBezTo>
                  <a:cubicBezTo>
                    <a:pt x="51362" y="12124"/>
                    <a:pt x="47939" y="39583"/>
                    <a:pt x="55829" y="74043"/>
                  </a:cubicBezTo>
                  <a:cubicBezTo>
                    <a:pt x="22003" y="84489"/>
                    <a:pt x="0" y="101191"/>
                    <a:pt x="0" y="118793"/>
                  </a:cubicBezTo>
                  <a:cubicBezTo>
                    <a:pt x="0" y="136462"/>
                    <a:pt x="22114" y="153208"/>
                    <a:pt x="56040" y="163576"/>
                  </a:cubicBezTo>
                  <a:cubicBezTo>
                    <a:pt x="48217" y="198170"/>
                    <a:pt x="51707" y="225673"/>
                    <a:pt x="67020" y="234474"/>
                  </a:cubicBezTo>
                  <a:cubicBezTo>
                    <a:pt x="70576" y="236552"/>
                    <a:pt x="74687" y="237530"/>
                    <a:pt x="79266" y="237530"/>
                  </a:cubicBezTo>
                  <a:cubicBezTo>
                    <a:pt x="94212" y="237530"/>
                    <a:pt x="113792" y="226862"/>
                    <a:pt x="133584" y="208371"/>
                  </a:cubicBezTo>
                  <a:cubicBezTo>
                    <a:pt x="153364" y="226751"/>
                    <a:pt x="172944" y="237297"/>
                    <a:pt x="187891" y="237297"/>
                  </a:cubicBezTo>
                  <a:cubicBezTo>
                    <a:pt x="192447" y="237297"/>
                    <a:pt x="196592" y="236297"/>
                    <a:pt x="200181" y="234241"/>
                  </a:cubicBezTo>
                  <a:cubicBezTo>
                    <a:pt x="215450" y="225440"/>
                    <a:pt x="218884" y="197981"/>
                    <a:pt x="210994" y="163510"/>
                  </a:cubicBezTo>
                  <a:cubicBezTo>
                    <a:pt x="244698" y="153153"/>
                    <a:pt x="266701" y="136417"/>
                    <a:pt x="266701" y="118793"/>
                  </a:cubicBezTo>
                  <a:cubicBezTo>
                    <a:pt x="266701" y="101124"/>
                    <a:pt x="244587" y="84377"/>
                    <a:pt x="210660" y="73987"/>
                  </a:cubicBezTo>
                  <a:cubicBezTo>
                    <a:pt x="218483" y="39427"/>
                    <a:pt x="214994" y="11902"/>
                    <a:pt x="199681" y="3089"/>
                  </a:cubicBezTo>
                  <a:cubicBezTo>
                    <a:pt x="196147" y="1045"/>
                    <a:pt x="192036" y="11"/>
                    <a:pt x="187546" y="0"/>
                  </a:cubicBezTo>
                  <a:close/>
                  <a:moveTo>
                    <a:pt x="187502" y="12113"/>
                  </a:moveTo>
                  <a:lnTo>
                    <a:pt x="187502" y="12179"/>
                  </a:lnTo>
                  <a:cubicBezTo>
                    <a:pt x="190002" y="12179"/>
                    <a:pt x="192013" y="12668"/>
                    <a:pt x="193703" y="13591"/>
                  </a:cubicBezTo>
                  <a:cubicBezTo>
                    <a:pt x="201103" y="17836"/>
                    <a:pt x="204315" y="33982"/>
                    <a:pt x="201815" y="54751"/>
                  </a:cubicBezTo>
                  <a:cubicBezTo>
                    <a:pt x="201215" y="59863"/>
                    <a:pt x="200237" y="65253"/>
                    <a:pt x="199037" y="70753"/>
                  </a:cubicBezTo>
                  <a:cubicBezTo>
                    <a:pt x="188369" y="68131"/>
                    <a:pt x="176745" y="66120"/>
                    <a:pt x="164510" y="64819"/>
                  </a:cubicBezTo>
                  <a:cubicBezTo>
                    <a:pt x="157176" y="54763"/>
                    <a:pt x="149564" y="45628"/>
                    <a:pt x="141896" y="37627"/>
                  </a:cubicBezTo>
                  <a:cubicBezTo>
                    <a:pt x="159587" y="21180"/>
                    <a:pt x="176200" y="12157"/>
                    <a:pt x="187513" y="12124"/>
                  </a:cubicBezTo>
                  <a:close/>
                  <a:moveTo>
                    <a:pt x="78932" y="12335"/>
                  </a:moveTo>
                  <a:cubicBezTo>
                    <a:pt x="90178" y="12335"/>
                    <a:pt x="106869" y="21314"/>
                    <a:pt x="124605" y="37671"/>
                  </a:cubicBezTo>
                  <a:cubicBezTo>
                    <a:pt x="116982" y="45673"/>
                    <a:pt x="109381" y="54751"/>
                    <a:pt x="102158" y="64808"/>
                  </a:cubicBezTo>
                  <a:cubicBezTo>
                    <a:pt x="89856" y="66108"/>
                    <a:pt x="78221" y="68120"/>
                    <a:pt x="67564" y="70787"/>
                  </a:cubicBezTo>
                  <a:cubicBezTo>
                    <a:pt x="66320" y="65342"/>
                    <a:pt x="65397" y="60074"/>
                    <a:pt x="64742" y="55007"/>
                  </a:cubicBezTo>
                  <a:cubicBezTo>
                    <a:pt x="62186" y="34249"/>
                    <a:pt x="65342" y="18113"/>
                    <a:pt x="72676" y="13813"/>
                  </a:cubicBezTo>
                  <a:cubicBezTo>
                    <a:pt x="74787" y="12813"/>
                    <a:pt x="77121" y="12402"/>
                    <a:pt x="78932" y="12346"/>
                  </a:cubicBezTo>
                  <a:close/>
                  <a:moveTo>
                    <a:pt x="133184" y="46228"/>
                  </a:moveTo>
                  <a:cubicBezTo>
                    <a:pt x="138240" y="51429"/>
                    <a:pt x="143296" y="57252"/>
                    <a:pt x="148297" y="63608"/>
                  </a:cubicBezTo>
                  <a:cubicBezTo>
                    <a:pt x="143407" y="63386"/>
                    <a:pt x="138407" y="63230"/>
                    <a:pt x="133350" y="63230"/>
                  </a:cubicBezTo>
                  <a:cubicBezTo>
                    <a:pt x="128239" y="63230"/>
                    <a:pt x="123182" y="63341"/>
                    <a:pt x="118237" y="63608"/>
                  </a:cubicBezTo>
                  <a:cubicBezTo>
                    <a:pt x="123127" y="57252"/>
                    <a:pt x="128183" y="51429"/>
                    <a:pt x="133184" y="46217"/>
                  </a:cubicBezTo>
                  <a:close/>
                  <a:moveTo>
                    <a:pt x="133350" y="75410"/>
                  </a:moveTo>
                  <a:cubicBezTo>
                    <a:pt x="141574" y="75410"/>
                    <a:pt x="149764" y="75787"/>
                    <a:pt x="157820" y="76443"/>
                  </a:cubicBezTo>
                  <a:cubicBezTo>
                    <a:pt x="162332" y="82911"/>
                    <a:pt x="166732" y="89811"/>
                    <a:pt x="170966" y="97112"/>
                  </a:cubicBezTo>
                  <a:cubicBezTo>
                    <a:pt x="175100" y="104224"/>
                    <a:pt x="178856" y="111448"/>
                    <a:pt x="182279" y="118737"/>
                  </a:cubicBezTo>
                  <a:cubicBezTo>
                    <a:pt x="178856" y="126016"/>
                    <a:pt x="175100" y="133295"/>
                    <a:pt x="171022" y="140407"/>
                  </a:cubicBezTo>
                  <a:cubicBezTo>
                    <a:pt x="166799" y="147741"/>
                    <a:pt x="162432" y="154720"/>
                    <a:pt x="157909" y="161187"/>
                  </a:cubicBezTo>
                  <a:cubicBezTo>
                    <a:pt x="149819" y="161887"/>
                    <a:pt x="141618" y="162276"/>
                    <a:pt x="133350" y="162276"/>
                  </a:cubicBezTo>
                  <a:cubicBezTo>
                    <a:pt x="125127" y="162276"/>
                    <a:pt x="116937" y="161887"/>
                    <a:pt x="108881" y="161243"/>
                  </a:cubicBezTo>
                  <a:cubicBezTo>
                    <a:pt x="104369" y="154775"/>
                    <a:pt x="99968" y="147863"/>
                    <a:pt x="95734" y="140574"/>
                  </a:cubicBezTo>
                  <a:cubicBezTo>
                    <a:pt x="91601" y="133462"/>
                    <a:pt x="87845" y="126238"/>
                    <a:pt x="84422" y="118949"/>
                  </a:cubicBezTo>
                  <a:cubicBezTo>
                    <a:pt x="87789" y="111648"/>
                    <a:pt x="91601" y="104358"/>
                    <a:pt x="95679" y="97235"/>
                  </a:cubicBezTo>
                  <a:cubicBezTo>
                    <a:pt x="99902" y="89900"/>
                    <a:pt x="104269" y="82944"/>
                    <a:pt x="108792" y="76476"/>
                  </a:cubicBezTo>
                  <a:cubicBezTo>
                    <a:pt x="116882" y="75765"/>
                    <a:pt x="125083" y="75387"/>
                    <a:pt x="133350" y="75387"/>
                  </a:cubicBezTo>
                  <a:close/>
                  <a:moveTo>
                    <a:pt x="92956" y="78232"/>
                  </a:moveTo>
                  <a:cubicBezTo>
                    <a:pt x="90289" y="82422"/>
                    <a:pt x="87622" y="86711"/>
                    <a:pt x="85133" y="91123"/>
                  </a:cubicBezTo>
                  <a:cubicBezTo>
                    <a:pt x="82633" y="95457"/>
                    <a:pt x="80299" y="99813"/>
                    <a:pt x="78077" y="104169"/>
                  </a:cubicBezTo>
                  <a:cubicBezTo>
                    <a:pt x="75132" y="96879"/>
                    <a:pt x="72632" y="89611"/>
                    <a:pt x="70565" y="82533"/>
                  </a:cubicBezTo>
                  <a:cubicBezTo>
                    <a:pt x="77677" y="80866"/>
                    <a:pt x="85178" y="79388"/>
                    <a:pt x="92956" y="78243"/>
                  </a:cubicBezTo>
                  <a:close/>
                  <a:moveTo>
                    <a:pt x="173633" y="78232"/>
                  </a:moveTo>
                  <a:cubicBezTo>
                    <a:pt x="181357" y="79377"/>
                    <a:pt x="188802" y="80788"/>
                    <a:pt x="195925" y="82533"/>
                  </a:cubicBezTo>
                  <a:cubicBezTo>
                    <a:pt x="193925" y="89556"/>
                    <a:pt x="191424" y="96779"/>
                    <a:pt x="188591" y="104013"/>
                  </a:cubicBezTo>
                  <a:cubicBezTo>
                    <a:pt x="186368" y="99679"/>
                    <a:pt x="184035" y="95312"/>
                    <a:pt x="181479" y="90967"/>
                  </a:cubicBezTo>
                  <a:cubicBezTo>
                    <a:pt x="178978" y="86611"/>
                    <a:pt x="176311" y="82366"/>
                    <a:pt x="173644" y="78232"/>
                  </a:cubicBezTo>
                  <a:close/>
                  <a:moveTo>
                    <a:pt x="207671" y="85733"/>
                  </a:moveTo>
                  <a:cubicBezTo>
                    <a:pt x="213049" y="87400"/>
                    <a:pt x="218161" y="89256"/>
                    <a:pt x="222951" y="91267"/>
                  </a:cubicBezTo>
                  <a:cubicBezTo>
                    <a:pt x="242198" y="99490"/>
                    <a:pt x="254644" y="110247"/>
                    <a:pt x="254644" y="118782"/>
                  </a:cubicBezTo>
                  <a:cubicBezTo>
                    <a:pt x="254588" y="127316"/>
                    <a:pt x="242142" y="138118"/>
                    <a:pt x="222895" y="146285"/>
                  </a:cubicBezTo>
                  <a:cubicBezTo>
                    <a:pt x="218228" y="148286"/>
                    <a:pt x="213116" y="150086"/>
                    <a:pt x="207838" y="151764"/>
                  </a:cubicBezTo>
                  <a:cubicBezTo>
                    <a:pt x="204726" y="141118"/>
                    <a:pt x="200659" y="130028"/>
                    <a:pt x="195614" y="118649"/>
                  </a:cubicBezTo>
                  <a:cubicBezTo>
                    <a:pt x="200615" y="107347"/>
                    <a:pt x="204615" y="96312"/>
                    <a:pt x="207671" y="85711"/>
                  </a:cubicBezTo>
                  <a:close/>
                  <a:moveTo>
                    <a:pt x="58819" y="85778"/>
                  </a:moveTo>
                  <a:cubicBezTo>
                    <a:pt x="61908" y="96446"/>
                    <a:pt x="65986" y="107525"/>
                    <a:pt x="71042" y="118893"/>
                  </a:cubicBezTo>
                  <a:cubicBezTo>
                    <a:pt x="66042" y="130194"/>
                    <a:pt x="62019" y="141229"/>
                    <a:pt x="58974" y="151831"/>
                  </a:cubicBezTo>
                  <a:cubicBezTo>
                    <a:pt x="53596" y="150164"/>
                    <a:pt x="48484" y="148297"/>
                    <a:pt x="43750" y="146274"/>
                  </a:cubicBezTo>
                  <a:cubicBezTo>
                    <a:pt x="24503" y="138084"/>
                    <a:pt x="12057" y="127316"/>
                    <a:pt x="12057" y="118782"/>
                  </a:cubicBezTo>
                  <a:cubicBezTo>
                    <a:pt x="12057" y="110247"/>
                    <a:pt x="24503" y="99424"/>
                    <a:pt x="43750" y="91267"/>
                  </a:cubicBezTo>
                  <a:cubicBezTo>
                    <a:pt x="48417" y="89267"/>
                    <a:pt x="53529" y="87467"/>
                    <a:pt x="58819" y="85778"/>
                  </a:cubicBezTo>
                  <a:close/>
                  <a:moveTo>
                    <a:pt x="188591" y="133339"/>
                  </a:moveTo>
                  <a:cubicBezTo>
                    <a:pt x="191536" y="140640"/>
                    <a:pt x="194036" y="147919"/>
                    <a:pt x="196103" y="154986"/>
                  </a:cubicBezTo>
                  <a:cubicBezTo>
                    <a:pt x="188991" y="156731"/>
                    <a:pt x="181479" y="158209"/>
                    <a:pt x="173700" y="159320"/>
                  </a:cubicBezTo>
                  <a:cubicBezTo>
                    <a:pt x="176367" y="155153"/>
                    <a:pt x="179034" y="150853"/>
                    <a:pt x="181534" y="146452"/>
                  </a:cubicBezTo>
                  <a:cubicBezTo>
                    <a:pt x="184035" y="142118"/>
                    <a:pt x="186368" y="137695"/>
                    <a:pt x="188602" y="133339"/>
                  </a:cubicBezTo>
                  <a:close/>
                  <a:moveTo>
                    <a:pt x="78077" y="133562"/>
                  </a:moveTo>
                  <a:cubicBezTo>
                    <a:pt x="80299" y="137918"/>
                    <a:pt x="82633" y="142263"/>
                    <a:pt x="85189" y="146619"/>
                  </a:cubicBezTo>
                  <a:cubicBezTo>
                    <a:pt x="87745" y="150953"/>
                    <a:pt x="90356" y="155198"/>
                    <a:pt x="93023" y="159320"/>
                  </a:cubicBezTo>
                  <a:cubicBezTo>
                    <a:pt x="85300" y="158187"/>
                    <a:pt x="77854" y="156764"/>
                    <a:pt x="70731" y="155031"/>
                  </a:cubicBezTo>
                  <a:cubicBezTo>
                    <a:pt x="72732" y="148030"/>
                    <a:pt x="75243" y="140785"/>
                    <a:pt x="78066" y="133550"/>
                  </a:cubicBezTo>
                  <a:close/>
                  <a:moveTo>
                    <a:pt x="199137" y="166755"/>
                  </a:moveTo>
                  <a:cubicBezTo>
                    <a:pt x="200381" y="172233"/>
                    <a:pt x="201359" y="177512"/>
                    <a:pt x="201959" y="182568"/>
                  </a:cubicBezTo>
                  <a:cubicBezTo>
                    <a:pt x="204515" y="203326"/>
                    <a:pt x="201359" y="219461"/>
                    <a:pt x="194025" y="223773"/>
                  </a:cubicBezTo>
                  <a:cubicBezTo>
                    <a:pt x="192391" y="224773"/>
                    <a:pt x="190269" y="225195"/>
                    <a:pt x="187768" y="225195"/>
                  </a:cubicBezTo>
                  <a:cubicBezTo>
                    <a:pt x="176523" y="225195"/>
                    <a:pt x="159832" y="216228"/>
                    <a:pt x="142096" y="199859"/>
                  </a:cubicBezTo>
                  <a:cubicBezTo>
                    <a:pt x="149719" y="191858"/>
                    <a:pt x="157320" y="182790"/>
                    <a:pt x="164543" y="172744"/>
                  </a:cubicBezTo>
                  <a:cubicBezTo>
                    <a:pt x="176845" y="171433"/>
                    <a:pt x="188480" y="169411"/>
                    <a:pt x="199137" y="166744"/>
                  </a:cubicBezTo>
                  <a:close/>
                  <a:moveTo>
                    <a:pt x="67675" y="166866"/>
                  </a:moveTo>
                  <a:cubicBezTo>
                    <a:pt x="78343" y="169466"/>
                    <a:pt x="89967" y="171477"/>
                    <a:pt x="102202" y="172778"/>
                  </a:cubicBezTo>
                  <a:cubicBezTo>
                    <a:pt x="109536" y="182834"/>
                    <a:pt x="117148" y="191969"/>
                    <a:pt x="124816" y="199959"/>
                  </a:cubicBezTo>
                  <a:cubicBezTo>
                    <a:pt x="107091" y="216439"/>
                    <a:pt x="90456" y="225462"/>
                    <a:pt x="79143" y="225462"/>
                  </a:cubicBezTo>
                  <a:cubicBezTo>
                    <a:pt x="76699" y="225407"/>
                    <a:pt x="74632" y="224907"/>
                    <a:pt x="72998" y="223995"/>
                  </a:cubicBezTo>
                  <a:cubicBezTo>
                    <a:pt x="65597" y="219773"/>
                    <a:pt x="62386" y="203615"/>
                    <a:pt x="64886" y="182846"/>
                  </a:cubicBezTo>
                  <a:cubicBezTo>
                    <a:pt x="65486" y="177734"/>
                    <a:pt x="66464" y="172355"/>
                    <a:pt x="67664" y="166866"/>
                  </a:cubicBezTo>
                  <a:close/>
                  <a:moveTo>
                    <a:pt x="118348" y="173978"/>
                  </a:moveTo>
                  <a:cubicBezTo>
                    <a:pt x="123238" y="174200"/>
                    <a:pt x="128239" y="174356"/>
                    <a:pt x="133295" y="174356"/>
                  </a:cubicBezTo>
                  <a:cubicBezTo>
                    <a:pt x="138407" y="174356"/>
                    <a:pt x="143463" y="174244"/>
                    <a:pt x="148408" y="173978"/>
                  </a:cubicBezTo>
                  <a:cubicBezTo>
                    <a:pt x="143518" y="180334"/>
                    <a:pt x="138462" y="186146"/>
                    <a:pt x="133462" y="191369"/>
                  </a:cubicBezTo>
                  <a:cubicBezTo>
                    <a:pt x="128405" y="186146"/>
                    <a:pt x="123349" y="180334"/>
                    <a:pt x="118348" y="173978"/>
                  </a:cubicBezTo>
                  <a:close/>
                </a:path>
              </a:pathLst>
            </a:custGeom>
            <a:solidFill>
              <a:srgbClr val="1D2939"/>
            </a:solidFill>
            <a:ln>
              <a:noFill/>
            </a:ln>
          </p:spPr>
        </p:sp>
        <p:sp>
          <p:nvSpPr>
            <p:cNvPr id="23" name="TextBox 23"/>
            <p:cNvSpPr txBox="1"/>
            <p:nvPr/>
          </p:nvSpPr>
          <p:spPr>
            <a:xfrm>
              <a:off x="2203062" y="2195512"/>
              <a:ext cx="242076"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React</a:t>
              </a:r>
            </a:p>
          </p:txBody>
        </p:sp>
        <p:sp>
          <p:nvSpPr>
            <p:cNvPr id="24" name="Freeform 24"/>
            <p:cNvSpPr/>
            <p:nvPr/>
          </p:nvSpPr>
          <p:spPr>
            <a:xfrm>
              <a:off x="2781311" y="1863090"/>
              <a:ext cx="266701" cy="160020"/>
            </a:xfrm>
            <a:custGeom>
              <a:avLst/>
              <a:gdLst/>
              <a:ahLst/>
              <a:cxnLst/>
              <a:rect l="l" t="t" r="r" b="b"/>
              <a:pathLst>
                <a:path w="266701" h="160020">
                  <a:moveTo>
                    <a:pt x="133350" y="0"/>
                  </a:moveTo>
                  <a:cubicBezTo>
                    <a:pt x="97790" y="0"/>
                    <a:pt x="75565" y="17780"/>
                    <a:pt x="66675" y="53340"/>
                  </a:cubicBezTo>
                  <a:cubicBezTo>
                    <a:pt x="80010" y="35560"/>
                    <a:pt x="95568" y="28893"/>
                    <a:pt x="113348" y="33338"/>
                  </a:cubicBezTo>
                  <a:cubicBezTo>
                    <a:pt x="123494" y="35871"/>
                    <a:pt x="130739" y="43228"/>
                    <a:pt x="138773" y="51384"/>
                  </a:cubicBezTo>
                  <a:cubicBezTo>
                    <a:pt x="151853" y="64653"/>
                    <a:pt x="166977" y="80010"/>
                    <a:pt x="200026" y="80010"/>
                  </a:cubicBezTo>
                  <a:cubicBezTo>
                    <a:pt x="235586" y="80010"/>
                    <a:pt x="257811" y="62230"/>
                    <a:pt x="266701" y="26670"/>
                  </a:cubicBezTo>
                  <a:cubicBezTo>
                    <a:pt x="253366" y="44450"/>
                    <a:pt x="237808" y="51118"/>
                    <a:pt x="220028" y="46673"/>
                  </a:cubicBezTo>
                  <a:cubicBezTo>
                    <a:pt x="209882" y="44139"/>
                    <a:pt x="202637" y="36782"/>
                    <a:pt x="194603" y="28626"/>
                  </a:cubicBezTo>
                  <a:cubicBezTo>
                    <a:pt x="181534" y="15358"/>
                    <a:pt x="166410" y="0"/>
                    <a:pt x="133350" y="0"/>
                  </a:cubicBezTo>
                  <a:close/>
                  <a:moveTo>
                    <a:pt x="66675" y="80010"/>
                  </a:moveTo>
                  <a:cubicBezTo>
                    <a:pt x="31115" y="80010"/>
                    <a:pt x="8890" y="97790"/>
                    <a:pt x="0" y="133350"/>
                  </a:cubicBezTo>
                  <a:cubicBezTo>
                    <a:pt x="13335" y="115570"/>
                    <a:pt x="28893" y="108903"/>
                    <a:pt x="46673" y="113348"/>
                  </a:cubicBezTo>
                  <a:cubicBezTo>
                    <a:pt x="56818" y="115881"/>
                    <a:pt x="64064" y="123238"/>
                    <a:pt x="72098" y="131395"/>
                  </a:cubicBezTo>
                  <a:cubicBezTo>
                    <a:pt x="85178" y="144663"/>
                    <a:pt x="100302" y="160020"/>
                    <a:pt x="133350" y="160020"/>
                  </a:cubicBezTo>
                  <a:cubicBezTo>
                    <a:pt x="168910" y="160020"/>
                    <a:pt x="191136" y="142240"/>
                    <a:pt x="200026" y="106680"/>
                  </a:cubicBezTo>
                  <a:cubicBezTo>
                    <a:pt x="186691" y="124460"/>
                    <a:pt x="171133" y="131128"/>
                    <a:pt x="153353" y="126683"/>
                  </a:cubicBezTo>
                  <a:cubicBezTo>
                    <a:pt x="143207" y="124149"/>
                    <a:pt x="135962" y="116793"/>
                    <a:pt x="127927" y="108636"/>
                  </a:cubicBezTo>
                  <a:cubicBezTo>
                    <a:pt x="114859" y="95368"/>
                    <a:pt x="99735" y="80010"/>
                    <a:pt x="66675" y="80010"/>
                  </a:cubicBezTo>
                  <a:close/>
                </a:path>
              </a:pathLst>
            </a:custGeom>
            <a:solidFill>
              <a:srgbClr val="1D2939"/>
            </a:solidFill>
            <a:ln>
              <a:noFill/>
            </a:ln>
          </p:spPr>
        </p:sp>
        <p:sp>
          <p:nvSpPr>
            <p:cNvPr id="25" name="TextBox 25"/>
            <p:cNvSpPr txBox="1"/>
            <p:nvPr/>
          </p:nvSpPr>
          <p:spPr>
            <a:xfrm>
              <a:off x="2735995" y="2195512"/>
              <a:ext cx="357309"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Tailwind</a:t>
              </a:r>
            </a:p>
          </p:txBody>
        </p:sp>
        <p:sp>
          <p:nvSpPr>
            <p:cNvPr id="26" name="Freeform 26"/>
            <p:cNvSpPr/>
            <p:nvPr/>
          </p:nvSpPr>
          <p:spPr>
            <a:xfrm>
              <a:off x="3371850" y="1809750"/>
              <a:ext cx="266701" cy="266701"/>
            </a:xfrm>
            <a:custGeom>
              <a:avLst/>
              <a:gdLst/>
              <a:ahLst/>
              <a:cxnLst/>
              <a:rect l="l" t="t" r="r" b="b"/>
              <a:pathLst>
                <a:path w="266701" h="266701">
                  <a:moveTo>
                    <a:pt x="133350" y="0"/>
                  </a:moveTo>
                  <a:cubicBezTo>
                    <a:pt x="59703" y="0"/>
                    <a:pt x="0" y="59703"/>
                    <a:pt x="0" y="133350"/>
                  </a:cubicBezTo>
                  <a:cubicBezTo>
                    <a:pt x="0" y="206998"/>
                    <a:pt x="59703" y="266701"/>
                    <a:pt x="133350" y="266701"/>
                  </a:cubicBezTo>
                  <a:cubicBezTo>
                    <a:pt x="206998" y="266701"/>
                    <a:pt x="266701" y="206998"/>
                    <a:pt x="266701" y="133350"/>
                  </a:cubicBezTo>
                  <a:cubicBezTo>
                    <a:pt x="266701" y="59703"/>
                    <a:pt x="206998" y="0"/>
                    <a:pt x="133350" y="0"/>
                  </a:cubicBezTo>
                  <a:close/>
                  <a:moveTo>
                    <a:pt x="133350" y="35449"/>
                  </a:moveTo>
                  <a:cubicBezTo>
                    <a:pt x="165988" y="35449"/>
                    <a:pt x="193036" y="60619"/>
                    <a:pt x="193036" y="91401"/>
                  </a:cubicBezTo>
                  <a:cubicBezTo>
                    <a:pt x="193036" y="137084"/>
                    <a:pt x="144541" y="176245"/>
                    <a:pt x="137084" y="181834"/>
                  </a:cubicBezTo>
                  <a:cubicBezTo>
                    <a:pt x="136151" y="181834"/>
                    <a:pt x="136151" y="182768"/>
                    <a:pt x="136151" y="182768"/>
                  </a:cubicBezTo>
                  <a:cubicBezTo>
                    <a:pt x="135217" y="183701"/>
                    <a:pt x="134284" y="183701"/>
                    <a:pt x="134284" y="183701"/>
                  </a:cubicBezTo>
                  <a:cubicBezTo>
                    <a:pt x="134284" y="183701"/>
                    <a:pt x="132417" y="183701"/>
                    <a:pt x="132417" y="182768"/>
                  </a:cubicBezTo>
                  <a:lnTo>
                    <a:pt x="131483" y="181834"/>
                  </a:lnTo>
                  <a:cubicBezTo>
                    <a:pt x="122149" y="176245"/>
                    <a:pt x="73665" y="138018"/>
                    <a:pt x="73665" y="91401"/>
                  </a:cubicBezTo>
                  <a:cubicBezTo>
                    <a:pt x="73665" y="60619"/>
                    <a:pt x="100713" y="35438"/>
                    <a:pt x="133350" y="35438"/>
                  </a:cubicBezTo>
                  <a:close/>
                  <a:moveTo>
                    <a:pt x="133350" y="64353"/>
                  </a:moveTo>
                  <a:cubicBezTo>
                    <a:pt x="117493" y="64353"/>
                    <a:pt x="104436" y="77388"/>
                    <a:pt x="104436" y="94179"/>
                  </a:cubicBezTo>
                  <a:cubicBezTo>
                    <a:pt x="104436" y="110959"/>
                    <a:pt x="117493" y="124016"/>
                    <a:pt x="133350" y="124016"/>
                  </a:cubicBezTo>
                  <a:cubicBezTo>
                    <a:pt x="149208" y="124016"/>
                    <a:pt x="162265" y="110959"/>
                    <a:pt x="162265" y="94179"/>
                  </a:cubicBezTo>
                  <a:cubicBezTo>
                    <a:pt x="162265" y="77399"/>
                    <a:pt x="149208" y="64342"/>
                    <a:pt x="133350" y="64342"/>
                  </a:cubicBezTo>
                  <a:close/>
                  <a:moveTo>
                    <a:pt x="99779" y="192102"/>
                  </a:moveTo>
                  <a:lnTo>
                    <a:pt x="166921" y="192102"/>
                  </a:lnTo>
                  <a:cubicBezTo>
                    <a:pt x="168909" y="192072"/>
                    <a:pt x="170824" y="192850"/>
                    <a:pt x="172228" y="194257"/>
                  </a:cubicBezTo>
                  <a:cubicBezTo>
                    <a:pt x="173631" y="195665"/>
                    <a:pt x="174403" y="197582"/>
                    <a:pt x="174367" y="199570"/>
                  </a:cubicBezTo>
                  <a:lnTo>
                    <a:pt x="174367" y="221951"/>
                  </a:lnTo>
                  <a:cubicBezTo>
                    <a:pt x="174397" y="223934"/>
                    <a:pt x="173622" y="225846"/>
                    <a:pt x="172219" y="227249"/>
                  </a:cubicBezTo>
                  <a:cubicBezTo>
                    <a:pt x="170817" y="228652"/>
                    <a:pt x="168905" y="229426"/>
                    <a:pt x="166921" y="229396"/>
                  </a:cubicBezTo>
                  <a:lnTo>
                    <a:pt x="99791" y="229396"/>
                  </a:lnTo>
                  <a:cubicBezTo>
                    <a:pt x="97807" y="229426"/>
                    <a:pt x="95895" y="228652"/>
                    <a:pt x="94492" y="227249"/>
                  </a:cubicBezTo>
                  <a:cubicBezTo>
                    <a:pt x="93090" y="225846"/>
                    <a:pt x="92315" y="223934"/>
                    <a:pt x="92345" y="221951"/>
                  </a:cubicBezTo>
                  <a:lnTo>
                    <a:pt x="92345" y="199570"/>
                  </a:lnTo>
                  <a:cubicBezTo>
                    <a:pt x="92309" y="197582"/>
                    <a:pt x="93081" y="195665"/>
                    <a:pt x="94484" y="194257"/>
                  </a:cubicBezTo>
                  <a:cubicBezTo>
                    <a:pt x="95888" y="192850"/>
                    <a:pt x="97803" y="192072"/>
                    <a:pt x="99791" y="192102"/>
                  </a:cubicBezTo>
                  <a:close/>
                  <a:moveTo>
                    <a:pt x="108169" y="206082"/>
                  </a:moveTo>
                  <a:lnTo>
                    <a:pt x="108169" y="216350"/>
                  </a:lnTo>
                  <a:lnTo>
                    <a:pt x="157598" y="216350"/>
                  </a:lnTo>
                  <a:lnTo>
                    <a:pt x="157598" y="206082"/>
                  </a:lnTo>
                  <a:lnTo>
                    <a:pt x="108169" y="206082"/>
                  </a:lnTo>
                  <a:close/>
                </a:path>
              </a:pathLst>
            </a:custGeom>
            <a:solidFill>
              <a:srgbClr val="1D2939"/>
            </a:solidFill>
            <a:ln>
              <a:noFill/>
            </a:ln>
          </p:spPr>
        </p:sp>
        <p:sp>
          <p:nvSpPr>
            <p:cNvPr id="27" name="TextBox 27"/>
            <p:cNvSpPr txBox="1"/>
            <p:nvPr/>
          </p:nvSpPr>
          <p:spPr>
            <a:xfrm>
              <a:off x="3301748" y="2195512"/>
              <a:ext cx="406905"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MapLibre</a:t>
              </a:r>
            </a:p>
          </p:txBody>
        </p:sp>
        <p:sp>
          <p:nvSpPr>
            <p:cNvPr id="28" name="Rectangle 28"/>
            <p:cNvSpPr/>
            <p:nvPr/>
          </p:nvSpPr>
          <p:spPr>
            <a:xfrm>
              <a:off x="304800" y="2466975"/>
              <a:ext cx="3790950" cy="704850"/>
            </a:xfrm>
            <a:prstGeom prst="roundRect">
              <a:avLst>
                <a:gd name="adj" fmla="val 8108"/>
              </a:avLst>
            </a:prstGeom>
            <a:solidFill>
              <a:srgbClr val="FFFFFF"/>
            </a:solidFill>
            <a:ln w="9525">
              <a:solidFill>
                <a:srgbClr val="D0D5DD"/>
              </a:solidFill>
            </a:ln>
          </p:spPr>
        </p:sp>
        <p:sp>
          <p:nvSpPr>
            <p:cNvPr id="29" name="Rectangle 29"/>
            <p:cNvSpPr/>
            <p:nvPr/>
          </p:nvSpPr>
          <p:spPr>
            <a:xfrm>
              <a:off x="304800" y="2466975"/>
              <a:ext cx="47625" cy="704850"/>
            </a:xfrm>
            <a:prstGeom prst="rect">
              <a:avLst/>
            </a:prstGeom>
            <a:solidFill>
              <a:srgbClr val="0B3D6E"/>
            </a:solidFill>
            <a:ln>
              <a:noFill/>
            </a:ln>
          </p:spPr>
        </p:sp>
        <p:sp>
          <p:nvSpPr>
            <p:cNvPr id="30" name="TextBox 30"/>
            <p:cNvSpPr txBox="1"/>
            <p:nvPr/>
          </p:nvSpPr>
          <p:spPr>
            <a:xfrm>
              <a:off x="451866" y="2658428"/>
              <a:ext cx="407916" cy="205359"/>
            </a:xfrm>
            <a:prstGeom prst="rect">
              <a:avLst/>
            </a:prstGeom>
            <a:noFill/>
            <a:ln>
              <a:noFill/>
            </a:ln>
          </p:spPr>
          <p:txBody>
            <a:bodyPr wrap="none" lIns="0" tIns="0" rIns="0" bIns="0" anchor="t" anchorCtr="0">
              <a:spAutoFit/>
            </a:bodyPr>
            <a:lstStyle/>
            <a:p>
              <a:pPr algn="l"/>
              <a:r>
                <a:rPr lang="en-IN" sz="1050" b="1" dirty="0">
                  <a:solidFill>
                    <a:srgbClr val="0B3D6E"/>
                  </a:solidFill>
                  <a:latin typeface="Calibri"/>
                  <a:ea typeface="Calibri"/>
                  <a:cs typeface="Calibri"/>
                </a:rPr>
                <a:t>Engine</a:t>
              </a:r>
            </a:p>
          </p:txBody>
        </p:sp>
        <p:sp>
          <p:nvSpPr>
            <p:cNvPr id="31" name="TextBox 31"/>
            <p:cNvSpPr txBox="1"/>
            <p:nvPr/>
          </p:nvSpPr>
          <p:spPr>
            <a:xfrm>
              <a:off x="452438" y="2858214"/>
              <a:ext cx="550895" cy="154781"/>
            </a:xfrm>
            <a:prstGeom prst="rect">
              <a:avLst/>
            </a:prstGeom>
            <a:noFill/>
            <a:ln>
              <a:noFill/>
            </a:ln>
          </p:spPr>
          <p:txBody>
            <a:bodyPr wrap="none" lIns="0" tIns="0" rIns="0" bIns="0" anchor="t" anchorCtr="0">
              <a:spAutoFit/>
            </a:bodyPr>
            <a:lstStyle/>
            <a:p>
              <a:pPr algn="l"/>
              <a:r>
                <a:rPr lang="en-IN" sz="790" dirty="0">
                  <a:solidFill>
                    <a:srgbClr val="667085"/>
                  </a:solidFill>
                  <a:latin typeface="Calibri"/>
                  <a:ea typeface="Calibri"/>
                  <a:cs typeface="Calibri"/>
                </a:rPr>
                <a:t>API + agents</a:t>
              </a:r>
            </a:p>
          </p:txBody>
        </p:sp>
        <p:sp>
          <p:nvSpPr>
            <p:cNvPr id="32" name="Freeform 32"/>
            <p:cNvSpPr/>
            <p:nvPr/>
          </p:nvSpPr>
          <p:spPr>
            <a:xfrm>
              <a:off x="1599533" y="2571750"/>
              <a:ext cx="268034" cy="266701"/>
            </a:xfrm>
            <a:custGeom>
              <a:avLst/>
              <a:gdLst/>
              <a:ahLst/>
              <a:cxnLst/>
              <a:rect l="l" t="t" r="r" b="b"/>
              <a:pathLst>
                <a:path w="268034" h="266701">
                  <a:moveTo>
                    <a:pt x="159020" y="2000"/>
                  </a:moveTo>
                  <a:lnTo>
                    <a:pt x="169022" y="4223"/>
                  </a:lnTo>
                  <a:lnTo>
                    <a:pt x="177134" y="7112"/>
                  </a:lnTo>
                  <a:lnTo>
                    <a:pt x="183690" y="10446"/>
                  </a:lnTo>
                  <a:lnTo>
                    <a:pt x="188691" y="14002"/>
                  </a:lnTo>
                  <a:lnTo>
                    <a:pt x="192469" y="17780"/>
                  </a:lnTo>
                  <a:lnTo>
                    <a:pt x="195247" y="21558"/>
                  </a:lnTo>
                  <a:lnTo>
                    <a:pt x="197025" y="25225"/>
                  </a:lnTo>
                  <a:lnTo>
                    <a:pt x="198136" y="28559"/>
                  </a:lnTo>
                  <a:lnTo>
                    <a:pt x="198581" y="31448"/>
                  </a:lnTo>
                  <a:lnTo>
                    <a:pt x="198803" y="33671"/>
                  </a:lnTo>
                  <a:lnTo>
                    <a:pt x="198692" y="35116"/>
                  </a:lnTo>
                  <a:lnTo>
                    <a:pt x="198692" y="94457"/>
                  </a:lnTo>
                  <a:lnTo>
                    <a:pt x="198136" y="101457"/>
                  </a:lnTo>
                  <a:lnTo>
                    <a:pt x="196692" y="107569"/>
                  </a:lnTo>
                  <a:lnTo>
                    <a:pt x="194358" y="112681"/>
                  </a:lnTo>
                  <a:lnTo>
                    <a:pt x="191469" y="116904"/>
                  </a:lnTo>
                  <a:lnTo>
                    <a:pt x="188135" y="120349"/>
                  </a:lnTo>
                  <a:lnTo>
                    <a:pt x="184468" y="123127"/>
                  </a:lnTo>
                  <a:lnTo>
                    <a:pt x="180579" y="125238"/>
                  </a:lnTo>
                  <a:lnTo>
                    <a:pt x="176689" y="126794"/>
                  </a:lnTo>
                  <a:lnTo>
                    <a:pt x="173022" y="127905"/>
                  </a:lnTo>
                  <a:lnTo>
                    <a:pt x="169688" y="128683"/>
                  </a:lnTo>
                  <a:lnTo>
                    <a:pt x="166799" y="129128"/>
                  </a:lnTo>
                  <a:lnTo>
                    <a:pt x="164465" y="129350"/>
                  </a:lnTo>
                  <a:lnTo>
                    <a:pt x="98124" y="129350"/>
                  </a:lnTo>
                  <a:lnTo>
                    <a:pt x="90456" y="129905"/>
                  </a:lnTo>
                  <a:lnTo>
                    <a:pt x="83900" y="131461"/>
                  </a:lnTo>
                  <a:lnTo>
                    <a:pt x="78343" y="133906"/>
                  </a:lnTo>
                  <a:lnTo>
                    <a:pt x="73787" y="136906"/>
                  </a:lnTo>
                  <a:lnTo>
                    <a:pt x="70120" y="140462"/>
                  </a:lnTo>
                  <a:lnTo>
                    <a:pt x="67120" y="144352"/>
                  </a:lnTo>
                  <a:lnTo>
                    <a:pt x="64897" y="148352"/>
                  </a:lnTo>
                  <a:lnTo>
                    <a:pt x="63230" y="152464"/>
                  </a:lnTo>
                  <a:lnTo>
                    <a:pt x="62119" y="156353"/>
                  </a:lnTo>
                  <a:lnTo>
                    <a:pt x="61341" y="159909"/>
                  </a:lnTo>
                  <a:lnTo>
                    <a:pt x="60897" y="162910"/>
                  </a:lnTo>
                  <a:lnTo>
                    <a:pt x="60674" y="165243"/>
                  </a:lnTo>
                  <a:lnTo>
                    <a:pt x="60674" y="199248"/>
                  </a:lnTo>
                  <a:lnTo>
                    <a:pt x="35893" y="199248"/>
                  </a:lnTo>
                  <a:lnTo>
                    <a:pt x="33560" y="198914"/>
                  </a:lnTo>
                  <a:lnTo>
                    <a:pt x="30448" y="198136"/>
                  </a:lnTo>
                  <a:lnTo>
                    <a:pt x="26892" y="196803"/>
                  </a:lnTo>
                  <a:lnTo>
                    <a:pt x="23003" y="194803"/>
                  </a:lnTo>
                  <a:lnTo>
                    <a:pt x="19002" y="191913"/>
                  </a:lnTo>
                  <a:lnTo>
                    <a:pt x="15002" y="187913"/>
                  </a:lnTo>
                  <a:lnTo>
                    <a:pt x="11113" y="182801"/>
                  </a:lnTo>
                  <a:lnTo>
                    <a:pt x="7557" y="176245"/>
                  </a:lnTo>
                  <a:lnTo>
                    <a:pt x="4445" y="168133"/>
                  </a:lnTo>
                  <a:lnTo>
                    <a:pt x="2111" y="158354"/>
                  </a:lnTo>
                  <a:lnTo>
                    <a:pt x="556" y="146685"/>
                  </a:lnTo>
                  <a:lnTo>
                    <a:pt x="0" y="133017"/>
                  </a:lnTo>
                  <a:lnTo>
                    <a:pt x="667" y="119460"/>
                  </a:lnTo>
                  <a:lnTo>
                    <a:pt x="2445" y="107903"/>
                  </a:lnTo>
                  <a:lnTo>
                    <a:pt x="5112" y="98235"/>
                  </a:lnTo>
                  <a:lnTo>
                    <a:pt x="8668" y="90345"/>
                  </a:lnTo>
                  <a:lnTo>
                    <a:pt x="12668" y="84011"/>
                  </a:lnTo>
                  <a:lnTo>
                    <a:pt x="17113" y="79121"/>
                  </a:lnTo>
                  <a:lnTo>
                    <a:pt x="21781" y="75454"/>
                  </a:lnTo>
                  <a:lnTo>
                    <a:pt x="26448" y="72787"/>
                  </a:lnTo>
                  <a:lnTo>
                    <a:pt x="30893" y="71009"/>
                  </a:lnTo>
                  <a:lnTo>
                    <a:pt x="34893" y="69898"/>
                  </a:lnTo>
                  <a:lnTo>
                    <a:pt x="38449" y="69342"/>
                  </a:lnTo>
                  <a:lnTo>
                    <a:pt x="41116" y="69231"/>
                  </a:lnTo>
                  <a:lnTo>
                    <a:pt x="42894" y="69231"/>
                  </a:lnTo>
                  <a:lnTo>
                    <a:pt x="43561" y="69342"/>
                  </a:lnTo>
                  <a:lnTo>
                    <a:pt x="134239" y="69342"/>
                  </a:lnTo>
                  <a:lnTo>
                    <a:pt x="134239" y="60119"/>
                  </a:lnTo>
                  <a:lnTo>
                    <a:pt x="69342" y="60119"/>
                  </a:lnTo>
                  <a:lnTo>
                    <a:pt x="69231" y="29559"/>
                  </a:lnTo>
                  <a:lnTo>
                    <a:pt x="69009" y="25448"/>
                  </a:lnTo>
                  <a:lnTo>
                    <a:pt x="69564" y="21669"/>
                  </a:lnTo>
                  <a:lnTo>
                    <a:pt x="70787" y="18225"/>
                  </a:lnTo>
                  <a:lnTo>
                    <a:pt x="72676" y="15113"/>
                  </a:lnTo>
                  <a:lnTo>
                    <a:pt x="75454" y="12224"/>
                  </a:lnTo>
                  <a:lnTo>
                    <a:pt x="78899" y="9668"/>
                  </a:lnTo>
                  <a:lnTo>
                    <a:pt x="83122" y="7445"/>
                  </a:lnTo>
                  <a:lnTo>
                    <a:pt x="88011" y="5445"/>
                  </a:lnTo>
                  <a:lnTo>
                    <a:pt x="93679" y="3778"/>
                  </a:lnTo>
                  <a:lnTo>
                    <a:pt x="100124" y="2445"/>
                  </a:lnTo>
                  <a:lnTo>
                    <a:pt x="107236" y="1334"/>
                  </a:lnTo>
                  <a:lnTo>
                    <a:pt x="115126" y="667"/>
                  </a:lnTo>
                  <a:lnTo>
                    <a:pt x="123682" y="222"/>
                  </a:lnTo>
                  <a:lnTo>
                    <a:pt x="133017" y="0"/>
                  </a:lnTo>
                  <a:lnTo>
                    <a:pt x="147130" y="556"/>
                  </a:lnTo>
                  <a:close/>
                  <a:moveTo>
                    <a:pt x="89011" y="24003"/>
                  </a:moveTo>
                  <a:lnTo>
                    <a:pt x="86455" y="27670"/>
                  </a:lnTo>
                  <a:lnTo>
                    <a:pt x="85566" y="32226"/>
                  </a:lnTo>
                  <a:lnTo>
                    <a:pt x="86455" y="36782"/>
                  </a:lnTo>
                  <a:lnTo>
                    <a:pt x="89011" y="40561"/>
                  </a:lnTo>
                  <a:lnTo>
                    <a:pt x="92679" y="43005"/>
                  </a:lnTo>
                  <a:lnTo>
                    <a:pt x="97235" y="44006"/>
                  </a:lnTo>
                  <a:lnTo>
                    <a:pt x="101791" y="43005"/>
                  </a:lnTo>
                  <a:lnTo>
                    <a:pt x="105458" y="40561"/>
                  </a:lnTo>
                  <a:lnTo>
                    <a:pt x="108014" y="36782"/>
                  </a:lnTo>
                  <a:lnTo>
                    <a:pt x="108903" y="32226"/>
                  </a:lnTo>
                  <a:lnTo>
                    <a:pt x="108014" y="27670"/>
                  </a:lnTo>
                  <a:lnTo>
                    <a:pt x="105458" y="24003"/>
                  </a:lnTo>
                  <a:lnTo>
                    <a:pt x="101791" y="21558"/>
                  </a:lnTo>
                  <a:lnTo>
                    <a:pt x="97235" y="20558"/>
                  </a:lnTo>
                  <a:lnTo>
                    <a:pt x="92679" y="21558"/>
                  </a:lnTo>
                  <a:close/>
                  <a:moveTo>
                    <a:pt x="234474" y="67898"/>
                  </a:moveTo>
                  <a:lnTo>
                    <a:pt x="237586" y="68564"/>
                  </a:lnTo>
                  <a:lnTo>
                    <a:pt x="241142" y="69898"/>
                  </a:lnTo>
                  <a:lnTo>
                    <a:pt x="245031" y="71898"/>
                  </a:lnTo>
                  <a:lnTo>
                    <a:pt x="249032" y="74898"/>
                  </a:lnTo>
                  <a:lnTo>
                    <a:pt x="253032" y="78788"/>
                  </a:lnTo>
                  <a:lnTo>
                    <a:pt x="256922" y="84011"/>
                  </a:lnTo>
                  <a:lnTo>
                    <a:pt x="260478" y="90567"/>
                  </a:lnTo>
                  <a:lnTo>
                    <a:pt x="263589" y="98679"/>
                  </a:lnTo>
                  <a:lnTo>
                    <a:pt x="265923" y="108458"/>
                  </a:lnTo>
                  <a:lnTo>
                    <a:pt x="267479" y="120015"/>
                  </a:lnTo>
                  <a:lnTo>
                    <a:pt x="268034" y="133684"/>
                  </a:lnTo>
                  <a:lnTo>
                    <a:pt x="267368" y="147352"/>
                  </a:lnTo>
                  <a:lnTo>
                    <a:pt x="265590" y="158909"/>
                  </a:lnTo>
                  <a:lnTo>
                    <a:pt x="262923" y="168466"/>
                  </a:lnTo>
                  <a:lnTo>
                    <a:pt x="259366" y="176356"/>
                  </a:lnTo>
                  <a:lnTo>
                    <a:pt x="255366" y="182690"/>
                  </a:lnTo>
                  <a:lnTo>
                    <a:pt x="250921" y="187691"/>
                  </a:lnTo>
                  <a:lnTo>
                    <a:pt x="246254" y="191358"/>
                  </a:lnTo>
                  <a:lnTo>
                    <a:pt x="241586" y="194025"/>
                  </a:lnTo>
                  <a:lnTo>
                    <a:pt x="237141" y="195803"/>
                  </a:lnTo>
                  <a:lnTo>
                    <a:pt x="233141" y="196803"/>
                  </a:lnTo>
                  <a:lnTo>
                    <a:pt x="229585" y="197359"/>
                  </a:lnTo>
                  <a:lnTo>
                    <a:pt x="226918" y="197581"/>
                  </a:lnTo>
                  <a:lnTo>
                    <a:pt x="225140" y="197470"/>
                  </a:lnTo>
                  <a:lnTo>
                    <a:pt x="133795" y="197470"/>
                  </a:lnTo>
                  <a:lnTo>
                    <a:pt x="133795" y="206582"/>
                  </a:lnTo>
                  <a:lnTo>
                    <a:pt x="198692" y="206582"/>
                  </a:lnTo>
                  <a:lnTo>
                    <a:pt x="198803" y="237253"/>
                  </a:lnTo>
                  <a:lnTo>
                    <a:pt x="199025" y="241253"/>
                  </a:lnTo>
                  <a:lnTo>
                    <a:pt x="198470" y="245031"/>
                  </a:lnTo>
                  <a:lnTo>
                    <a:pt x="197247" y="248476"/>
                  </a:lnTo>
                  <a:lnTo>
                    <a:pt x="195358" y="251699"/>
                  </a:lnTo>
                  <a:lnTo>
                    <a:pt x="192580" y="254477"/>
                  </a:lnTo>
                  <a:lnTo>
                    <a:pt x="189135" y="257144"/>
                  </a:lnTo>
                  <a:lnTo>
                    <a:pt x="184913" y="259366"/>
                  </a:lnTo>
                  <a:lnTo>
                    <a:pt x="180023" y="261256"/>
                  </a:lnTo>
                  <a:lnTo>
                    <a:pt x="174356" y="262923"/>
                  </a:lnTo>
                  <a:lnTo>
                    <a:pt x="167910" y="264367"/>
                  </a:lnTo>
                  <a:lnTo>
                    <a:pt x="160798" y="265367"/>
                  </a:lnTo>
                  <a:lnTo>
                    <a:pt x="152908" y="266145"/>
                  </a:lnTo>
                  <a:lnTo>
                    <a:pt x="144352" y="266590"/>
                  </a:lnTo>
                  <a:lnTo>
                    <a:pt x="135017" y="266701"/>
                  </a:lnTo>
                  <a:lnTo>
                    <a:pt x="120904" y="266256"/>
                  </a:lnTo>
                  <a:lnTo>
                    <a:pt x="109014" y="264701"/>
                  </a:lnTo>
                  <a:lnTo>
                    <a:pt x="99013" y="262478"/>
                  </a:lnTo>
                  <a:lnTo>
                    <a:pt x="90901" y="259700"/>
                  </a:lnTo>
                  <a:lnTo>
                    <a:pt x="84344" y="256366"/>
                  </a:lnTo>
                  <a:lnTo>
                    <a:pt x="79343" y="252699"/>
                  </a:lnTo>
                  <a:lnTo>
                    <a:pt x="75565" y="248921"/>
                  </a:lnTo>
                  <a:lnTo>
                    <a:pt x="72787" y="245142"/>
                  </a:lnTo>
                  <a:lnTo>
                    <a:pt x="71009" y="241475"/>
                  </a:lnTo>
                  <a:lnTo>
                    <a:pt x="69898" y="238142"/>
                  </a:lnTo>
                  <a:lnTo>
                    <a:pt x="69453" y="235363"/>
                  </a:lnTo>
                  <a:lnTo>
                    <a:pt x="69231" y="233141"/>
                  </a:lnTo>
                  <a:lnTo>
                    <a:pt x="69342" y="231696"/>
                  </a:lnTo>
                  <a:lnTo>
                    <a:pt x="69342" y="172355"/>
                  </a:lnTo>
                  <a:lnTo>
                    <a:pt x="69898" y="165243"/>
                  </a:lnTo>
                  <a:lnTo>
                    <a:pt x="71342" y="159243"/>
                  </a:lnTo>
                  <a:lnTo>
                    <a:pt x="73676" y="154131"/>
                  </a:lnTo>
                  <a:lnTo>
                    <a:pt x="76565" y="149908"/>
                  </a:lnTo>
                  <a:lnTo>
                    <a:pt x="79899" y="146352"/>
                  </a:lnTo>
                  <a:lnTo>
                    <a:pt x="83566" y="143685"/>
                  </a:lnTo>
                  <a:lnTo>
                    <a:pt x="87456" y="141463"/>
                  </a:lnTo>
                  <a:lnTo>
                    <a:pt x="91345" y="139907"/>
                  </a:lnTo>
                  <a:lnTo>
                    <a:pt x="95012" y="138796"/>
                  </a:lnTo>
                  <a:lnTo>
                    <a:pt x="98346" y="138129"/>
                  </a:lnTo>
                  <a:lnTo>
                    <a:pt x="101235" y="137684"/>
                  </a:lnTo>
                  <a:lnTo>
                    <a:pt x="103569" y="137462"/>
                  </a:lnTo>
                  <a:lnTo>
                    <a:pt x="105013" y="137351"/>
                  </a:lnTo>
                  <a:lnTo>
                    <a:pt x="169911" y="137351"/>
                  </a:lnTo>
                  <a:lnTo>
                    <a:pt x="177578" y="136795"/>
                  </a:lnTo>
                  <a:lnTo>
                    <a:pt x="184135" y="135240"/>
                  </a:lnTo>
                  <a:lnTo>
                    <a:pt x="189691" y="132906"/>
                  </a:lnTo>
                  <a:lnTo>
                    <a:pt x="194247" y="129794"/>
                  </a:lnTo>
                  <a:lnTo>
                    <a:pt x="197914" y="126238"/>
                  </a:lnTo>
                  <a:lnTo>
                    <a:pt x="200915" y="122349"/>
                  </a:lnTo>
                  <a:lnTo>
                    <a:pt x="203137" y="118348"/>
                  </a:lnTo>
                  <a:lnTo>
                    <a:pt x="204804" y="114348"/>
                  </a:lnTo>
                  <a:lnTo>
                    <a:pt x="205915" y="110459"/>
                  </a:lnTo>
                  <a:lnTo>
                    <a:pt x="206693" y="106903"/>
                  </a:lnTo>
                  <a:lnTo>
                    <a:pt x="207138" y="103791"/>
                  </a:lnTo>
                  <a:lnTo>
                    <a:pt x="207360" y="101457"/>
                  </a:lnTo>
                  <a:lnTo>
                    <a:pt x="207360" y="67453"/>
                  </a:lnTo>
                  <a:lnTo>
                    <a:pt x="230585" y="67453"/>
                  </a:lnTo>
                  <a:lnTo>
                    <a:pt x="232141" y="67564"/>
                  </a:lnTo>
                  <a:close/>
                  <a:moveTo>
                    <a:pt x="162576" y="226251"/>
                  </a:moveTo>
                  <a:lnTo>
                    <a:pt x="160020" y="229918"/>
                  </a:lnTo>
                  <a:lnTo>
                    <a:pt x="159131" y="234474"/>
                  </a:lnTo>
                  <a:lnTo>
                    <a:pt x="160020" y="239031"/>
                  </a:lnTo>
                  <a:lnTo>
                    <a:pt x="162576" y="242698"/>
                  </a:lnTo>
                  <a:lnTo>
                    <a:pt x="166243" y="245254"/>
                  </a:lnTo>
                  <a:lnTo>
                    <a:pt x="170800" y="246143"/>
                  </a:lnTo>
                  <a:lnTo>
                    <a:pt x="175356" y="245254"/>
                  </a:lnTo>
                  <a:lnTo>
                    <a:pt x="179023" y="242698"/>
                  </a:lnTo>
                  <a:lnTo>
                    <a:pt x="181579" y="239031"/>
                  </a:lnTo>
                  <a:lnTo>
                    <a:pt x="182468" y="234474"/>
                  </a:lnTo>
                  <a:lnTo>
                    <a:pt x="181579" y="229918"/>
                  </a:lnTo>
                  <a:lnTo>
                    <a:pt x="179023" y="226251"/>
                  </a:lnTo>
                  <a:lnTo>
                    <a:pt x="175356" y="223695"/>
                  </a:lnTo>
                  <a:lnTo>
                    <a:pt x="170800" y="222806"/>
                  </a:lnTo>
                  <a:lnTo>
                    <a:pt x="166243" y="223695"/>
                  </a:lnTo>
                  <a:close/>
                </a:path>
              </a:pathLst>
            </a:custGeom>
            <a:solidFill>
              <a:srgbClr val="1D2939"/>
            </a:solidFill>
            <a:ln>
              <a:noFill/>
            </a:ln>
          </p:spPr>
        </p:sp>
        <p:sp>
          <p:nvSpPr>
            <p:cNvPr id="33" name="TextBox 33"/>
            <p:cNvSpPr txBox="1"/>
            <p:nvPr/>
          </p:nvSpPr>
          <p:spPr>
            <a:xfrm>
              <a:off x="1581909" y="2957512"/>
              <a:ext cx="303282"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Python</a:t>
              </a:r>
            </a:p>
          </p:txBody>
        </p:sp>
        <p:sp>
          <p:nvSpPr>
            <p:cNvPr id="34" name="Freeform 34"/>
            <p:cNvSpPr/>
            <p:nvPr/>
          </p:nvSpPr>
          <p:spPr>
            <a:xfrm>
              <a:off x="2190739" y="2572177"/>
              <a:ext cx="266723" cy="265847"/>
            </a:xfrm>
            <a:custGeom>
              <a:avLst/>
              <a:gdLst/>
              <a:ahLst/>
              <a:cxnLst/>
              <a:rect l="l" t="t" r="r" b="b"/>
              <a:pathLst>
                <a:path w="266723" h="265847">
                  <a:moveTo>
                    <a:pt x="133361" y="3"/>
                  </a:moveTo>
                  <a:cubicBezTo>
                    <a:pt x="59718" y="0"/>
                    <a:pt x="14" y="59504"/>
                    <a:pt x="11" y="132910"/>
                  </a:cubicBezTo>
                  <a:cubicBezTo>
                    <a:pt x="0" y="206326"/>
                    <a:pt x="59708" y="265847"/>
                    <a:pt x="133361" y="265844"/>
                  </a:cubicBezTo>
                  <a:cubicBezTo>
                    <a:pt x="207015" y="265847"/>
                    <a:pt x="266723" y="206326"/>
                    <a:pt x="266712" y="132910"/>
                  </a:cubicBezTo>
                  <a:cubicBezTo>
                    <a:pt x="266709" y="59504"/>
                    <a:pt x="207005" y="0"/>
                    <a:pt x="133361" y="4"/>
                  </a:cubicBezTo>
                  <a:moveTo>
                    <a:pt x="124149" y="60182"/>
                  </a:moveTo>
                  <a:lnTo>
                    <a:pt x="208049" y="60182"/>
                  </a:lnTo>
                  <a:lnTo>
                    <a:pt x="123810" y="119394"/>
                  </a:lnTo>
                  <a:lnTo>
                    <a:pt x="181404" y="119394"/>
                  </a:lnTo>
                  <a:lnTo>
                    <a:pt x="58674" y="205640"/>
                  </a:lnTo>
                  <a:cubicBezTo>
                    <a:pt x="80504" y="157156"/>
                    <a:pt x="102329" y="108670"/>
                    <a:pt x="124149" y="60181"/>
                  </a:cubicBezTo>
                </a:path>
              </a:pathLst>
            </a:custGeom>
            <a:solidFill>
              <a:srgbClr val="1D2939"/>
            </a:solidFill>
            <a:ln>
              <a:noFill/>
            </a:ln>
          </p:spPr>
        </p:sp>
        <p:sp>
          <p:nvSpPr>
            <p:cNvPr id="35" name="TextBox 35"/>
            <p:cNvSpPr txBox="1"/>
            <p:nvPr/>
          </p:nvSpPr>
          <p:spPr>
            <a:xfrm>
              <a:off x="2162376" y="2957512"/>
              <a:ext cx="323447"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FastAPI</a:t>
              </a:r>
            </a:p>
          </p:txBody>
        </p:sp>
        <p:sp>
          <p:nvSpPr>
            <p:cNvPr id="36" name="Rectangle 36"/>
            <p:cNvSpPr/>
            <p:nvPr/>
          </p:nvSpPr>
          <p:spPr>
            <a:xfrm>
              <a:off x="304800" y="3228975"/>
              <a:ext cx="3790950" cy="704850"/>
            </a:xfrm>
            <a:prstGeom prst="roundRect">
              <a:avLst>
                <a:gd name="adj" fmla="val 8108"/>
              </a:avLst>
            </a:prstGeom>
            <a:solidFill>
              <a:srgbClr val="F2F5F9"/>
            </a:solidFill>
            <a:ln w="9525">
              <a:solidFill>
                <a:srgbClr val="D0D5DD"/>
              </a:solidFill>
            </a:ln>
          </p:spPr>
        </p:sp>
        <p:sp>
          <p:nvSpPr>
            <p:cNvPr id="37" name="Rectangle 37"/>
            <p:cNvSpPr/>
            <p:nvPr/>
          </p:nvSpPr>
          <p:spPr>
            <a:xfrm>
              <a:off x="304800" y="3228975"/>
              <a:ext cx="47625" cy="704850"/>
            </a:xfrm>
            <a:prstGeom prst="rect">
              <a:avLst/>
            </a:prstGeom>
            <a:solidFill>
              <a:srgbClr val="0B3D6E"/>
            </a:solidFill>
            <a:ln>
              <a:noFill/>
            </a:ln>
          </p:spPr>
        </p:sp>
        <p:sp>
          <p:nvSpPr>
            <p:cNvPr id="38" name="TextBox 38"/>
            <p:cNvSpPr txBox="1"/>
            <p:nvPr/>
          </p:nvSpPr>
          <p:spPr>
            <a:xfrm>
              <a:off x="451866" y="3420428"/>
              <a:ext cx="292282" cy="205359"/>
            </a:xfrm>
            <a:prstGeom prst="rect">
              <a:avLst/>
            </a:prstGeom>
            <a:noFill/>
            <a:ln>
              <a:noFill/>
            </a:ln>
          </p:spPr>
          <p:txBody>
            <a:bodyPr wrap="none" lIns="0" tIns="0" rIns="0" bIns="0" anchor="t" anchorCtr="0">
              <a:spAutoFit/>
            </a:bodyPr>
            <a:lstStyle/>
            <a:p>
              <a:pPr algn="l"/>
              <a:r>
                <a:rPr lang="en-IN" sz="1050" b="1" dirty="0">
                  <a:solidFill>
                    <a:srgbClr val="0B3D6E"/>
                  </a:solidFill>
                  <a:latin typeface="Calibri"/>
                  <a:ea typeface="Calibri"/>
                  <a:cs typeface="Calibri"/>
                </a:rPr>
                <a:t>Data</a:t>
              </a:r>
            </a:p>
          </p:txBody>
        </p:sp>
        <p:sp>
          <p:nvSpPr>
            <p:cNvPr id="39" name="TextBox 39"/>
            <p:cNvSpPr txBox="1"/>
            <p:nvPr/>
          </p:nvSpPr>
          <p:spPr>
            <a:xfrm>
              <a:off x="452438" y="3620214"/>
              <a:ext cx="676096" cy="154781"/>
            </a:xfrm>
            <a:prstGeom prst="rect">
              <a:avLst/>
            </a:prstGeom>
            <a:noFill/>
            <a:ln>
              <a:noFill/>
            </a:ln>
          </p:spPr>
          <p:txBody>
            <a:bodyPr wrap="none" lIns="0" tIns="0" rIns="0" bIns="0" anchor="t" anchorCtr="0">
              <a:spAutoFit/>
            </a:bodyPr>
            <a:lstStyle/>
            <a:p>
              <a:pPr algn="l"/>
              <a:r>
                <a:rPr lang="en-IN" sz="790" dirty="0">
                  <a:solidFill>
                    <a:srgbClr val="667085"/>
                  </a:solidFill>
                  <a:latin typeface="Calibri"/>
                  <a:ea typeface="Calibri"/>
                  <a:cs typeface="Calibri"/>
                </a:rPr>
                <a:t>Mumbai region</a:t>
              </a:r>
            </a:p>
          </p:txBody>
        </p:sp>
        <p:sp>
          <p:nvSpPr>
            <p:cNvPr id="40" name="Freeform 40"/>
            <p:cNvSpPr/>
            <p:nvPr/>
          </p:nvSpPr>
          <p:spPr>
            <a:xfrm>
              <a:off x="1603629" y="3327817"/>
              <a:ext cx="261153" cy="272636"/>
            </a:xfrm>
            <a:custGeom>
              <a:avLst/>
              <a:gdLst/>
              <a:ahLst/>
              <a:cxnLst/>
              <a:rect l="l" t="t" r="r" b="b"/>
              <a:pathLst>
                <a:path w="261153" h="272636">
                  <a:moveTo>
                    <a:pt x="258375" y="169541"/>
                  </a:moveTo>
                  <a:cubicBezTo>
                    <a:pt x="258223" y="169075"/>
                    <a:pt x="258013" y="168630"/>
                    <a:pt x="257750" y="168217"/>
                  </a:cubicBezTo>
                  <a:cubicBezTo>
                    <a:pt x="256205" y="165292"/>
                    <a:pt x="252451" y="164419"/>
                    <a:pt x="246555" y="165638"/>
                  </a:cubicBezTo>
                  <a:cubicBezTo>
                    <a:pt x="228183" y="169428"/>
                    <a:pt x="221068" y="167096"/>
                    <a:pt x="218489" y="165426"/>
                  </a:cubicBezTo>
                  <a:cubicBezTo>
                    <a:pt x="233402" y="142665"/>
                    <a:pt x="245659" y="115175"/>
                    <a:pt x="252283" y="89530"/>
                  </a:cubicBezTo>
                  <a:cubicBezTo>
                    <a:pt x="255299" y="77854"/>
                    <a:pt x="261153" y="50373"/>
                    <a:pt x="253641" y="36950"/>
                  </a:cubicBezTo>
                  <a:cubicBezTo>
                    <a:pt x="253161" y="36032"/>
                    <a:pt x="252600" y="35158"/>
                    <a:pt x="251964" y="34339"/>
                  </a:cubicBezTo>
                  <a:cubicBezTo>
                    <a:pt x="237636" y="16030"/>
                    <a:pt x="216607" y="6209"/>
                    <a:pt x="191150" y="5939"/>
                  </a:cubicBezTo>
                  <a:cubicBezTo>
                    <a:pt x="174540" y="5763"/>
                    <a:pt x="160363" y="9785"/>
                    <a:pt x="156522" y="11266"/>
                  </a:cubicBezTo>
                  <a:cubicBezTo>
                    <a:pt x="154620" y="10911"/>
                    <a:pt x="152708" y="10608"/>
                    <a:pt x="150789" y="10359"/>
                  </a:cubicBezTo>
                  <a:cubicBezTo>
                    <a:pt x="145979" y="9488"/>
                    <a:pt x="141105" y="9013"/>
                    <a:pt x="136216" y="8939"/>
                  </a:cubicBezTo>
                  <a:cubicBezTo>
                    <a:pt x="123079" y="8734"/>
                    <a:pt x="111727" y="11875"/>
                    <a:pt x="102325" y="18280"/>
                  </a:cubicBezTo>
                  <a:cubicBezTo>
                    <a:pt x="92799" y="14712"/>
                    <a:pt x="49110" y="0"/>
                    <a:pt x="22072" y="19156"/>
                  </a:cubicBezTo>
                  <a:cubicBezTo>
                    <a:pt x="6971" y="29854"/>
                    <a:pt x="0" y="48975"/>
                    <a:pt x="1351" y="75990"/>
                  </a:cubicBezTo>
                  <a:cubicBezTo>
                    <a:pt x="1806" y="85080"/>
                    <a:pt x="6984" y="113039"/>
                    <a:pt x="15156" y="139816"/>
                  </a:cubicBezTo>
                  <a:cubicBezTo>
                    <a:pt x="20266" y="156557"/>
                    <a:pt x="25588" y="169841"/>
                    <a:pt x="31085" y="179621"/>
                  </a:cubicBezTo>
                  <a:cubicBezTo>
                    <a:pt x="37230" y="190669"/>
                    <a:pt x="43597" y="197326"/>
                    <a:pt x="50135" y="199507"/>
                  </a:cubicBezTo>
                  <a:cubicBezTo>
                    <a:pt x="55107" y="201163"/>
                    <a:pt x="62722" y="201108"/>
                    <a:pt x="70783" y="191418"/>
                  </a:cubicBezTo>
                  <a:cubicBezTo>
                    <a:pt x="79687" y="180711"/>
                    <a:pt x="88456" y="171129"/>
                    <a:pt x="92393" y="166894"/>
                  </a:cubicBezTo>
                  <a:cubicBezTo>
                    <a:pt x="97228" y="169511"/>
                    <a:pt x="102465" y="170922"/>
                    <a:pt x="107839" y="171085"/>
                  </a:cubicBezTo>
                  <a:cubicBezTo>
                    <a:pt x="107840" y="171100"/>
                    <a:pt x="107842" y="171116"/>
                    <a:pt x="107844" y="171131"/>
                  </a:cubicBezTo>
                  <a:cubicBezTo>
                    <a:pt x="106908" y="172246"/>
                    <a:pt x="105992" y="173377"/>
                    <a:pt x="105097" y="174525"/>
                  </a:cubicBezTo>
                  <a:cubicBezTo>
                    <a:pt x="101331" y="179305"/>
                    <a:pt x="100547" y="180300"/>
                    <a:pt x="88426" y="182796"/>
                  </a:cubicBezTo>
                  <a:cubicBezTo>
                    <a:pt x="84979" y="183507"/>
                    <a:pt x="75820" y="185395"/>
                    <a:pt x="75686" y="191813"/>
                  </a:cubicBezTo>
                  <a:cubicBezTo>
                    <a:pt x="75659" y="193174"/>
                    <a:pt x="76052" y="194379"/>
                    <a:pt x="76708" y="195445"/>
                  </a:cubicBezTo>
                  <a:cubicBezTo>
                    <a:pt x="79229" y="200147"/>
                    <a:pt x="86949" y="202220"/>
                    <a:pt x="87987" y="202480"/>
                  </a:cubicBezTo>
                  <a:cubicBezTo>
                    <a:pt x="102816" y="206186"/>
                    <a:pt x="115817" y="203503"/>
                    <a:pt x="125452" y="194938"/>
                  </a:cubicBezTo>
                  <a:cubicBezTo>
                    <a:pt x="125263" y="219730"/>
                    <a:pt x="126313" y="244027"/>
                    <a:pt x="129290" y="251472"/>
                  </a:cubicBezTo>
                  <a:cubicBezTo>
                    <a:pt x="131748" y="257616"/>
                    <a:pt x="137755" y="272636"/>
                    <a:pt x="156729" y="272634"/>
                  </a:cubicBezTo>
                  <a:cubicBezTo>
                    <a:pt x="159513" y="272634"/>
                    <a:pt x="162577" y="272310"/>
                    <a:pt x="165948" y="271588"/>
                  </a:cubicBezTo>
                  <a:cubicBezTo>
                    <a:pt x="185749" y="267342"/>
                    <a:pt x="194348" y="258591"/>
                    <a:pt x="197674" y="239296"/>
                  </a:cubicBezTo>
                  <a:cubicBezTo>
                    <a:pt x="199344" y="229620"/>
                    <a:pt x="202137" y="207344"/>
                    <a:pt x="203662" y="193721"/>
                  </a:cubicBezTo>
                  <a:cubicBezTo>
                    <a:pt x="203849" y="192940"/>
                    <a:pt x="204058" y="192380"/>
                    <a:pt x="204295" y="192208"/>
                  </a:cubicBezTo>
                  <a:cubicBezTo>
                    <a:pt x="204303" y="192202"/>
                    <a:pt x="205070" y="191685"/>
                    <a:pt x="209042" y="192549"/>
                  </a:cubicBezTo>
                  <a:cubicBezTo>
                    <a:pt x="209205" y="192584"/>
                    <a:pt x="209369" y="192609"/>
                    <a:pt x="209535" y="192625"/>
                  </a:cubicBezTo>
                  <a:lnTo>
                    <a:pt x="212356" y="192872"/>
                  </a:lnTo>
                  <a:lnTo>
                    <a:pt x="212522" y="192884"/>
                  </a:lnTo>
                  <a:cubicBezTo>
                    <a:pt x="221932" y="193310"/>
                    <a:pt x="233762" y="191299"/>
                    <a:pt x="240650" y="188096"/>
                  </a:cubicBezTo>
                  <a:cubicBezTo>
                    <a:pt x="247804" y="184776"/>
                    <a:pt x="260716" y="176625"/>
                    <a:pt x="258375" y="169541"/>
                  </a:cubicBezTo>
                  <a:close/>
                  <a:moveTo>
                    <a:pt x="22918" y="137911"/>
                  </a:moveTo>
                  <a:cubicBezTo>
                    <a:pt x="14656" y="110843"/>
                    <a:pt x="9829" y="83625"/>
                    <a:pt x="9447" y="75993"/>
                  </a:cubicBezTo>
                  <a:cubicBezTo>
                    <a:pt x="8240" y="51863"/>
                    <a:pt x="14082" y="35067"/>
                    <a:pt x="26808" y="26068"/>
                  </a:cubicBezTo>
                  <a:cubicBezTo>
                    <a:pt x="47218" y="11637"/>
                    <a:pt x="80590" y="20058"/>
                    <a:pt x="94683" y="24623"/>
                  </a:cubicBezTo>
                  <a:cubicBezTo>
                    <a:pt x="94648" y="24659"/>
                    <a:pt x="94610" y="24691"/>
                    <a:pt x="94574" y="24728"/>
                  </a:cubicBezTo>
                  <a:cubicBezTo>
                    <a:pt x="72085" y="47442"/>
                    <a:pt x="72618" y="86247"/>
                    <a:pt x="72674" y="88619"/>
                  </a:cubicBezTo>
                  <a:cubicBezTo>
                    <a:pt x="72672" y="89534"/>
                    <a:pt x="72747" y="90829"/>
                    <a:pt x="72854" y="92612"/>
                  </a:cubicBezTo>
                  <a:cubicBezTo>
                    <a:pt x="73240" y="99138"/>
                    <a:pt x="73961" y="111285"/>
                    <a:pt x="72037" y="125043"/>
                  </a:cubicBezTo>
                  <a:cubicBezTo>
                    <a:pt x="70249" y="137827"/>
                    <a:pt x="74189" y="150339"/>
                    <a:pt x="82847" y="159371"/>
                  </a:cubicBezTo>
                  <a:cubicBezTo>
                    <a:pt x="83743" y="160306"/>
                    <a:pt x="84679" y="161184"/>
                    <a:pt x="85645" y="162010"/>
                  </a:cubicBezTo>
                  <a:cubicBezTo>
                    <a:pt x="81792" y="166137"/>
                    <a:pt x="73417" y="175262"/>
                    <a:pt x="64504" y="185986"/>
                  </a:cubicBezTo>
                  <a:cubicBezTo>
                    <a:pt x="58195" y="193570"/>
                    <a:pt x="53839" y="192117"/>
                    <a:pt x="52407" y="191639"/>
                  </a:cubicBezTo>
                  <a:cubicBezTo>
                    <a:pt x="48052" y="190187"/>
                    <a:pt x="43372" y="185115"/>
                    <a:pt x="38648" y="176945"/>
                  </a:cubicBezTo>
                  <a:cubicBezTo>
                    <a:pt x="33319" y="167621"/>
                    <a:pt x="27941" y="154368"/>
                    <a:pt x="22918" y="137911"/>
                  </a:cubicBezTo>
                  <a:close/>
                  <a:moveTo>
                    <a:pt x="89674" y="194442"/>
                  </a:moveTo>
                  <a:cubicBezTo>
                    <a:pt x="87772" y="193966"/>
                    <a:pt x="86039" y="193184"/>
                    <a:pt x="84871" y="192472"/>
                  </a:cubicBezTo>
                  <a:cubicBezTo>
                    <a:pt x="85859" y="192035"/>
                    <a:pt x="87509" y="191470"/>
                    <a:pt x="90242" y="190907"/>
                  </a:cubicBezTo>
                  <a:cubicBezTo>
                    <a:pt x="104502" y="187972"/>
                    <a:pt x="106705" y="185899"/>
                    <a:pt x="111514" y="179792"/>
                  </a:cubicBezTo>
                  <a:cubicBezTo>
                    <a:pt x="112617" y="178392"/>
                    <a:pt x="113866" y="176806"/>
                    <a:pt x="115596" y="174873"/>
                  </a:cubicBezTo>
                  <a:cubicBezTo>
                    <a:pt x="115968" y="174456"/>
                    <a:pt x="116247" y="173964"/>
                    <a:pt x="116415" y="173431"/>
                  </a:cubicBezTo>
                  <a:cubicBezTo>
                    <a:pt x="118313" y="171750"/>
                    <a:pt x="119442" y="172210"/>
                    <a:pt x="121270" y="172968"/>
                  </a:cubicBezTo>
                  <a:cubicBezTo>
                    <a:pt x="123004" y="173686"/>
                    <a:pt x="124690" y="175857"/>
                    <a:pt x="125376" y="178248"/>
                  </a:cubicBezTo>
                  <a:cubicBezTo>
                    <a:pt x="125699" y="179377"/>
                    <a:pt x="126064" y="181521"/>
                    <a:pt x="124874" y="183187"/>
                  </a:cubicBezTo>
                  <a:cubicBezTo>
                    <a:pt x="114825" y="197253"/>
                    <a:pt x="100186" y="197071"/>
                    <a:pt x="89674" y="194442"/>
                  </a:cubicBezTo>
                  <a:close/>
                  <a:moveTo>
                    <a:pt x="112943" y="150125"/>
                  </a:moveTo>
                  <a:lnTo>
                    <a:pt x="112360" y="151692"/>
                  </a:lnTo>
                  <a:cubicBezTo>
                    <a:pt x="110882" y="155654"/>
                    <a:pt x="109507" y="159338"/>
                    <a:pt x="108655" y="162837"/>
                  </a:cubicBezTo>
                  <a:cubicBezTo>
                    <a:pt x="101238" y="162814"/>
                    <a:pt x="94022" y="159646"/>
                    <a:pt x="88536" y="153921"/>
                  </a:cubicBezTo>
                  <a:cubicBezTo>
                    <a:pt x="81558" y="146641"/>
                    <a:pt x="78389" y="136514"/>
                    <a:pt x="79840" y="126135"/>
                  </a:cubicBezTo>
                  <a:cubicBezTo>
                    <a:pt x="81872" y="111601"/>
                    <a:pt x="81121" y="98945"/>
                    <a:pt x="80718" y="92146"/>
                  </a:cubicBezTo>
                  <a:cubicBezTo>
                    <a:pt x="80663" y="91194"/>
                    <a:pt x="80613" y="90360"/>
                    <a:pt x="80583" y="89703"/>
                  </a:cubicBezTo>
                  <a:cubicBezTo>
                    <a:pt x="83868" y="86790"/>
                    <a:pt x="99095" y="78632"/>
                    <a:pt x="109952" y="81119"/>
                  </a:cubicBezTo>
                  <a:cubicBezTo>
                    <a:pt x="114907" y="82255"/>
                    <a:pt x="117926" y="85628"/>
                    <a:pt x="119181" y="91432"/>
                  </a:cubicBezTo>
                  <a:cubicBezTo>
                    <a:pt x="125677" y="121478"/>
                    <a:pt x="120041" y="134000"/>
                    <a:pt x="115511" y="144064"/>
                  </a:cubicBezTo>
                  <a:cubicBezTo>
                    <a:pt x="114578" y="146138"/>
                    <a:pt x="113697" y="148097"/>
                    <a:pt x="112943" y="150125"/>
                  </a:cubicBezTo>
                  <a:close/>
                  <a:moveTo>
                    <a:pt x="194773" y="200937"/>
                  </a:moveTo>
                  <a:cubicBezTo>
                    <a:pt x="194585" y="202901"/>
                    <a:pt x="194375" y="205115"/>
                    <a:pt x="194086" y="207559"/>
                  </a:cubicBezTo>
                  <a:lnTo>
                    <a:pt x="192463" y="212429"/>
                  </a:lnTo>
                  <a:cubicBezTo>
                    <a:pt x="192335" y="212815"/>
                    <a:pt x="192266" y="213219"/>
                    <a:pt x="192261" y="213626"/>
                  </a:cubicBezTo>
                  <a:cubicBezTo>
                    <a:pt x="192196" y="218901"/>
                    <a:pt x="191661" y="220837"/>
                    <a:pt x="190983" y="223286"/>
                  </a:cubicBezTo>
                  <a:cubicBezTo>
                    <a:pt x="190279" y="225833"/>
                    <a:pt x="189480" y="228721"/>
                    <a:pt x="188990" y="235038"/>
                  </a:cubicBezTo>
                  <a:cubicBezTo>
                    <a:pt x="187767" y="250754"/>
                    <a:pt x="179231" y="259782"/>
                    <a:pt x="162129" y="263447"/>
                  </a:cubicBezTo>
                  <a:cubicBezTo>
                    <a:pt x="145287" y="267060"/>
                    <a:pt x="142300" y="257926"/>
                    <a:pt x="139668" y="249871"/>
                  </a:cubicBezTo>
                  <a:cubicBezTo>
                    <a:pt x="139398" y="249026"/>
                    <a:pt x="139113" y="248187"/>
                    <a:pt x="138813" y="247353"/>
                  </a:cubicBezTo>
                  <a:cubicBezTo>
                    <a:pt x="136420" y="240843"/>
                    <a:pt x="136690" y="231663"/>
                    <a:pt x="137064" y="218959"/>
                  </a:cubicBezTo>
                  <a:cubicBezTo>
                    <a:pt x="137248" y="212723"/>
                    <a:pt x="136787" y="197831"/>
                    <a:pt x="133395" y="189553"/>
                  </a:cubicBezTo>
                  <a:cubicBezTo>
                    <a:pt x="133444" y="186295"/>
                    <a:pt x="133513" y="182987"/>
                    <a:pt x="133606" y="179643"/>
                  </a:cubicBezTo>
                  <a:cubicBezTo>
                    <a:pt x="133617" y="179219"/>
                    <a:pt x="133560" y="178797"/>
                    <a:pt x="133436" y="178392"/>
                  </a:cubicBezTo>
                  <a:cubicBezTo>
                    <a:pt x="133328" y="177611"/>
                    <a:pt x="133165" y="176838"/>
                    <a:pt x="132948" y="176080"/>
                  </a:cubicBezTo>
                  <a:cubicBezTo>
                    <a:pt x="131586" y="171321"/>
                    <a:pt x="128266" y="167339"/>
                    <a:pt x="124284" y="165689"/>
                  </a:cubicBezTo>
                  <a:cubicBezTo>
                    <a:pt x="122701" y="165033"/>
                    <a:pt x="119796" y="163831"/>
                    <a:pt x="116307" y="164723"/>
                  </a:cubicBezTo>
                  <a:cubicBezTo>
                    <a:pt x="117052" y="161656"/>
                    <a:pt x="118342" y="158195"/>
                    <a:pt x="119741" y="154445"/>
                  </a:cubicBezTo>
                  <a:lnTo>
                    <a:pt x="120329" y="152867"/>
                  </a:lnTo>
                  <a:cubicBezTo>
                    <a:pt x="120990" y="151089"/>
                    <a:pt x="121818" y="149248"/>
                    <a:pt x="122696" y="147298"/>
                  </a:cubicBezTo>
                  <a:cubicBezTo>
                    <a:pt x="127435" y="136767"/>
                    <a:pt x="133926" y="122347"/>
                    <a:pt x="126881" y="89766"/>
                  </a:cubicBezTo>
                  <a:cubicBezTo>
                    <a:pt x="124243" y="77563"/>
                    <a:pt x="115430" y="71605"/>
                    <a:pt x="102073" y="72988"/>
                  </a:cubicBezTo>
                  <a:cubicBezTo>
                    <a:pt x="94064" y="73817"/>
                    <a:pt x="86739" y="77049"/>
                    <a:pt x="83084" y="78901"/>
                  </a:cubicBezTo>
                  <a:cubicBezTo>
                    <a:pt x="82351" y="79273"/>
                    <a:pt x="81626" y="79658"/>
                    <a:pt x="80908" y="80058"/>
                  </a:cubicBezTo>
                  <a:cubicBezTo>
                    <a:pt x="81928" y="67763"/>
                    <a:pt x="85782" y="44786"/>
                    <a:pt x="100196" y="30248"/>
                  </a:cubicBezTo>
                  <a:cubicBezTo>
                    <a:pt x="101267" y="29169"/>
                    <a:pt x="102392" y="28146"/>
                    <a:pt x="103567" y="27181"/>
                  </a:cubicBezTo>
                  <a:cubicBezTo>
                    <a:pt x="104150" y="27068"/>
                    <a:pt x="104700" y="26823"/>
                    <a:pt x="105175" y="26466"/>
                  </a:cubicBezTo>
                  <a:cubicBezTo>
                    <a:pt x="113536" y="20125"/>
                    <a:pt x="124005" y="17013"/>
                    <a:pt x="136312" y="17214"/>
                  </a:cubicBezTo>
                  <a:cubicBezTo>
                    <a:pt x="140858" y="17289"/>
                    <a:pt x="145221" y="17591"/>
                    <a:pt x="149360" y="18115"/>
                  </a:cubicBezTo>
                  <a:cubicBezTo>
                    <a:pt x="170907" y="22053"/>
                    <a:pt x="185408" y="34192"/>
                    <a:pt x="194209" y="44592"/>
                  </a:cubicBezTo>
                  <a:cubicBezTo>
                    <a:pt x="203258" y="55286"/>
                    <a:pt x="208158" y="66056"/>
                    <a:pt x="210114" y="71866"/>
                  </a:cubicBezTo>
                  <a:cubicBezTo>
                    <a:pt x="195409" y="70370"/>
                    <a:pt x="185406" y="73275"/>
                    <a:pt x="180335" y="80523"/>
                  </a:cubicBezTo>
                  <a:cubicBezTo>
                    <a:pt x="169305" y="96290"/>
                    <a:pt x="186369" y="126894"/>
                    <a:pt x="194572" y="141601"/>
                  </a:cubicBezTo>
                  <a:cubicBezTo>
                    <a:pt x="196075" y="144297"/>
                    <a:pt x="197374" y="146627"/>
                    <a:pt x="197782" y="147617"/>
                  </a:cubicBezTo>
                  <a:cubicBezTo>
                    <a:pt x="200452" y="154090"/>
                    <a:pt x="203911" y="158410"/>
                    <a:pt x="206435" y="161565"/>
                  </a:cubicBezTo>
                  <a:cubicBezTo>
                    <a:pt x="207209" y="162532"/>
                    <a:pt x="207960" y="163470"/>
                    <a:pt x="208530" y="164288"/>
                  </a:cubicBezTo>
                  <a:cubicBezTo>
                    <a:pt x="204076" y="165571"/>
                    <a:pt x="196075" y="168538"/>
                    <a:pt x="196804" y="183368"/>
                  </a:cubicBezTo>
                  <a:cubicBezTo>
                    <a:pt x="196667" y="185105"/>
                    <a:pt x="196334" y="188334"/>
                    <a:pt x="195877" y="192422"/>
                  </a:cubicBezTo>
                  <a:cubicBezTo>
                    <a:pt x="195365" y="194730"/>
                    <a:pt x="195097" y="197537"/>
                    <a:pt x="194773" y="200937"/>
                  </a:cubicBezTo>
                  <a:close/>
                  <a:moveTo>
                    <a:pt x="204668" y="182922"/>
                  </a:moveTo>
                  <a:cubicBezTo>
                    <a:pt x="204218" y="173681"/>
                    <a:pt x="207659" y="172715"/>
                    <a:pt x="211299" y="171693"/>
                  </a:cubicBezTo>
                  <a:cubicBezTo>
                    <a:pt x="211803" y="171555"/>
                    <a:pt x="212303" y="171405"/>
                    <a:pt x="212799" y="171242"/>
                  </a:cubicBezTo>
                  <a:cubicBezTo>
                    <a:pt x="213269" y="171658"/>
                    <a:pt x="213767" y="172040"/>
                    <a:pt x="214291" y="172386"/>
                  </a:cubicBezTo>
                  <a:cubicBezTo>
                    <a:pt x="220628" y="176570"/>
                    <a:pt x="231874" y="177068"/>
                    <a:pt x="247704" y="173880"/>
                  </a:cubicBezTo>
                  <a:cubicBezTo>
                    <a:pt x="245464" y="175846"/>
                    <a:pt x="241938" y="178318"/>
                    <a:pt x="237110" y="180560"/>
                  </a:cubicBezTo>
                  <a:cubicBezTo>
                    <a:pt x="232556" y="182674"/>
                    <a:pt x="224934" y="184260"/>
                    <a:pt x="217693" y="184600"/>
                  </a:cubicBezTo>
                  <a:cubicBezTo>
                    <a:pt x="209696" y="184974"/>
                    <a:pt x="205626" y="183703"/>
                    <a:pt x="204668" y="182922"/>
                  </a:cubicBezTo>
                  <a:close/>
                  <a:moveTo>
                    <a:pt x="210997" y="79896"/>
                  </a:moveTo>
                  <a:cubicBezTo>
                    <a:pt x="210931" y="83794"/>
                    <a:pt x="210395" y="87332"/>
                    <a:pt x="209826" y="91027"/>
                  </a:cubicBezTo>
                  <a:cubicBezTo>
                    <a:pt x="209215" y="95001"/>
                    <a:pt x="208581" y="99110"/>
                    <a:pt x="208421" y="104098"/>
                  </a:cubicBezTo>
                  <a:cubicBezTo>
                    <a:pt x="208263" y="108952"/>
                    <a:pt x="208870" y="113998"/>
                    <a:pt x="209457" y="118879"/>
                  </a:cubicBezTo>
                  <a:cubicBezTo>
                    <a:pt x="210641" y="128735"/>
                    <a:pt x="211857" y="138884"/>
                    <a:pt x="207151" y="148898"/>
                  </a:cubicBezTo>
                  <a:cubicBezTo>
                    <a:pt x="206370" y="147513"/>
                    <a:pt x="205674" y="146082"/>
                    <a:pt x="205066" y="144613"/>
                  </a:cubicBezTo>
                  <a:cubicBezTo>
                    <a:pt x="204481" y="143195"/>
                    <a:pt x="203212" y="140917"/>
                    <a:pt x="201454" y="137765"/>
                  </a:cubicBezTo>
                  <a:cubicBezTo>
                    <a:pt x="194613" y="125496"/>
                    <a:pt x="178591" y="96765"/>
                    <a:pt x="186793" y="85041"/>
                  </a:cubicBezTo>
                  <a:cubicBezTo>
                    <a:pt x="191010" y="79010"/>
                    <a:pt x="201692" y="78750"/>
                    <a:pt x="210997" y="79896"/>
                  </a:cubicBezTo>
                  <a:close/>
                  <a:moveTo>
                    <a:pt x="213535" y="157836"/>
                  </a:moveTo>
                  <a:cubicBezTo>
                    <a:pt x="213221" y="157436"/>
                    <a:pt x="212905" y="157038"/>
                    <a:pt x="212587" y="156642"/>
                  </a:cubicBezTo>
                  <a:lnTo>
                    <a:pt x="212193" y="156149"/>
                  </a:lnTo>
                  <a:cubicBezTo>
                    <a:pt x="220263" y="142819"/>
                    <a:pt x="218685" y="129632"/>
                    <a:pt x="217280" y="117938"/>
                  </a:cubicBezTo>
                  <a:cubicBezTo>
                    <a:pt x="216703" y="113140"/>
                    <a:pt x="216159" y="108608"/>
                    <a:pt x="216297" y="104352"/>
                  </a:cubicBezTo>
                  <a:cubicBezTo>
                    <a:pt x="216440" y="99839"/>
                    <a:pt x="217037" y="95970"/>
                    <a:pt x="217613" y="92227"/>
                  </a:cubicBezTo>
                  <a:cubicBezTo>
                    <a:pt x="218323" y="87616"/>
                    <a:pt x="219045" y="82845"/>
                    <a:pt x="218846" y="77220"/>
                  </a:cubicBezTo>
                  <a:cubicBezTo>
                    <a:pt x="218995" y="76630"/>
                    <a:pt x="219055" y="75933"/>
                    <a:pt x="218977" y="75106"/>
                  </a:cubicBezTo>
                  <a:cubicBezTo>
                    <a:pt x="218469" y="69711"/>
                    <a:pt x="212310" y="53570"/>
                    <a:pt x="199759" y="38957"/>
                  </a:cubicBezTo>
                  <a:cubicBezTo>
                    <a:pt x="193007" y="31097"/>
                    <a:pt x="183206" y="22320"/>
                    <a:pt x="169878" y="16293"/>
                  </a:cubicBezTo>
                  <a:cubicBezTo>
                    <a:pt x="175714" y="15109"/>
                    <a:pt x="183578" y="14032"/>
                    <a:pt x="192375" y="14227"/>
                  </a:cubicBezTo>
                  <a:cubicBezTo>
                    <a:pt x="215172" y="14734"/>
                    <a:pt x="233209" y="23267"/>
                    <a:pt x="245984" y="39591"/>
                  </a:cubicBezTo>
                  <a:cubicBezTo>
                    <a:pt x="246255" y="39945"/>
                    <a:pt x="246503" y="40317"/>
                    <a:pt x="246725" y="40704"/>
                  </a:cubicBezTo>
                  <a:cubicBezTo>
                    <a:pt x="254760" y="55768"/>
                    <a:pt x="243656" y="110436"/>
                    <a:pt x="213535" y="157836"/>
                  </a:cubicBezTo>
                  <a:close/>
                  <a:moveTo>
                    <a:pt x="115560" y="89869"/>
                  </a:moveTo>
                  <a:cubicBezTo>
                    <a:pt x="115283" y="91863"/>
                    <a:pt x="112128" y="94564"/>
                    <a:pt x="108658" y="94564"/>
                  </a:cubicBezTo>
                  <a:cubicBezTo>
                    <a:pt x="108358" y="94564"/>
                    <a:pt x="108057" y="94544"/>
                    <a:pt x="107759" y="94502"/>
                  </a:cubicBezTo>
                  <a:cubicBezTo>
                    <a:pt x="105678" y="94213"/>
                    <a:pt x="103575" y="92902"/>
                    <a:pt x="102138" y="90995"/>
                  </a:cubicBezTo>
                  <a:cubicBezTo>
                    <a:pt x="101629" y="90323"/>
                    <a:pt x="100801" y="89017"/>
                    <a:pt x="100965" y="87835"/>
                  </a:cubicBezTo>
                  <a:cubicBezTo>
                    <a:pt x="101026" y="87389"/>
                    <a:pt x="101255" y="86740"/>
                    <a:pt x="101993" y="86181"/>
                  </a:cubicBezTo>
                  <a:cubicBezTo>
                    <a:pt x="103307" y="85188"/>
                    <a:pt x="105902" y="84819"/>
                    <a:pt x="108767" y="85218"/>
                  </a:cubicBezTo>
                  <a:cubicBezTo>
                    <a:pt x="112282" y="85708"/>
                    <a:pt x="115908" y="87371"/>
                    <a:pt x="115560" y="89869"/>
                  </a:cubicBezTo>
                  <a:close/>
                  <a:moveTo>
                    <a:pt x="203688" y="85298"/>
                  </a:moveTo>
                  <a:cubicBezTo>
                    <a:pt x="203812" y="86178"/>
                    <a:pt x="203144" y="87531"/>
                    <a:pt x="201987" y="88745"/>
                  </a:cubicBezTo>
                  <a:cubicBezTo>
                    <a:pt x="201228" y="89541"/>
                    <a:pt x="199631" y="90924"/>
                    <a:pt x="197454" y="91225"/>
                  </a:cubicBezTo>
                  <a:cubicBezTo>
                    <a:pt x="197178" y="91263"/>
                    <a:pt x="196900" y="91283"/>
                    <a:pt x="196621" y="91283"/>
                  </a:cubicBezTo>
                  <a:cubicBezTo>
                    <a:pt x="193359" y="91283"/>
                    <a:pt x="190604" y="88678"/>
                    <a:pt x="190390" y="87152"/>
                  </a:cubicBezTo>
                  <a:cubicBezTo>
                    <a:pt x="190123" y="85191"/>
                    <a:pt x="193325" y="83701"/>
                    <a:pt x="196625" y="83241"/>
                  </a:cubicBezTo>
                  <a:cubicBezTo>
                    <a:pt x="199926" y="82781"/>
                    <a:pt x="203416" y="83338"/>
                    <a:pt x="203688" y="85298"/>
                  </a:cubicBezTo>
                  <a:close/>
                </a:path>
              </a:pathLst>
            </a:custGeom>
            <a:solidFill>
              <a:srgbClr val="1D2939"/>
            </a:solidFill>
            <a:ln>
              <a:noFill/>
            </a:ln>
          </p:spPr>
        </p:sp>
        <p:sp>
          <p:nvSpPr>
            <p:cNvPr id="41" name="TextBox 41"/>
            <p:cNvSpPr txBox="1"/>
            <p:nvPr/>
          </p:nvSpPr>
          <p:spPr>
            <a:xfrm>
              <a:off x="1489261" y="3719512"/>
              <a:ext cx="488579"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PostgreSQL</a:t>
              </a:r>
            </a:p>
          </p:txBody>
        </p:sp>
        <p:sp>
          <p:nvSpPr>
            <p:cNvPr id="42" name="Freeform 42"/>
            <p:cNvSpPr/>
            <p:nvPr/>
          </p:nvSpPr>
          <p:spPr>
            <a:xfrm>
              <a:off x="2187083" y="3329594"/>
              <a:ext cx="274024" cy="275002"/>
            </a:xfrm>
            <a:custGeom>
              <a:avLst/>
              <a:gdLst/>
              <a:ahLst/>
              <a:cxnLst/>
              <a:rect l="l" t="t" r="r" b="b"/>
              <a:pathLst>
                <a:path w="274024" h="275002">
                  <a:moveTo>
                    <a:pt x="135906" y="15669"/>
                  </a:moveTo>
                  <a:cubicBezTo>
                    <a:pt x="135740" y="4712"/>
                    <a:pt x="121904" y="0"/>
                    <a:pt x="115081" y="8590"/>
                  </a:cubicBezTo>
                  <a:lnTo>
                    <a:pt x="12157" y="138062"/>
                  </a:lnTo>
                  <a:cubicBezTo>
                    <a:pt x="0" y="153364"/>
                    <a:pt x="10890" y="175900"/>
                    <a:pt x="30437" y="175900"/>
                  </a:cubicBezTo>
                  <a:lnTo>
                    <a:pt x="136884" y="175900"/>
                  </a:lnTo>
                  <a:lnTo>
                    <a:pt x="138140" y="259355"/>
                  </a:lnTo>
                  <a:cubicBezTo>
                    <a:pt x="138295" y="270301"/>
                    <a:pt x="152131" y="275002"/>
                    <a:pt x="158954" y="266423"/>
                  </a:cubicBezTo>
                  <a:lnTo>
                    <a:pt x="261878" y="136929"/>
                  </a:lnTo>
                  <a:cubicBezTo>
                    <a:pt x="274024" y="121649"/>
                    <a:pt x="263134" y="99113"/>
                    <a:pt x="243598" y="99113"/>
                  </a:cubicBezTo>
                  <a:lnTo>
                    <a:pt x="136451" y="99113"/>
                  </a:lnTo>
                  <a:close/>
                </a:path>
              </a:pathLst>
            </a:custGeom>
            <a:solidFill>
              <a:srgbClr val="1D2939"/>
            </a:solidFill>
            <a:ln>
              <a:noFill/>
            </a:ln>
          </p:spPr>
        </p:sp>
        <p:sp>
          <p:nvSpPr>
            <p:cNvPr id="43" name="TextBox 43"/>
            <p:cNvSpPr txBox="1"/>
            <p:nvPr/>
          </p:nvSpPr>
          <p:spPr>
            <a:xfrm>
              <a:off x="2121957" y="3719512"/>
              <a:ext cx="404285"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Supabase</a:t>
              </a:r>
            </a:p>
          </p:txBody>
        </p:sp>
        <p:sp>
          <p:nvSpPr>
            <p:cNvPr id="44" name="Rectangle 44"/>
            <p:cNvSpPr/>
            <p:nvPr/>
          </p:nvSpPr>
          <p:spPr>
            <a:xfrm>
              <a:off x="304800" y="3990975"/>
              <a:ext cx="3790950" cy="704850"/>
            </a:xfrm>
            <a:prstGeom prst="roundRect">
              <a:avLst>
                <a:gd name="adj" fmla="val 8108"/>
              </a:avLst>
            </a:prstGeom>
            <a:solidFill>
              <a:srgbClr val="FFFFFF"/>
            </a:solidFill>
            <a:ln w="9525">
              <a:solidFill>
                <a:srgbClr val="D0D5DD"/>
              </a:solidFill>
            </a:ln>
          </p:spPr>
        </p:sp>
        <p:sp>
          <p:nvSpPr>
            <p:cNvPr id="45" name="Rectangle 45"/>
            <p:cNvSpPr/>
            <p:nvPr/>
          </p:nvSpPr>
          <p:spPr>
            <a:xfrm>
              <a:off x="304800" y="3990975"/>
              <a:ext cx="47625" cy="704850"/>
            </a:xfrm>
            <a:prstGeom prst="rect">
              <a:avLst/>
            </a:prstGeom>
            <a:solidFill>
              <a:srgbClr val="0B3D6E"/>
            </a:solidFill>
            <a:ln>
              <a:noFill/>
            </a:ln>
          </p:spPr>
        </p:sp>
        <p:sp>
          <p:nvSpPr>
            <p:cNvPr id="46" name="TextBox 46"/>
            <p:cNvSpPr txBox="1"/>
            <p:nvPr/>
          </p:nvSpPr>
          <p:spPr>
            <a:xfrm>
              <a:off x="451866" y="4182428"/>
              <a:ext cx="650989" cy="205359"/>
            </a:xfrm>
            <a:prstGeom prst="rect">
              <a:avLst/>
            </a:prstGeom>
            <a:noFill/>
            <a:ln>
              <a:noFill/>
            </a:ln>
          </p:spPr>
          <p:txBody>
            <a:bodyPr wrap="none" lIns="0" tIns="0" rIns="0" bIns="0" anchor="t" anchorCtr="0">
              <a:spAutoFit/>
            </a:bodyPr>
            <a:lstStyle/>
            <a:p>
              <a:pPr algn="l"/>
              <a:r>
                <a:rPr lang="en-IN" sz="1050" b="1" dirty="0">
                  <a:solidFill>
                    <a:srgbClr val="0B3D6E"/>
                  </a:solidFill>
                  <a:latin typeface="Calibri"/>
                  <a:ea typeface="Calibri"/>
                  <a:cs typeface="Calibri"/>
                </a:rPr>
                <a:t>AI &amp; vision</a:t>
              </a:r>
            </a:p>
          </p:txBody>
        </p:sp>
        <p:sp>
          <p:nvSpPr>
            <p:cNvPr id="47" name="TextBox 47"/>
            <p:cNvSpPr txBox="1"/>
            <p:nvPr/>
          </p:nvSpPr>
          <p:spPr>
            <a:xfrm>
              <a:off x="452438" y="4382214"/>
              <a:ext cx="775159" cy="154781"/>
            </a:xfrm>
            <a:prstGeom prst="rect">
              <a:avLst/>
            </a:prstGeom>
            <a:noFill/>
            <a:ln>
              <a:noFill/>
            </a:ln>
          </p:spPr>
          <p:txBody>
            <a:bodyPr wrap="none" lIns="0" tIns="0" rIns="0" bIns="0" anchor="t" anchorCtr="0">
              <a:spAutoFit/>
            </a:bodyPr>
            <a:lstStyle/>
            <a:p>
              <a:pPr algn="l"/>
              <a:r>
                <a:rPr lang="en-IN" sz="790" dirty="0">
                  <a:solidFill>
                    <a:srgbClr val="667085"/>
                  </a:solidFill>
                  <a:latin typeface="Calibri"/>
                  <a:ea typeface="Calibri"/>
                  <a:cs typeface="Calibri"/>
                </a:rPr>
                <a:t>+ LightGBM, OCR</a:t>
              </a:r>
            </a:p>
          </p:txBody>
        </p:sp>
        <p:sp>
          <p:nvSpPr>
            <p:cNvPr id="48" name="Freeform 48"/>
            <p:cNvSpPr/>
            <p:nvPr/>
          </p:nvSpPr>
          <p:spPr>
            <a:xfrm>
              <a:off x="1594677" y="4156880"/>
              <a:ext cx="272224" cy="155098"/>
            </a:xfrm>
            <a:custGeom>
              <a:avLst/>
              <a:gdLst/>
              <a:ahLst/>
              <a:cxnLst/>
              <a:rect l="l" t="t" r="r" b="b"/>
              <a:pathLst>
                <a:path w="272224" h="155098">
                  <a:moveTo>
                    <a:pt x="178890" y="322"/>
                  </a:moveTo>
                  <a:cubicBezTo>
                    <a:pt x="157665" y="711"/>
                    <a:pt x="134651" y="10435"/>
                    <a:pt x="116326" y="28770"/>
                  </a:cubicBezTo>
                  <a:cubicBezTo>
                    <a:pt x="83766" y="61330"/>
                    <a:pt x="93179" y="123560"/>
                    <a:pt x="104236" y="134617"/>
                  </a:cubicBezTo>
                  <a:cubicBezTo>
                    <a:pt x="113181" y="143552"/>
                    <a:pt x="177523" y="155098"/>
                    <a:pt x="210094" y="122527"/>
                  </a:cubicBezTo>
                  <a:cubicBezTo>
                    <a:pt x="212362" y="120243"/>
                    <a:pt x="214527" y="117859"/>
                    <a:pt x="216583" y="115381"/>
                  </a:cubicBezTo>
                  <a:cubicBezTo>
                    <a:pt x="217061" y="112137"/>
                    <a:pt x="218861" y="108047"/>
                    <a:pt x="222017" y="103091"/>
                  </a:cubicBezTo>
                  <a:cubicBezTo>
                    <a:pt x="220140" y="104045"/>
                    <a:pt x="218127" y="104705"/>
                    <a:pt x="216050" y="105047"/>
                  </a:cubicBezTo>
                  <a:cubicBezTo>
                    <a:pt x="214450" y="107992"/>
                    <a:pt x="211938" y="111159"/>
                    <a:pt x="208538" y="114548"/>
                  </a:cubicBezTo>
                  <a:cubicBezTo>
                    <a:pt x="204604" y="118271"/>
                    <a:pt x="201792" y="120704"/>
                    <a:pt x="200092" y="121838"/>
                  </a:cubicBezTo>
                  <a:cubicBezTo>
                    <a:pt x="198677" y="122870"/>
                    <a:pt x="196986" y="123458"/>
                    <a:pt x="195236" y="123527"/>
                  </a:cubicBezTo>
                  <a:cubicBezTo>
                    <a:pt x="191347" y="123527"/>
                    <a:pt x="189524" y="120104"/>
                    <a:pt x="189746" y="113259"/>
                  </a:cubicBezTo>
                  <a:cubicBezTo>
                    <a:pt x="187302" y="116770"/>
                    <a:pt x="185024" y="119360"/>
                    <a:pt x="182946" y="121038"/>
                  </a:cubicBezTo>
                  <a:cubicBezTo>
                    <a:pt x="181160" y="122590"/>
                    <a:pt x="178888" y="123471"/>
                    <a:pt x="176523" y="123527"/>
                  </a:cubicBezTo>
                  <a:cubicBezTo>
                    <a:pt x="174367" y="123527"/>
                    <a:pt x="172522" y="122527"/>
                    <a:pt x="171011" y="120493"/>
                  </a:cubicBezTo>
                  <a:cubicBezTo>
                    <a:pt x="169805" y="118841"/>
                    <a:pt x="169065" y="116895"/>
                    <a:pt x="168866" y="114859"/>
                  </a:cubicBezTo>
                  <a:cubicBezTo>
                    <a:pt x="166437" y="117324"/>
                    <a:pt x="163730" y="119498"/>
                    <a:pt x="160798" y="121338"/>
                  </a:cubicBezTo>
                  <a:cubicBezTo>
                    <a:pt x="158309" y="122805"/>
                    <a:pt x="155575" y="123527"/>
                    <a:pt x="152575" y="123527"/>
                  </a:cubicBezTo>
                  <a:cubicBezTo>
                    <a:pt x="149241" y="123527"/>
                    <a:pt x="146541" y="122460"/>
                    <a:pt x="144496" y="120326"/>
                  </a:cubicBezTo>
                  <a:cubicBezTo>
                    <a:pt x="142974" y="118721"/>
                    <a:pt x="141977" y="116690"/>
                    <a:pt x="141640" y="114504"/>
                  </a:cubicBezTo>
                  <a:lnTo>
                    <a:pt x="141640" y="114548"/>
                  </a:lnTo>
                  <a:cubicBezTo>
                    <a:pt x="138307" y="117615"/>
                    <a:pt x="135373" y="119882"/>
                    <a:pt x="132861" y="121338"/>
                  </a:cubicBezTo>
                  <a:cubicBezTo>
                    <a:pt x="130695" y="122695"/>
                    <a:pt x="128205" y="123451"/>
                    <a:pt x="125649" y="123527"/>
                  </a:cubicBezTo>
                  <a:cubicBezTo>
                    <a:pt x="123165" y="123592"/>
                    <a:pt x="120802" y="122454"/>
                    <a:pt x="119304" y="120471"/>
                  </a:cubicBezTo>
                  <a:cubicBezTo>
                    <a:pt x="117693" y="118437"/>
                    <a:pt x="116882" y="115693"/>
                    <a:pt x="116882" y="112259"/>
                  </a:cubicBezTo>
                  <a:cubicBezTo>
                    <a:pt x="116882" y="107103"/>
                    <a:pt x="118004" y="100924"/>
                    <a:pt x="120238" y="93701"/>
                  </a:cubicBezTo>
                  <a:cubicBezTo>
                    <a:pt x="122471" y="86478"/>
                    <a:pt x="125183" y="79810"/>
                    <a:pt x="128383" y="73732"/>
                  </a:cubicBezTo>
                  <a:lnTo>
                    <a:pt x="137740" y="70265"/>
                  </a:lnTo>
                  <a:cubicBezTo>
                    <a:pt x="137954" y="70184"/>
                    <a:pt x="138178" y="70135"/>
                    <a:pt x="138407" y="70120"/>
                  </a:cubicBezTo>
                  <a:cubicBezTo>
                    <a:pt x="139107" y="70120"/>
                    <a:pt x="139696" y="70642"/>
                    <a:pt x="140151" y="71676"/>
                  </a:cubicBezTo>
                  <a:cubicBezTo>
                    <a:pt x="140596" y="72732"/>
                    <a:pt x="140829" y="74132"/>
                    <a:pt x="140829" y="75899"/>
                  </a:cubicBezTo>
                  <a:cubicBezTo>
                    <a:pt x="140829" y="80910"/>
                    <a:pt x="139673" y="85767"/>
                    <a:pt x="137362" y="90456"/>
                  </a:cubicBezTo>
                  <a:cubicBezTo>
                    <a:pt x="135062" y="95145"/>
                    <a:pt x="131450" y="100157"/>
                    <a:pt x="126538" y="105480"/>
                  </a:cubicBezTo>
                  <a:cubicBezTo>
                    <a:pt x="126338" y="108036"/>
                    <a:pt x="126238" y="109792"/>
                    <a:pt x="126238" y="110747"/>
                  </a:cubicBezTo>
                  <a:cubicBezTo>
                    <a:pt x="126238" y="112892"/>
                    <a:pt x="126638" y="114581"/>
                    <a:pt x="127416" y="115837"/>
                  </a:cubicBezTo>
                  <a:cubicBezTo>
                    <a:pt x="128205" y="117093"/>
                    <a:pt x="129250" y="117715"/>
                    <a:pt x="130550" y="117715"/>
                  </a:cubicBezTo>
                  <a:cubicBezTo>
                    <a:pt x="132075" y="117654"/>
                    <a:pt x="133550" y="117152"/>
                    <a:pt x="134795" y="116270"/>
                  </a:cubicBezTo>
                  <a:cubicBezTo>
                    <a:pt x="136262" y="115337"/>
                    <a:pt x="138495" y="113381"/>
                    <a:pt x="141485" y="110459"/>
                  </a:cubicBezTo>
                  <a:cubicBezTo>
                    <a:pt x="141796" y="105814"/>
                    <a:pt x="143563" y="101591"/>
                    <a:pt x="146841" y="97768"/>
                  </a:cubicBezTo>
                  <a:cubicBezTo>
                    <a:pt x="150441" y="93545"/>
                    <a:pt x="154453" y="91445"/>
                    <a:pt x="158843" y="91445"/>
                  </a:cubicBezTo>
                  <a:cubicBezTo>
                    <a:pt x="161132" y="91445"/>
                    <a:pt x="162954" y="92045"/>
                    <a:pt x="164332" y="93223"/>
                  </a:cubicBezTo>
                  <a:cubicBezTo>
                    <a:pt x="165693" y="94370"/>
                    <a:pt x="166455" y="96078"/>
                    <a:pt x="166399" y="97857"/>
                  </a:cubicBezTo>
                  <a:cubicBezTo>
                    <a:pt x="166399" y="102946"/>
                    <a:pt x="160998" y="107069"/>
                    <a:pt x="150186" y="110236"/>
                  </a:cubicBezTo>
                  <a:cubicBezTo>
                    <a:pt x="151164" y="115015"/>
                    <a:pt x="153742" y="117415"/>
                    <a:pt x="157887" y="117415"/>
                  </a:cubicBezTo>
                  <a:cubicBezTo>
                    <a:pt x="159521" y="117412"/>
                    <a:pt x="161123" y="116962"/>
                    <a:pt x="162521" y="116115"/>
                  </a:cubicBezTo>
                  <a:cubicBezTo>
                    <a:pt x="163954" y="115270"/>
                    <a:pt x="166088" y="113414"/>
                    <a:pt x="168910" y="110592"/>
                  </a:cubicBezTo>
                  <a:cubicBezTo>
                    <a:pt x="169266" y="107792"/>
                    <a:pt x="170222" y="105091"/>
                    <a:pt x="171789" y="102502"/>
                  </a:cubicBezTo>
                  <a:cubicBezTo>
                    <a:pt x="173811" y="99168"/>
                    <a:pt x="176411" y="96457"/>
                    <a:pt x="179579" y="94390"/>
                  </a:cubicBezTo>
                  <a:cubicBezTo>
                    <a:pt x="182746" y="92334"/>
                    <a:pt x="185546" y="91301"/>
                    <a:pt x="187980" y="91301"/>
                  </a:cubicBezTo>
                  <a:cubicBezTo>
                    <a:pt x="191047" y="91301"/>
                    <a:pt x="193202" y="92712"/>
                    <a:pt x="194425" y="95534"/>
                  </a:cubicBezTo>
                  <a:lnTo>
                    <a:pt x="201948" y="91378"/>
                  </a:lnTo>
                  <a:lnTo>
                    <a:pt x="204015" y="91378"/>
                  </a:lnTo>
                  <a:lnTo>
                    <a:pt x="200770" y="102169"/>
                  </a:lnTo>
                  <a:cubicBezTo>
                    <a:pt x="199103" y="107592"/>
                    <a:pt x="198259" y="111314"/>
                    <a:pt x="198259" y="113326"/>
                  </a:cubicBezTo>
                  <a:cubicBezTo>
                    <a:pt x="198259" y="115437"/>
                    <a:pt x="199003" y="116493"/>
                    <a:pt x="200503" y="116493"/>
                  </a:cubicBezTo>
                  <a:cubicBezTo>
                    <a:pt x="201459" y="116493"/>
                    <a:pt x="202515" y="115993"/>
                    <a:pt x="203670" y="114970"/>
                  </a:cubicBezTo>
                  <a:cubicBezTo>
                    <a:pt x="204826" y="113948"/>
                    <a:pt x="206449" y="112392"/>
                    <a:pt x="208527" y="110303"/>
                  </a:cubicBezTo>
                  <a:lnTo>
                    <a:pt x="208527" y="110314"/>
                  </a:lnTo>
                  <a:cubicBezTo>
                    <a:pt x="210116" y="108592"/>
                    <a:pt x="211571" y="106758"/>
                    <a:pt x="212883" y="104825"/>
                  </a:cubicBezTo>
                  <a:cubicBezTo>
                    <a:pt x="210771" y="103891"/>
                    <a:pt x="209716" y="102491"/>
                    <a:pt x="209716" y="100657"/>
                  </a:cubicBezTo>
                  <a:cubicBezTo>
                    <a:pt x="209716" y="98768"/>
                    <a:pt x="210360" y="96746"/>
                    <a:pt x="211649" y="94601"/>
                  </a:cubicBezTo>
                  <a:cubicBezTo>
                    <a:pt x="212938" y="92445"/>
                    <a:pt x="214705" y="91378"/>
                    <a:pt x="216972" y="91378"/>
                  </a:cubicBezTo>
                  <a:cubicBezTo>
                    <a:pt x="218884" y="91378"/>
                    <a:pt x="219839" y="92356"/>
                    <a:pt x="219839" y="94323"/>
                  </a:cubicBezTo>
                  <a:cubicBezTo>
                    <a:pt x="219839" y="95868"/>
                    <a:pt x="219284" y="98079"/>
                    <a:pt x="218183" y="100946"/>
                  </a:cubicBezTo>
                  <a:cubicBezTo>
                    <a:pt x="222262" y="100502"/>
                    <a:pt x="225818" y="97390"/>
                    <a:pt x="228863" y="91589"/>
                  </a:cubicBezTo>
                  <a:lnTo>
                    <a:pt x="231396" y="91478"/>
                  </a:lnTo>
                  <a:cubicBezTo>
                    <a:pt x="243164" y="64386"/>
                    <a:pt x="240597" y="35082"/>
                    <a:pt x="222173" y="16669"/>
                  </a:cubicBezTo>
                  <a:cubicBezTo>
                    <a:pt x="210849" y="5334"/>
                    <a:pt x="195414" y="0"/>
                    <a:pt x="178890" y="322"/>
                  </a:cubicBezTo>
                  <a:close/>
                  <a:moveTo>
                    <a:pt x="231396" y="91478"/>
                  </a:moveTo>
                  <a:cubicBezTo>
                    <a:pt x="227617" y="100108"/>
                    <a:pt x="222630" y="108157"/>
                    <a:pt x="216583" y="115381"/>
                  </a:cubicBezTo>
                  <a:cubicBezTo>
                    <a:pt x="216502" y="115922"/>
                    <a:pt x="216457" y="116468"/>
                    <a:pt x="216450" y="117015"/>
                  </a:cubicBezTo>
                  <a:cubicBezTo>
                    <a:pt x="216450" y="118882"/>
                    <a:pt x="216972" y="120449"/>
                    <a:pt x="218006" y="121716"/>
                  </a:cubicBezTo>
                  <a:cubicBezTo>
                    <a:pt x="219028" y="122971"/>
                    <a:pt x="220295" y="123605"/>
                    <a:pt x="221784" y="123605"/>
                  </a:cubicBezTo>
                  <a:cubicBezTo>
                    <a:pt x="225073" y="123605"/>
                    <a:pt x="229718" y="120671"/>
                    <a:pt x="235719" y="114859"/>
                  </a:cubicBezTo>
                  <a:cubicBezTo>
                    <a:pt x="235708" y="115304"/>
                    <a:pt x="235686" y="115748"/>
                    <a:pt x="235686" y="116204"/>
                  </a:cubicBezTo>
                  <a:cubicBezTo>
                    <a:pt x="235686" y="117826"/>
                    <a:pt x="235819" y="120293"/>
                    <a:pt x="236086" y="123605"/>
                  </a:cubicBezTo>
                  <a:lnTo>
                    <a:pt x="244231" y="121693"/>
                  </a:lnTo>
                  <a:cubicBezTo>
                    <a:pt x="244231" y="119471"/>
                    <a:pt x="244265" y="117726"/>
                    <a:pt x="244342" y="116426"/>
                  </a:cubicBezTo>
                  <a:cubicBezTo>
                    <a:pt x="244453" y="114681"/>
                    <a:pt x="244709" y="112759"/>
                    <a:pt x="245076" y="110681"/>
                  </a:cubicBezTo>
                  <a:cubicBezTo>
                    <a:pt x="245298" y="109458"/>
                    <a:pt x="245854" y="108281"/>
                    <a:pt x="246765" y="107180"/>
                  </a:cubicBezTo>
                  <a:lnTo>
                    <a:pt x="248832" y="104780"/>
                  </a:lnTo>
                  <a:cubicBezTo>
                    <a:pt x="250155" y="103238"/>
                    <a:pt x="251557" y="101765"/>
                    <a:pt x="253032" y="100368"/>
                  </a:cubicBezTo>
                  <a:cubicBezTo>
                    <a:pt x="253721" y="99757"/>
                    <a:pt x="254321" y="99268"/>
                    <a:pt x="254833" y="98924"/>
                  </a:cubicBezTo>
                  <a:cubicBezTo>
                    <a:pt x="255237" y="98639"/>
                    <a:pt x="255708" y="98463"/>
                    <a:pt x="256199" y="98413"/>
                  </a:cubicBezTo>
                  <a:cubicBezTo>
                    <a:pt x="256811" y="98413"/>
                    <a:pt x="257122" y="98802"/>
                    <a:pt x="257122" y="99591"/>
                  </a:cubicBezTo>
                  <a:cubicBezTo>
                    <a:pt x="257122" y="100368"/>
                    <a:pt x="256544" y="102213"/>
                    <a:pt x="255388" y="105113"/>
                  </a:cubicBezTo>
                  <a:cubicBezTo>
                    <a:pt x="253232" y="110514"/>
                    <a:pt x="252143" y="114537"/>
                    <a:pt x="252143" y="117159"/>
                  </a:cubicBezTo>
                  <a:cubicBezTo>
                    <a:pt x="252143" y="119104"/>
                    <a:pt x="252655" y="120649"/>
                    <a:pt x="253655" y="121804"/>
                  </a:cubicBezTo>
                  <a:cubicBezTo>
                    <a:pt x="254650" y="122953"/>
                    <a:pt x="256114" y="123587"/>
                    <a:pt x="257633" y="123527"/>
                  </a:cubicBezTo>
                  <a:cubicBezTo>
                    <a:pt x="261689" y="123527"/>
                    <a:pt x="266556" y="120538"/>
                    <a:pt x="272224" y="114548"/>
                  </a:cubicBezTo>
                  <a:lnTo>
                    <a:pt x="272224" y="110314"/>
                  </a:lnTo>
                  <a:cubicBezTo>
                    <a:pt x="268212" y="115048"/>
                    <a:pt x="265301" y="117426"/>
                    <a:pt x="263511" y="117426"/>
                  </a:cubicBezTo>
                  <a:cubicBezTo>
                    <a:pt x="262300" y="117426"/>
                    <a:pt x="261700" y="116682"/>
                    <a:pt x="261700" y="115204"/>
                  </a:cubicBezTo>
                  <a:cubicBezTo>
                    <a:pt x="261700" y="114092"/>
                    <a:pt x="262422" y="111692"/>
                    <a:pt x="263867" y="107980"/>
                  </a:cubicBezTo>
                  <a:cubicBezTo>
                    <a:pt x="265978" y="102580"/>
                    <a:pt x="267034" y="98690"/>
                    <a:pt x="267034" y="96335"/>
                  </a:cubicBezTo>
                  <a:cubicBezTo>
                    <a:pt x="267080" y="95038"/>
                    <a:pt x="266635" y="93773"/>
                    <a:pt x="265790" y="92790"/>
                  </a:cubicBezTo>
                  <a:cubicBezTo>
                    <a:pt x="265011" y="91872"/>
                    <a:pt x="263860" y="91353"/>
                    <a:pt x="262656" y="91378"/>
                  </a:cubicBezTo>
                  <a:cubicBezTo>
                    <a:pt x="260822" y="91378"/>
                    <a:pt x="258722" y="92234"/>
                    <a:pt x="256355" y="93968"/>
                  </a:cubicBezTo>
                  <a:cubicBezTo>
                    <a:pt x="253988" y="95701"/>
                    <a:pt x="250799" y="98813"/>
                    <a:pt x="246765" y="103302"/>
                  </a:cubicBezTo>
                  <a:cubicBezTo>
                    <a:pt x="247354" y="100391"/>
                    <a:pt x="248598" y="96390"/>
                    <a:pt x="250488" y="91301"/>
                  </a:cubicBezTo>
                  <a:lnTo>
                    <a:pt x="241498" y="93034"/>
                  </a:lnTo>
                  <a:cubicBezTo>
                    <a:pt x="239673" y="96875"/>
                    <a:pt x="238190" y="100869"/>
                    <a:pt x="237064" y="104969"/>
                  </a:cubicBezTo>
                  <a:cubicBezTo>
                    <a:pt x="236619" y="106703"/>
                    <a:pt x="236286" y="108481"/>
                    <a:pt x="236041" y="110303"/>
                  </a:cubicBezTo>
                  <a:cubicBezTo>
                    <a:pt x="234302" y="112050"/>
                    <a:pt x="232485" y="113719"/>
                    <a:pt x="230596" y="115304"/>
                  </a:cubicBezTo>
                  <a:cubicBezTo>
                    <a:pt x="229868" y="115870"/>
                    <a:pt x="228974" y="116182"/>
                    <a:pt x="228051" y="116193"/>
                  </a:cubicBezTo>
                  <a:cubicBezTo>
                    <a:pt x="227297" y="116223"/>
                    <a:pt x="226575" y="115883"/>
                    <a:pt x="226118" y="115281"/>
                  </a:cubicBezTo>
                  <a:cubicBezTo>
                    <a:pt x="225610" y="114563"/>
                    <a:pt x="225359" y="113693"/>
                    <a:pt x="225407" y="112814"/>
                  </a:cubicBezTo>
                  <a:cubicBezTo>
                    <a:pt x="225407" y="111703"/>
                    <a:pt x="225618" y="110436"/>
                    <a:pt x="226029" y="109003"/>
                  </a:cubicBezTo>
                  <a:cubicBezTo>
                    <a:pt x="226451" y="107558"/>
                    <a:pt x="227362" y="104858"/>
                    <a:pt x="228796" y="100880"/>
                  </a:cubicBezTo>
                  <a:lnTo>
                    <a:pt x="232219" y="91445"/>
                  </a:lnTo>
                  <a:close/>
                  <a:moveTo>
                    <a:pt x="40150" y="58952"/>
                  </a:moveTo>
                  <a:cubicBezTo>
                    <a:pt x="30559" y="58774"/>
                    <a:pt x="21592" y="61875"/>
                    <a:pt x="15024" y="68442"/>
                  </a:cubicBezTo>
                  <a:cubicBezTo>
                    <a:pt x="0" y="83466"/>
                    <a:pt x="3134" y="110970"/>
                    <a:pt x="22036" y="129861"/>
                  </a:cubicBezTo>
                  <a:cubicBezTo>
                    <a:pt x="40927" y="148763"/>
                    <a:pt x="77043" y="143307"/>
                    <a:pt x="83455" y="136884"/>
                  </a:cubicBezTo>
                  <a:cubicBezTo>
                    <a:pt x="88645" y="131706"/>
                    <a:pt x="95346" y="94357"/>
                    <a:pt x="76443" y="75465"/>
                  </a:cubicBezTo>
                  <a:cubicBezTo>
                    <a:pt x="65808" y="64831"/>
                    <a:pt x="52462" y="59185"/>
                    <a:pt x="40138" y="58952"/>
                  </a:cubicBezTo>
                  <a:close/>
                  <a:moveTo>
                    <a:pt x="176667" y="62930"/>
                  </a:moveTo>
                  <a:lnTo>
                    <a:pt x="178512" y="62930"/>
                  </a:lnTo>
                  <a:lnTo>
                    <a:pt x="178512" y="65264"/>
                  </a:lnTo>
                  <a:lnTo>
                    <a:pt x="176656" y="65264"/>
                  </a:lnTo>
                  <a:close/>
                  <a:moveTo>
                    <a:pt x="181412" y="62930"/>
                  </a:moveTo>
                  <a:lnTo>
                    <a:pt x="183257" y="62930"/>
                  </a:lnTo>
                  <a:lnTo>
                    <a:pt x="183257" y="72543"/>
                  </a:lnTo>
                  <a:lnTo>
                    <a:pt x="188369" y="67486"/>
                  </a:lnTo>
                  <a:lnTo>
                    <a:pt x="190535" y="67486"/>
                  </a:lnTo>
                  <a:lnTo>
                    <a:pt x="186491" y="71509"/>
                  </a:lnTo>
                  <a:lnTo>
                    <a:pt x="191247" y="79110"/>
                  </a:lnTo>
                  <a:lnTo>
                    <a:pt x="189046" y="79110"/>
                  </a:lnTo>
                  <a:lnTo>
                    <a:pt x="185079" y="72720"/>
                  </a:lnTo>
                  <a:lnTo>
                    <a:pt x="183257" y="74565"/>
                  </a:lnTo>
                  <a:lnTo>
                    <a:pt x="183257" y="79121"/>
                  </a:lnTo>
                  <a:lnTo>
                    <a:pt x="181412" y="79121"/>
                  </a:lnTo>
                  <a:close/>
                  <a:moveTo>
                    <a:pt x="192702" y="62930"/>
                  </a:moveTo>
                  <a:lnTo>
                    <a:pt x="194547" y="62930"/>
                  </a:lnTo>
                  <a:lnTo>
                    <a:pt x="194547" y="65264"/>
                  </a:lnTo>
                  <a:lnTo>
                    <a:pt x="192702" y="65264"/>
                  </a:lnTo>
                  <a:close/>
                  <a:moveTo>
                    <a:pt x="198048" y="64286"/>
                  </a:moveTo>
                  <a:lnTo>
                    <a:pt x="199892" y="64286"/>
                  </a:lnTo>
                  <a:lnTo>
                    <a:pt x="199892" y="67486"/>
                  </a:lnTo>
                  <a:lnTo>
                    <a:pt x="201804" y="67486"/>
                  </a:lnTo>
                  <a:lnTo>
                    <a:pt x="201804" y="68987"/>
                  </a:lnTo>
                  <a:lnTo>
                    <a:pt x="199892" y="68987"/>
                  </a:lnTo>
                  <a:lnTo>
                    <a:pt x="199892" y="76954"/>
                  </a:lnTo>
                  <a:cubicBezTo>
                    <a:pt x="199892" y="77365"/>
                    <a:pt x="199959" y="77643"/>
                    <a:pt x="200114" y="77788"/>
                  </a:cubicBezTo>
                  <a:cubicBezTo>
                    <a:pt x="200248" y="77932"/>
                    <a:pt x="200526" y="78010"/>
                    <a:pt x="200937" y="78010"/>
                  </a:cubicBezTo>
                  <a:cubicBezTo>
                    <a:pt x="201230" y="78023"/>
                    <a:pt x="201523" y="77985"/>
                    <a:pt x="201804" y="77899"/>
                  </a:cubicBezTo>
                  <a:lnTo>
                    <a:pt x="201804" y="79466"/>
                  </a:lnTo>
                  <a:cubicBezTo>
                    <a:pt x="201305" y="79560"/>
                    <a:pt x="200800" y="79613"/>
                    <a:pt x="200292" y="79621"/>
                  </a:cubicBezTo>
                  <a:cubicBezTo>
                    <a:pt x="199698" y="79661"/>
                    <a:pt x="199108" y="79492"/>
                    <a:pt x="198625" y="79143"/>
                  </a:cubicBezTo>
                  <a:cubicBezTo>
                    <a:pt x="198229" y="78803"/>
                    <a:pt x="198016" y="78298"/>
                    <a:pt x="198048" y="77777"/>
                  </a:cubicBezTo>
                  <a:lnTo>
                    <a:pt x="198048" y="68998"/>
                  </a:lnTo>
                  <a:lnTo>
                    <a:pt x="196481" y="68998"/>
                  </a:lnTo>
                  <a:lnTo>
                    <a:pt x="196481" y="67486"/>
                  </a:lnTo>
                  <a:lnTo>
                    <a:pt x="198048" y="67486"/>
                  </a:lnTo>
                  <a:close/>
                  <a:moveTo>
                    <a:pt x="158465" y="67153"/>
                  </a:moveTo>
                  <a:cubicBezTo>
                    <a:pt x="159365" y="67153"/>
                    <a:pt x="160132" y="67286"/>
                    <a:pt x="160765" y="67575"/>
                  </a:cubicBezTo>
                  <a:cubicBezTo>
                    <a:pt x="161398" y="67842"/>
                    <a:pt x="161876" y="68253"/>
                    <a:pt x="162210" y="68798"/>
                  </a:cubicBezTo>
                  <a:cubicBezTo>
                    <a:pt x="162543" y="69342"/>
                    <a:pt x="162710" y="69976"/>
                    <a:pt x="162710" y="70720"/>
                  </a:cubicBezTo>
                  <a:lnTo>
                    <a:pt x="160754" y="70720"/>
                  </a:lnTo>
                  <a:cubicBezTo>
                    <a:pt x="160687" y="69487"/>
                    <a:pt x="159920" y="68864"/>
                    <a:pt x="158442" y="68864"/>
                  </a:cubicBezTo>
                  <a:cubicBezTo>
                    <a:pt x="157803" y="68828"/>
                    <a:pt x="157167" y="68987"/>
                    <a:pt x="156620" y="69320"/>
                  </a:cubicBezTo>
                  <a:cubicBezTo>
                    <a:pt x="156186" y="69607"/>
                    <a:pt x="155933" y="70100"/>
                    <a:pt x="155953" y="70620"/>
                  </a:cubicBezTo>
                  <a:cubicBezTo>
                    <a:pt x="155953" y="71009"/>
                    <a:pt x="156120" y="71342"/>
                    <a:pt x="156453" y="71598"/>
                  </a:cubicBezTo>
                  <a:cubicBezTo>
                    <a:pt x="156787" y="71865"/>
                    <a:pt x="157342" y="72087"/>
                    <a:pt x="158120" y="72265"/>
                  </a:cubicBezTo>
                  <a:lnTo>
                    <a:pt x="159898" y="72698"/>
                  </a:lnTo>
                  <a:cubicBezTo>
                    <a:pt x="160817" y="72858"/>
                    <a:pt x="161677" y="73261"/>
                    <a:pt x="162387" y="73865"/>
                  </a:cubicBezTo>
                  <a:cubicBezTo>
                    <a:pt x="162910" y="74376"/>
                    <a:pt x="163165" y="75065"/>
                    <a:pt x="163165" y="75932"/>
                  </a:cubicBezTo>
                  <a:cubicBezTo>
                    <a:pt x="163179" y="76624"/>
                    <a:pt x="162977" y="77304"/>
                    <a:pt x="162587" y="77877"/>
                  </a:cubicBezTo>
                  <a:cubicBezTo>
                    <a:pt x="162165" y="78465"/>
                    <a:pt x="161577" y="78914"/>
                    <a:pt x="160898" y="79166"/>
                  </a:cubicBezTo>
                  <a:cubicBezTo>
                    <a:pt x="160100" y="79482"/>
                    <a:pt x="159246" y="79637"/>
                    <a:pt x="158387" y="79621"/>
                  </a:cubicBezTo>
                  <a:cubicBezTo>
                    <a:pt x="156876" y="79621"/>
                    <a:pt x="155720" y="79288"/>
                    <a:pt x="154953" y="78643"/>
                  </a:cubicBezTo>
                  <a:cubicBezTo>
                    <a:pt x="154186" y="77988"/>
                    <a:pt x="153786" y="76988"/>
                    <a:pt x="153742" y="75654"/>
                  </a:cubicBezTo>
                  <a:lnTo>
                    <a:pt x="155698" y="75654"/>
                  </a:lnTo>
                  <a:cubicBezTo>
                    <a:pt x="155742" y="76065"/>
                    <a:pt x="155809" y="76376"/>
                    <a:pt x="155887" y="76588"/>
                  </a:cubicBezTo>
                  <a:cubicBezTo>
                    <a:pt x="155973" y="76810"/>
                    <a:pt x="156101" y="77014"/>
                    <a:pt x="156264" y="77188"/>
                  </a:cubicBezTo>
                  <a:cubicBezTo>
                    <a:pt x="156753" y="77665"/>
                    <a:pt x="157509" y="77910"/>
                    <a:pt x="158531" y="77910"/>
                  </a:cubicBezTo>
                  <a:cubicBezTo>
                    <a:pt x="159222" y="77945"/>
                    <a:pt x="159908" y="77770"/>
                    <a:pt x="160498" y="77410"/>
                  </a:cubicBezTo>
                  <a:cubicBezTo>
                    <a:pt x="160961" y="77130"/>
                    <a:pt x="161243" y="76628"/>
                    <a:pt x="161243" y="76088"/>
                  </a:cubicBezTo>
                  <a:cubicBezTo>
                    <a:pt x="161256" y="75708"/>
                    <a:pt x="161102" y="75342"/>
                    <a:pt x="160821" y="75087"/>
                  </a:cubicBezTo>
                  <a:cubicBezTo>
                    <a:pt x="160417" y="74776"/>
                    <a:pt x="159944" y="74567"/>
                    <a:pt x="159443" y="74476"/>
                  </a:cubicBezTo>
                  <a:lnTo>
                    <a:pt x="157709" y="74054"/>
                  </a:lnTo>
                  <a:cubicBezTo>
                    <a:pt x="157108" y="73908"/>
                    <a:pt x="156518" y="73723"/>
                    <a:pt x="155942" y="73498"/>
                  </a:cubicBezTo>
                  <a:cubicBezTo>
                    <a:pt x="155545" y="73333"/>
                    <a:pt x="155177" y="73104"/>
                    <a:pt x="154853" y="72820"/>
                  </a:cubicBezTo>
                  <a:cubicBezTo>
                    <a:pt x="154569" y="72567"/>
                    <a:pt x="154349" y="72251"/>
                    <a:pt x="154209" y="71898"/>
                  </a:cubicBezTo>
                  <a:cubicBezTo>
                    <a:pt x="154081" y="71511"/>
                    <a:pt x="154021" y="71105"/>
                    <a:pt x="154031" y="70698"/>
                  </a:cubicBezTo>
                  <a:cubicBezTo>
                    <a:pt x="154031" y="69631"/>
                    <a:pt x="154431" y="68764"/>
                    <a:pt x="155242" y="68120"/>
                  </a:cubicBezTo>
                  <a:cubicBezTo>
                    <a:pt x="156172" y="67435"/>
                    <a:pt x="157311" y="67093"/>
                    <a:pt x="158465" y="67153"/>
                  </a:cubicBezTo>
                  <a:close/>
                  <a:moveTo>
                    <a:pt x="169966" y="67153"/>
                  </a:moveTo>
                  <a:cubicBezTo>
                    <a:pt x="170741" y="67140"/>
                    <a:pt x="171509" y="67304"/>
                    <a:pt x="172211" y="67631"/>
                  </a:cubicBezTo>
                  <a:cubicBezTo>
                    <a:pt x="173203" y="68090"/>
                    <a:pt x="173957" y="68945"/>
                    <a:pt x="174289" y="69987"/>
                  </a:cubicBezTo>
                  <a:cubicBezTo>
                    <a:pt x="174426" y="70443"/>
                    <a:pt x="174512" y="70912"/>
                    <a:pt x="174545" y="71387"/>
                  </a:cubicBezTo>
                  <a:lnTo>
                    <a:pt x="172678" y="71387"/>
                  </a:lnTo>
                  <a:cubicBezTo>
                    <a:pt x="172632" y="70678"/>
                    <a:pt x="172323" y="70012"/>
                    <a:pt x="171811" y="69520"/>
                  </a:cubicBezTo>
                  <a:cubicBezTo>
                    <a:pt x="171291" y="69063"/>
                    <a:pt x="170614" y="68824"/>
                    <a:pt x="169922" y="68853"/>
                  </a:cubicBezTo>
                  <a:cubicBezTo>
                    <a:pt x="169301" y="68839"/>
                    <a:pt x="168695" y="69035"/>
                    <a:pt x="168199" y="69409"/>
                  </a:cubicBezTo>
                  <a:cubicBezTo>
                    <a:pt x="167681" y="69822"/>
                    <a:pt x="167294" y="70379"/>
                    <a:pt x="167088" y="71009"/>
                  </a:cubicBezTo>
                  <a:cubicBezTo>
                    <a:pt x="166820" y="71811"/>
                    <a:pt x="166692" y="72653"/>
                    <a:pt x="166710" y="73498"/>
                  </a:cubicBezTo>
                  <a:cubicBezTo>
                    <a:pt x="166689" y="74308"/>
                    <a:pt x="166821" y="75115"/>
                    <a:pt x="167099" y="75876"/>
                  </a:cubicBezTo>
                  <a:cubicBezTo>
                    <a:pt x="167322" y="76474"/>
                    <a:pt x="167711" y="76995"/>
                    <a:pt x="168222" y="77377"/>
                  </a:cubicBezTo>
                  <a:cubicBezTo>
                    <a:pt x="168731" y="77737"/>
                    <a:pt x="169342" y="77924"/>
                    <a:pt x="169966" y="77910"/>
                  </a:cubicBezTo>
                  <a:cubicBezTo>
                    <a:pt x="171544" y="77910"/>
                    <a:pt x="172489" y="76977"/>
                    <a:pt x="172811" y="75110"/>
                  </a:cubicBezTo>
                  <a:lnTo>
                    <a:pt x="174667" y="75110"/>
                  </a:lnTo>
                  <a:cubicBezTo>
                    <a:pt x="174611" y="75968"/>
                    <a:pt x="174365" y="76804"/>
                    <a:pt x="173944" y="77554"/>
                  </a:cubicBezTo>
                  <a:cubicBezTo>
                    <a:pt x="173565" y="78213"/>
                    <a:pt x="173001" y="78746"/>
                    <a:pt x="172322" y="79088"/>
                  </a:cubicBezTo>
                  <a:cubicBezTo>
                    <a:pt x="171577" y="79457"/>
                    <a:pt x="170753" y="79640"/>
                    <a:pt x="169922" y="79621"/>
                  </a:cubicBezTo>
                  <a:cubicBezTo>
                    <a:pt x="168959" y="79646"/>
                    <a:pt x="168009" y="79392"/>
                    <a:pt x="167188" y="78888"/>
                  </a:cubicBezTo>
                  <a:cubicBezTo>
                    <a:pt x="166398" y="78365"/>
                    <a:pt x="165776" y="77623"/>
                    <a:pt x="165399" y="76754"/>
                  </a:cubicBezTo>
                  <a:cubicBezTo>
                    <a:pt x="164957" y="75727"/>
                    <a:pt x="164741" y="74616"/>
                    <a:pt x="164766" y="73498"/>
                  </a:cubicBezTo>
                  <a:cubicBezTo>
                    <a:pt x="164766" y="72554"/>
                    <a:pt x="164877" y="71687"/>
                    <a:pt x="165121" y="70909"/>
                  </a:cubicBezTo>
                  <a:cubicBezTo>
                    <a:pt x="165336" y="70172"/>
                    <a:pt x="165694" y="69484"/>
                    <a:pt x="166177" y="68887"/>
                  </a:cubicBezTo>
                  <a:cubicBezTo>
                    <a:pt x="166621" y="68326"/>
                    <a:pt x="167192" y="67881"/>
                    <a:pt x="167844" y="67586"/>
                  </a:cubicBezTo>
                  <a:cubicBezTo>
                    <a:pt x="168510" y="67286"/>
                    <a:pt x="169235" y="67134"/>
                    <a:pt x="169966" y="67142"/>
                  </a:cubicBezTo>
                  <a:close/>
                  <a:moveTo>
                    <a:pt x="176667" y="67486"/>
                  </a:moveTo>
                  <a:lnTo>
                    <a:pt x="178512" y="67486"/>
                  </a:lnTo>
                  <a:lnTo>
                    <a:pt x="178512" y="79110"/>
                  </a:lnTo>
                  <a:lnTo>
                    <a:pt x="176656" y="79110"/>
                  </a:lnTo>
                  <a:close/>
                  <a:moveTo>
                    <a:pt x="192702" y="67486"/>
                  </a:moveTo>
                  <a:lnTo>
                    <a:pt x="194547" y="67486"/>
                  </a:lnTo>
                  <a:lnTo>
                    <a:pt x="194547" y="79110"/>
                  </a:lnTo>
                  <a:lnTo>
                    <a:pt x="192702" y="79110"/>
                  </a:lnTo>
                  <a:close/>
                  <a:moveTo>
                    <a:pt x="136584" y="74354"/>
                  </a:moveTo>
                  <a:cubicBezTo>
                    <a:pt x="135695" y="74354"/>
                    <a:pt x="134362" y="76621"/>
                    <a:pt x="132628" y="81144"/>
                  </a:cubicBezTo>
                  <a:cubicBezTo>
                    <a:pt x="130906" y="85667"/>
                    <a:pt x="129205" y="92001"/>
                    <a:pt x="127527" y="100146"/>
                  </a:cubicBezTo>
                  <a:cubicBezTo>
                    <a:pt x="130650" y="96679"/>
                    <a:pt x="133184" y="92790"/>
                    <a:pt x="135117" y="88478"/>
                  </a:cubicBezTo>
                  <a:cubicBezTo>
                    <a:pt x="137062" y="84177"/>
                    <a:pt x="138029" y="80477"/>
                    <a:pt x="138029" y="77377"/>
                  </a:cubicBezTo>
                  <a:cubicBezTo>
                    <a:pt x="138060" y="76626"/>
                    <a:pt x="137923" y="75878"/>
                    <a:pt x="137629" y="75187"/>
                  </a:cubicBezTo>
                  <a:cubicBezTo>
                    <a:pt x="137351" y="74632"/>
                    <a:pt x="137006" y="74354"/>
                    <a:pt x="136595" y="74354"/>
                  </a:cubicBezTo>
                  <a:close/>
                  <a:moveTo>
                    <a:pt x="188391" y="94323"/>
                  </a:moveTo>
                  <a:cubicBezTo>
                    <a:pt x="185935" y="94323"/>
                    <a:pt x="183601" y="96412"/>
                    <a:pt x="181401" y="100580"/>
                  </a:cubicBezTo>
                  <a:cubicBezTo>
                    <a:pt x="179212" y="104758"/>
                    <a:pt x="178112" y="108603"/>
                    <a:pt x="178112" y="112114"/>
                  </a:cubicBezTo>
                  <a:cubicBezTo>
                    <a:pt x="178112" y="113448"/>
                    <a:pt x="178434" y="114515"/>
                    <a:pt x="179090" y="115337"/>
                  </a:cubicBezTo>
                  <a:cubicBezTo>
                    <a:pt x="179669" y="116123"/>
                    <a:pt x="180591" y="116582"/>
                    <a:pt x="181568" y="116570"/>
                  </a:cubicBezTo>
                  <a:cubicBezTo>
                    <a:pt x="184024" y="116570"/>
                    <a:pt x="186346" y="114481"/>
                    <a:pt x="188513" y="110292"/>
                  </a:cubicBezTo>
                  <a:cubicBezTo>
                    <a:pt x="190691" y="106102"/>
                    <a:pt x="191780" y="102235"/>
                    <a:pt x="191780" y="98702"/>
                  </a:cubicBezTo>
                  <a:cubicBezTo>
                    <a:pt x="191846" y="97554"/>
                    <a:pt x="191521" y="96418"/>
                    <a:pt x="190858" y="95479"/>
                  </a:cubicBezTo>
                  <a:cubicBezTo>
                    <a:pt x="190269" y="94720"/>
                    <a:pt x="189351" y="94290"/>
                    <a:pt x="188391" y="94323"/>
                  </a:cubicBezTo>
                  <a:close/>
                  <a:moveTo>
                    <a:pt x="156742" y="94401"/>
                  </a:moveTo>
                  <a:cubicBezTo>
                    <a:pt x="155120" y="94401"/>
                    <a:pt x="153575" y="95623"/>
                    <a:pt x="152108" y="98101"/>
                  </a:cubicBezTo>
                  <a:cubicBezTo>
                    <a:pt x="150630" y="100568"/>
                    <a:pt x="149886" y="103769"/>
                    <a:pt x="149886" y="107725"/>
                  </a:cubicBezTo>
                  <a:cubicBezTo>
                    <a:pt x="156176" y="105958"/>
                    <a:pt x="159320" y="102702"/>
                    <a:pt x="159320" y="97935"/>
                  </a:cubicBezTo>
                  <a:cubicBezTo>
                    <a:pt x="159320" y="95579"/>
                    <a:pt x="158465" y="94401"/>
                    <a:pt x="156742" y="94401"/>
                  </a:cubicBezTo>
                  <a:close/>
                </a:path>
              </a:pathLst>
            </a:custGeom>
            <a:solidFill>
              <a:srgbClr val="1D2939"/>
            </a:solidFill>
            <a:ln>
              <a:noFill/>
            </a:ln>
          </p:spPr>
        </p:sp>
        <p:sp>
          <p:nvSpPr>
            <p:cNvPr id="49" name="TextBox 49"/>
            <p:cNvSpPr txBox="1"/>
            <p:nvPr/>
          </p:nvSpPr>
          <p:spPr>
            <a:xfrm>
              <a:off x="1504196" y="4481512"/>
              <a:ext cx="458708"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scikit-learn</a:t>
              </a:r>
            </a:p>
          </p:txBody>
        </p:sp>
        <p:sp>
          <p:nvSpPr>
            <p:cNvPr id="50" name="Freeform 50"/>
            <p:cNvSpPr/>
            <p:nvPr/>
          </p:nvSpPr>
          <p:spPr>
            <a:xfrm>
              <a:off x="2190750" y="4105223"/>
              <a:ext cx="266761" cy="247754"/>
            </a:xfrm>
            <a:custGeom>
              <a:avLst/>
              <a:gdLst/>
              <a:ahLst/>
              <a:cxnLst/>
              <a:rect l="l" t="t" r="r" b="b"/>
              <a:pathLst>
                <a:path w="266761" h="247754">
                  <a:moveTo>
                    <a:pt x="132230" y="0"/>
                  </a:moveTo>
                  <a:cubicBezTo>
                    <a:pt x="97068" y="0"/>
                    <a:pt x="68564" y="28504"/>
                    <a:pt x="68564" y="63666"/>
                  </a:cubicBezTo>
                  <a:cubicBezTo>
                    <a:pt x="68564" y="87024"/>
                    <a:pt x="81145" y="107447"/>
                    <a:pt x="99899" y="118524"/>
                  </a:cubicBezTo>
                  <a:lnTo>
                    <a:pt x="118137" y="87577"/>
                  </a:lnTo>
                  <a:cubicBezTo>
                    <a:pt x="118594" y="86800"/>
                    <a:pt x="118333" y="85807"/>
                    <a:pt x="117587" y="85301"/>
                  </a:cubicBezTo>
                  <a:cubicBezTo>
                    <a:pt x="110661" y="80604"/>
                    <a:pt x="106110" y="72666"/>
                    <a:pt x="106110" y="63665"/>
                  </a:cubicBezTo>
                  <a:cubicBezTo>
                    <a:pt x="106110" y="49241"/>
                    <a:pt x="117805" y="37546"/>
                    <a:pt x="132230" y="37546"/>
                  </a:cubicBezTo>
                  <a:cubicBezTo>
                    <a:pt x="146655" y="37546"/>
                    <a:pt x="158350" y="49241"/>
                    <a:pt x="158350" y="63666"/>
                  </a:cubicBezTo>
                  <a:cubicBezTo>
                    <a:pt x="158350" y="72665"/>
                    <a:pt x="153800" y="80604"/>
                    <a:pt x="146873" y="85302"/>
                  </a:cubicBezTo>
                  <a:cubicBezTo>
                    <a:pt x="146128" y="85807"/>
                    <a:pt x="145865" y="86800"/>
                    <a:pt x="146323" y="87577"/>
                  </a:cubicBezTo>
                  <a:lnTo>
                    <a:pt x="164563" y="118525"/>
                  </a:lnTo>
                  <a:cubicBezTo>
                    <a:pt x="183319" y="107447"/>
                    <a:pt x="195899" y="87026"/>
                    <a:pt x="195899" y="63666"/>
                  </a:cubicBezTo>
                  <a:cubicBezTo>
                    <a:pt x="195899" y="28504"/>
                    <a:pt x="167393" y="0"/>
                    <a:pt x="132230" y="0"/>
                  </a:cubicBezTo>
                  <a:close/>
                  <a:moveTo>
                    <a:pt x="63666" y="120422"/>
                  </a:moveTo>
                  <a:cubicBezTo>
                    <a:pt x="28504" y="120422"/>
                    <a:pt x="0" y="148926"/>
                    <a:pt x="0" y="184088"/>
                  </a:cubicBezTo>
                  <a:cubicBezTo>
                    <a:pt x="0" y="219250"/>
                    <a:pt x="28504" y="247754"/>
                    <a:pt x="63666" y="247754"/>
                  </a:cubicBezTo>
                  <a:cubicBezTo>
                    <a:pt x="99002" y="247754"/>
                    <a:pt x="128201" y="217756"/>
                    <a:pt x="127313" y="182454"/>
                  </a:cubicBezTo>
                  <a:lnTo>
                    <a:pt x="91471" y="182454"/>
                  </a:lnTo>
                  <a:cubicBezTo>
                    <a:pt x="90529" y="182454"/>
                    <a:pt x="89789" y="183251"/>
                    <a:pt x="89783" y="184192"/>
                  </a:cubicBezTo>
                  <a:cubicBezTo>
                    <a:pt x="89691" y="198261"/>
                    <a:pt x="77954" y="210208"/>
                    <a:pt x="63666" y="210208"/>
                  </a:cubicBezTo>
                  <a:cubicBezTo>
                    <a:pt x="49241" y="210208"/>
                    <a:pt x="37546" y="198513"/>
                    <a:pt x="37546" y="184088"/>
                  </a:cubicBezTo>
                  <a:cubicBezTo>
                    <a:pt x="37546" y="169662"/>
                    <a:pt x="49241" y="157968"/>
                    <a:pt x="63666" y="157968"/>
                  </a:cubicBezTo>
                  <a:cubicBezTo>
                    <a:pt x="67444" y="157968"/>
                    <a:pt x="71034" y="158773"/>
                    <a:pt x="74275" y="160215"/>
                  </a:cubicBezTo>
                  <a:cubicBezTo>
                    <a:pt x="75067" y="160568"/>
                    <a:pt x="76015" y="160300"/>
                    <a:pt x="76455" y="159554"/>
                  </a:cubicBezTo>
                  <a:lnTo>
                    <a:pt x="94751" y="128511"/>
                  </a:lnTo>
                  <a:cubicBezTo>
                    <a:pt x="85558" y="123359"/>
                    <a:pt x="74954" y="120422"/>
                    <a:pt x="63666" y="120422"/>
                  </a:cubicBezTo>
                  <a:close/>
                  <a:moveTo>
                    <a:pt x="235270" y="128883"/>
                  </a:moveTo>
                  <a:lnTo>
                    <a:pt x="217083" y="159863"/>
                  </a:lnTo>
                  <a:cubicBezTo>
                    <a:pt x="216628" y="160641"/>
                    <a:pt x="216892" y="161634"/>
                    <a:pt x="217639" y="162139"/>
                  </a:cubicBezTo>
                  <a:cubicBezTo>
                    <a:pt x="224573" y="166825"/>
                    <a:pt x="229138" y="174756"/>
                    <a:pt x="229155" y="183755"/>
                  </a:cubicBezTo>
                  <a:cubicBezTo>
                    <a:pt x="229179" y="198179"/>
                    <a:pt x="217506" y="209891"/>
                    <a:pt x="203079" y="209916"/>
                  </a:cubicBezTo>
                  <a:cubicBezTo>
                    <a:pt x="188655" y="209941"/>
                    <a:pt x="176939" y="198268"/>
                    <a:pt x="176915" y="183844"/>
                  </a:cubicBezTo>
                  <a:cubicBezTo>
                    <a:pt x="176898" y="174845"/>
                    <a:pt x="181435" y="166899"/>
                    <a:pt x="188354" y="162190"/>
                  </a:cubicBezTo>
                  <a:cubicBezTo>
                    <a:pt x="189099" y="161682"/>
                    <a:pt x="189360" y="160686"/>
                    <a:pt x="188901" y="159910"/>
                  </a:cubicBezTo>
                  <a:lnTo>
                    <a:pt x="170605" y="128998"/>
                  </a:lnTo>
                  <a:cubicBezTo>
                    <a:pt x="151871" y="140108"/>
                    <a:pt x="139328" y="160551"/>
                    <a:pt x="139368" y="183910"/>
                  </a:cubicBezTo>
                  <a:cubicBezTo>
                    <a:pt x="139430" y="219071"/>
                    <a:pt x="167983" y="247527"/>
                    <a:pt x="203146" y="247465"/>
                  </a:cubicBezTo>
                  <a:cubicBezTo>
                    <a:pt x="238307" y="247405"/>
                    <a:pt x="266761" y="218850"/>
                    <a:pt x="266701" y="183688"/>
                  </a:cubicBezTo>
                  <a:cubicBezTo>
                    <a:pt x="266660" y="160327"/>
                    <a:pt x="254044" y="139927"/>
                    <a:pt x="235270" y="128883"/>
                  </a:cubicBezTo>
                  <a:close/>
                </a:path>
              </a:pathLst>
            </a:custGeom>
            <a:solidFill>
              <a:srgbClr val="1D2939"/>
            </a:solidFill>
            <a:ln>
              <a:noFill/>
            </a:ln>
          </p:spPr>
        </p:sp>
        <p:sp>
          <p:nvSpPr>
            <p:cNvPr id="51" name="TextBox 51"/>
            <p:cNvSpPr txBox="1"/>
            <p:nvPr/>
          </p:nvSpPr>
          <p:spPr>
            <a:xfrm>
              <a:off x="2147454" y="4481512"/>
              <a:ext cx="353292"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OpenCV</a:t>
              </a:r>
            </a:p>
          </p:txBody>
        </p:sp>
        <p:sp>
          <p:nvSpPr>
            <p:cNvPr id="52" name="Freeform 52"/>
            <p:cNvSpPr/>
            <p:nvPr/>
          </p:nvSpPr>
          <p:spPr>
            <a:xfrm>
              <a:off x="2830806" y="4095750"/>
              <a:ext cx="167688" cy="266701"/>
            </a:xfrm>
            <a:custGeom>
              <a:avLst/>
              <a:gdLst/>
              <a:ahLst/>
              <a:cxnLst/>
              <a:rect l="l" t="t" r="r" b="b"/>
              <a:pathLst>
                <a:path w="167688" h="266701">
                  <a:moveTo>
                    <a:pt x="138540" y="0"/>
                  </a:moveTo>
                  <a:lnTo>
                    <a:pt x="167688" y="0"/>
                  </a:lnTo>
                  <a:lnTo>
                    <a:pt x="167688" y="201181"/>
                  </a:lnTo>
                  <a:lnTo>
                    <a:pt x="138540" y="201181"/>
                  </a:lnTo>
                  <a:close/>
                  <a:moveTo>
                    <a:pt x="92690" y="143796"/>
                  </a:moveTo>
                  <a:lnTo>
                    <a:pt x="121838" y="143796"/>
                  </a:lnTo>
                  <a:lnTo>
                    <a:pt x="121838" y="172355"/>
                  </a:lnTo>
                  <a:lnTo>
                    <a:pt x="92690" y="172355"/>
                  </a:lnTo>
                  <a:close/>
                  <a:moveTo>
                    <a:pt x="92690" y="65597"/>
                  </a:moveTo>
                  <a:lnTo>
                    <a:pt x="121838" y="65597"/>
                  </a:lnTo>
                  <a:lnTo>
                    <a:pt x="121838" y="126116"/>
                  </a:lnTo>
                  <a:lnTo>
                    <a:pt x="92690" y="126116"/>
                  </a:lnTo>
                  <a:close/>
                  <a:moveTo>
                    <a:pt x="92690" y="190024"/>
                  </a:moveTo>
                  <a:lnTo>
                    <a:pt x="121838" y="190024"/>
                  </a:lnTo>
                  <a:lnTo>
                    <a:pt x="121838" y="250543"/>
                  </a:lnTo>
                  <a:lnTo>
                    <a:pt x="92690" y="250543"/>
                  </a:lnTo>
                  <a:close/>
                  <a:moveTo>
                    <a:pt x="11" y="65519"/>
                  </a:moveTo>
                  <a:lnTo>
                    <a:pt x="29148" y="65519"/>
                  </a:lnTo>
                  <a:lnTo>
                    <a:pt x="29148" y="266701"/>
                  </a:lnTo>
                  <a:lnTo>
                    <a:pt x="0" y="266701"/>
                  </a:lnTo>
                  <a:close/>
                  <a:moveTo>
                    <a:pt x="46828" y="93956"/>
                  </a:moveTo>
                  <a:lnTo>
                    <a:pt x="75976" y="93956"/>
                  </a:lnTo>
                  <a:lnTo>
                    <a:pt x="75976" y="122516"/>
                  </a:lnTo>
                  <a:lnTo>
                    <a:pt x="46839" y="122516"/>
                  </a:lnTo>
                  <a:close/>
                  <a:moveTo>
                    <a:pt x="46828" y="140085"/>
                  </a:moveTo>
                  <a:lnTo>
                    <a:pt x="75976" y="140085"/>
                  </a:lnTo>
                  <a:lnTo>
                    <a:pt x="75976" y="200615"/>
                  </a:lnTo>
                  <a:lnTo>
                    <a:pt x="46839" y="200615"/>
                  </a:lnTo>
                  <a:close/>
                  <a:moveTo>
                    <a:pt x="46828" y="15769"/>
                  </a:moveTo>
                  <a:lnTo>
                    <a:pt x="75976" y="15769"/>
                  </a:lnTo>
                  <a:lnTo>
                    <a:pt x="75976" y="76288"/>
                  </a:lnTo>
                  <a:lnTo>
                    <a:pt x="46839" y="76288"/>
                  </a:lnTo>
                  <a:close/>
                </a:path>
              </a:pathLst>
            </a:custGeom>
            <a:solidFill>
              <a:srgbClr val="1D2939"/>
            </a:solidFill>
            <a:ln>
              <a:noFill/>
            </a:ln>
          </p:spPr>
        </p:sp>
        <p:sp>
          <p:nvSpPr>
            <p:cNvPr id="53" name="TextBox 53"/>
            <p:cNvSpPr txBox="1"/>
            <p:nvPr/>
          </p:nvSpPr>
          <p:spPr>
            <a:xfrm>
              <a:off x="2762211" y="4481512"/>
              <a:ext cx="304878"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pandas</a:t>
              </a:r>
            </a:p>
          </p:txBody>
        </p:sp>
        <p:sp>
          <p:nvSpPr>
            <p:cNvPr id="54" name="Freeform 54"/>
            <p:cNvSpPr/>
            <p:nvPr/>
          </p:nvSpPr>
          <p:spPr>
            <a:xfrm>
              <a:off x="3371850" y="4095750"/>
              <a:ext cx="266701" cy="266701"/>
            </a:xfrm>
            <a:custGeom>
              <a:avLst/>
              <a:gdLst/>
              <a:ahLst/>
              <a:cxnLst/>
              <a:rect l="l" t="t" r="r" b="b"/>
              <a:pathLst>
                <a:path w="266701" h="266701">
                  <a:moveTo>
                    <a:pt x="122682" y="214694"/>
                  </a:moveTo>
                  <a:cubicBezTo>
                    <a:pt x="129794" y="230918"/>
                    <a:pt x="133350" y="248254"/>
                    <a:pt x="133350" y="266701"/>
                  </a:cubicBezTo>
                  <a:cubicBezTo>
                    <a:pt x="133350" y="248254"/>
                    <a:pt x="136795" y="230918"/>
                    <a:pt x="143685" y="214694"/>
                  </a:cubicBezTo>
                  <a:cubicBezTo>
                    <a:pt x="150797" y="198470"/>
                    <a:pt x="160354" y="184357"/>
                    <a:pt x="172355" y="172355"/>
                  </a:cubicBezTo>
                  <a:cubicBezTo>
                    <a:pt x="184357" y="160354"/>
                    <a:pt x="198470" y="150908"/>
                    <a:pt x="214694" y="144018"/>
                  </a:cubicBezTo>
                  <a:cubicBezTo>
                    <a:pt x="230918" y="136906"/>
                    <a:pt x="248254" y="133350"/>
                    <a:pt x="266701" y="133350"/>
                  </a:cubicBezTo>
                  <a:cubicBezTo>
                    <a:pt x="248254" y="133350"/>
                    <a:pt x="230918" y="129905"/>
                    <a:pt x="214694" y="123016"/>
                  </a:cubicBezTo>
                  <a:cubicBezTo>
                    <a:pt x="198903" y="116207"/>
                    <a:pt x="184539" y="106480"/>
                    <a:pt x="172355" y="94345"/>
                  </a:cubicBezTo>
                  <a:cubicBezTo>
                    <a:pt x="160220" y="82162"/>
                    <a:pt x="150493" y="67797"/>
                    <a:pt x="143685" y="52007"/>
                  </a:cubicBezTo>
                  <a:cubicBezTo>
                    <a:pt x="136795" y="35782"/>
                    <a:pt x="133350" y="18447"/>
                    <a:pt x="133350" y="0"/>
                  </a:cubicBezTo>
                  <a:cubicBezTo>
                    <a:pt x="133350" y="18447"/>
                    <a:pt x="129794" y="35782"/>
                    <a:pt x="122682" y="52007"/>
                  </a:cubicBezTo>
                  <a:cubicBezTo>
                    <a:pt x="115793" y="68231"/>
                    <a:pt x="106347" y="82344"/>
                    <a:pt x="94345" y="94345"/>
                  </a:cubicBezTo>
                  <a:cubicBezTo>
                    <a:pt x="82162" y="106480"/>
                    <a:pt x="67797" y="116207"/>
                    <a:pt x="52007" y="123016"/>
                  </a:cubicBezTo>
                  <a:cubicBezTo>
                    <a:pt x="35782" y="129905"/>
                    <a:pt x="18447" y="133350"/>
                    <a:pt x="0" y="133350"/>
                  </a:cubicBezTo>
                  <a:cubicBezTo>
                    <a:pt x="18447" y="133350"/>
                    <a:pt x="35782" y="136906"/>
                    <a:pt x="52007" y="144018"/>
                  </a:cubicBezTo>
                  <a:cubicBezTo>
                    <a:pt x="68231" y="150908"/>
                    <a:pt x="82344" y="160354"/>
                    <a:pt x="94345" y="172355"/>
                  </a:cubicBezTo>
                  <a:cubicBezTo>
                    <a:pt x="106347" y="184357"/>
                    <a:pt x="115793" y="198470"/>
                    <a:pt x="122682" y="214694"/>
                  </a:cubicBezTo>
                </a:path>
              </a:pathLst>
            </a:custGeom>
            <a:solidFill>
              <a:srgbClr val="1D2939"/>
            </a:solidFill>
            <a:ln>
              <a:noFill/>
            </a:ln>
          </p:spPr>
        </p:sp>
        <p:sp>
          <p:nvSpPr>
            <p:cNvPr id="55" name="TextBox 55"/>
            <p:cNvSpPr txBox="1"/>
            <p:nvPr/>
          </p:nvSpPr>
          <p:spPr>
            <a:xfrm>
              <a:off x="3326683" y="4481512"/>
              <a:ext cx="357033"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Gemini*</a:t>
              </a:r>
            </a:p>
          </p:txBody>
        </p:sp>
        <p:sp>
          <p:nvSpPr>
            <p:cNvPr id="56" name="Rectangle 56"/>
            <p:cNvSpPr/>
            <p:nvPr/>
          </p:nvSpPr>
          <p:spPr>
            <a:xfrm>
              <a:off x="304800" y="4752975"/>
              <a:ext cx="3790950" cy="704850"/>
            </a:xfrm>
            <a:prstGeom prst="roundRect">
              <a:avLst>
                <a:gd name="adj" fmla="val 8108"/>
              </a:avLst>
            </a:prstGeom>
            <a:solidFill>
              <a:srgbClr val="F2F5F9"/>
            </a:solidFill>
            <a:ln w="9525">
              <a:solidFill>
                <a:srgbClr val="D0D5DD"/>
              </a:solidFill>
            </a:ln>
          </p:spPr>
        </p:sp>
        <p:sp>
          <p:nvSpPr>
            <p:cNvPr id="57" name="Rectangle 57"/>
            <p:cNvSpPr/>
            <p:nvPr/>
          </p:nvSpPr>
          <p:spPr>
            <a:xfrm>
              <a:off x="304800" y="4752975"/>
              <a:ext cx="47625" cy="704850"/>
            </a:xfrm>
            <a:prstGeom prst="rect">
              <a:avLst/>
            </a:prstGeom>
            <a:solidFill>
              <a:srgbClr val="0B3D6E"/>
            </a:solidFill>
            <a:ln>
              <a:noFill/>
            </a:ln>
          </p:spPr>
        </p:sp>
        <p:sp>
          <p:nvSpPr>
            <p:cNvPr id="58" name="TextBox 58"/>
            <p:cNvSpPr txBox="1"/>
            <p:nvPr/>
          </p:nvSpPr>
          <p:spPr>
            <a:xfrm>
              <a:off x="451866" y="4944428"/>
              <a:ext cx="462431" cy="205359"/>
            </a:xfrm>
            <a:prstGeom prst="rect">
              <a:avLst/>
            </a:prstGeom>
            <a:noFill/>
            <a:ln>
              <a:noFill/>
            </a:ln>
          </p:spPr>
          <p:txBody>
            <a:bodyPr wrap="none" lIns="0" tIns="0" rIns="0" bIns="0" anchor="t" anchorCtr="0">
              <a:spAutoFit/>
            </a:bodyPr>
            <a:lstStyle/>
            <a:p>
              <a:pPr algn="l"/>
              <a:r>
                <a:rPr lang="en-IN" sz="1050" b="1" dirty="0">
                  <a:solidFill>
                    <a:srgbClr val="0B3D6E"/>
                  </a:solidFill>
                  <a:latin typeface="Calibri"/>
                  <a:ea typeface="Calibri"/>
                  <a:cs typeface="Calibri"/>
                </a:rPr>
                <a:t>Hosting</a:t>
              </a:r>
            </a:p>
          </p:txBody>
        </p:sp>
        <p:sp>
          <p:nvSpPr>
            <p:cNvPr id="59" name="TextBox 59"/>
            <p:cNvSpPr txBox="1"/>
            <p:nvPr/>
          </p:nvSpPr>
          <p:spPr>
            <a:xfrm>
              <a:off x="452438" y="5144214"/>
              <a:ext cx="849284" cy="154781"/>
            </a:xfrm>
            <a:prstGeom prst="rect">
              <a:avLst/>
            </a:prstGeom>
            <a:noFill/>
            <a:ln>
              <a:noFill/>
            </a:ln>
          </p:spPr>
          <p:txBody>
            <a:bodyPr wrap="none" lIns="0" tIns="0" rIns="0" bIns="0" anchor="t" anchorCtr="0">
              <a:spAutoFit/>
            </a:bodyPr>
            <a:lstStyle/>
            <a:p>
              <a:pPr algn="l"/>
              <a:r>
                <a:rPr lang="en-IN" sz="790" dirty="0">
                  <a:solidFill>
                    <a:srgbClr val="667085"/>
                  </a:solidFill>
                  <a:latin typeface="Calibri"/>
                  <a:ea typeface="Calibri"/>
                  <a:cs typeface="Calibri"/>
                </a:rPr>
                <a:t>tests on every push</a:t>
              </a:r>
            </a:p>
          </p:txBody>
        </p:sp>
        <p:sp>
          <p:nvSpPr>
            <p:cNvPr id="60" name="Freeform 60"/>
            <p:cNvSpPr/>
            <p:nvPr/>
          </p:nvSpPr>
          <p:spPr>
            <a:xfrm>
              <a:off x="1600200" y="4875619"/>
              <a:ext cx="266701" cy="230963"/>
            </a:xfrm>
            <a:custGeom>
              <a:avLst/>
              <a:gdLst/>
              <a:ahLst/>
              <a:cxnLst/>
              <a:rect l="l" t="t" r="r" b="b"/>
              <a:pathLst>
                <a:path w="266701" h="230963">
                  <a:moveTo>
                    <a:pt x="133350" y="0"/>
                  </a:moveTo>
                  <a:lnTo>
                    <a:pt x="266701" y="230963"/>
                  </a:lnTo>
                  <a:lnTo>
                    <a:pt x="0" y="230963"/>
                  </a:lnTo>
                  <a:close/>
                </a:path>
              </a:pathLst>
            </a:custGeom>
            <a:solidFill>
              <a:srgbClr val="1D2939"/>
            </a:solidFill>
            <a:ln>
              <a:noFill/>
            </a:ln>
          </p:spPr>
        </p:sp>
        <p:sp>
          <p:nvSpPr>
            <p:cNvPr id="61" name="TextBox 61"/>
            <p:cNvSpPr txBox="1"/>
            <p:nvPr/>
          </p:nvSpPr>
          <p:spPr>
            <a:xfrm>
              <a:off x="1598150" y="5243512"/>
              <a:ext cx="270801"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Vercel</a:t>
              </a:r>
            </a:p>
          </p:txBody>
        </p:sp>
        <p:sp>
          <p:nvSpPr>
            <p:cNvPr id="62" name="Freeform 62"/>
            <p:cNvSpPr/>
            <p:nvPr/>
          </p:nvSpPr>
          <p:spPr>
            <a:xfrm>
              <a:off x="2190750" y="4857750"/>
              <a:ext cx="266701" cy="266701"/>
            </a:xfrm>
            <a:custGeom>
              <a:avLst/>
              <a:gdLst/>
              <a:ahLst/>
              <a:cxnLst/>
              <a:rect l="l" t="t" r="r" b="b"/>
              <a:pathLst>
                <a:path w="266701" h="266701">
                  <a:moveTo>
                    <a:pt x="122060" y="153753"/>
                  </a:moveTo>
                  <a:cubicBezTo>
                    <a:pt x="120589" y="153753"/>
                    <a:pt x="119179" y="153169"/>
                    <a:pt x="118137" y="152131"/>
                  </a:cubicBezTo>
                  <a:lnTo>
                    <a:pt x="109858" y="143874"/>
                  </a:lnTo>
                  <a:cubicBezTo>
                    <a:pt x="108412" y="142481"/>
                    <a:pt x="107830" y="140416"/>
                    <a:pt x="108336" y="138473"/>
                  </a:cubicBezTo>
                  <a:cubicBezTo>
                    <a:pt x="108842" y="136529"/>
                    <a:pt x="110357" y="135010"/>
                    <a:pt x="112298" y="134499"/>
                  </a:cubicBezTo>
                  <a:cubicBezTo>
                    <a:pt x="114240" y="133988"/>
                    <a:pt x="116307" y="134564"/>
                    <a:pt x="117704" y="136006"/>
                  </a:cubicBezTo>
                  <a:lnTo>
                    <a:pt x="122060" y="140351"/>
                  </a:lnTo>
                  <a:lnTo>
                    <a:pt x="135184" y="127238"/>
                  </a:lnTo>
                  <a:cubicBezTo>
                    <a:pt x="137353" y="125066"/>
                    <a:pt x="140873" y="125063"/>
                    <a:pt x="143046" y="127233"/>
                  </a:cubicBezTo>
                  <a:cubicBezTo>
                    <a:pt x="145219" y="129402"/>
                    <a:pt x="145221" y="132922"/>
                    <a:pt x="143052" y="135095"/>
                  </a:cubicBezTo>
                  <a:lnTo>
                    <a:pt x="125994" y="152131"/>
                  </a:lnTo>
                  <a:cubicBezTo>
                    <a:pt x="124947" y="153168"/>
                    <a:pt x="123534" y="153751"/>
                    <a:pt x="122060" y="153753"/>
                  </a:cubicBezTo>
                  <a:close/>
                  <a:moveTo>
                    <a:pt x="225996" y="152119"/>
                  </a:moveTo>
                  <a:lnTo>
                    <a:pt x="243042" y="135095"/>
                  </a:lnTo>
                  <a:cubicBezTo>
                    <a:pt x="245148" y="132915"/>
                    <a:pt x="245118" y="129449"/>
                    <a:pt x="242974" y="127306"/>
                  </a:cubicBezTo>
                  <a:cubicBezTo>
                    <a:pt x="240831" y="125163"/>
                    <a:pt x="237366" y="125133"/>
                    <a:pt x="235186" y="127238"/>
                  </a:cubicBezTo>
                  <a:lnTo>
                    <a:pt x="222062" y="140351"/>
                  </a:lnTo>
                  <a:lnTo>
                    <a:pt x="217706" y="136006"/>
                  </a:lnTo>
                  <a:cubicBezTo>
                    <a:pt x="216309" y="134564"/>
                    <a:pt x="214242" y="133988"/>
                    <a:pt x="212300" y="134499"/>
                  </a:cubicBezTo>
                  <a:cubicBezTo>
                    <a:pt x="210358" y="135010"/>
                    <a:pt x="208843" y="136529"/>
                    <a:pt x="208338" y="138473"/>
                  </a:cubicBezTo>
                  <a:cubicBezTo>
                    <a:pt x="207832" y="140416"/>
                    <a:pt x="208414" y="142481"/>
                    <a:pt x="209860" y="143874"/>
                  </a:cubicBezTo>
                  <a:lnTo>
                    <a:pt x="218150" y="152131"/>
                  </a:lnTo>
                  <a:cubicBezTo>
                    <a:pt x="219189" y="153176"/>
                    <a:pt x="220602" y="153762"/>
                    <a:pt x="222075" y="153760"/>
                  </a:cubicBezTo>
                  <a:cubicBezTo>
                    <a:pt x="223548" y="153758"/>
                    <a:pt x="224960" y="153167"/>
                    <a:pt x="225996" y="152119"/>
                  </a:cubicBezTo>
                  <a:close/>
                  <a:moveTo>
                    <a:pt x="50306" y="82811"/>
                  </a:moveTo>
                  <a:lnTo>
                    <a:pt x="78721" y="65197"/>
                  </a:lnTo>
                  <a:cubicBezTo>
                    <a:pt x="81983" y="63179"/>
                    <a:pt x="83973" y="59622"/>
                    <a:pt x="83986" y="55787"/>
                  </a:cubicBezTo>
                  <a:cubicBezTo>
                    <a:pt x="84000" y="51951"/>
                    <a:pt x="82035" y="48380"/>
                    <a:pt x="78788" y="46339"/>
                  </a:cubicBezTo>
                  <a:lnTo>
                    <a:pt x="50373" y="28448"/>
                  </a:lnTo>
                  <a:cubicBezTo>
                    <a:pt x="46949" y="26291"/>
                    <a:pt x="42624" y="26166"/>
                    <a:pt x="39081" y="28121"/>
                  </a:cubicBezTo>
                  <a:cubicBezTo>
                    <a:pt x="35538" y="30076"/>
                    <a:pt x="33338" y="33803"/>
                    <a:pt x="33338" y="37849"/>
                  </a:cubicBezTo>
                  <a:lnTo>
                    <a:pt x="33338" y="73365"/>
                  </a:lnTo>
                  <a:cubicBezTo>
                    <a:pt x="33344" y="77395"/>
                    <a:pt x="35530" y="81106"/>
                    <a:pt x="39051" y="83066"/>
                  </a:cubicBezTo>
                  <a:cubicBezTo>
                    <a:pt x="42572" y="85026"/>
                    <a:pt x="46878" y="84928"/>
                    <a:pt x="50306" y="82811"/>
                  </a:cubicBezTo>
                  <a:close/>
                  <a:moveTo>
                    <a:pt x="72865" y="55740"/>
                  </a:moveTo>
                  <a:lnTo>
                    <a:pt x="44450" y="73365"/>
                  </a:lnTo>
                  <a:lnTo>
                    <a:pt x="44450" y="37849"/>
                  </a:lnTo>
                  <a:lnTo>
                    <a:pt x="72865" y="55740"/>
                  </a:lnTo>
                  <a:close/>
                  <a:moveTo>
                    <a:pt x="266701" y="138907"/>
                  </a:moveTo>
                  <a:cubicBezTo>
                    <a:pt x="266701" y="160354"/>
                    <a:pt x="249254" y="177801"/>
                    <a:pt x="227807" y="177801"/>
                  </a:cubicBezTo>
                  <a:cubicBezTo>
                    <a:pt x="208495" y="177764"/>
                    <a:pt x="192130" y="163574"/>
                    <a:pt x="189358" y="144463"/>
                  </a:cubicBezTo>
                  <a:lnTo>
                    <a:pt x="166243" y="144463"/>
                  </a:lnTo>
                  <a:cubicBezTo>
                    <a:pt x="163471" y="163574"/>
                    <a:pt x="147106" y="177764"/>
                    <a:pt x="127794" y="177801"/>
                  </a:cubicBezTo>
                  <a:cubicBezTo>
                    <a:pt x="108481" y="177768"/>
                    <a:pt x="92113" y="163577"/>
                    <a:pt x="89345" y="144463"/>
                  </a:cubicBezTo>
                  <a:lnTo>
                    <a:pt x="83144" y="144463"/>
                  </a:lnTo>
                  <a:cubicBezTo>
                    <a:pt x="72343" y="144463"/>
                    <a:pt x="62586" y="140029"/>
                    <a:pt x="55563" y="132884"/>
                  </a:cubicBezTo>
                  <a:lnTo>
                    <a:pt x="55563" y="188913"/>
                  </a:lnTo>
                  <a:cubicBezTo>
                    <a:pt x="55563" y="207293"/>
                    <a:pt x="70520" y="222251"/>
                    <a:pt x="88900" y="222251"/>
                  </a:cubicBezTo>
                  <a:lnTo>
                    <a:pt x="89345" y="222251"/>
                  </a:lnTo>
                  <a:cubicBezTo>
                    <a:pt x="92056" y="203437"/>
                    <a:pt x="108236" y="188913"/>
                    <a:pt x="127794" y="188913"/>
                  </a:cubicBezTo>
                  <a:cubicBezTo>
                    <a:pt x="149241" y="188913"/>
                    <a:pt x="166688" y="206360"/>
                    <a:pt x="166688" y="227807"/>
                  </a:cubicBezTo>
                  <a:cubicBezTo>
                    <a:pt x="166688" y="249254"/>
                    <a:pt x="149241" y="266701"/>
                    <a:pt x="127794" y="266701"/>
                  </a:cubicBezTo>
                  <a:cubicBezTo>
                    <a:pt x="108481" y="266669"/>
                    <a:pt x="92113" y="252477"/>
                    <a:pt x="89345" y="233363"/>
                  </a:cubicBezTo>
                  <a:lnTo>
                    <a:pt x="88900" y="233363"/>
                  </a:lnTo>
                  <a:cubicBezTo>
                    <a:pt x="64386" y="233363"/>
                    <a:pt x="44450" y="213427"/>
                    <a:pt x="44450" y="188913"/>
                  </a:cubicBezTo>
                  <a:lnTo>
                    <a:pt x="44450" y="110003"/>
                  </a:lnTo>
                  <a:cubicBezTo>
                    <a:pt x="18599" y="104691"/>
                    <a:pt x="34" y="81953"/>
                    <a:pt x="0" y="55563"/>
                  </a:cubicBezTo>
                  <a:cubicBezTo>
                    <a:pt x="0" y="24925"/>
                    <a:pt x="24925" y="0"/>
                    <a:pt x="55563" y="0"/>
                  </a:cubicBezTo>
                  <a:cubicBezTo>
                    <a:pt x="86200" y="0"/>
                    <a:pt x="111125" y="24925"/>
                    <a:pt x="111125" y="55563"/>
                  </a:cubicBezTo>
                  <a:cubicBezTo>
                    <a:pt x="111084" y="86021"/>
                    <a:pt x="86553" y="110781"/>
                    <a:pt x="56096" y="111103"/>
                  </a:cubicBezTo>
                  <a:cubicBezTo>
                    <a:pt x="58643" y="124026"/>
                    <a:pt x="69972" y="133344"/>
                    <a:pt x="83144" y="133350"/>
                  </a:cubicBezTo>
                  <a:lnTo>
                    <a:pt x="89345" y="133350"/>
                  </a:lnTo>
                  <a:cubicBezTo>
                    <a:pt x="92056" y="114537"/>
                    <a:pt x="108236" y="100013"/>
                    <a:pt x="127794" y="100013"/>
                  </a:cubicBezTo>
                  <a:cubicBezTo>
                    <a:pt x="147107" y="100045"/>
                    <a:pt x="163475" y="114237"/>
                    <a:pt x="166243" y="133350"/>
                  </a:cubicBezTo>
                  <a:lnTo>
                    <a:pt x="189358" y="133350"/>
                  </a:lnTo>
                  <a:cubicBezTo>
                    <a:pt x="192130" y="114239"/>
                    <a:pt x="208495" y="100050"/>
                    <a:pt x="227807" y="100013"/>
                  </a:cubicBezTo>
                  <a:cubicBezTo>
                    <a:pt x="249254" y="100013"/>
                    <a:pt x="266701" y="117459"/>
                    <a:pt x="266701" y="138907"/>
                  </a:cubicBezTo>
                  <a:close/>
                  <a:moveTo>
                    <a:pt x="100013" y="227807"/>
                  </a:moveTo>
                  <a:cubicBezTo>
                    <a:pt x="100013" y="243120"/>
                    <a:pt x="112481" y="255588"/>
                    <a:pt x="127794" y="255588"/>
                  </a:cubicBezTo>
                  <a:cubicBezTo>
                    <a:pt x="143107" y="255588"/>
                    <a:pt x="155575" y="243120"/>
                    <a:pt x="155575" y="227807"/>
                  </a:cubicBezTo>
                  <a:cubicBezTo>
                    <a:pt x="155575" y="212494"/>
                    <a:pt x="143107" y="200026"/>
                    <a:pt x="127794" y="200026"/>
                  </a:cubicBezTo>
                  <a:cubicBezTo>
                    <a:pt x="112481" y="200026"/>
                    <a:pt x="100013" y="212494"/>
                    <a:pt x="100013" y="227807"/>
                  </a:cubicBezTo>
                  <a:close/>
                  <a:moveTo>
                    <a:pt x="55563" y="100013"/>
                  </a:moveTo>
                  <a:cubicBezTo>
                    <a:pt x="80077" y="100013"/>
                    <a:pt x="100013" y="80077"/>
                    <a:pt x="100013" y="55563"/>
                  </a:cubicBezTo>
                  <a:cubicBezTo>
                    <a:pt x="100013" y="31048"/>
                    <a:pt x="80077" y="11113"/>
                    <a:pt x="55563" y="11113"/>
                  </a:cubicBezTo>
                  <a:cubicBezTo>
                    <a:pt x="31048" y="11113"/>
                    <a:pt x="11113" y="31048"/>
                    <a:pt x="11113" y="55563"/>
                  </a:cubicBezTo>
                  <a:cubicBezTo>
                    <a:pt x="11113" y="80077"/>
                    <a:pt x="31048" y="100013"/>
                    <a:pt x="55563" y="100013"/>
                  </a:cubicBezTo>
                  <a:close/>
                  <a:moveTo>
                    <a:pt x="155575" y="138907"/>
                  </a:moveTo>
                  <a:cubicBezTo>
                    <a:pt x="155575" y="123594"/>
                    <a:pt x="143107" y="111125"/>
                    <a:pt x="127794" y="111125"/>
                  </a:cubicBezTo>
                  <a:cubicBezTo>
                    <a:pt x="112481" y="111125"/>
                    <a:pt x="100013" y="123594"/>
                    <a:pt x="100013" y="138907"/>
                  </a:cubicBezTo>
                  <a:cubicBezTo>
                    <a:pt x="100013" y="154220"/>
                    <a:pt x="112481" y="166688"/>
                    <a:pt x="127794" y="166688"/>
                  </a:cubicBezTo>
                  <a:cubicBezTo>
                    <a:pt x="143107" y="166688"/>
                    <a:pt x="155575" y="154220"/>
                    <a:pt x="155575" y="138907"/>
                  </a:cubicBezTo>
                  <a:close/>
                  <a:moveTo>
                    <a:pt x="255588" y="138907"/>
                  </a:moveTo>
                  <a:cubicBezTo>
                    <a:pt x="255588" y="123594"/>
                    <a:pt x="243120" y="111125"/>
                    <a:pt x="227807" y="111125"/>
                  </a:cubicBezTo>
                  <a:cubicBezTo>
                    <a:pt x="212494" y="111125"/>
                    <a:pt x="200026" y="123594"/>
                    <a:pt x="200026" y="138907"/>
                  </a:cubicBezTo>
                  <a:cubicBezTo>
                    <a:pt x="200026" y="154220"/>
                    <a:pt x="212494" y="166688"/>
                    <a:pt x="227807" y="166688"/>
                  </a:cubicBezTo>
                  <a:cubicBezTo>
                    <a:pt x="243120" y="166688"/>
                    <a:pt x="255588" y="154220"/>
                    <a:pt x="255588" y="138907"/>
                  </a:cubicBezTo>
                  <a:close/>
                  <a:moveTo>
                    <a:pt x="111125" y="227807"/>
                  </a:moveTo>
                  <a:cubicBezTo>
                    <a:pt x="111125" y="230876"/>
                    <a:pt x="113613" y="233363"/>
                    <a:pt x="116682" y="233363"/>
                  </a:cubicBezTo>
                  <a:cubicBezTo>
                    <a:pt x="119750" y="233363"/>
                    <a:pt x="122238" y="230876"/>
                    <a:pt x="122238" y="227807"/>
                  </a:cubicBezTo>
                  <a:cubicBezTo>
                    <a:pt x="122238" y="224738"/>
                    <a:pt x="119750" y="222251"/>
                    <a:pt x="116682" y="222251"/>
                  </a:cubicBezTo>
                  <a:cubicBezTo>
                    <a:pt x="113613" y="222251"/>
                    <a:pt x="111125" y="224738"/>
                    <a:pt x="111125" y="227807"/>
                  </a:cubicBezTo>
                  <a:close/>
                  <a:moveTo>
                    <a:pt x="133350" y="227807"/>
                  </a:moveTo>
                  <a:cubicBezTo>
                    <a:pt x="133350" y="230876"/>
                    <a:pt x="135838" y="233363"/>
                    <a:pt x="138907" y="233363"/>
                  </a:cubicBezTo>
                  <a:cubicBezTo>
                    <a:pt x="141975" y="233363"/>
                    <a:pt x="144463" y="230876"/>
                    <a:pt x="144463" y="227807"/>
                  </a:cubicBezTo>
                  <a:cubicBezTo>
                    <a:pt x="144463" y="224738"/>
                    <a:pt x="141975" y="222251"/>
                    <a:pt x="138907" y="222251"/>
                  </a:cubicBezTo>
                  <a:cubicBezTo>
                    <a:pt x="135838" y="222251"/>
                    <a:pt x="133350" y="224738"/>
                    <a:pt x="133350" y="227807"/>
                  </a:cubicBezTo>
                  <a:close/>
                  <a:moveTo>
                    <a:pt x="266701" y="227807"/>
                  </a:moveTo>
                  <a:cubicBezTo>
                    <a:pt x="266701" y="249254"/>
                    <a:pt x="249254" y="266701"/>
                    <a:pt x="227807" y="266701"/>
                  </a:cubicBezTo>
                  <a:cubicBezTo>
                    <a:pt x="208488" y="266662"/>
                    <a:pt x="192120" y="252461"/>
                    <a:pt x="189358" y="233341"/>
                  </a:cubicBezTo>
                  <a:cubicBezTo>
                    <a:pt x="189280" y="233352"/>
                    <a:pt x="189213" y="233397"/>
                    <a:pt x="189124" y="233397"/>
                  </a:cubicBezTo>
                  <a:lnTo>
                    <a:pt x="183501" y="233585"/>
                  </a:lnTo>
                  <a:lnTo>
                    <a:pt x="183312" y="233585"/>
                  </a:lnTo>
                  <a:cubicBezTo>
                    <a:pt x="180335" y="233509"/>
                    <a:pt x="177948" y="231098"/>
                    <a:pt x="177900" y="228120"/>
                  </a:cubicBezTo>
                  <a:cubicBezTo>
                    <a:pt x="177852" y="225142"/>
                    <a:pt x="180161" y="222656"/>
                    <a:pt x="183135" y="222484"/>
                  </a:cubicBezTo>
                  <a:lnTo>
                    <a:pt x="188757" y="222295"/>
                  </a:lnTo>
                  <a:cubicBezTo>
                    <a:pt x="188957" y="222273"/>
                    <a:pt x="189146" y="222362"/>
                    <a:pt x="189335" y="222373"/>
                  </a:cubicBezTo>
                  <a:cubicBezTo>
                    <a:pt x="192054" y="203205"/>
                    <a:pt x="208447" y="188948"/>
                    <a:pt x="227807" y="188913"/>
                  </a:cubicBezTo>
                  <a:cubicBezTo>
                    <a:pt x="249254" y="188913"/>
                    <a:pt x="266701" y="206360"/>
                    <a:pt x="266701" y="227807"/>
                  </a:cubicBezTo>
                  <a:close/>
                  <a:moveTo>
                    <a:pt x="255588" y="227807"/>
                  </a:moveTo>
                  <a:cubicBezTo>
                    <a:pt x="255588" y="212494"/>
                    <a:pt x="243120" y="200026"/>
                    <a:pt x="227807" y="200026"/>
                  </a:cubicBezTo>
                  <a:cubicBezTo>
                    <a:pt x="212494" y="200026"/>
                    <a:pt x="200026" y="212494"/>
                    <a:pt x="200026" y="227807"/>
                  </a:cubicBezTo>
                  <a:cubicBezTo>
                    <a:pt x="200026" y="243120"/>
                    <a:pt x="212494" y="255588"/>
                    <a:pt x="227807" y="255588"/>
                  </a:cubicBezTo>
                  <a:cubicBezTo>
                    <a:pt x="243120" y="255588"/>
                    <a:pt x="255588" y="243120"/>
                    <a:pt x="255588" y="227807"/>
                  </a:cubicBezTo>
                  <a:close/>
                </a:path>
              </a:pathLst>
            </a:custGeom>
            <a:solidFill>
              <a:srgbClr val="1D2939"/>
            </a:solidFill>
            <a:ln>
              <a:noFill/>
            </a:ln>
          </p:spPr>
        </p:sp>
        <p:sp>
          <p:nvSpPr>
            <p:cNvPr id="63" name="TextBox 63"/>
            <p:cNvSpPr txBox="1"/>
            <p:nvPr/>
          </p:nvSpPr>
          <p:spPr>
            <a:xfrm>
              <a:off x="2166167" y="5243512"/>
              <a:ext cx="315867"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Actions</a:t>
              </a:r>
            </a:p>
          </p:txBody>
        </p:sp>
        <p:sp>
          <p:nvSpPr>
            <p:cNvPr id="64" name="Freeform 64"/>
            <p:cNvSpPr/>
            <p:nvPr/>
          </p:nvSpPr>
          <p:spPr>
            <a:xfrm>
              <a:off x="2781300" y="4861050"/>
              <a:ext cx="266701" cy="261122"/>
            </a:xfrm>
            <a:custGeom>
              <a:avLst/>
              <a:gdLst/>
              <a:ahLst/>
              <a:cxnLst/>
              <a:rect l="l" t="t" r="r" b="b"/>
              <a:pathLst>
                <a:path w="266701" h="261122">
                  <a:moveTo>
                    <a:pt x="133350" y="0"/>
                  </a:moveTo>
                  <a:cubicBezTo>
                    <a:pt x="59674" y="0"/>
                    <a:pt x="0" y="59708"/>
                    <a:pt x="0" y="133350"/>
                  </a:cubicBezTo>
                  <a:cubicBezTo>
                    <a:pt x="0" y="192280"/>
                    <a:pt x="38205" y="242253"/>
                    <a:pt x="91178" y="259867"/>
                  </a:cubicBezTo>
                  <a:cubicBezTo>
                    <a:pt x="97846" y="261122"/>
                    <a:pt x="100291" y="257000"/>
                    <a:pt x="100291" y="253455"/>
                  </a:cubicBezTo>
                  <a:cubicBezTo>
                    <a:pt x="100291" y="250288"/>
                    <a:pt x="100179" y="241898"/>
                    <a:pt x="100124" y="230785"/>
                  </a:cubicBezTo>
                  <a:cubicBezTo>
                    <a:pt x="63030" y="238831"/>
                    <a:pt x="55207" y="212894"/>
                    <a:pt x="55207" y="212894"/>
                  </a:cubicBezTo>
                  <a:cubicBezTo>
                    <a:pt x="49140" y="197503"/>
                    <a:pt x="40372" y="193391"/>
                    <a:pt x="40372" y="193391"/>
                  </a:cubicBezTo>
                  <a:cubicBezTo>
                    <a:pt x="28293" y="185124"/>
                    <a:pt x="41305" y="185290"/>
                    <a:pt x="41305" y="185290"/>
                  </a:cubicBezTo>
                  <a:cubicBezTo>
                    <a:pt x="54696" y="186224"/>
                    <a:pt x="61730" y="199025"/>
                    <a:pt x="61730" y="199025"/>
                  </a:cubicBezTo>
                  <a:cubicBezTo>
                    <a:pt x="73621" y="219417"/>
                    <a:pt x="92945" y="213527"/>
                    <a:pt x="100568" y="210116"/>
                  </a:cubicBezTo>
                  <a:cubicBezTo>
                    <a:pt x="101769" y="201492"/>
                    <a:pt x="105202" y="195614"/>
                    <a:pt x="109014" y="192280"/>
                  </a:cubicBezTo>
                  <a:cubicBezTo>
                    <a:pt x="79399" y="188946"/>
                    <a:pt x="48273" y="177478"/>
                    <a:pt x="48273" y="126383"/>
                  </a:cubicBezTo>
                  <a:cubicBezTo>
                    <a:pt x="48273" y="111825"/>
                    <a:pt x="53440" y="99935"/>
                    <a:pt x="61997" y="90600"/>
                  </a:cubicBezTo>
                  <a:cubicBezTo>
                    <a:pt x="60497" y="87233"/>
                    <a:pt x="55996" y="73676"/>
                    <a:pt x="63164" y="55307"/>
                  </a:cubicBezTo>
                  <a:cubicBezTo>
                    <a:pt x="63164" y="55307"/>
                    <a:pt x="74332" y="51729"/>
                    <a:pt x="99835" y="68975"/>
                  </a:cubicBezTo>
                  <a:cubicBezTo>
                    <a:pt x="110503" y="66008"/>
                    <a:pt x="121838" y="64542"/>
                    <a:pt x="133173" y="64475"/>
                  </a:cubicBezTo>
                  <a:cubicBezTo>
                    <a:pt x="144507" y="64542"/>
                    <a:pt x="155842" y="66008"/>
                    <a:pt x="166510" y="68975"/>
                  </a:cubicBezTo>
                  <a:cubicBezTo>
                    <a:pt x="191847" y="51729"/>
                    <a:pt x="203015" y="55307"/>
                    <a:pt x="203015" y="55307"/>
                  </a:cubicBezTo>
                  <a:cubicBezTo>
                    <a:pt x="210182" y="73676"/>
                    <a:pt x="205682" y="87233"/>
                    <a:pt x="204348" y="90600"/>
                  </a:cubicBezTo>
                  <a:cubicBezTo>
                    <a:pt x="212849" y="99935"/>
                    <a:pt x="218017" y="111825"/>
                    <a:pt x="218017" y="126383"/>
                  </a:cubicBezTo>
                  <a:cubicBezTo>
                    <a:pt x="218017" y="177612"/>
                    <a:pt x="186846" y="188891"/>
                    <a:pt x="157176" y="192169"/>
                  </a:cubicBezTo>
                  <a:cubicBezTo>
                    <a:pt x="161843" y="196170"/>
                    <a:pt x="166177" y="204348"/>
                    <a:pt x="166177" y="216839"/>
                  </a:cubicBezTo>
                  <a:cubicBezTo>
                    <a:pt x="166177" y="234686"/>
                    <a:pt x="166010" y="249021"/>
                    <a:pt x="166010" y="253355"/>
                  </a:cubicBezTo>
                  <a:cubicBezTo>
                    <a:pt x="166010" y="256855"/>
                    <a:pt x="168344" y="261022"/>
                    <a:pt x="175178" y="259689"/>
                  </a:cubicBezTo>
                  <a:cubicBezTo>
                    <a:pt x="228529" y="242198"/>
                    <a:pt x="266701" y="192191"/>
                    <a:pt x="266701" y="133350"/>
                  </a:cubicBezTo>
                  <a:cubicBezTo>
                    <a:pt x="266701" y="59708"/>
                    <a:pt x="206993" y="0"/>
                    <a:pt x="133350" y="0"/>
                  </a:cubicBezTo>
                </a:path>
              </a:pathLst>
            </a:custGeom>
            <a:solidFill>
              <a:srgbClr val="1D2939"/>
            </a:solidFill>
            <a:ln>
              <a:noFill/>
            </a:ln>
          </p:spPr>
        </p:sp>
        <p:sp>
          <p:nvSpPr>
            <p:cNvPr id="65" name="TextBox 65"/>
            <p:cNvSpPr txBox="1"/>
            <p:nvPr/>
          </p:nvSpPr>
          <p:spPr>
            <a:xfrm>
              <a:off x="2762310" y="5243512"/>
              <a:ext cx="304680" cy="147638"/>
            </a:xfrm>
            <a:prstGeom prst="rect">
              <a:avLst/>
            </a:prstGeom>
            <a:noFill/>
            <a:ln>
              <a:noFill/>
            </a:ln>
          </p:spPr>
          <p:txBody>
            <a:bodyPr wrap="none" lIns="0" tIns="0" rIns="0" bIns="0" anchor="t" anchorCtr="0">
              <a:spAutoFit/>
            </a:bodyPr>
            <a:lstStyle/>
            <a:p>
              <a:pPr algn="ctr"/>
              <a:r>
                <a:rPr lang="en-IN" sz="750" dirty="0">
                  <a:solidFill>
                    <a:srgbClr val="344054"/>
                  </a:solidFill>
                  <a:latin typeface="Calibri"/>
                  <a:ea typeface="Calibri"/>
                  <a:cs typeface="Calibri"/>
                </a:rPr>
                <a:t>GitHub</a:t>
              </a:r>
            </a:p>
          </p:txBody>
        </p:sp>
        <p:sp>
          <p:nvSpPr>
            <p:cNvPr id="66" name="Ellipse 66"/>
            <p:cNvSpPr/>
            <p:nvPr/>
          </p:nvSpPr>
          <p:spPr>
            <a:xfrm>
              <a:off x="323850" y="5572125"/>
              <a:ext cx="304800" cy="304800"/>
            </a:xfrm>
            <a:prstGeom prst="ellipse">
              <a:avLst/>
            </a:prstGeom>
            <a:solidFill>
              <a:srgbClr val="E7F4EC"/>
            </a:solidFill>
            <a:ln>
              <a:noFill/>
            </a:ln>
          </p:spPr>
        </p:sp>
        <p:grpSp>
          <p:nvGrpSpPr>
            <p:cNvPr id="69" name="Group 69"/>
            <p:cNvGrpSpPr/>
            <p:nvPr/>
          </p:nvGrpSpPr>
          <p:grpSpPr>
            <a:xfrm>
              <a:off x="426958" y="5647849"/>
              <a:ext cx="98584" cy="153353"/>
              <a:chOff x="426958" y="5647849"/>
              <a:chExt cx="98584" cy="153353"/>
            </a:xfrm>
          </p:grpSpPr>
          <p:sp>
            <p:nvSpPr>
              <p:cNvPr id="67" name="Freeform 67"/>
              <p:cNvSpPr/>
              <p:nvPr/>
            </p:nvSpPr>
            <p:spPr>
              <a:xfrm>
                <a:off x="432435" y="5675233"/>
                <a:ext cx="87630" cy="98584"/>
              </a:xfrm>
              <a:custGeom>
                <a:avLst/>
                <a:gdLst/>
                <a:ahLst/>
                <a:cxnLst/>
                <a:rect l="l" t="t" r="r" b="b"/>
                <a:pathLst>
                  <a:path w="87630" h="98584">
                    <a:moveTo>
                      <a:pt x="87630" y="0"/>
                    </a:moveTo>
                    <a:lnTo>
                      <a:pt x="87630" y="98584"/>
                    </a:lnTo>
                    <a:lnTo>
                      <a:pt x="0" y="98584"/>
                    </a:lnTo>
                    <a:lnTo>
                      <a:pt x="0" y="0"/>
                    </a:lnTo>
                    <a:close/>
                  </a:path>
                </a:pathLst>
              </a:custGeom>
              <a:solidFill>
                <a:srgbClr val="1E7B45">
                  <a:alpha val="20000"/>
                </a:srgbClr>
              </a:solidFill>
              <a:ln>
                <a:noFill/>
              </a:ln>
            </p:spPr>
          </p:sp>
          <p:sp>
            <p:nvSpPr>
              <p:cNvPr id="68" name="Freeform 68"/>
              <p:cNvSpPr/>
              <p:nvPr/>
            </p:nvSpPr>
            <p:spPr>
              <a:xfrm>
                <a:off x="426958" y="5647849"/>
                <a:ext cx="98584" cy="153353"/>
              </a:xfrm>
              <a:custGeom>
                <a:avLst/>
                <a:gdLst/>
                <a:ahLst/>
                <a:cxnLst/>
                <a:rect l="l" t="t" r="r" b="b"/>
                <a:pathLst>
                  <a:path w="98584" h="153353">
                    <a:moveTo>
                      <a:pt x="82153" y="0"/>
                    </a:moveTo>
                    <a:lnTo>
                      <a:pt x="16431" y="0"/>
                    </a:lnTo>
                    <a:cubicBezTo>
                      <a:pt x="7356" y="0"/>
                      <a:pt x="0" y="7356"/>
                      <a:pt x="0" y="16431"/>
                    </a:cubicBezTo>
                    <a:lnTo>
                      <a:pt x="0" y="136922"/>
                    </a:lnTo>
                    <a:cubicBezTo>
                      <a:pt x="0" y="145996"/>
                      <a:pt x="7356" y="153353"/>
                      <a:pt x="16431" y="153353"/>
                    </a:cubicBezTo>
                    <a:lnTo>
                      <a:pt x="82153" y="153353"/>
                    </a:lnTo>
                    <a:cubicBezTo>
                      <a:pt x="91228" y="153353"/>
                      <a:pt x="98584" y="145996"/>
                      <a:pt x="98584" y="136922"/>
                    </a:cubicBezTo>
                    <a:lnTo>
                      <a:pt x="98584" y="16431"/>
                    </a:lnTo>
                    <a:cubicBezTo>
                      <a:pt x="98584" y="7356"/>
                      <a:pt x="91228" y="0"/>
                      <a:pt x="82153" y="0"/>
                    </a:cubicBezTo>
                    <a:close/>
                    <a:moveTo>
                      <a:pt x="10954" y="32861"/>
                    </a:moveTo>
                    <a:lnTo>
                      <a:pt x="87630" y="32861"/>
                    </a:lnTo>
                    <a:lnTo>
                      <a:pt x="87630" y="120491"/>
                    </a:lnTo>
                    <a:lnTo>
                      <a:pt x="10954" y="120491"/>
                    </a:lnTo>
                    <a:close/>
                    <a:moveTo>
                      <a:pt x="16431" y="10954"/>
                    </a:moveTo>
                    <a:lnTo>
                      <a:pt x="82153" y="10954"/>
                    </a:lnTo>
                    <a:cubicBezTo>
                      <a:pt x="85178" y="10954"/>
                      <a:pt x="87630" y="13406"/>
                      <a:pt x="87630" y="16431"/>
                    </a:cubicBezTo>
                    <a:lnTo>
                      <a:pt x="87630" y="21908"/>
                    </a:lnTo>
                    <a:lnTo>
                      <a:pt x="10954" y="21908"/>
                    </a:lnTo>
                    <a:lnTo>
                      <a:pt x="10954" y="16431"/>
                    </a:lnTo>
                    <a:cubicBezTo>
                      <a:pt x="10954" y="13406"/>
                      <a:pt x="13406" y="10954"/>
                      <a:pt x="16431" y="10954"/>
                    </a:cubicBezTo>
                    <a:close/>
                    <a:moveTo>
                      <a:pt x="82153" y="142399"/>
                    </a:moveTo>
                    <a:lnTo>
                      <a:pt x="16431" y="142399"/>
                    </a:lnTo>
                    <a:cubicBezTo>
                      <a:pt x="13406" y="142399"/>
                      <a:pt x="10954" y="139947"/>
                      <a:pt x="10954" y="136922"/>
                    </a:cubicBezTo>
                    <a:lnTo>
                      <a:pt x="10954" y="131445"/>
                    </a:lnTo>
                    <a:lnTo>
                      <a:pt x="87630" y="131445"/>
                    </a:lnTo>
                    <a:lnTo>
                      <a:pt x="87630" y="136922"/>
                    </a:lnTo>
                    <a:cubicBezTo>
                      <a:pt x="87630" y="139947"/>
                      <a:pt x="85178" y="142399"/>
                      <a:pt x="82153" y="142399"/>
                    </a:cubicBezTo>
                    <a:close/>
                  </a:path>
                </a:pathLst>
              </a:custGeom>
              <a:solidFill>
                <a:srgbClr val="1E7B45"/>
              </a:solidFill>
              <a:ln>
                <a:noFill/>
              </a:ln>
            </p:spPr>
          </p:sp>
        </p:grpSp>
        <p:sp>
          <p:nvSpPr>
            <p:cNvPr id="70" name="TextBox 70"/>
            <p:cNvSpPr txBox="1"/>
            <p:nvPr/>
          </p:nvSpPr>
          <p:spPr>
            <a:xfrm>
              <a:off x="699706" y="5596176"/>
              <a:ext cx="1146586" cy="198025"/>
            </a:xfrm>
            <a:prstGeom prst="rect">
              <a:avLst/>
            </a:prstGeom>
            <a:noFill/>
            <a:ln>
              <a:noFill/>
            </a:ln>
          </p:spPr>
          <p:txBody>
            <a:bodyPr wrap="none" lIns="0" tIns="0" rIns="0" bIns="0" anchor="t" anchorCtr="0">
              <a:spAutoFit/>
            </a:bodyPr>
            <a:lstStyle/>
            <a:p>
              <a:pPr algn="l"/>
              <a:r>
                <a:rPr lang="en-IN" sz="1010" b="1" dirty="0">
                  <a:solidFill>
                    <a:srgbClr val="1D2939"/>
                  </a:solidFill>
                  <a:latin typeface="Calibri"/>
                  <a:ea typeface="Calibri"/>
                  <a:cs typeface="Calibri"/>
                </a:rPr>
                <a:t>No hardware to buy</a:t>
              </a:r>
            </a:p>
          </p:txBody>
        </p:sp>
        <p:sp>
          <p:nvSpPr>
            <p:cNvPr id="71" name="TextBox 71"/>
            <p:cNvSpPr txBox="1"/>
            <p:nvPr/>
          </p:nvSpPr>
          <p:spPr>
            <a:xfrm>
              <a:off x="700088" y="5768816"/>
              <a:ext cx="2356896"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officers use a browser or a phone · *Gemini planned</a:t>
              </a:r>
            </a:p>
          </p:txBody>
        </p:sp>
      </p:grpSp>
      <p:grpSp>
        <p:nvGrpSpPr>
          <p:cNvPr id="76" name="method-heading"/>
          <p:cNvGrpSpPr/>
          <p:nvPr/>
        </p:nvGrpSpPr>
        <p:grpSpPr>
          <a:xfrm>
            <a:off x="4343400" y="1231106"/>
            <a:ext cx="7543800" cy="220028"/>
            <a:chOff x="4343400" y="1231106"/>
            <a:chExt cx="7543800" cy="220028"/>
          </a:xfrm>
        </p:grpSpPr>
        <p:sp>
          <p:nvSpPr>
            <p:cNvPr id="73" name="Polygon 73"/>
            <p:cNvSpPr/>
            <p:nvPr/>
          </p:nvSpPr>
          <p:spPr>
            <a:xfrm>
              <a:off x="4343400" y="1257776"/>
              <a:ext cx="95250" cy="95250"/>
            </a:xfrm>
            <a:custGeom>
              <a:avLst/>
              <a:gdLst/>
              <a:ahLst/>
              <a:cxnLst/>
              <a:rect l="l" t="t" r="r" b="b"/>
              <a:pathLst>
                <a:path w="95250" h="95250">
                  <a:moveTo>
                    <a:pt x="47625" y="0"/>
                  </a:moveTo>
                  <a:lnTo>
                    <a:pt x="95250" y="47625"/>
                  </a:lnTo>
                  <a:lnTo>
                    <a:pt x="47625" y="95250"/>
                  </a:lnTo>
                  <a:lnTo>
                    <a:pt x="0" y="47625"/>
                  </a:lnTo>
                  <a:close/>
                </a:path>
              </a:pathLst>
            </a:custGeom>
            <a:solidFill>
              <a:srgbClr val="E8871E"/>
            </a:solidFill>
            <a:ln>
              <a:noFill/>
            </a:ln>
          </p:spPr>
        </p:sp>
        <p:sp>
          <p:nvSpPr>
            <p:cNvPr id="74" name="TextBox 74"/>
            <p:cNvSpPr txBox="1"/>
            <p:nvPr/>
          </p:nvSpPr>
          <p:spPr>
            <a:xfrm>
              <a:off x="4490085" y="1231106"/>
              <a:ext cx="5558589" cy="220028"/>
            </a:xfrm>
            <a:prstGeom prst="rect">
              <a:avLst/>
            </a:prstGeom>
            <a:noFill/>
            <a:ln>
              <a:noFill/>
            </a:ln>
          </p:spPr>
          <p:txBody>
            <a:bodyPr wrap="none" lIns="0" tIns="0" rIns="0" bIns="0" anchor="t" anchorCtr="0">
              <a:spAutoFit/>
            </a:bodyPr>
            <a:lstStyle/>
            <a:p>
              <a:pPr algn="l"/>
              <a:r>
                <a:rPr lang="en-IN" sz="1120" b="1" dirty="0">
                  <a:solidFill>
                    <a:srgbClr val="0B3D6E"/>
                  </a:solidFill>
                  <a:latin typeface="Calibri"/>
                  <a:ea typeface="Calibri"/>
                  <a:cs typeface="Calibri"/>
                </a:rPr>
                <a:t>Methodology and process for implementation (Flow Charts/Images/ working prototype)</a:t>
              </a:r>
            </a:p>
          </p:txBody>
        </p:sp>
        <p:sp>
          <p:nvSpPr>
            <p:cNvPr id="75" name="Line 75"/>
            <p:cNvSpPr/>
            <p:nvPr/>
          </p:nvSpPr>
          <p:spPr>
            <a:xfrm>
              <a:off x="4343400" y="1419225"/>
              <a:ext cx="7543800" cy="9525"/>
            </a:xfrm>
            <a:custGeom>
              <a:avLst/>
              <a:gdLst/>
              <a:ahLst/>
              <a:cxnLst/>
              <a:rect l="l" t="t" r="r" b="b"/>
              <a:pathLst>
                <a:path w="7543800" h="9525">
                  <a:moveTo>
                    <a:pt x="0" y="0"/>
                  </a:moveTo>
                  <a:lnTo>
                    <a:pt x="7543800" y="0"/>
                  </a:lnTo>
                </a:path>
              </a:pathLst>
            </a:custGeom>
            <a:noFill/>
            <a:ln w="9525">
              <a:solidFill>
                <a:srgbClr val="D0D5DD"/>
              </a:solidFill>
            </a:ln>
          </p:spPr>
        </p:sp>
      </p:grpSp>
      <p:grpSp>
        <p:nvGrpSpPr>
          <p:cNvPr id="119" name="method-flow"/>
          <p:cNvGrpSpPr/>
          <p:nvPr/>
        </p:nvGrpSpPr>
        <p:grpSpPr>
          <a:xfrm>
            <a:off x="4607010" y="1647825"/>
            <a:ext cx="7026476" cy="1752600"/>
            <a:chOff x="4607010" y="1647825"/>
            <a:chExt cx="7026476" cy="1752600"/>
          </a:xfrm>
        </p:grpSpPr>
        <p:sp>
          <p:nvSpPr>
            <p:cNvPr id="77" name="Line 77"/>
            <p:cNvSpPr/>
            <p:nvPr/>
          </p:nvSpPr>
          <p:spPr>
            <a:xfrm>
              <a:off x="5440680" y="1952625"/>
              <a:ext cx="803910" cy="1"/>
            </a:xfrm>
            <a:prstGeom prst="line">
              <a:avLst/>
            </a:prstGeom>
            <a:noFill/>
            <a:ln w="15240">
              <a:solidFill>
                <a:srgbClr val="0B3D6E"/>
              </a:solidFill>
              <a:tailEnd type="triangle" w="lg" len="lg"/>
            </a:ln>
          </p:spPr>
        </p:sp>
        <p:sp>
          <p:nvSpPr>
            <p:cNvPr id="78" name="Line 78"/>
            <p:cNvSpPr/>
            <p:nvPr/>
          </p:nvSpPr>
          <p:spPr>
            <a:xfrm>
              <a:off x="6949440" y="1952625"/>
              <a:ext cx="803910" cy="1"/>
            </a:xfrm>
            <a:prstGeom prst="line">
              <a:avLst/>
            </a:prstGeom>
            <a:noFill/>
            <a:ln w="15240">
              <a:solidFill>
                <a:srgbClr val="0B3D6E"/>
              </a:solidFill>
              <a:tailEnd type="triangle" w="lg" len="lg"/>
            </a:ln>
          </p:spPr>
        </p:sp>
        <p:sp>
          <p:nvSpPr>
            <p:cNvPr id="79" name="Line 79"/>
            <p:cNvSpPr/>
            <p:nvPr/>
          </p:nvSpPr>
          <p:spPr>
            <a:xfrm>
              <a:off x="8458200" y="1952625"/>
              <a:ext cx="803910" cy="1"/>
            </a:xfrm>
            <a:prstGeom prst="line">
              <a:avLst/>
            </a:prstGeom>
            <a:noFill/>
            <a:ln w="15240">
              <a:solidFill>
                <a:srgbClr val="0B3D6E"/>
              </a:solidFill>
              <a:tailEnd type="triangle" w="lg" len="lg"/>
            </a:ln>
          </p:spPr>
        </p:sp>
        <p:sp>
          <p:nvSpPr>
            <p:cNvPr id="80" name="Line 80"/>
            <p:cNvSpPr/>
            <p:nvPr/>
          </p:nvSpPr>
          <p:spPr>
            <a:xfrm>
              <a:off x="9966960" y="1952625"/>
              <a:ext cx="803910" cy="1"/>
            </a:xfrm>
            <a:prstGeom prst="line">
              <a:avLst/>
            </a:prstGeom>
            <a:noFill/>
            <a:ln w="15240">
              <a:solidFill>
                <a:srgbClr val="0B3D6E"/>
              </a:solidFill>
              <a:tailEnd type="triangle" w="lg" len="lg"/>
            </a:ln>
          </p:spPr>
        </p:sp>
        <p:sp>
          <p:nvSpPr>
            <p:cNvPr id="81" name="Ellipse 81"/>
            <p:cNvSpPr/>
            <p:nvPr/>
          </p:nvSpPr>
          <p:spPr>
            <a:xfrm>
              <a:off x="4792980" y="1647825"/>
              <a:ext cx="609600" cy="609600"/>
            </a:xfrm>
            <a:prstGeom prst="ellipse">
              <a:avLst/>
            </a:prstGeom>
            <a:solidFill>
              <a:srgbClr val="F2F5F9"/>
            </a:solidFill>
            <a:ln w="14288">
              <a:solidFill>
                <a:srgbClr val="0B3D6E"/>
              </a:solidFill>
            </a:ln>
          </p:spPr>
        </p:sp>
        <p:grpSp>
          <p:nvGrpSpPr>
            <p:cNvPr id="84" name="Group 84"/>
            <p:cNvGrpSpPr/>
            <p:nvPr/>
          </p:nvGrpSpPr>
          <p:grpSpPr>
            <a:xfrm>
              <a:off x="4966335" y="1810226"/>
              <a:ext cx="262890" cy="284798"/>
              <a:chOff x="4966335" y="1810226"/>
              <a:chExt cx="262890" cy="284798"/>
            </a:xfrm>
          </p:grpSpPr>
          <p:sp>
            <p:nvSpPr>
              <p:cNvPr id="82" name="Freeform 82"/>
              <p:cNvSpPr/>
              <p:nvPr/>
            </p:nvSpPr>
            <p:spPr>
              <a:xfrm>
                <a:off x="4977289" y="1821180"/>
                <a:ext cx="240982" cy="131445"/>
              </a:xfrm>
              <a:custGeom>
                <a:avLst/>
                <a:gdLst/>
                <a:ahLst/>
                <a:cxnLst/>
                <a:rect l="l" t="t" r="r" b="b"/>
                <a:pathLst>
                  <a:path w="240982" h="131445">
                    <a:moveTo>
                      <a:pt x="240982" y="65723"/>
                    </a:moveTo>
                    <a:cubicBezTo>
                      <a:pt x="240982" y="102020"/>
                      <a:pt x="187035" y="131445"/>
                      <a:pt x="120491" y="131445"/>
                    </a:cubicBezTo>
                    <a:cubicBezTo>
                      <a:pt x="53947" y="131445"/>
                      <a:pt x="0" y="102020"/>
                      <a:pt x="0" y="65723"/>
                    </a:cubicBezTo>
                    <a:cubicBezTo>
                      <a:pt x="0" y="29425"/>
                      <a:pt x="53947" y="0"/>
                      <a:pt x="120491" y="0"/>
                    </a:cubicBezTo>
                    <a:cubicBezTo>
                      <a:pt x="187035" y="0"/>
                      <a:pt x="240982" y="29425"/>
                      <a:pt x="240982" y="65723"/>
                    </a:cubicBezTo>
                    <a:close/>
                  </a:path>
                </a:pathLst>
              </a:custGeom>
              <a:solidFill>
                <a:srgbClr val="0B3D6E">
                  <a:alpha val="20000"/>
                </a:srgbClr>
              </a:solidFill>
              <a:ln>
                <a:noFill/>
              </a:ln>
            </p:spPr>
          </p:sp>
          <p:sp>
            <p:nvSpPr>
              <p:cNvPr id="83" name="Freeform 83"/>
              <p:cNvSpPr/>
              <p:nvPr/>
            </p:nvSpPr>
            <p:spPr>
              <a:xfrm>
                <a:off x="4966335" y="1810226"/>
                <a:ext cx="262890" cy="284798"/>
              </a:xfrm>
              <a:custGeom>
                <a:avLst/>
                <a:gdLst/>
                <a:ahLst/>
                <a:cxnLst/>
                <a:rect l="l" t="t" r="r" b="b"/>
                <a:pathLst>
                  <a:path w="262890" h="284798">
                    <a:moveTo>
                      <a:pt x="131445" y="0"/>
                    </a:moveTo>
                    <a:cubicBezTo>
                      <a:pt x="57740" y="0"/>
                      <a:pt x="0" y="33683"/>
                      <a:pt x="0" y="76676"/>
                    </a:cubicBezTo>
                    <a:lnTo>
                      <a:pt x="0" y="208121"/>
                    </a:lnTo>
                    <a:cubicBezTo>
                      <a:pt x="0" y="251115"/>
                      <a:pt x="57740" y="284798"/>
                      <a:pt x="131445" y="284798"/>
                    </a:cubicBezTo>
                    <a:cubicBezTo>
                      <a:pt x="205150" y="284798"/>
                      <a:pt x="262890" y="251115"/>
                      <a:pt x="262890" y="208121"/>
                    </a:cubicBezTo>
                    <a:lnTo>
                      <a:pt x="262890" y="76676"/>
                    </a:lnTo>
                    <a:cubicBezTo>
                      <a:pt x="262890" y="33683"/>
                      <a:pt x="205150" y="0"/>
                      <a:pt x="131445" y="0"/>
                    </a:cubicBezTo>
                    <a:close/>
                    <a:moveTo>
                      <a:pt x="240982" y="142399"/>
                    </a:moveTo>
                    <a:cubicBezTo>
                      <a:pt x="240982" y="155571"/>
                      <a:pt x="230193" y="169003"/>
                      <a:pt x="211394" y="179258"/>
                    </a:cubicBezTo>
                    <a:cubicBezTo>
                      <a:pt x="190226" y="190801"/>
                      <a:pt x="161828" y="197168"/>
                      <a:pt x="131445" y="197168"/>
                    </a:cubicBezTo>
                    <a:cubicBezTo>
                      <a:pt x="101062" y="197168"/>
                      <a:pt x="72664" y="190801"/>
                      <a:pt x="51496" y="179258"/>
                    </a:cubicBezTo>
                    <a:cubicBezTo>
                      <a:pt x="32697" y="169003"/>
                      <a:pt x="21907" y="155571"/>
                      <a:pt x="21907" y="142399"/>
                    </a:cubicBezTo>
                    <a:lnTo>
                      <a:pt x="21907" y="119615"/>
                    </a:lnTo>
                    <a:cubicBezTo>
                      <a:pt x="45266" y="140153"/>
                      <a:pt x="85206" y="153352"/>
                      <a:pt x="131445" y="153352"/>
                    </a:cubicBezTo>
                    <a:cubicBezTo>
                      <a:pt x="177684" y="153352"/>
                      <a:pt x="217624" y="140098"/>
                      <a:pt x="240982" y="119615"/>
                    </a:cubicBezTo>
                    <a:close/>
                    <a:moveTo>
                      <a:pt x="51496" y="39817"/>
                    </a:moveTo>
                    <a:cubicBezTo>
                      <a:pt x="72664" y="28274"/>
                      <a:pt x="101062" y="21908"/>
                      <a:pt x="131445" y="21908"/>
                    </a:cubicBezTo>
                    <a:cubicBezTo>
                      <a:pt x="161828" y="21908"/>
                      <a:pt x="190226" y="28274"/>
                      <a:pt x="211394" y="39817"/>
                    </a:cubicBezTo>
                    <a:cubicBezTo>
                      <a:pt x="230193" y="50072"/>
                      <a:pt x="240982" y="63504"/>
                      <a:pt x="240982" y="76676"/>
                    </a:cubicBezTo>
                    <a:cubicBezTo>
                      <a:pt x="240982" y="89848"/>
                      <a:pt x="230193" y="103280"/>
                      <a:pt x="211394" y="113536"/>
                    </a:cubicBezTo>
                    <a:cubicBezTo>
                      <a:pt x="190226" y="125078"/>
                      <a:pt x="161828" y="131445"/>
                      <a:pt x="131445" y="131445"/>
                    </a:cubicBezTo>
                    <a:cubicBezTo>
                      <a:pt x="101062" y="131445"/>
                      <a:pt x="72664" y="125078"/>
                      <a:pt x="51496" y="113536"/>
                    </a:cubicBezTo>
                    <a:cubicBezTo>
                      <a:pt x="32697" y="103280"/>
                      <a:pt x="21907" y="89848"/>
                      <a:pt x="21907" y="76676"/>
                    </a:cubicBezTo>
                    <a:cubicBezTo>
                      <a:pt x="21907" y="63504"/>
                      <a:pt x="32697" y="50072"/>
                      <a:pt x="51496" y="39817"/>
                    </a:cubicBezTo>
                    <a:close/>
                    <a:moveTo>
                      <a:pt x="211394" y="244981"/>
                    </a:moveTo>
                    <a:cubicBezTo>
                      <a:pt x="190226" y="256523"/>
                      <a:pt x="161828" y="262890"/>
                      <a:pt x="131445" y="262890"/>
                    </a:cubicBezTo>
                    <a:cubicBezTo>
                      <a:pt x="101062" y="262890"/>
                      <a:pt x="72664" y="256523"/>
                      <a:pt x="51496" y="244981"/>
                    </a:cubicBezTo>
                    <a:cubicBezTo>
                      <a:pt x="32697" y="234725"/>
                      <a:pt x="21907" y="221293"/>
                      <a:pt x="21907" y="208121"/>
                    </a:cubicBezTo>
                    <a:lnTo>
                      <a:pt x="21907" y="185337"/>
                    </a:lnTo>
                    <a:cubicBezTo>
                      <a:pt x="45266" y="205876"/>
                      <a:pt x="85206" y="219075"/>
                      <a:pt x="131445" y="219075"/>
                    </a:cubicBezTo>
                    <a:cubicBezTo>
                      <a:pt x="177684" y="219075"/>
                      <a:pt x="217624" y="205821"/>
                      <a:pt x="240982" y="185337"/>
                    </a:cubicBezTo>
                    <a:lnTo>
                      <a:pt x="240982" y="208121"/>
                    </a:lnTo>
                    <a:cubicBezTo>
                      <a:pt x="240982" y="221293"/>
                      <a:pt x="230193" y="234725"/>
                      <a:pt x="211394" y="244981"/>
                    </a:cubicBezTo>
                    <a:close/>
                  </a:path>
                </a:pathLst>
              </a:custGeom>
              <a:solidFill>
                <a:srgbClr val="0B3D6E"/>
              </a:solidFill>
              <a:ln>
                <a:noFill/>
              </a:ln>
            </p:spPr>
          </p:sp>
        </p:grpSp>
        <p:sp>
          <p:nvSpPr>
            <p:cNvPr id="85" name="TextBox 85"/>
            <p:cNvSpPr txBox="1"/>
            <p:nvPr/>
          </p:nvSpPr>
          <p:spPr>
            <a:xfrm>
              <a:off x="4833140" y="2334578"/>
              <a:ext cx="529281" cy="205359"/>
            </a:xfrm>
            <a:prstGeom prst="rect">
              <a:avLst/>
            </a:prstGeom>
            <a:noFill/>
            <a:ln>
              <a:noFill/>
            </a:ln>
          </p:spPr>
          <p:txBody>
            <a:bodyPr wrap="none" lIns="0" tIns="0" rIns="0" bIns="0" anchor="t" anchorCtr="0">
              <a:spAutoFit/>
            </a:bodyPr>
            <a:lstStyle/>
            <a:p>
              <a:pPr algn="ctr"/>
              <a:r>
                <a:rPr lang="en-IN" sz="1050" b="1" dirty="0">
                  <a:solidFill>
                    <a:srgbClr val="1D2939"/>
                  </a:solidFill>
                  <a:latin typeface="Calibri"/>
                  <a:ea typeface="Calibri"/>
                  <a:cs typeface="Calibri"/>
                </a:rPr>
                <a:t>eSAKSHI</a:t>
              </a:r>
            </a:p>
          </p:txBody>
        </p:sp>
        <p:sp>
          <p:nvSpPr>
            <p:cNvPr id="86" name="TextBox 86"/>
            <p:cNvSpPr txBox="1"/>
            <p:nvPr/>
          </p:nvSpPr>
          <p:spPr>
            <a:xfrm>
              <a:off x="4607010" y="2511266"/>
              <a:ext cx="981539"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2,09,993 works + files</a:t>
              </a:r>
            </a:p>
          </p:txBody>
        </p:sp>
        <p:sp>
          <p:nvSpPr>
            <p:cNvPr id="87" name="Ellipse 87"/>
            <p:cNvSpPr/>
            <p:nvPr/>
          </p:nvSpPr>
          <p:spPr>
            <a:xfrm>
              <a:off x="6301740" y="1647825"/>
              <a:ext cx="609600" cy="609600"/>
            </a:xfrm>
            <a:prstGeom prst="ellipse">
              <a:avLst/>
            </a:prstGeom>
            <a:solidFill>
              <a:srgbClr val="E8F1FA"/>
            </a:solidFill>
            <a:ln w="14288">
              <a:solidFill>
                <a:srgbClr val="0B3D6E"/>
              </a:solidFill>
            </a:ln>
          </p:spPr>
        </p:sp>
        <p:grpSp>
          <p:nvGrpSpPr>
            <p:cNvPr id="90" name="Group 90"/>
            <p:cNvGrpSpPr/>
            <p:nvPr/>
          </p:nvGrpSpPr>
          <p:grpSpPr>
            <a:xfrm>
              <a:off x="6475095" y="1832134"/>
              <a:ext cx="262890" cy="273973"/>
              <a:chOff x="6475095" y="1832134"/>
              <a:chExt cx="262890" cy="273973"/>
            </a:xfrm>
          </p:grpSpPr>
          <p:sp>
            <p:nvSpPr>
              <p:cNvPr id="88" name="Freeform 88"/>
              <p:cNvSpPr/>
              <p:nvPr/>
            </p:nvSpPr>
            <p:spPr>
              <a:xfrm>
                <a:off x="6486049" y="1843088"/>
                <a:ext cx="240982" cy="251936"/>
              </a:xfrm>
              <a:custGeom>
                <a:avLst/>
                <a:gdLst/>
                <a:ahLst/>
                <a:cxnLst/>
                <a:rect l="l" t="t" r="r" b="b"/>
                <a:pathLst>
                  <a:path w="240982" h="251936">
                    <a:moveTo>
                      <a:pt x="240982" y="10954"/>
                    </a:moveTo>
                    <a:lnTo>
                      <a:pt x="240982" y="87630"/>
                    </a:lnTo>
                    <a:cubicBezTo>
                      <a:pt x="240982" y="219075"/>
                      <a:pt x="120491" y="251936"/>
                      <a:pt x="120491" y="251936"/>
                    </a:cubicBezTo>
                    <a:cubicBezTo>
                      <a:pt x="120491" y="251936"/>
                      <a:pt x="0" y="219075"/>
                      <a:pt x="0" y="87630"/>
                    </a:cubicBezTo>
                    <a:lnTo>
                      <a:pt x="0" y="10954"/>
                    </a:lnTo>
                    <a:cubicBezTo>
                      <a:pt x="0" y="4904"/>
                      <a:pt x="4904" y="0"/>
                      <a:pt x="10954" y="0"/>
                    </a:cubicBezTo>
                    <a:lnTo>
                      <a:pt x="230029" y="0"/>
                    </a:lnTo>
                    <a:cubicBezTo>
                      <a:pt x="236078" y="0"/>
                      <a:pt x="240982" y="4904"/>
                      <a:pt x="240982" y="10954"/>
                    </a:cubicBezTo>
                    <a:close/>
                  </a:path>
                </a:pathLst>
              </a:custGeom>
              <a:solidFill>
                <a:srgbClr val="0B3D6E">
                  <a:alpha val="20000"/>
                </a:srgbClr>
              </a:solidFill>
              <a:ln>
                <a:noFill/>
              </a:ln>
            </p:spPr>
          </p:sp>
          <p:sp>
            <p:nvSpPr>
              <p:cNvPr id="89" name="Freeform 89"/>
              <p:cNvSpPr/>
              <p:nvPr/>
            </p:nvSpPr>
            <p:spPr>
              <a:xfrm>
                <a:off x="6475095" y="1832134"/>
                <a:ext cx="262890" cy="273973"/>
              </a:xfrm>
              <a:custGeom>
                <a:avLst/>
                <a:gdLst/>
                <a:ahLst/>
                <a:cxnLst/>
                <a:rect l="l" t="t" r="r" b="b"/>
                <a:pathLst>
                  <a:path w="262890" h="273973">
                    <a:moveTo>
                      <a:pt x="240982" y="0"/>
                    </a:moveTo>
                    <a:lnTo>
                      <a:pt x="21907" y="0"/>
                    </a:lnTo>
                    <a:cubicBezTo>
                      <a:pt x="9808" y="0"/>
                      <a:pt x="0" y="9808"/>
                      <a:pt x="0" y="21908"/>
                    </a:cubicBezTo>
                    <a:lnTo>
                      <a:pt x="0" y="98584"/>
                    </a:lnTo>
                    <a:cubicBezTo>
                      <a:pt x="0" y="170769"/>
                      <a:pt x="34942" y="214516"/>
                      <a:pt x="64257" y="238504"/>
                    </a:cubicBezTo>
                    <a:cubicBezTo>
                      <a:pt x="95832" y="264328"/>
                      <a:pt x="127241" y="273091"/>
                      <a:pt x="128611" y="273460"/>
                    </a:cubicBezTo>
                    <a:cubicBezTo>
                      <a:pt x="130493" y="273973"/>
                      <a:pt x="132479" y="273973"/>
                      <a:pt x="134361" y="273460"/>
                    </a:cubicBezTo>
                    <a:cubicBezTo>
                      <a:pt x="135731" y="273091"/>
                      <a:pt x="167099" y="264328"/>
                      <a:pt x="198715" y="238504"/>
                    </a:cubicBezTo>
                    <a:cubicBezTo>
                      <a:pt x="227948" y="214516"/>
                      <a:pt x="262890" y="170769"/>
                      <a:pt x="262890" y="98584"/>
                    </a:cubicBezTo>
                    <a:lnTo>
                      <a:pt x="262890" y="21908"/>
                    </a:lnTo>
                    <a:cubicBezTo>
                      <a:pt x="262890" y="9808"/>
                      <a:pt x="253082" y="0"/>
                      <a:pt x="240982" y="0"/>
                    </a:cubicBezTo>
                    <a:close/>
                    <a:moveTo>
                      <a:pt x="240982" y="98584"/>
                    </a:moveTo>
                    <a:cubicBezTo>
                      <a:pt x="240982" y="149341"/>
                      <a:pt x="222279" y="190540"/>
                      <a:pt x="185392" y="221019"/>
                    </a:cubicBezTo>
                    <a:cubicBezTo>
                      <a:pt x="169335" y="234242"/>
                      <a:pt x="151073" y="244532"/>
                      <a:pt x="131445" y="251416"/>
                    </a:cubicBezTo>
                    <a:cubicBezTo>
                      <a:pt x="112073" y="244652"/>
                      <a:pt x="94037" y="234544"/>
                      <a:pt x="78155" y="221553"/>
                    </a:cubicBezTo>
                    <a:cubicBezTo>
                      <a:pt x="40830" y="191020"/>
                      <a:pt x="21907" y="149656"/>
                      <a:pt x="21907" y="98584"/>
                    </a:cubicBezTo>
                    <a:lnTo>
                      <a:pt x="21907" y="21908"/>
                    </a:lnTo>
                    <a:lnTo>
                      <a:pt x="240982" y="21908"/>
                    </a:lnTo>
                    <a:close/>
                    <a:moveTo>
                      <a:pt x="68926" y="139195"/>
                    </a:moveTo>
                    <a:cubicBezTo>
                      <a:pt x="64646" y="134915"/>
                      <a:pt x="64646" y="127975"/>
                      <a:pt x="68926" y="123695"/>
                    </a:cubicBezTo>
                    <a:cubicBezTo>
                      <a:pt x="73207" y="119415"/>
                      <a:pt x="80146" y="119415"/>
                      <a:pt x="84426" y="123695"/>
                    </a:cubicBezTo>
                    <a:lnTo>
                      <a:pt x="109538" y="148820"/>
                    </a:lnTo>
                    <a:lnTo>
                      <a:pt x="178464" y="79880"/>
                    </a:lnTo>
                    <a:cubicBezTo>
                      <a:pt x="182744" y="75600"/>
                      <a:pt x="189683" y="75600"/>
                      <a:pt x="193964" y="79880"/>
                    </a:cubicBezTo>
                    <a:cubicBezTo>
                      <a:pt x="198244" y="84160"/>
                      <a:pt x="198244" y="91100"/>
                      <a:pt x="193964" y="95380"/>
                    </a:cubicBezTo>
                    <a:lnTo>
                      <a:pt x="117287" y="172056"/>
                    </a:lnTo>
                    <a:cubicBezTo>
                      <a:pt x="115233" y="174113"/>
                      <a:pt x="112445" y="175269"/>
                      <a:pt x="109538" y="175269"/>
                    </a:cubicBezTo>
                    <a:cubicBezTo>
                      <a:pt x="106630" y="175269"/>
                      <a:pt x="103842" y="174113"/>
                      <a:pt x="101788" y="172056"/>
                    </a:cubicBezTo>
                    <a:close/>
                  </a:path>
                </a:pathLst>
              </a:custGeom>
              <a:solidFill>
                <a:srgbClr val="0B3D6E"/>
              </a:solidFill>
              <a:ln>
                <a:noFill/>
              </a:ln>
            </p:spPr>
          </p:sp>
        </p:grpSp>
        <p:sp>
          <p:nvSpPr>
            <p:cNvPr id="91" name="TextBox 91"/>
            <p:cNvSpPr txBox="1"/>
            <p:nvPr/>
          </p:nvSpPr>
          <p:spPr>
            <a:xfrm>
              <a:off x="6355181" y="2334578"/>
              <a:ext cx="502719" cy="205359"/>
            </a:xfrm>
            <a:prstGeom prst="rect">
              <a:avLst/>
            </a:prstGeom>
            <a:noFill/>
            <a:ln>
              <a:noFill/>
            </a:ln>
          </p:spPr>
          <p:txBody>
            <a:bodyPr wrap="none" lIns="0" tIns="0" rIns="0" bIns="0" anchor="t" anchorCtr="0">
              <a:spAutoFit/>
            </a:bodyPr>
            <a:lstStyle/>
            <a:p>
              <a:pPr algn="ctr"/>
              <a:r>
                <a:rPr lang="en-IN" sz="1050" b="1" dirty="0">
                  <a:solidFill>
                    <a:srgbClr val="1D2939"/>
                  </a:solidFill>
                  <a:latin typeface="Calibri"/>
                  <a:ea typeface="Calibri"/>
                  <a:cs typeface="Calibri"/>
                </a:rPr>
                <a:t>Validate</a:t>
              </a:r>
            </a:p>
          </p:txBody>
        </p:sp>
        <p:sp>
          <p:nvSpPr>
            <p:cNvPr id="92" name="TextBox 92"/>
            <p:cNvSpPr txBox="1"/>
            <p:nvPr/>
          </p:nvSpPr>
          <p:spPr>
            <a:xfrm>
              <a:off x="6118829" y="2511266"/>
              <a:ext cx="975422"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clean dates, mask IDs</a:t>
              </a:r>
            </a:p>
          </p:txBody>
        </p:sp>
        <p:sp>
          <p:nvSpPr>
            <p:cNvPr id="93" name="Ellipse 93"/>
            <p:cNvSpPr/>
            <p:nvPr/>
          </p:nvSpPr>
          <p:spPr>
            <a:xfrm>
              <a:off x="7810500" y="1647825"/>
              <a:ext cx="609600" cy="609600"/>
            </a:xfrm>
            <a:prstGeom prst="ellipse">
              <a:avLst/>
            </a:prstGeom>
            <a:solidFill>
              <a:srgbClr val="E8F1FA"/>
            </a:solidFill>
            <a:ln w="14288">
              <a:solidFill>
                <a:srgbClr val="0B3D6E"/>
              </a:solidFill>
            </a:ln>
          </p:spPr>
        </p:sp>
        <p:grpSp>
          <p:nvGrpSpPr>
            <p:cNvPr id="96" name="Group 96"/>
            <p:cNvGrpSpPr/>
            <p:nvPr/>
          </p:nvGrpSpPr>
          <p:grpSpPr>
            <a:xfrm>
              <a:off x="7950679" y="1843088"/>
              <a:ext cx="329242" cy="219075"/>
              <a:chOff x="7950679" y="1843088"/>
              <a:chExt cx="329242" cy="219075"/>
            </a:xfrm>
          </p:grpSpPr>
          <p:sp>
            <p:nvSpPr>
              <p:cNvPr id="94" name="Freeform 94"/>
              <p:cNvSpPr/>
              <p:nvPr/>
            </p:nvSpPr>
            <p:spPr>
              <a:xfrm>
                <a:off x="7961948" y="1854041"/>
                <a:ext cx="306705" cy="197167"/>
              </a:xfrm>
              <a:custGeom>
                <a:avLst/>
                <a:gdLst/>
                <a:ahLst/>
                <a:cxnLst/>
                <a:rect l="l" t="t" r="r" b="b"/>
                <a:pathLst>
                  <a:path w="306705" h="197167">
                    <a:moveTo>
                      <a:pt x="153353" y="0"/>
                    </a:moveTo>
                    <a:cubicBezTo>
                      <a:pt x="43815" y="0"/>
                      <a:pt x="0" y="98584"/>
                      <a:pt x="0" y="98584"/>
                    </a:cubicBezTo>
                    <a:cubicBezTo>
                      <a:pt x="0" y="98584"/>
                      <a:pt x="43815" y="197167"/>
                      <a:pt x="153353" y="197167"/>
                    </a:cubicBezTo>
                    <a:cubicBezTo>
                      <a:pt x="262890" y="197167"/>
                      <a:pt x="306705" y="98584"/>
                      <a:pt x="306705" y="98584"/>
                    </a:cubicBezTo>
                    <a:cubicBezTo>
                      <a:pt x="306705" y="98584"/>
                      <a:pt x="262890" y="0"/>
                      <a:pt x="153353" y="0"/>
                    </a:cubicBezTo>
                    <a:close/>
                    <a:moveTo>
                      <a:pt x="153353" y="153352"/>
                    </a:moveTo>
                    <a:cubicBezTo>
                      <a:pt x="123105" y="153352"/>
                      <a:pt x="98584" y="128832"/>
                      <a:pt x="98584" y="98584"/>
                    </a:cubicBezTo>
                    <a:cubicBezTo>
                      <a:pt x="98584" y="68336"/>
                      <a:pt x="123105" y="43815"/>
                      <a:pt x="153353" y="43815"/>
                    </a:cubicBezTo>
                    <a:cubicBezTo>
                      <a:pt x="183600" y="43815"/>
                      <a:pt x="208121" y="68336"/>
                      <a:pt x="208121" y="98584"/>
                    </a:cubicBezTo>
                    <a:cubicBezTo>
                      <a:pt x="208121" y="128832"/>
                      <a:pt x="183600" y="153352"/>
                      <a:pt x="153353" y="153352"/>
                    </a:cubicBezTo>
                    <a:close/>
                  </a:path>
                </a:pathLst>
              </a:custGeom>
              <a:solidFill>
                <a:srgbClr val="0B3D6E">
                  <a:alpha val="20000"/>
                </a:srgbClr>
              </a:solidFill>
              <a:ln>
                <a:noFill/>
              </a:ln>
            </p:spPr>
          </p:sp>
          <p:sp>
            <p:nvSpPr>
              <p:cNvPr id="95" name="Freeform 95"/>
              <p:cNvSpPr/>
              <p:nvPr/>
            </p:nvSpPr>
            <p:spPr>
              <a:xfrm>
                <a:off x="7950679" y="1843088"/>
                <a:ext cx="329242" cy="219075"/>
              </a:xfrm>
              <a:custGeom>
                <a:avLst/>
                <a:gdLst/>
                <a:ahLst/>
                <a:cxnLst/>
                <a:rect l="l" t="t" r="r" b="b"/>
                <a:pathLst>
                  <a:path w="329242" h="219075">
                    <a:moveTo>
                      <a:pt x="327982" y="105101"/>
                    </a:moveTo>
                    <a:cubicBezTo>
                      <a:pt x="327503" y="104020"/>
                      <a:pt x="315906" y="78292"/>
                      <a:pt x="290124" y="52510"/>
                    </a:cubicBezTo>
                    <a:cubicBezTo>
                      <a:pt x="255770" y="18156"/>
                      <a:pt x="212379" y="0"/>
                      <a:pt x="164621" y="0"/>
                    </a:cubicBezTo>
                    <a:cubicBezTo>
                      <a:pt x="116863" y="0"/>
                      <a:pt x="73472" y="18156"/>
                      <a:pt x="39118" y="52510"/>
                    </a:cubicBezTo>
                    <a:cubicBezTo>
                      <a:pt x="13336" y="78292"/>
                      <a:pt x="1684" y="104061"/>
                      <a:pt x="1260" y="105101"/>
                    </a:cubicBezTo>
                    <a:cubicBezTo>
                      <a:pt x="0" y="107934"/>
                      <a:pt x="0" y="111168"/>
                      <a:pt x="1260" y="114001"/>
                    </a:cubicBezTo>
                    <a:cubicBezTo>
                      <a:pt x="1739" y="115083"/>
                      <a:pt x="13336" y="140797"/>
                      <a:pt x="39118" y="166579"/>
                    </a:cubicBezTo>
                    <a:cubicBezTo>
                      <a:pt x="73472" y="200919"/>
                      <a:pt x="116863" y="219075"/>
                      <a:pt x="164621" y="219075"/>
                    </a:cubicBezTo>
                    <a:cubicBezTo>
                      <a:pt x="212379" y="219075"/>
                      <a:pt x="255770" y="200919"/>
                      <a:pt x="290124" y="166579"/>
                    </a:cubicBezTo>
                    <a:cubicBezTo>
                      <a:pt x="315906" y="140797"/>
                      <a:pt x="327503" y="115083"/>
                      <a:pt x="327982" y="114001"/>
                    </a:cubicBezTo>
                    <a:cubicBezTo>
                      <a:pt x="329242" y="111168"/>
                      <a:pt x="329242" y="107934"/>
                      <a:pt x="327982" y="105101"/>
                    </a:cubicBezTo>
                    <a:close/>
                    <a:moveTo>
                      <a:pt x="164621" y="197167"/>
                    </a:moveTo>
                    <a:cubicBezTo>
                      <a:pt x="122476" y="197167"/>
                      <a:pt x="85658" y="181846"/>
                      <a:pt x="55179" y="151641"/>
                    </a:cubicBezTo>
                    <a:cubicBezTo>
                      <a:pt x="42674" y="139204"/>
                      <a:pt x="32034" y="125023"/>
                      <a:pt x="23591" y="109538"/>
                    </a:cubicBezTo>
                    <a:cubicBezTo>
                      <a:pt x="32032" y="94051"/>
                      <a:pt x="42671" y="79869"/>
                      <a:pt x="55179" y="67434"/>
                    </a:cubicBezTo>
                    <a:cubicBezTo>
                      <a:pt x="85658" y="37229"/>
                      <a:pt x="122476" y="21907"/>
                      <a:pt x="164621" y="21907"/>
                    </a:cubicBezTo>
                    <a:cubicBezTo>
                      <a:pt x="206766" y="21907"/>
                      <a:pt x="243584" y="37229"/>
                      <a:pt x="274063" y="67434"/>
                    </a:cubicBezTo>
                    <a:cubicBezTo>
                      <a:pt x="286593" y="79866"/>
                      <a:pt x="297256" y="94048"/>
                      <a:pt x="305719" y="109538"/>
                    </a:cubicBezTo>
                    <a:cubicBezTo>
                      <a:pt x="295847" y="127967"/>
                      <a:pt x="252840" y="197167"/>
                      <a:pt x="164621" y="197167"/>
                    </a:cubicBezTo>
                    <a:close/>
                    <a:moveTo>
                      <a:pt x="164621" y="43815"/>
                    </a:moveTo>
                    <a:cubicBezTo>
                      <a:pt x="128323" y="43815"/>
                      <a:pt x="98898" y="73240"/>
                      <a:pt x="98898" y="109538"/>
                    </a:cubicBezTo>
                    <a:cubicBezTo>
                      <a:pt x="98898" y="145835"/>
                      <a:pt x="128323" y="175260"/>
                      <a:pt x="164621" y="175260"/>
                    </a:cubicBezTo>
                    <a:cubicBezTo>
                      <a:pt x="200919" y="175260"/>
                      <a:pt x="230343" y="145835"/>
                      <a:pt x="230343" y="109538"/>
                    </a:cubicBezTo>
                    <a:cubicBezTo>
                      <a:pt x="230306" y="73256"/>
                      <a:pt x="200903" y="43853"/>
                      <a:pt x="164621" y="43815"/>
                    </a:cubicBezTo>
                    <a:close/>
                    <a:moveTo>
                      <a:pt x="164621" y="153352"/>
                    </a:moveTo>
                    <a:cubicBezTo>
                      <a:pt x="140423" y="153352"/>
                      <a:pt x="120806" y="133736"/>
                      <a:pt x="120806" y="109538"/>
                    </a:cubicBezTo>
                    <a:cubicBezTo>
                      <a:pt x="120806" y="85339"/>
                      <a:pt x="140423" y="65723"/>
                      <a:pt x="164621" y="65723"/>
                    </a:cubicBezTo>
                    <a:cubicBezTo>
                      <a:pt x="188819" y="65723"/>
                      <a:pt x="208436" y="85339"/>
                      <a:pt x="208436" y="109538"/>
                    </a:cubicBezTo>
                    <a:cubicBezTo>
                      <a:pt x="208436" y="133736"/>
                      <a:pt x="188819" y="153352"/>
                      <a:pt x="164621" y="153352"/>
                    </a:cubicBezTo>
                    <a:close/>
                  </a:path>
                </a:pathLst>
              </a:custGeom>
              <a:solidFill>
                <a:srgbClr val="0B3D6E"/>
              </a:solidFill>
              <a:ln>
                <a:noFill/>
              </a:ln>
            </p:spPr>
          </p:sp>
        </p:grpSp>
        <p:sp>
          <p:nvSpPr>
            <p:cNvPr id="97" name="TextBox 97"/>
            <p:cNvSpPr txBox="1"/>
            <p:nvPr/>
          </p:nvSpPr>
          <p:spPr>
            <a:xfrm>
              <a:off x="7827752" y="2334578"/>
              <a:ext cx="575097" cy="205359"/>
            </a:xfrm>
            <a:prstGeom prst="rect">
              <a:avLst/>
            </a:prstGeom>
            <a:noFill/>
            <a:ln>
              <a:noFill/>
            </a:ln>
          </p:spPr>
          <p:txBody>
            <a:bodyPr wrap="none" lIns="0" tIns="0" rIns="0" bIns="0" anchor="t" anchorCtr="0">
              <a:spAutoFit/>
            </a:bodyPr>
            <a:lstStyle/>
            <a:p>
              <a:pPr algn="ctr"/>
              <a:r>
                <a:rPr lang="en-IN" sz="1050" b="1" dirty="0">
                  <a:solidFill>
                    <a:srgbClr val="1D2939"/>
                  </a:solidFill>
                  <a:latin typeface="Calibri"/>
                  <a:ea typeface="Calibri"/>
                  <a:cs typeface="Calibri"/>
                </a:rPr>
                <a:t>12 agents</a:t>
              </a:r>
            </a:p>
          </p:txBody>
        </p:sp>
        <p:sp>
          <p:nvSpPr>
            <p:cNvPr id="98" name="TextBox 98"/>
            <p:cNvSpPr txBox="1"/>
            <p:nvPr/>
          </p:nvSpPr>
          <p:spPr>
            <a:xfrm>
              <a:off x="7705826" y="2511266"/>
              <a:ext cx="818948"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4 stages of a work</a:t>
              </a:r>
            </a:p>
          </p:txBody>
        </p:sp>
        <p:sp>
          <p:nvSpPr>
            <p:cNvPr id="99" name="Ellipse 99"/>
            <p:cNvSpPr/>
            <p:nvPr/>
          </p:nvSpPr>
          <p:spPr>
            <a:xfrm>
              <a:off x="9319260" y="1647825"/>
              <a:ext cx="609600" cy="609600"/>
            </a:xfrm>
            <a:prstGeom prst="ellipse">
              <a:avLst/>
            </a:prstGeom>
            <a:solidFill>
              <a:srgbClr val="FDF1E4"/>
            </a:solidFill>
            <a:ln w="14288">
              <a:solidFill>
                <a:srgbClr val="B35900"/>
              </a:solidFill>
            </a:ln>
          </p:spPr>
        </p:sp>
        <p:grpSp>
          <p:nvGrpSpPr>
            <p:cNvPr id="102" name="Group 102"/>
            <p:cNvGrpSpPr/>
            <p:nvPr/>
          </p:nvGrpSpPr>
          <p:grpSpPr>
            <a:xfrm>
              <a:off x="9470708" y="1832020"/>
              <a:ext cx="306819" cy="208235"/>
              <a:chOff x="9470708" y="1832020"/>
              <a:chExt cx="306819" cy="208235"/>
            </a:xfrm>
          </p:grpSpPr>
          <p:sp>
            <p:nvSpPr>
              <p:cNvPr id="100" name="Freeform 100"/>
              <p:cNvSpPr/>
              <p:nvPr/>
            </p:nvSpPr>
            <p:spPr>
              <a:xfrm>
                <a:off x="9481661" y="1842953"/>
                <a:ext cx="284798" cy="186348"/>
              </a:xfrm>
              <a:custGeom>
                <a:avLst/>
                <a:gdLst/>
                <a:ahLst/>
                <a:cxnLst/>
                <a:rect l="l" t="t" r="r" b="b"/>
                <a:pathLst>
                  <a:path w="284798" h="186348">
                    <a:moveTo>
                      <a:pt x="284797" y="142533"/>
                    </a:moveTo>
                    <a:lnTo>
                      <a:pt x="284797" y="175395"/>
                    </a:lnTo>
                    <a:cubicBezTo>
                      <a:pt x="284797" y="181444"/>
                      <a:pt x="279893" y="186348"/>
                      <a:pt x="273844" y="186348"/>
                    </a:cubicBezTo>
                    <a:lnTo>
                      <a:pt x="10954" y="186348"/>
                    </a:lnTo>
                    <a:cubicBezTo>
                      <a:pt x="4904" y="186348"/>
                      <a:pt x="0" y="181444"/>
                      <a:pt x="0" y="175395"/>
                    </a:cubicBezTo>
                    <a:lnTo>
                      <a:pt x="0" y="144081"/>
                    </a:lnTo>
                    <a:cubicBezTo>
                      <a:pt x="0" y="65378"/>
                      <a:pt x="63189" y="409"/>
                      <a:pt x="141892" y="135"/>
                    </a:cubicBezTo>
                    <a:cubicBezTo>
                      <a:pt x="179746" y="0"/>
                      <a:pt x="216096" y="14943"/>
                      <a:pt x="242911" y="41663"/>
                    </a:cubicBezTo>
                    <a:cubicBezTo>
                      <a:pt x="269726" y="68382"/>
                      <a:pt x="284798" y="104679"/>
                      <a:pt x="284797" y="142533"/>
                    </a:cubicBezTo>
                    <a:close/>
                  </a:path>
                </a:pathLst>
              </a:custGeom>
              <a:solidFill>
                <a:srgbClr val="B35900">
                  <a:alpha val="20000"/>
                </a:srgbClr>
              </a:solidFill>
              <a:ln>
                <a:noFill/>
              </a:ln>
            </p:spPr>
          </p:sp>
          <p:sp>
            <p:nvSpPr>
              <p:cNvPr id="101" name="Freeform 101"/>
              <p:cNvSpPr/>
              <p:nvPr/>
            </p:nvSpPr>
            <p:spPr>
              <a:xfrm>
                <a:off x="9470708" y="1832020"/>
                <a:ext cx="306819" cy="208235"/>
              </a:xfrm>
              <a:custGeom>
                <a:avLst/>
                <a:gdLst/>
                <a:ahLst/>
                <a:cxnLst/>
                <a:rect l="l" t="t" r="r" b="b"/>
                <a:pathLst>
                  <a:path w="306819" h="208235">
                    <a:moveTo>
                      <a:pt x="261603" y="44846"/>
                    </a:moveTo>
                    <a:cubicBezTo>
                      <a:pt x="232924" y="16103"/>
                      <a:pt x="193956" y="0"/>
                      <a:pt x="153353" y="114"/>
                    </a:cubicBezTo>
                    <a:lnTo>
                      <a:pt x="152805" y="114"/>
                    </a:lnTo>
                    <a:cubicBezTo>
                      <a:pt x="68557" y="402"/>
                      <a:pt x="0" y="69944"/>
                      <a:pt x="0" y="155014"/>
                    </a:cubicBezTo>
                    <a:lnTo>
                      <a:pt x="0" y="186328"/>
                    </a:lnTo>
                    <a:cubicBezTo>
                      <a:pt x="0" y="198427"/>
                      <a:pt x="9808" y="208235"/>
                      <a:pt x="21908" y="208235"/>
                    </a:cubicBezTo>
                    <a:lnTo>
                      <a:pt x="284798" y="208235"/>
                    </a:lnTo>
                    <a:cubicBezTo>
                      <a:pt x="296897" y="208235"/>
                      <a:pt x="306705" y="198427"/>
                      <a:pt x="306705" y="186328"/>
                    </a:cubicBezTo>
                    <a:lnTo>
                      <a:pt x="306705" y="153467"/>
                    </a:lnTo>
                    <a:cubicBezTo>
                      <a:pt x="306819" y="112682"/>
                      <a:pt x="290572" y="73555"/>
                      <a:pt x="261603" y="44846"/>
                    </a:cubicBezTo>
                    <a:close/>
                    <a:moveTo>
                      <a:pt x="284798" y="186328"/>
                    </a:moveTo>
                    <a:lnTo>
                      <a:pt x="142002" y="186328"/>
                    </a:lnTo>
                    <a:lnTo>
                      <a:pt x="216980" y="83226"/>
                    </a:lnTo>
                    <a:cubicBezTo>
                      <a:pt x="220542" y="78333"/>
                      <a:pt x="219463" y="71479"/>
                      <a:pt x="214570" y="67918"/>
                    </a:cubicBezTo>
                    <a:cubicBezTo>
                      <a:pt x="209678" y="64356"/>
                      <a:pt x="202824" y="65435"/>
                      <a:pt x="199262" y="70328"/>
                    </a:cubicBezTo>
                    <a:lnTo>
                      <a:pt x="114905" y="186328"/>
                    </a:lnTo>
                    <a:lnTo>
                      <a:pt x="21908" y="186328"/>
                    </a:lnTo>
                    <a:lnTo>
                      <a:pt x="21908" y="155014"/>
                    </a:lnTo>
                    <a:cubicBezTo>
                      <a:pt x="21908" y="150797"/>
                      <a:pt x="22113" y="146634"/>
                      <a:pt x="22496" y="142513"/>
                    </a:cubicBezTo>
                    <a:lnTo>
                      <a:pt x="54769" y="142513"/>
                    </a:lnTo>
                    <a:cubicBezTo>
                      <a:pt x="60818" y="142513"/>
                      <a:pt x="65723" y="137609"/>
                      <a:pt x="65723" y="131559"/>
                    </a:cubicBezTo>
                    <a:cubicBezTo>
                      <a:pt x="65723" y="125509"/>
                      <a:pt x="60818" y="120605"/>
                      <a:pt x="54769" y="120605"/>
                    </a:cubicBezTo>
                    <a:lnTo>
                      <a:pt x="26385" y="120605"/>
                    </a:lnTo>
                    <a:cubicBezTo>
                      <a:pt x="40515" y="67397"/>
                      <a:pt x="86630" y="27170"/>
                      <a:pt x="142399" y="22487"/>
                    </a:cubicBezTo>
                    <a:lnTo>
                      <a:pt x="142399" y="54883"/>
                    </a:lnTo>
                    <a:cubicBezTo>
                      <a:pt x="142399" y="60932"/>
                      <a:pt x="147303" y="65837"/>
                      <a:pt x="153353" y="65837"/>
                    </a:cubicBezTo>
                    <a:cubicBezTo>
                      <a:pt x="159402" y="65837"/>
                      <a:pt x="164306" y="60932"/>
                      <a:pt x="164306" y="54883"/>
                    </a:cubicBezTo>
                    <a:lnTo>
                      <a:pt x="164306" y="22473"/>
                    </a:lnTo>
                    <a:cubicBezTo>
                      <a:pt x="219999" y="27160"/>
                      <a:pt x="266661" y="66505"/>
                      <a:pt x="280690" y="120605"/>
                    </a:cubicBezTo>
                    <a:lnTo>
                      <a:pt x="251936" y="120605"/>
                    </a:lnTo>
                    <a:cubicBezTo>
                      <a:pt x="245887" y="120605"/>
                      <a:pt x="240983" y="125509"/>
                      <a:pt x="240983" y="131559"/>
                    </a:cubicBezTo>
                    <a:cubicBezTo>
                      <a:pt x="240983" y="137609"/>
                      <a:pt x="245887" y="142513"/>
                      <a:pt x="251936" y="142513"/>
                    </a:cubicBezTo>
                    <a:lnTo>
                      <a:pt x="284346" y="142513"/>
                    </a:lnTo>
                    <a:cubicBezTo>
                      <a:pt x="284633" y="146141"/>
                      <a:pt x="284798" y="149783"/>
                      <a:pt x="284798" y="153467"/>
                    </a:cubicBezTo>
                    <a:close/>
                  </a:path>
                </a:pathLst>
              </a:custGeom>
              <a:solidFill>
                <a:srgbClr val="B35900"/>
              </a:solidFill>
              <a:ln>
                <a:noFill/>
              </a:ln>
            </p:spPr>
          </p:sp>
        </p:grpSp>
        <p:sp>
          <p:nvSpPr>
            <p:cNvPr id="103" name="TextBox 103"/>
            <p:cNvSpPr txBox="1"/>
            <p:nvPr/>
          </p:nvSpPr>
          <p:spPr>
            <a:xfrm>
              <a:off x="9287944" y="2334578"/>
              <a:ext cx="672232" cy="205359"/>
            </a:xfrm>
            <a:prstGeom prst="rect">
              <a:avLst/>
            </a:prstGeom>
            <a:noFill/>
            <a:ln>
              <a:noFill/>
            </a:ln>
          </p:spPr>
          <p:txBody>
            <a:bodyPr wrap="none" lIns="0" tIns="0" rIns="0" bIns="0" anchor="t" anchorCtr="0">
              <a:spAutoFit/>
            </a:bodyPr>
            <a:lstStyle/>
            <a:p>
              <a:pPr algn="ctr"/>
              <a:r>
                <a:rPr lang="en-IN" sz="1050" b="1" dirty="0">
                  <a:solidFill>
                    <a:srgbClr val="1D2939"/>
                  </a:solidFill>
                  <a:latin typeface="Calibri"/>
                  <a:ea typeface="Calibri"/>
                  <a:cs typeface="Calibri"/>
                </a:rPr>
                <a:t>Risk Fusion</a:t>
              </a:r>
            </a:p>
          </p:txBody>
        </p:sp>
        <p:sp>
          <p:nvSpPr>
            <p:cNvPr id="104" name="TextBox 104"/>
            <p:cNvSpPr txBox="1"/>
            <p:nvPr/>
          </p:nvSpPr>
          <p:spPr>
            <a:xfrm>
              <a:off x="9234886" y="2511266"/>
              <a:ext cx="778347"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one score, 0–100</a:t>
              </a:r>
            </a:p>
          </p:txBody>
        </p:sp>
        <p:sp>
          <p:nvSpPr>
            <p:cNvPr id="105" name="Ellipse 105"/>
            <p:cNvSpPr/>
            <p:nvPr/>
          </p:nvSpPr>
          <p:spPr>
            <a:xfrm>
              <a:off x="10828020" y="1647825"/>
              <a:ext cx="609600" cy="609600"/>
            </a:xfrm>
            <a:prstGeom prst="ellipse">
              <a:avLst/>
            </a:prstGeom>
            <a:solidFill>
              <a:srgbClr val="E8F1FA"/>
            </a:solidFill>
            <a:ln w="14288">
              <a:solidFill>
                <a:srgbClr val="0B3D6E"/>
              </a:solidFill>
            </a:ln>
          </p:spPr>
        </p:sp>
        <p:grpSp>
          <p:nvGrpSpPr>
            <p:cNvPr id="108" name="Group 108"/>
            <p:cNvGrpSpPr/>
            <p:nvPr/>
          </p:nvGrpSpPr>
          <p:grpSpPr>
            <a:xfrm>
              <a:off x="10999818" y="1820630"/>
              <a:ext cx="264447" cy="252487"/>
              <a:chOff x="10999818" y="1820630"/>
              <a:chExt cx="264447" cy="252487"/>
            </a:xfrm>
          </p:grpSpPr>
          <p:sp>
            <p:nvSpPr>
              <p:cNvPr id="106" name="Freeform 106"/>
              <p:cNvSpPr/>
              <p:nvPr/>
            </p:nvSpPr>
            <p:spPr>
              <a:xfrm>
                <a:off x="11099959" y="1864995"/>
                <a:ext cx="153352" cy="175260"/>
              </a:xfrm>
              <a:custGeom>
                <a:avLst/>
                <a:gdLst/>
                <a:ahLst/>
                <a:cxnLst/>
                <a:rect l="l" t="t" r="r" b="b"/>
                <a:pathLst>
                  <a:path w="153352" h="175260">
                    <a:moveTo>
                      <a:pt x="153352" y="0"/>
                    </a:moveTo>
                    <a:lnTo>
                      <a:pt x="153352" y="175260"/>
                    </a:lnTo>
                    <a:lnTo>
                      <a:pt x="0" y="175260"/>
                    </a:lnTo>
                    <a:lnTo>
                      <a:pt x="0" y="0"/>
                    </a:lnTo>
                    <a:close/>
                  </a:path>
                </a:pathLst>
              </a:custGeom>
              <a:solidFill>
                <a:srgbClr val="0B3D6E">
                  <a:alpha val="20000"/>
                </a:srgbClr>
              </a:solidFill>
              <a:ln>
                <a:noFill/>
              </a:ln>
            </p:spPr>
          </p:sp>
          <p:sp>
            <p:nvSpPr>
              <p:cNvPr id="107" name="Freeform 107"/>
              <p:cNvSpPr/>
              <p:nvPr/>
            </p:nvSpPr>
            <p:spPr>
              <a:xfrm>
                <a:off x="10999818" y="1820630"/>
                <a:ext cx="264447" cy="252487"/>
              </a:xfrm>
              <a:custGeom>
                <a:avLst/>
                <a:gdLst/>
                <a:ahLst/>
                <a:cxnLst/>
                <a:rect l="l" t="t" r="r" b="b"/>
                <a:pathLst>
                  <a:path w="264447" h="252487">
                    <a:moveTo>
                      <a:pt x="264447" y="131995"/>
                    </a:moveTo>
                    <a:cubicBezTo>
                      <a:pt x="264447" y="138044"/>
                      <a:pt x="259543" y="142948"/>
                      <a:pt x="253493" y="142948"/>
                    </a:cubicBezTo>
                    <a:lnTo>
                      <a:pt x="100141" y="142948"/>
                    </a:lnTo>
                    <a:cubicBezTo>
                      <a:pt x="94091" y="142948"/>
                      <a:pt x="89187" y="138044"/>
                      <a:pt x="89187" y="131995"/>
                    </a:cubicBezTo>
                    <a:cubicBezTo>
                      <a:pt x="89187" y="125945"/>
                      <a:pt x="94091" y="121041"/>
                      <a:pt x="100141" y="121041"/>
                    </a:cubicBezTo>
                    <a:lnTo>
                      <a:pt x="253493" y="121041"/>
                    </a:lnTo>
                    <a:cubicBezTo>
                      <a:pt x="259543" y="121041"/>
                      <a:pt x="264447" y="125945"/>
                      <a:pt x="264447" y="131995"/>
                    </a:cubicBezTo>
                    <a:close/>
                    <a:moveTo>
                      <a:pt x="100141" y="55318"/>
                    </a:moveTo>
                    <a:lnTo>
                      <a:pt x="253493" y="55318"/>
                    </a:lnTo>
                    <a:cubicBezTo>
                      <a:pt x="259543" y="55318"/>
                      <a:pt x="264447" y="50414"/>
                      <a:pt x="264447" y="44365"/>
                    </a:cubicBezTo>
                    <a:cubicBezTo>
                      <a:pt x="264447" y="38315"/>
                      <a:pt x="259543" y="33411"/>
                      <a:pt x="253493" y="33411"/>
                    </a:cubicBezTo>
                    <a:lnTo>
                      <a:pt x="100141" y="33411"/>
                    </a:lnTo>
                    <a:cubicBezTo>
                      <a:pt x="94091" y="33411"/>
                      <a:pt x="89187" y="38315"/>
                      <a:pt x="89187" y="44365"/>
                    </a:cubicBezTo>
                    <a:cubicBezTo>
                      <a:pt x="89187" y="50414"/>
                      <a:pt x="94091" y="55318"/>
                      <a:pt x="100141" y="55318"/>
                    </a:cubicBezTo>
                    <a:close/>
                    <a:moveTo>
                      <a:pt x="253493" y="208671"/>
                    </a:moveTo>
                    <a:lnTo>
                      <a:pt x="100141" y="208671"/>
                    </a:lnTo>
                    <a:cubicBezTo>
                      <a:pt x="94091" y="208671"/>
                      <a:pt x="89187" y="213575"/>
                      <a:pt x="89187" y="219625"/>
                    </a:cubicBezTo>
                    <a:cubicBezTo>
                      <a:pt x="89187" y="225674"/>
                      <a:pt x="94091" y="230578"/>
                      <a:pt x="100141" y="230578"/>
                    </a:cubicBezTo>
                    <a:lnTo>
                      <a:pt x="253493" y="230578"/>
                    </a:lnTo>
                    <a:cubicBezTo>
                      <a:pt x="259543" y="230578"/>
                      <a:pt x="264447" y="225674"/>
                      <a:pt x="264447" y="219625"/>
                    </a:cubicBezTo>
                    <a:cubicBezTo>
                      <a:pt x="264447" y="213575"/>
                      <a:pt x="259543" y="208671"/>
                      <a:pt x="253493" y="208671"/>
                    </a:cubicBezTo>
                    <a:close/>
                    <a:moveTo>
                      <a:pt x="17413" y="32261"/>
                    </a:moveTo>
                    <a:lnTo>
                      <a:pt x="23465" y="29221"/>
                    </a:lnTo>
                    <a:lnTo>
                      <a:pt x="23465" y="99133"/>
                    </a:lnTo>
                    <a:cubicBezTo>
                      <a:pt x="23465" y="105183"/>
                      <a:pt x="28369" y="110087"/>
                      <a:pt x="34418" y="110087"/>
                    </a:cubicBezTo>
                    <a:cubicBezTo>
                      <a:pt x="40468" y="110087"/>
                      <a:pt x="45372" y="105183"/>
                      <a:pt x="45372" y="99133"/>
                    </a:cubicBezTo>
                    <a:lnTo>
                      <a:pt x="45372" y="11503"/>
                    </a:lnTo>
                    <a:cubicBezTo>
                      <a:pt x="45375" y="7705"/>
                      <a:pt x="43410" y="4176"/>
                      <a:pt x="40179" y="2179"/>
                    </a:cubicBezTo>
                    <a:cubicBezTo>
                      <a:pt x="36948" y="181"/>
                      <a:pt x="32913" y="0"/>
                      <a:pt x="29516" y="1700"/>
                    </a:cubicBezTo>
                    <a:lnTo>
                      <a:pt x="7609" y="12654"/>
                    </a:lnTo>
                    <a:cubicBezTo>
                      <a:pt x="2195" y="15361"/>
                      <a:pt x="0" y="21945"/>
                      <a:pt x="2707" y="27359"/>
                    </a:cubicBezTo>
                    <a:cubicBezTo>
                      <a:pt x="5414" y="32773"/>
                      <a:pt x="11998" y="34968"/>
                      <a:pt x="17413" y="32261"/>
                    </a:cubicBezTo>
                    <a:close/>
                    <a:moveTo>
                      <a:pt x="66965" y="171319"/>
                    </a:moveTo>
                    <a:cubicBezTo>
                      <a:pt x="65741" y="162552"/>
                      <a:pt x="60993" y="154665"/>
                      <a:pt x="53820" y="149480"/>
                    </a:cubicBezTo>
                    <a:cubicBezTo>
                      <a:pt x="39046" y="138751"/>
                      <a:pt x="18438" y="141591"/>
                      <a:pt x="7116" y="155915"/>
                    </a:cubicBezTo>
                    <a:cubicBezTo>
                      <a:pt x="5033" y="158589"/>
                      <a:pt x="3384" y="161574"/>
                      <a:pt x="2228" y="164760"/>
                    </a:cubicBezTo>
                    <a:cubicBezTo>
                      <a:pt x="583" y="168497"/>
                      <a:pt x="1153" y="172840"/>
                      <a:pt x="3708" y="176025"/>
                    </a:cubicBezTo>
                    <a:cubicBezTo>
                      <a:pt x="6262" y="179211"/>
                      <a:pt x="10377" y="180711"/>
                      <a:pt x="14382" y="179918"/>
                    </a:cubicBezTo>
                    <a:cubicBezTo>
                      <a:pt x="18388" y="179124"/>
                      <a:pt x="21619" y="176169"/>
                      <a:pt x="22766" y="172250"/>
                    </a:cubicBezTo>
                    <a:cubicBezTo>
                      <a:pt x="23150" y="171199"/>
                      <a:pt x="23695" y="170215"/>
                      <a:pt x="24382" y="169333"/>
                    </a:cubicBezTo>
                    <a:cubicBezTo>
                      <a:pt x="28396" y="164332"/>
                      <a:pt x="35634" y="163373"/>
                      <a:pt x="40813" y="167156"/>
                    </a:cubicBezTo>
                    <a:cubicBezTo>
                      <a:pt x="43236" y="168870"/>
                      <a:pt x="44849" y="171503"/>
                      <a:pt x="45276" y="174440"/>
                    </a:cubicBezTo>
                    <a:cubicBezTo>
                      <a:pt x="45667" y="177261"/>
                      <a:pt x="44890" y="180119"/>
                      <a:pt x="43127" y="182354"/>
                    </a:cubicBezTo>
                    <a:cubicBezTo>
                      <a:pt x="43087" y="182402"/>
                      <a:pt x="43050" y="182452"/>
                      <a:pt x="43017" y="182505"/>
                    </a:cubicBezTo>
                    <a:lnTo>
                      <a:pt x="3734" y="234974"/>
                    </a:lnTo>
                    <a:cubicBezTo>
                      <a:pt x="1251" y="238295"/>
                      <a:pt x="857" y="242733"/>
                      <a:pt x="2715" y="246440"/>
                    </a:cubicBezTo>
                    <a:cubicBezTo>
                      <a:pt x="4572" y="250147"/>
                      <a:pt x="8364" y="252487"/>
                      <a:pt x="12511" y="252486"/>
                    </a:cubicBezTo>
                    <a:lnTo>
                      <a:pt x="56326" y="252486"/>
                    </a:lnTo>
                    <a:cubicBezTo>
                      <a:pt x="62375" y="252486"/>
                      <a:pt x="67280" y="247582"/>
                      <a:pt x="67280" y="241532"/>
                    </a:cubicBezTo>
                    <a:cubicBezTo>
                      <a:pt x="67280" y="235483"/>
                      <a:pt x="62375" y="230578"/>
                      <a:pt x="56326" y="230578"/>
                    </a:cubicBezTo>
                    <a:lnTo>
                      <a:pt x="34418" y="230578"/>
                    </a:lnTo>
                    <a:lnTo>
                      <a:pt x="60543" y="195622"/>
                    </a:lnTo>
                    <a:cubicBezTo>
                      <a:pt x="65895" y="188729"/>
                      <a:pt x="68213" y="179956"/>
                      <a:pt x="66965" y="171319"/>
                    </a:cubicBezTo>
                    <a:close/>
                  </a:path>
                </a:pathLst>
              </a:custGeom>
              <a:solidFill>
                <a:srgbClr val="0B3D6E"/>
              </a:solidFill>
              <a:ln>
                <a:noFill/>
              </a:ln>
            </p:spPr>
          </p:sp>
        </p:grpSp>
        <p:sp>
          <p:nvSpPr>
            <p:cNvPr id="109" name="TextBox 109"/>
            <p:cNvSpPr txBox="1"/>
            <p:nvPr/>
          </p:nvSpPr>
          <p:spPr>
            <a:xfrm>
              <a:off x="10710038" y="2334578"/>
              <a:ext cx="845563" cy="205359"/>
            </a:xfrm>
            <a:prstGeom prst="rect">
              <a:avLst/>
            </a:prstGeom>
            <a:noFill/>
            <a:ln>
              <a:noFill/>
            </a:ln>
          </p:spPr>
          <p:txBody>
            <a:bodyPr wrap="none" lIns="0" tIns="0" rIns="0" bIns="0" anchor="t" anchorCtr="0">
              <a:spAutoFit/>
            </a:bodyPr>
            <a:lstStyle/>
            <a:p>
              <a:pPr algn="ctr"/>
              <a:r>
                <a:rPr lang="en-IN" sz="1050" b="1" dirty="0">
                  <a:solidFill>
                    <a:srgbClr val="1D2939"/>
                  </a:solidFill>
                  <a:latin typeface="Calibri"/>
                  <a:ea typeface="Calibri"/>
                  <a:cs typeface="Calibri"/>
                </a:rPr>
                <a:t>Review queue</a:t>
              </a:r>
            </a:p>
          </p:txBody>
        </p:sp>
        <p:sp>
          <p:nvSpPr>
            <p:cNvPr id="110" name="TextBox 110"/>
            <p:cNvSpPr txBox="1"/>
            <p:nvPr/>
          </p:nvSpPr>
          <p:spPr>
            <a:xfrm>
              <a:off x="10632154" y="2511266"/>
              <a:ext cx="1001332"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ranked, with evidence</a:t>
              </a:r>
            </a:p>
          </p:txBody>
        </p:sp>
        <p:sp>
          <p:nvSpPr>
            <p:cNvPr id="111" name="Line 111"/>
            <p:cNvSpPr/>
            <p:nvPr/>
          </p:nvSpPr>
          <p:spPr>
            <a:xfrm>
              <a:off x="11132820" y="2657475"/>
              <a:ext cx="1" cy="190500"/>
            </a:xfrm>
            <a:prstGeom prst="line">
              <a:avLst/>
            </a:prstGeom>
            <a:noFill/>
            <a:ln w="15240">
              <a:solidFill>
                <a:srgbClr val="0B3D6E"/>
              </a:solidFill>
              <a:tailEnd type="triangle" w="lg" len="lg"/>
            </a:ln>
          </p:spPr>
        </p:sp>
        <p:sp>
          <p:nvSpPr>
            <p:cNvPr id="112" name="Ellipse 112"/>
            <p:cNvSpPr/>
            <p:nvPr/>
          </p:nvSpPr>
          <p:spPr>
            <a:xfrm>
              <a:off x="10923270" y="2867025"/>
              <a:ext cx="419100" cy="419100"/>
            </a:xfrm>
            <a:prstGeom prst="ellipse">
              <a:avLst/>
            </a:prstGeom>
            <a:solidFill>
              <a:srgbClr val="E7F4EC"/>
            </a:solidFill>
            <a:ln w="14288">
              <a:solidFill>
                <a:srgbClr val="1E7B45"/>
              </a:solidFill>
            </a:ln>
          </p:spPr>
        </p:sp>
        <p:grpSp>
          <p:nvGrpSpPr>
            <p:cNvPr id="115" name="Group 115"/>
            <p:cNvGrpSpPr/>
            <p:nvPr/>
          </p:nvGrpSpPr>
          <p:grpSpPr>
            <a:xfrm>
              <a:off x="11026530" y="2986169"/>
              <a:ext cx="227521" cy="166625"/>
              <a:chOff x="11026530" y="2986169"/>
              <a:chExt cx="227521" cy="166625"/>
            </a:xfrm>
          </p:grpSpPr>
          <p:sp>
            <p:nvSpPr>
              <p:cNvPr id="113" name="Freeform 113"/>
              <p:cNvSpPr/>
              <p:nvPr/>
            </p:nvSpPr>
            <p:spPr>
              <a:xfrm>
                <a:off x="11057513" y="2993737"/>
                <a:ext cx="112961" cy="112961"/>
              </a:xfrm>
              <a:custGeom>
                <a:avLst/>
                <a:gdLst/>
                <a:ahLst/>
                <a:cxnLst/>
                <a:rect l="l" t="t" r="r" b="b"/>
                <a:pathLst>
                  <a:path w="112961" h="112961">
                    <a:moveTo>
                      <a:pt x="112961" y="56480"/>
                    </a:moveTo>
                    <a:cubicBezTo>
                      <a:pt x="112961" y="87673"/>
                      <a:pt x="87673" y="112961"/>
                      <a:pt x="56480" y="112961"/>
                    </a:cubicBezTo>
                    <a:cubicBezTo>
                      <a:pt x="25287" y="112961"/>
                      <a:pt x="0" y="87673"/>
                      <a:pt x="0" y="56480"/>
                    </a:cubicBezTo>
                    <a:cubicBezTo>
                      <a:pt x="0" y="25287"/>
                      <a:pt x="25287" y="0"/>
                      <a:pt x="56480" y="0"/>
                    </a:cubicBezTo>
                    <a:cubicBezTo>
                      <a:pt x="87673" y="0"/>
                      <a:pt x="112961" y="25287"/>
                      <a:pt x="112961" y="56480"/>
                    </a:cubicBezTo>
                    <a:close/>
                  </a:path>
                </a:pathLst>
              </a:custGeom>
              <a:solidFill>
                <a:srgbClr val="1E7B45">
                  <a:alpha val="20000"/>
                </a:srgbClr>
              </a:solidFill>
              <a:ln>
                <a:noFill/>
              </a:ln>
            </p:spPr>
          </p:sp>
          <p:sp>
            <p:nvSpPr>
              <p:cNvPr id="114" name="Freeform 114"/>
              <p:cNvSpPr/>
              <p:nvPr/>
            </p:nvSpPr>
            <p:spPr>
              <a:xfrm>
                <a:off x="11026530" y="2986169"/>
                <a:ext cx="227521" cy="166625"/>
              </a:xfrm>
              <a:custGeom>
                <a:avLst/>
                <a:gdLst/>
                <a:ahLst/>
                <a:cxnLst/>
                <a:rect l="l" t="t" r="r" b="b"/>
                <a:pathLst>
                  <a:path w="227521" h="166625">
                    <a:moveTo>
                      <a:pt x="121352" y="118345"/>
                    </a:moveTo>
                    <a:cubicBezTo>
                      <a:pt x="145606" y="103238"/>
                      <a:pt x="156911" y="73885"/>
                      <a:pt x="149055" y="46412"/>
                    </a:cubicBezTo>
                    <a:cubicBezTo>
                      <a:pt x="141199" y="18939"/>
                      <a:pt x="116085" y="0"/>
                      <a:pt x="87511" y="0"/>
                    </a:cubicBezTo>
                    <a:cubicBezTo>
                      <a:pt x="58936" y="0"/>
                      <a:pt x="33823" y="18939"/>
                      <a:pt x="25967" y="46412"/>
                    </a:cubicBezTo>
                    <a:cubicBezTo>
                      <a:pt x="18111" y="73885"/>
                      <a:pt x="29415" y="103238"/>
                      <a:pt x="53670" y="118345"/>
                    </a:cubicBezTo>
                    <a:cubicBezTo>
                      <a:pt x="34231" y="124708"/>
                      <a:pt x="16741" y="136597"/>
                      <a:pt x="2677" y="153334"/>
                    </a:cubicBezTo>
                    <a:cubicBezTo>
                      <a:pt x="0" y="156519"/>
                      <a:pt x="411" y="161271"/>
                      <a:pt x="3595" y="163948"/>
                    </a:cubicBezTo>
                    <a:cubicBezTo>
                      <a:pt x="6780" y="166625"/>
                      <a:pt x="11531" y="166215"/>
                      <a:pt x="14209" y="163030"/>
                    </a:cubicBezTo>
                    <a:cubicBezTo>
                      <a:pt x="33101" y="140476"/>
                      <a:pt x="59139" y="128060"/>
                      <a:pt x="87464" y="128060"/>
                    </a:cubicBezTo>
                    <a:cubicBezTo>
                      <a:pt x="115789" y="128060"/>
                      <a:pt x="141826" y="140476"/>
                      <a:pt x="160766" y="163030"/>
                    </a:cubicBezTo>
                    <a:cubicBezTo>
                      <a:pt x="163443" y="166215"/>
                      <a:pt x="168195" y="166625"/>
                      <a:pt x="171379" y="163948"/>
                    </a:cubicBezTo>
                    <a:cubicBezTo>
                      <a:pt x="174564" y="161271"/>
                      <a:pt x="174974" y="156519"/>
                      <a:pt x="172297" y="153334"/>
                    </a:cubicBezTo>
                    <a:cubicBezTo>
                      <a:pt x="158233" y="136597"/>
                      <a:pt x="140743" y="124708"/>
                      <a:pt x="121352" y="118345"/>
                    </a:cubicBezTo>
                    <a:close/>
                    <a:moveTo>
                      <a:pt x="38514" y="64049"/>
                    </a:moveTo>
                    <a:cubicBezTo>
                      <a:pt x="38514" y="37015"/>
                      <a:pt x="60430" y="15099"/>
                      <a:pt x="87464" y="15099"/>
                    </a:cubicBezTo>
                    <a:cubicBezTo>
                      <a:pt x="114498" y="15099"/>
                      <a:pt x="136413" y="37015"/>
                      <a:pt x="136413" y="64049"/>
                    </a:cubicBezTo>
                    <a:cubicBezTo>
                      <a:pt x="136413" y="91083"/>
                      <a:pt x="114498" y="112998"/>
                      <a:pt x="87464" y="112998"/>
                    </a:cubicBezTo>
                    <a:cubicBezTo>
                      <a:pt x="60443" y="112967"/>
                      <a:pt x="38545" y="91070"/>
                      <a:pt x="38514" y="64049"/>
                    </a:cubicBezTo>
                    <a:close/>
                    <a:moveTo>
                      <a:pt x="224579" y="95734"/>
                    </a:moveTo>
                    <a:lnTo>
                      <a:pt x="194456" y="125857"/>
                    </a:lnTo>
                    <a:cubicBezTo>
                      <a:pt x="193044" y="127271"/>
                      <a:pt x="191127" y="128065"/>
                      <a:pt x="189128" y="128065"/>
                    </a:cubicBezTo>
                    <a:cubicBezTo>
                      <a:pt x="187129" y="128065"/>
                      <a:pt x="185213" y="127271"/>
                      <a:pt x="183800" y="125857"/>
                    </a:cubicBezTo>
                    <a:lnTo>
                      <a:pt x="168739" y="110795"/>
                    </a:lnTo>
                    <a:cubicBezTo>
                      <a:pt x="165796" y="107853"/>
                      <a:pt x="165796" y="103082"/>
                      <a:pt x="168739" y="100139"/>
                    </a:cubicBezTo>
                    <a:cubicBezTo>
                      <a:pt x="171681" y="97197"/>
                      <a:pt x="176452" y="97197"/>
                      <a:pt x="179395" y="100139"/>
                    </a:cubicBezTo>
                    <a:lnTo>
                      <a:pt x="189128" y="109882"/>
                    </a:lnTo>
                    <a:lnTo>
                      <a:pt x="213923" y="85078"/>
                    </a:lnTo>
                    <a:cubicBezTo>
                      <a:pt x="216866" y="82136"/>
                      <a:pt x="221636" y="82136"/>
                      <a:pt x="224579" y="85078"/>
                    </a:cubicBezTo>
                    <a:cubicBezTo>
                      <a:pt x="227521" y="88021"/>
                      <a:pt x="227521" y="92791"/>
                      <a:pt x="224579" y="95734"/>
                    </a:cubicBezTo>
                    <a:close/>
                  </a:path>
                </a:pathLst>
              </a:custGeom>
              <a:solidFill>
                <a:srgbClr val="1E7B45"/>
              </a:solidFill>
              <a:ln>
                <a:noFill/>
              </a:ln>
            </p:spPr>
          </p:sp>
        </p:grpSp>
        <p:sp>
          <p:nvSpPr>
            <p:cNvPr id="116" name="TextBox 116"/>
            <p:cNvSpPr txBox="1"/>
            <p:nvPr/>
          </p:nvSpPr>
          <p:spPr>
            <a:xfrm>
              <a:off x="9995364" y="3014901"/>
              <a:ext cx="856850" cy="198025"/>
            </a:xfrm>
            <a:prstGeom prst="rect">
              <a:avLst/>
            </a:prstGeom>
            <a:noFill/>
            <a:ln>
              <a:noFill/>
            </a:ln>
          </p:spPr>
          <p:txBody>
            <a:bodyPr wrap="none" lIns="0" tIns="0" rIns="0" bIns="0" anchor="t" anchorCtr="0">
              <a:spAutoFit/>
            </a:bodyPr>
            <a:lstStyle/>
            <a:p>
              <a:pPr algn="r"/>
              <a:r>
                <a:rPr lang="en-IN" sz="1010" b="1" dirty="0">
                  <a:solidFill>
                    <a:srgbClr val="1D2939"/>
                  </a:solidFill>
                  <a:latin typeface="Calibri"/>
                  <a:ea typeface="Calibri"/>
                  <a:cs typeface="Calibri"/>
                </a:rPr>
                <a:t>Officer decides</a:t>
              </a:r>
            </a:p>
          </p:txBody>
        </p:sp>
        <p:sp>
          <p:nvSpPr>
            <p:cNvPr id="117" name="Freeform 117"/>
            <p:cNvSpPr/>
            <p:nvPr/>
          </p:nvSpPr>
          <p:spPr>
            <a:xfrm>
              <a:off x="8115300" y="2676525"/>
              <a:ext cx="3017520" cy="723900"/>
            </a:xfrm>
            <a:custGeom>
              <a:avLst/>
              <a:gdLst/>
              <a:ahLst/>
              <a:cxnLst/>
              <a:rect l="l" t="t" r="r" b="b"/>
              <a:pathLst>
                <a:path w="3017520" h="723900">
                  <a:moveTo>
                    <a:pt x="3017520" y="609600"/>
                  </a:moveTo>
                  <a:lnTo>
                    <a:pt x="3017520" y="723900"/>
                  </a:lnTo>
                  <a:lnTo>
                    <a:pt x="0" y="723900"/>
                  </a:lnTo>
                  <a:lnTo>
                    <a:pt x="0" y="0"/>
                  </a:lnTo>
                </a:path>
              </a:pathLst>
            </a:custGeom>
            <a:noFill/>
            <a:ln w="13335">
              <a:solidFill>
                <a:srgbClr val="1E7B45"/>
              </a:solidFill>
              <a:custDash>
                <a:ds d="357143" sp="285714"/>
              </a:custDash>
              <a:tailEnd type="triangle" w="lg" len="lg"/>
            </a:ln>
          </p:spPr>
        </p:sp>
        <p:sp>
          <p:nvSpPr>
            <p:cNvPr id="118" name="TextBox 118"/>
            <p:cNvSpPr txBox="1"/>
            <p:nvPr/>
          </p:nvSpPr>
          <p:spPr>
            <a:xfrm>
              <a:off x="8243888" y="3235166"/>
              <a:ext cx="1514009" cy="161925"/>
            </a:xfrm>
            <a:prstGeom prst="rect">
              <a:avLst/>
            </a:prstGeom>
            <a:noFill/>
            <a:ln>
              <a:noFill/>
            </a:ln>
          </p:spPr>
          <p:txBody>
            <a:bodyPr wrap="none" lIns="0" tIns="0" rIns="0" bIns="0" anchor="t" anchorCtr="0">
              <a:spAutoFit/>
            </a:bodyPr>
            <a:lstStyle/>
            <a:p>
              <a:pPr algn="l"/>
              <a:r>
                <a:rPr lang="en-IN" sz="820" b="1" dirty="0">
                  <a:solidFill>
                    <a:srgbClr val="1E7B45"/>
                  </a:solidFill>
                  <a:latin typeface="Calibri"/>
                  <a:ea typeface="Calibri"/>
                  <a:cs typeface="Calibri"/>
                </a:rPr>
                <a:t>verdicts retrain the agents (next)</a:t>
              </a:r>
            </a:p>
          </p:txBody>
        </p:sp>
      </p:grpSp>
      <p:grpSp>
        <p:nvGrpSpPr>
          <p:cNvPr id="122" name="prototype-shot"/>
          <p:cNvGrpSpPr/>
          <p:nvPr/>
        </p:nvGrpSpPr>
        <p:grpSpPr>
          <a:xfrm>
            <a:off x="4343400" y="3609975"/>
            <a:ext cx="2905125" cy="2676525"/>
            <a:chOff x="4343400" y="3609975"/>
            <a:chExt cx="2905125" cy="2676525"/>
          </a:xfrm>
        </p:grpSpPr>
        <p:sp>
          <p:nvSpPr>
            <p:cNvPr id="120" name="Rectangle 120"/>
            <p:cNvSpPr/>
            <p:nvPr/>
          </p:nvSpPr>
          <p:spPr>
            <a:xfrm>
              <a:off x="4343400" y="3609975"/>
              <a:ext cx="2905125" cy="2676525"/>
            </a:xfrm>
            <a:prstGeom prst="roundRect">
              <a:avLst>
                <a:gd name="adj" fmla="val 1423"/>
              </a:avLst>
            </a:prstGeom>
            <a:solidFill>
              <a:srgbClr val="FFFFFF"/>
            </a:solidFill>
            <a:ln w="9525">
              <a:solidFill>
                <a:srgbClr val="D0D5DD"/>
              </a:solidFill>
            </a:ln>
          </p:spPr>
        </p:sp>
        <p:pic>
          <p:nvPicPr>
            <p:cNvPr id="121" name="Image 121"/>
            <p:cNvPicPr>
              <a:picLocks noChangeAspect="1"/>
            </p:cNvPicPr>
            <p:nvPr/>
          </p:nvPicPr>
          <p:blipFill>
            <a:blip r:embed="rId4"/>
            <a:stretch>
              <a:fillRect/>
            </a:stretch>
          </p:blipFill>
          <p:spPr>
            <a:xfrm>
              <a:off x="4352925" y="3619500"/>
              <a:ext cx="2886075" cy="2657475"/>
            </a:xfrm>
            <a:prstGeom prst="rect">
              <a:avLst/>
            </a:prstGeom>
          </p:spPr>
        </p:pic>
      </p:grpSp>
      <p:grpSp>
        <p:nvGrpSpPr>
          <p:cNvPr id="167" name="prototype-facts"/>
          <p:cNvGrpSpPr/>
          <p:nvPr/>
        </p:nvGrpSpPr>
        <p:grpSpPr>
          <a:xfrm>
            <a:off x="7434262" y="3631168"/>
            <a:ext cx="4452938" cy="2366248"/>
            <a:chOff x="7434262" y="3631168"/>
            <a:chExt cx="4452938" cy="2366248"/>
          </a:xfrm>
        </p:grpSpPr>
        <p:sp>
          <p:nvSpPr>
            <p:cNvPr id="123" name="TextBox 123"/>
            <p:cNvSpPr txBox="1"/>
            <p:nvPr/>
          </p:nvSpPr>
          <p:spPr>
            <a:xfrm>
              <a:off x="7434262" y="3631168"/>
              <a:ext cx="1470946" cy="169069"/>
            </a:xfrm>
            <a:prstGeom prst="rect">
              <a:avLst/>
            </a:prstGeom>
            <a:noFill/>
            <a:ln>
              <a:noFill/>
            </a:ln>
          </p:spPr>
          <p:txBody>
            <a:bodyPr wrap="none" lIns="0" tIns="0" rIns="0" bIns="0" anchor="t" anchorCtr="0">
              <a:spAutoFit/>
            </a:bodyPr>
            <a:lstStyle/>
            <a:p>
              <a:pPr algn="l"/>
              <a:r>
                <a:rPr lang="en-IN" sz="860" b="1" dirty="0">
                  <a:solidFill>
                    <a:srgbClr val="1E7B45"/>
                  </a:solidFill>
                  <a:latin typeface="Calibri"/>
                  <a:ea typeface="Calibri"/>
                  <a:cs typeface="Calibri"/>
                </a:rPr>
                <a:t>WORKING PROTOTYPE · LIVE</a:t>
              </a:r>
            </a:p>
          </p:txBody>
        </p:sp>
        <p:grpSp>
          <p:nvGrpSpPr>
            <p:cNvPr id="126" name="Group 126"/>
            <p:cNvGrpSpPr/>
            <p:nvPr/>
          </p:nvGrpSpPr>
          <p:grpSpPr>
            <a:xfrm>
              <a:off x="7454164" y="3825028"/>
              <a:ext cx="140237" cy="140348"/>
              <a:chOff x="7454164" y="3825028"/>
              <a:chExt cx="140237" cy="140348"/>
            </a:xfrm>
          </p:grpSpPr>
          <p:sp>
            <p:nvSpPr>
              <p:cNvPr id="124" name="Freeform 124"/>
              <p:cNvSpPr/>
              <p:nvPr/>
            </p:nvSpPr>
            <p:spPr>
              <a:xfrm>
                <a:off x="7454164" y="3825028"/>
                <a:ext cx="128852" cy="122741"/>
              </a:xfrm>
              <a:custGeom>
                <a:avLst/>
                <a:gdLst/>
                <a:ahLst/>
                <a:cxnLst/>
                <a:rect l="l" t="t" r="r" b="b"/>
                <a:pathLst>
                  <a:path w="128852" h="122741">
                    <a:moveTo>
                      <a:pt x="128852" y="97961"/>
                    </a:moveTo>
                    <a:cubicBezTo>
                      <a:pt x="124231" y="107813"/>
                      <a:pt x="117196" y="116336"/>
                      <a:pt x="108399" y="122741"/>
                    </a:cubicBezTo>
                    <a:lnTo>
                      <a:pt x="102130" y="116466"/>
                    </a:lnTo>
                    <a:cubicBezTo>
                      <a:pt x="101458" y="115792"/>
                      <a:pt x="100619" y="115308"/>
                      <a:pt x="99699" y="115066"/>
                    </a:cubicBezTo>
                    <a:lnTo>
                      <a:pt x="85320" y="111275"/>
                    </a:lnTo>
                    <a:cubicBezTo>
                      <a:pt x="82681" y="110581"/>
                      <a:pt x="80985" y="108015"/>
                      <a:pt x="81382" y="105315"/>
                    </a:cubicBezTo>
                    <a:lnTo>
                      <a:pt x="82976" y="94465"/>
                    </a:lnTo>
                    <a:cubicBezTo>
                      <a:pt x="83250" y="92604"/>
                      <a:pt x="84480" y="91023"/>
                      <a:pt x="86217" y="90300"/>
                    </a:cubicBezTo>
                    <a:lnTo>
                      <a:pt x="106617" y="81821"/>
                    </a:lnTo>
                    <a:cubicBezTo>
                      <a:pt x="108541" y="81022"/>
                      <a:pt x="110754" y="81412"/>
                      <a:pt x="112290" y="82819"/>
                    </a:cubicBezTo>
                    <a:close/>
                    <a:moveTo>
                      <a:pt x="91944" y="55293"/>
                    </a:moveTo>
                    <a:lnTo>
                      <a:pt x="106791" y="38014"/>
                    </a:lnTo>
                    <a:cubicBezTo>
                      <a:pt x="107626" y="37045"/>
                      <a:pt x="108087" y="35810"/>
                      <a:pt x="108091" y="34531"/>
                    </a:cubicBezTo>
                    <a:lnTo>
                      <a:pt x="108091" y="18458"/>
                    </a:lnTo>
                    <a:cubicBezTo>
                      <a:pt x="82427" y="0"/>
                      <a:pt x="47153" y="2937"/>
                      <a:pt x="24895" y="25385"/>
                    </a:cubicBezTo>
                    <a:cubicBezTo>
                      <a:pt x="2637" y="47833"/>
                      <a:pt x="0" y="83131"/>
                      <a:pt x="18676" y="108637"/>
                    </a:cubicBezTo>
                    <a:lnTo>
                      <a:pt x="25319" y="104270"/>
                    </a:lnTo>
                    <a:cubicBezTo>
                      <a:pt x="26814" y="103283"/>
                      <a:pt x="27716" y="101614"/>
                      <a:pt x="27724" y="99823"/>
                    </a:cubicBezTo>
                    <a:lnTo>
                      <a:pt x="27864" y="75559"/>
                    </a:lnTo>
                    <a:cubicBezTo>
                      <a:pt x="27871" y="74507"/>
                      <a:pt x="28186" y="73481"/>
                      <a:pt x="28768" y="72605"/>
                    </a:cubicBezTo>
                    <a:lnTo>
                      <a:pt x="42792" y="51643"/>
                    </a:lnTo>
                    <a:cubicBezTo>
                      <a:pt x="43605" y="50437"/>
                      <a:pt x="44873" y="49613"/>
                      <a:pt x="46305" y="49360"/>
                    </a:cubicBezTo>
                    <a:cubicBezTo>
                      <a:pt x="47738" y="49108"/>
                      <a:pt x="49211" y="49448"/>
                      <a:pt x="50387" y="50304"/>
                    </a:cubicBezTo>
                    <a:lnTo>
                      <a:pt x="63654" y="59010"/>
                    </a:lnTo>
                    <a:cubicBezTo>
                      <a:pt x="64772" y="59815"/>
                      <a:pt x="66154" y="60162"/>
                      <a:pt x="67519" y="59981"/>
                    </a:cubicBezTo>
                    <a:lnTo>
                      <a:pt x="88588" y="57128"/>
                    </a:lnTo>
                    <a:cubicBezTo>
                      <a:pt x="89894" y="56950"/>
                      <a:pt x="91089" y="56297"/>
                      <a:pt x="91944" y="55293"/>
                    </a:cubicBezTo>
                    <a:close/>
                  </a:path>
                </a:pathLst>
              </a:custGeom>
              <a:solidFill>
                <a:srgbClr val="0070C0">
                  <a:alpha val="20000"/>
                </a:srgbClr>
              </a:solidFill>
              <a:ln>
                <a:noFill/>
              </a:ln>
            </p:spPr>
          </p:sp>
          <p:sp>
            <p:nvSpPr>
              <p:cNvPr id="125" name="Freeform 125"/>
              <p:cNvSpPr/>
              <p:nvPr/>
            </p:nvSpPr>
            <p:spPr>
              <a:xfrm>
                <a:off x="7455098" y="3826073"/>
                <a:ext cx="139303" cy="139303"/>
              </a:xfrm>
              <a:custGeom>
                <a:avLst/>
                <a:gdLst/>
                <a:ahLst/>
                <a:cxnLst/>
                <a:rect l="l" t="t" r="r" b="b"/>
                <a:pathLst>
                  <a:path w="139303" h="139303">
                    <a:moveTo>
                      <a:pt x="69652" y="0"/>
                    </a:moveTo>
                    <a:cubicBezTo>
                      <a:pt x="31184" y="0"/>
                      <a:pt x="0" y="31184"/>
                      <a:pt x="0" y="69652"/>
                    </a:cubicBezTo>
                    <a:cubicBezTo>
                      <a:pt x="0" y="108119"/>
                      <a:pt x="31184" y="139303"/>
                      <a:pt x="69652" y="139303"/>
                    </a:cubicBezTo>
                    <a:cubicBezTo>
                      <a:pt x="108119" y="139303"/>
                      <a:pt x="139303" y="108119"/>
                      <a:pt x="139303" y="69652"/>
                    </a:cubicBezTo>
                    <a:cubicBezTo>
                      <a:pt x="139263" y="31201"/>
                      <a:pt x="108102" y="41"/>
                      <a:pt x="69652" y="0"/>
                    </a:cubicBezTo>
                    <a:close/>
                    <a:moveTo>
                      <a:pt x="69652" y="10716"/>
                    </a:moveTo>
                    <a:cubicBezTo>
                      <a:pt x="81070" y="10703"/>
                      <a:pt x="92243" y="14028"/>
                      <a:pt x="101798" y="20279"/>
                    </a:cubicBezTo>
                    <a:lnTo>
                      <a:pt x="101798" y="33486"/>
                    </a:lnTo>
                    <a:lnTo>
                      <a:pt x="86951" y="50725"/>
                    </a:lnTo>
                    <a:lnTo>
                      <a:pt x="65874" y="53578"/>
                    </a:lnTo>
                    <a:lnTo>
                      <a:pt x="65667" y="53431"/>
                    </a:lnTo>
                    <a:lnTo>
                      <a:pt x="52493" y="44818"/>
                    </a:lnTo>
                    <a:cubicBezTo>
                      <a:pt x="50134" y="43156"/>
                      <a:pt x="47203" y="42516"/>
                      <a:pt x="44366" y="43043"/>
                    </a:cubicBezTo>
                    <a:cubicBezTo>
                      <a:pt x="41528" y="43570"/>
                      <a:pt x="39023" y="45219"/>
                      <a:pt x="37418" y="47618"/>
                    </a:cubicBezTo>
                    <a:lnTo>
                      <a:pt x="23394" y="68580"/>
                    </a:lnTo>
                    <a:cubicBezTo>
                      <a:pt x="22225" y="70327"/>
                      <a:pt x="21596" y="72379"/>
                      <a:pt x="21585" y="74480"/>
                    </a:cubicBezTo>
                    <a:lnTo>
                      <a:pt x="21431" y="98744"/>
                    </a:lnTo>
                    <a:lnTo>
                      <a:pt x="19241" y="100184"/>
                    </a:lnTo>
                    <a:cubicBezTo>
                      <a:pt x="8218" y="81985"/>
                      <a:pt x="7860" y="59258"/>
                      <a:pt x="18305" y="40721"/>
                    </a:cubicBezTo>
                    <a:cubicBezTo>
                      <a:pt x="28749" y="22184"/>
                      <a:pt x="48375" y="10716"/>
                      <a:pt x="69652" y="10716"/>
                    </a:cubicBezTo>
                    <a:close/>
                    <a:moveTo>
                      <a:pt x="25644" y="108810"/>
                    </a:moveTo>
                    <a:lnTo>
                      <a:pt x="27332" y="107705"/>
                    </a:lnTo>
                    <a:cubicBezTo>
                      <a:pt x="30325" y="105731"/>
                      <a:pt x="32132" y="102390"/>
                      <a:pt x="32147" y="98805"/>
                    </a:cubicBezTo>
                    <a:lnTo>
                      <a:pt x="32288" y="74541"/>
                    </a:lnTo>
                    <a:lnTo>
                      <a:pt x="46325" y="53578"/>
                    </a:lnTo>
                    <a:cubicBezTo>
                      <a:pt x="46394" y="53631"/>
                      <a:pt x="46465" y="53680"/>
                      <a:pt x="46539" y="53725"/>
                    </a:cubicBezTo>
                    <a:lnTo>
                      <a:pt x="59713" y="62345"/>
                    </a:lnTo>
                    <a:cubicBezTo>
                      <a:pt x="61921" y="63903"/>
                      <a:pt x="64637" y="64566"/>
                      <a:pt x="67314" y="64200"/>
                    </a:cubicBezTo>
                    <a:lnTo>
                      <a:pt x="88404" y="61340"/>
                    </a:lnTo>
                    <a:cubicBezTo>
                      <a:pt x="91005" y="60993"/>
                      <a:pt x="93388" y="59704"/>
                      <a:pt x="95101" y="57717"/>
                    </a:cubicBezTo>
                    <a:lnTo>
                      <a:pt x="109949" y="40465"/>
                    </a:lnTo>
                    <a:cubicBezTo>
                      <a:pt x="111609" y="38519"/>
                      <a:pt x="112519" y="36044"/>
                      <a:pt x="112514" y="33486"/>
                    </a:cubicBezTo>
                    <a:lnTo>
                      <a:pt x="112514" y="29247"/>
                    </a:lnTo>
                    <a:cubicBezTo>
                      <a:pt x="127275" y="44863"/>
                      <a:pt x="132350" y="67283"/>
                      <a:pt x="125755" y="87734"/>
                    </a:cubicBezTo>
                    <a:lnTo>
                      <a:pt x="114945" y="77849"/>
                    </a:lnTo>
                    <a:cubicBezTo>
                      <a:pt x="111877" y="75033"/>
                      <a:pt x="107456" y="74249"/>
                      <a:pt x="103607" y="75840"/>
                    </a:cubicBezTo>
                    <a:lnTo>
                      <a:pt x="83207" y="84312"/>
                    </a:lnTo>
                    <a:cubicBezTo>
                      <a:pt x="79738" y="85768"/>
                      <a:pt x="77280" y="88929"/>
                      <a:pt x="76724" y="92650"/>
                    </a:cubicBezTo>
                    <a:lnTo>
                      <a:pt x="75123" y="103493"/>
                    </a:lnTo>
                    <a:cubicBezTo>
                      <a:pt x="74327" y="108897"/>
                      <a:pt x="77722" y="114035"/>
                      <a:pt x="83006" y="115421"/>
                    </a:cubicBezTo>
                    <a:lnTo>
                      <a:pt x="97378" y="119211"/>
                    </a:lnTo>
                    <a:lnTo>
                      <a:pt x="98959" y="120799"/>
                    </a:lnTo>
                    <a:cubicBezTo>
                      <a:pt x="74767" y="134679"/>
                      <a:pt x="44155" y="129673"/>
                      <a:pt x="25644" y="108810"/>
                    </a:cubicBezTo>
                    <a:close/>
                    <a:moveTo>
                      <a:pt x="107826" y="114523"/>
                    </a:moveTo>
                    <a:lnTo>
                      <a:pt x="104946" y="111637"/>
                    </a:lnTo>
                    <a:cubicBezTo>
                      <a:pt x="103603" y="110288"/>
                      <a:pt x="101925" y="109322"/>
                      <a:pt x="100084" y="108837"/>
                    </a:cubicBezTo>
                    <a:lnTo>
                      <a:pt x="85725" y="105047"/>
                    </a:lnTo>
                    <a:lnTo>
                      <a:pt x="87326" y="94204"/>
                    </a:lnTo>
                    <a:lnTo>
                      <a:pt x="107719" y="85725"/>
                    </a:lnTo>
                    <a:lnTo>
                      <a:pt x="121221" y="98102"/>
                    </a:lnTo>
                    <a:cubicBezTo>
                      <a:pt x="117779" y="104336"/>
                      <a:pt x="113242" y="109899"/>
                      <a:pt x="107826" y="114523"/>
                    </a:cubicBezTo>
                    <a:close/>
                  </a:path>
                </a:pathLst>
              </a:custGeom>
              <a:solidFill>
                <a:srgbClr val="0070C0"/>
              </a:solidFill>
              <a:ln>
                <a:noFill/>
              </a:ln>
            </p:spPr>
          </p:sp>
        </p:grpSp>
        <p:sp>
          <p:nvSpPr>
            <p:cNvPr id="127" name="TextBox 127"/>
            <p:cNvSpPr txBox="1"/>
            <p:nvPr/>
          </p:nvSpPr>
          <p:spPr>
            <a:xfrm>
              <a:off x="7662291" y="3830002"/>
              <a:ext cx="1351721" cy="205359"/>
            </a:xfrm>
            <a:prstGeom prst="rect">
              <a:avLst/>
            </a:prstGeom>
            <a:noFill/>
            <a:ln>
              <a:noFill/>
            </a:ln>
          </p:spPr>
          <p:txBody>
            <a:bodyPr wrap="none" lIns="0" tIns="0" rIns="0" bIns="0" anchor="t" anchorCtr="0">
              <a:spAutoFit/>
            </a:bodyPr>
            <a:lstStyle/>
            <a:p>
              <a:pPr algn="l"/>
              <a:r>
                <a:rPr lang="en-IN" sz="1050" b="1" dirty="0">
                  <a:solidFill>
                    <a:srgbClr val="0070C0"/>
                  </a:solidFill>
                  <a:latin typeface="Calibri"/>
                  <a:ea typeface="Calibri"/>
                  <a:cs typeface="Calibri"/>
                </a:rPr>
                <a:t>drishti-lyart.vercel.app</a:t>
              </a:r>
            </a:p>
          </p:txBody>
        </p:sp>
        <p:sp>
          <p:nvSpPr>
            <p:cNvPr id="128" name="Rectangle 128"/>
            <p:cNvSpPr/>
            <p:nvPr/>
          </p:nvSpPr>
          <p:spPr>
            <a:xfrm>
              <a:off x="7439025" y="4086225"/>
              <a:ext cx="1419225" cy="704850"/>
            </a:xfrm>
            <a:prstGeom prst="roundRect">
              <a:avLst>
                <a:gd name="adj" fmla="val 8108"/>
              </a:avLst>
            </a:prstGeom>
            <a:solidFill>
              <a:srgbClr val="F2F5F9"/>
            </a:solidFill>
            <a:ln>
              <a:noFill/>
            </a:ln>
          </p:spPr>
        </p:sp>
        <p:sp>
          <p:nvSpPr>
            <p:cNvPr id="129" name="TextBox 129"/>
            <p:cNvSpPr txBox="1"/>
            <p:nvPr/>
          </p:nvSpPr>
          <p:spPr>
            <a:xfrm>
              <a:off x="7525893" y="4193858"/>
              <a:ext cx="806722" cy="322707"/>
            </a:xfrm>
            <a:prstGeom prst="rect">
              <a:avLst/>
            </a:prstGeom>
            <a:noFill/>
            <a:ln>
              <a:noFill/>
            </a:ln>
          </p:spPr>
          <p:txBody>
            <a:bodyPr wrap="none" lIns="0" tIns="0" rIns="0" bIns="0" anchor="t" anchorCtr="0">
              <a:spAutoFit/>
            </a:bodyPr>
            <a:lstStyle/>
            <a:p>
              <a:pPr algn="l"/>
              <a:r>
                <a:rPr lang="en-IN" sz="1650" b="1" dirty="0">
                  <a:solidFill>
                    <a:srgbClr val="0B3D6E"/>
                  </a:solidFill>
                  <a:latin typeface="Calibri"/>
                  <a:ea typeface="Calibri"/>
                  <a:cs typeface="Calibri"/>
                </a:rPr>
                <a:t>2,09,993</a:t>
              </a:r>
            </a:p>
          </p:txBody>
        </p:sp>
        <p:sp>
          <p:nvSpPr>
            <p:cNvPr id="130" name="TextBox 130"/>
            <p:cNvSpPr txBox="1"/>
            <p:nvPr/>
          </p:nvSpPr>
          <p:spPr>
            <a:xfrm>
              <a:off x="7529512" y="4463891"/>
              <a:ext cx="893438"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real works assessed</a:t>
              </a:r>
            </a:p>
          </p:txBody>
        </p:sp>
        <p:sp>
          <p:nvSpPr>
            <p:cNvPr id="131" name="Rectangle 131"/>
            <p:cNvSpPr/>
            <p:nvPr/>
          </p:nvSpPr>
          <p:spPr>
            <a:xfrm>
              <a:off x="8953500" y="4086225"/>
              <a:ext cx="1419225" cy="704850"/>
            </a:xfrm>
            <a:prstGeom prst="roundRect">
              <a:avLst>
                <a:gd name="adj" fmla="val 8108"/>
              </a:avLst>
            </a:prstGeom>
            <a:solidFill>
              <a:srgbClr val="F2F5F9"/>
            </a:solidFill>
            <a:ln>
              <a:noFill/>
            </a:ln>
          </p:spPr>
        </p:sp>
        <p:sp>
          <p:nvSpPr>
            <p:cNvPr id="132" name="TextBox 132"/>
            <p:cNvSpPr txBox="1"/>
            <p:nvPr/>
          </p:nvSpPr>
          <p:spPr>
            <a:xfrm>
              <a:off x="9040368" y="4193858"/>
              <a:ext cx="354480" cy="322707"/>
            </a:xfrm>
            <a:prstGeom prst="rect">
              <a:avLst/>
            </a:prstGeom>
            <a:noFill/>
            <a:ln>
              <a:noFill/>
            </a:ln>
          </p:spPr>
          <p:txBody>
            <a:bodyPr wrap="none" lIns="0" tIns="0" rIns="0" bIns="0" anchor="t" anchorCtr="0">
              <a:spAutoFit/>
            </a:bodyPr>
            <a:lstStyle/>
            <a:p>
              <a:pPr algn="l"/>
              <a:r>
                <a:rPr lang="en-IN" sz="1650" b="1" dirty="0">
                  <a:solidFill>
                    <a:srgbClr val="0B3D6E"/>
                  </a:solidFill>
                  <a:latin typeface="Calibri"/>
                  <a:ea typeface="Calibri"/>
                  <a:cs typeface="Calibri"/>
                </a:rPr>
                <a:t>276</a:t>
              </a:r>
            </a:p>
          </p:txBody>
        </p:sp>
        <p:sp>
          <p:nvSpPr>
            <p:cNvPr id="133" name="TextBox 133"/>
            <p:cNvSpPr txBox="1"/>
            <p:nvPr/>
          </p:nvSpPr>
          <p:spPr>
            <a:xfrm>
              <a:off x="9043988" y="4463891"/>
              <a:ext cx="1270436"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in the review queue (0.13%)</a:t>
              </a:r>
            </a:p>
          </p:txBody>
        </p:sp>
        <p:sp>
          <p:nvSpPr>
            <p:cNvPr id="134" name="Rectangle 134"/>
            <p:cNvSpPr/>
            <p:nvPr/>
          </p:nvSpPr>
          <p:spPr>
            <a:xfrm>
              <a:off x="10467975" y="4086225"/>
              <a:ext cx="1419225" cy="704850"/>
            </a:xfrm>
            <a:prstGeom prst="roundRect">
              <a:avLst>
                <a:gd name="adj" fmla="val 8108"/>
              </a:avLst>
            </a:prstGeom>
            <a:solidFill>
              <a:srgbClr val="F2F5F9"/>
            </a:solidFill>
            <a:ln>
              <a:noFill/>
            </a:ln>
          </p:spPr>
        </p:sp>
        <p:sp>
          <p:nvSpPr>
            <p:cNvPr id="135" name="TextBox 135"/>
            <p:cNvSpPr txBox="1"/>
            <p:nvPr/>
          </p:nvSpPr>
          <p:spPr>
            <a:xfrm>
              <a:off x="10554843" y="4193858"/>
              <a:ext cx="354480" cy="322707"/>
            </a:xfrm>
            <a:prstGeom prst="rect">
              <a:avLst/>
            </a:prstGeom>
            <a:noFill/>
            <a:ln>
              <a:noFill/>
            </a:ln>
          </p:spPr>
          <p:txBody>
            <a:bodyPr wrap="none" lIns="0" tIns="0" rIns="0" bIns="0" anchor="t" anchorCtr="0">
              <a:spAutoFit/>
            </a:bodyPr>
            <a:lstStyle/>
            <a:p>
              <a:pPr algn="l"/>
              <a:r>
                <a:rPr lang="en-IN" sz="1650" b="1" dirty="0">
                  <a:solidFill>
                    <a:srgbClr val="0B3D6E"/>
                  </a:solidFill>
                  <a:latin typeface="Calibri"/>
                  <a:ea typeface="Calibri"/>
                  <a:cs typeface="Calibri"/>
                </a:rPr>
                <a:t>837</a:t>
              </a:r>
            </a:p>
          </p:txBody>
        </p:sp>
        <p:sp>
          <p:nvSpPr>
            <p:cNvPr id="136" name="TextBox 136"/>
            <p:cNvSpPr txBox="1"/>
            <p:nvPr/>
          </p:nvSpPr>
          <p:spPr>
            <a:xfrm>
              <a:off x="10558462" y="4463891"/>
              <a:ext cx="1177768" cy="285750"/>
            </a:xfrm>
            <a:prstGeom prst="rect">
              <a:avLst/>
            </a:prstGeom>
            <a:noFill/>
            <a:ln>
              <a:noFill/>
            </a:ln>
          </p:spPr>
          <p:txBody>
            <a:bodyPr wrap="none" lIns="0" tIns="0" rIns="0" bIns="0" anchor="t" anchorCtr="0">
              <a:spAutoFit/>
            </a:bodyPr>
            <a:lstStyle/>
            <a:p>
              <a:pPr algn="l">
                <a:lnSpc>
                  <a:spcPts val="975"/>
                </a:lnSpc>
              </a:pPr>
              <a:r>
                <a:rPr lang="en-IN" sz="820" dirty="0">
                  <a:solidFill>
                    <a:srgbClr val="667085"/>
                  </a:solidFill>
                  <a:latin typeface="Calibri"/>
                  <a:ea typeface="Calibri"/>
                  <a:cs typeface="Calibri"/>
                </a:rPr>
                <a:t>real works tested with their</a:t>
              </a:r>
              <a:br/>
              <a:r>
                <a:rPr lang="en-IN" sz="820" dirty="0">
                  <a:solidFill>
                    <a:srgbClr val="667085"/>
                  </a:solidFill>
                  <a:latin typeface="Calibri"/>
                  <a:ea typeface="Calibri"/>
                  <a:cs typeface="Calibri"/>
                </a:rPr>
                <a:t>files</a:t>
              </a:r>
            </a:p>
          </p:txBody>
        </p:sp>
        <p:sp>
          <p:nvSpPr>
            <p:cNvPr id="137" name="TextBox 137"/>
            <p:cNvSpPr txBox="1"/>
            <p:nvPr/>
          </p:nvSpPr>
          <p:spPr>
            <a:xfrm>
              <a:off x="7434262" y="4911566"/>
              <a:ext cx="1893466" cy="161925"/>
            </a:xfrm>
            <a:prstGeom prst="rect">
              <a:avLst/>
            </a:prstGeom>
            <a:noFill/>
            <a:ln>
              <a:noFill/>
            </a:ln>
          </p:spPr>
          <p:txBody>
            <a:bodyPr wrap="none" lIns="0" tIns="0" rIns="0" bIns="0" anchor="t" anchorCtr="0">
              <a:spAutoFit/>
            </a:bodyPr>
            <a:lstStyle/>
            <a:p>
              <a:pPr algn="l"/>
              <a:r>
                <a:rPr lang="en-IN" sz="820" b="1" dirty="0">
                  <a:solidFill>
                    <a:srgbClr val="667085"/>
                  </a:solidFill>
                  <a:latin typeface="Calibri"/>
                  <a:ea typeface="Calibri"/>
                  <a:cs typeface="Calibri"/>
                </a:rPr>
                <a:t>EVERY AGENT ANSWERS IN ONE FORM</a:t>
              </a:r>
            </a:p>
          </p:txBody>
        </p:sp>
        <p:sp>
          <p:nvSpPr>
            <p:cNvPr id="138" name="Rectangle 138"/>
            <p:cNvSpPr/>
            <p:nvPr/>
          </p:nvSpPr>
          <p:spPr>
            <a:xfrm>
              <a:off x="7439025" y="5095875"/>
              <a:ext cx="550545" cy="209550"/>
            </a:xfrm>
            <a:prstGeom prst="roundRect">
              <a:avLst>
                <a:gd name="adj" fmla="val 50000"/>
              </a:avLst>
            </a:prstGeom>
            <a:solidFill>
              <a:srgbClr val="E8F1FA"/>
            </a:solidFill>
            <a:ln>
              <a:noFill/>
            </a:ln>
          </p:spPr>
        </p:sp>
        <p:sp>
          <p:nvSpPr>
            <p:cNvPr id="139" name="TextBox 139"/>
            <p:cNvSpPr txBox="1"/>
            <p:nvPr/>
          </p:nvSpPr>
          <p:spPr>
            <a:xfrm>
              <a:off x="7563574" y="5145643"/>
              <a:ext cx="301447" cy="169069"/>
            </a:xfrm>
            <a:prstGeom prst="rect">
              <a:avLst/>
            </a:prstGeom>
            <a:noFill/>
            <a:ln>
              <a:noFill/>
            </a:ln>
          </p:spPr>
          <p:txBody>
            <a:bodyPr wrap="none" lIns="0" tIns="0" rIns="0" bIns="0" anchor="t" anchorCtr="0">
              <a:spAutoFit/>
            </a:bodyPr>
            <a:lstStyle/>
            <a:p>
              <a:pPr algn="ctr"/>
              <a:r>
                <a:rPr lang="en-IN" sz="860" b="1" dirty="0">
                  <a:solidFill>
                    <a:srgbClr val="0B3D6E"/>
                  </a:solidFill>
                  <a:latin typeface="Calibri"/>
                  <a:ea typeface="Calibri"/>
                  <a:cs typeface="Calibri"/>
                </a:rPr>
                <a:t>status</a:t>
              </a:r>
            </a:p>
          </p:txBody>
        </p:sp>
        <p:sp>
          <p:nvSpPr>
            <p:cNvPr id="140" name="Rectangle 140"/>
            <p:cNvSpPr/>
            <p:nvPr/>
          </p:nvSpPr>
          <p:spPr>
            <a:xfrm>
              <a:off x="8065770" y="5095875"/>
              <a:ext cx="430530" cy="209550"/>
            </a:xfrm>
            <a:prstGeom prst="roundRect">
              <a:avLst>
                <a:gd name="adj" fmla="val 50000"/>
              </a:avLst>
            </a:prstGeom>
            <a:solidFill>
              <a:srgbClr val="E8F1FA"/>
            </a:solidFill>
            <a:ln>
              <a:noFill/>
            </a:ln>
          </p:spPr>
        </p:sp>
        <p:sp>
          <p:nvSpPr>
            <p:cNvPr id="141" name="TextBox 141"/>
            <p:cNvSpPr txBox="1"/>
            <p:nvPr/>
          </p:nvSpPr>
          <p:spPr>
            <a:xfrm>
              <a:off x="8190600" y="5145643"/>
              <a:ext cx="180869" cy="169069"/>
            </a:xfrm>
            <a:prstGeom prst="rect">
              <a:avLst/>
            </a:prstGeom>
            <a:noFill/>
            <a:ln>
              <a:noFill/>
            </a:ln>
          </p:spPr>
          <p:txBody>
            <a:bodyPr wrap="none" lIns="0" tIns="0" rIns="0" bIns="0" anchor="t" anchorCtr="0">
              <a:spAutoFit/>
            </a:bodyPr>
            <a:lstStyle/>
            <a:p>
              <a:pPr algn="ctr"/>
              <a:r>
                <a:rPr lang="en-IN" sz="860" b="1" dirty="0">
                  <a:solidFill>
                    <a:srgbClr val="0B3D6E"/>
                  </a:solidFill>
                  <a:latin typeface="Calibri"/>
                  <a:ea typeface="Calibri"/>
                  <a:cs typeface="Calibri"/>
                </a:rPr>
                <a:t>risk</a:t>
              </a:r>
            </a:p>
          </p:txBody>
        </p:sp>
        <p:sp>
          <p:nvSpPr>
            <p:cNvPr id="142" name="Rectangle 142"/>
            <p:cNvSpPr/>
            <p:nvPr/>
          </p:nvSpPr>
          <p:spPr>
            <a:xfrm>
              <a:off x="8572500" y="5095875"/>
              <a:ext cx="790575" cy="209550"/>
            </a:xfrm>
            <a:prstGeom prst="roundRect">
              <a:avLst>
                <a:gd name="adj" fmla="val 50000"/>
              </a:avLst>
            </a:prstGeom>
            <a:solidFill>
              <a:srgbClr val="E8F1FA"/>
            </a:solidFill>
            <a:ln>
              <a:noFill/>
            </a:ln>
          </p:spPr>
        </p:sp>
        <p:sp>
          <p:nvSpPr>
            <p:cNvPr id="143" name="TextBox 143"/>
            <p:cNvSpPr txBox="1"/>
            <p:nvPr/>
          </p:nvSpPr>
          <p:spPr>
            <a:xfrm>
              <a:off x="8699456" y="5145643"/>
              <a:ext cx="536664" cy="169069"/>
            </a:xfrm>
            <a:prstGeom prst="rect">
              <a:avLst/>
            </a:prstGeom>
            <a:noFill/>
            <a:ln>
              <a:noFill/>
            </a:ln>
          </p:spPr>
          <p:txBody>
            <a:bodyPr wrap="none" lIns="0" tIns="0" rIns="0" bIns="0" anchor="t" anchorCtr="0">
              <a:spAutoFit/>
            </a:bodyPr>
            <a:lstStyle/>
            <a:p>
              <a:pPr algn="ctr"/>
              <a:r>
                <a:rPr lang="en-IN" sz="860" b="1" dirty="0">
                  <a:solidFill>
                    <a:srgbClr val="0B3D6E"/>
                  </a:solidFill>
                  <a:latin typeface="Calibri"/>
                  <a:ea typeface="Calibri"/>
                  <a:cs typeface="Calibri"/>
                </a:rPr>
                <a:t>confidence</a:t>
              </a:r>
            </a:p>
          </p:txBody>
        </p:sp>
        <p:sp>
          <p:nvSpPr>
            <p:cNvPr id="144" name="Rectangle 144"/>
            <p:cNvSpPr/>
            <p:nvPr/>
          </p:nvSpPr>
          <p:spPr>
            <a:xfrm>
              <a:off x="9439275" y="5095875"/>
              <a:ext cx="670560" cy="209550"/>
            </a:xfrm>
            <a:prstGeom prst="roundRect">
              <a:avLst>
                <a:gd name="adj" fmla="val 50000"/>
              </a:avLst>
            </a:prstGeom>
            <a:solidFill>
              <a:srgbClr val="E8F1FA"/>
            </a:solidFill>
            <a:ln>
              <a:noFill/>
            </a:ln>
          </p:spPr>
        </p:sp>
        <p:sp>
          <p:nvSpPr>
            <p:cNvPr id="145" name="TextBox 145"/>
            <p:cNvSpPr txBox="1"/>
            <p:nvPr/>
          </p:nvSpPr>
          <p:spPr>
            <a:xfrm>
              <a:off x="9554420" y="5145643"/>
              <a:ext cx="440271" cy="169069"/>
            </a:xfrm>
            <a:prstGeom prst="rect">
              <a:avLst/>
            </a:prstGeom>
            <a:noFill/>
            <a:ln>
              <a:noFill/>
            </a:ln>
          </p:spPr>
          <p:txBody>
            <a:bodyPr wrap="none" lIns="0" tIns="0" rIns="0" bIns="0" anchor="t" anchorCtr="0">
              <a:spAutoFit/>
            </a:bodyPr>
            <a:lstStyle/>
            <a:p>
              <a:pPr algn="ctr"/>
              <a:r>
                <a:rPr lang="en-IN" sz="860" b="1" dirty="0">
                  <a:solidFill>
                    <a:srgbClr val="0B3D6E"/>
                  </a:solidFill>
                  <a:latin typeface="Calibri"/>
                  <a:ea typeface="Calibri"/>
                  <a:cs typeface="Calibri"/>
                </a:rPr>
                <a:t>evidence</a:t>
              </a:r>
            </a:p>
          </p:txBody>
        </p:sp>
        <p:sp>
          <p:nvSpPr>
            <p:cNvPr id="146" name="Rectangle 146"/>
            <p:cNvSpPr/>
            <p:nvPr/>
          </p:nvSpPr>
          <p:spPr>
            <a:xfrm>
              <a:off x="10186035" y="5095875"/>
              <a:ext cx="1570672" cy="209550"/>
            </a:xfrm>
            <a:prstGeom prst="roundRect">
              <a:avLst>
                <a:gd name="adj" fmla="val 50000"/>
              </a:avLst>
            </a:prstGeom>
            <a:solidFill>
              <a:srgbClr val="E8F1FA"/>
            </a:solidFill>
            <a:ln>
              <a:noFill/>
            </a:ln>
          </p:spPr>
        </p:sp>
        <p:sp>
          <p:nvSpPr>
            <p:cNvPr id="147" name="TextBox 147"/>
            <p:cNvSpPr txBox="1"/>
            <p:nvPr/>
          </p:nvSpPr>
          <p:spPr>
            <a:xfrm>
              <a:off x="10406753" y="5145643"/>
              <a:ext cx="1129237" cy="169069"/>
            </a:xfrm>
            <a:prstGeom prst="rect">
              <a:avLst/>
            </a:prstGeom>
            <a:noFill/>
            <a:ln>
              <a:noFill/>
            </a:ln>
          </p:spPr>
          <p:txBody>
            <a:bodyPr wrap="none" lIns="0" tIns="0" rIns="0" bIns="0" anchor="t" anchorCtr="0">
              <a:spAutoFit/>
            </a:bodyPr>
            <a:lstStyle/>
            <a:p>
              <a:pPr algn="ctr"/>
              <a:r>
                <a:rPr lang="en-IN" sz="860" b="1" dirty="0">
                  <a:solidFill>
                    <a:srgbClr val="0B3D6E"/>
                  </a:solidFill>
                  <a:latin typeface="Calibri"/>
                  <a:ea typeface="Calibri"/>
                  <a:cs typeface="Calibri"/>
                </a:rPr>
                <a:t>what it could not check</a:t>
              </a:r>
            </a:p>
          </p:txBody>
        </p:sp>
        <p:sp>
          <p:nvSpPr>
            <p:cNvPr id="148" name="TextBox 148"/>
            <p:cNvSpPr txBox="1"/>
            <p:nvPr/>
          </p:nvSpPr>
          <p:spPr>
            <a:xfrm>
              <a:off x="7434262" y="5425916"/>
              <a:ext cx="820022" cy="161925"/>
            </a:xfrm>
            <a:prstGeom prst="rect">
              <a:avLst/>
            </a:prstGeom>
            <a:noFill/>
            <a:ln>
              <a:noFill/>
            </a:ln>
          </p:spPr>
          <p:txBody>
            <a:bodyPr wrap="none" lIns="0" tIns="0" rIns="0" bIns="0" anchor="t" anchorCtr="0">
              <a:spAutoFit/>
            </a:bodyPr>
            <a:lstStyle/>
            <a:p>
              <a:pPr algn="l"/>
              <a:r>
                <a:rPr lang="en-IN" sz="820" b="1" dirty="0">
                  <a:solidFill>
                    <a:srgbClr val="667085"/>
                  </a:solidFill>
                  <a:latin typeface="Calibri"/>
                  <a:ea typeface="Calibri"/>
                  <a:cs typeface="Calibri"/>
                </a:rPr>
                <a:t>SIGN-IN BY ROLE</a:t>
              </a:r>
            </a:p>
          </p:txBody>
        </p:sp>
        <p:sp>
          <p:nvSpPr>
            <p:cNvPr id="149" name="Ellipse 149"/>
            <p:cNvSpPr/>
            <p:nvPr/>
          </p:nvSpPr>
          <p:spPr>
            <a:xfrm>
              <a:off x="7448550" y="5638800"/>
              <a:ext cx="323850" cy="323850"/>
            </a:xfrm>
            <a:prstGeom prst="ellipse">
              <a:avLst/>
            </a:prstGeom>
            <a:solidFill>
              <a:srgbClr val="E8F1FA"/>
            </a:solidFill>
            <a:ln>
              <a:noFill/>
            </a:ln>
          </p:spPr>
        </p:sp>
        <p:grpSp>
          <p:nvGrpSpPr>
            <p:cNvPr id="152" name="Group 152"/>
            <p:cNvGrpSpPr/>
            <p:nvPr/>
          </p:nvGrpSpPr>
          <p:grpSpPr>
            <a:xfrm>
              <a:off x="7523235" y="5724840"/>
              <a:ext cx="174575" cy="139944"/>
              <a:chOff x="7523235" y="5724840"/>
              <a:chExt cx="174575" cy="139944"/>
            </a:xfrm>
          </p:grpSpPr>
          <p:sp>
            <p:nvSpPr>
              <p:cNvPr id="150" name="Freeform 150"/>
              <p:cNvSpPr/>
              <p:nvPr/>
            </p:nvSpPr>
            <p:spPr>
              <a:xfrm>
                <a:off x="7534873" y="5730942"/>
                <a:ext cx="151299" cy="46553"/>
              </a:xfrm>
              <a:custGeom>
                <a:avLst/>
                <a:gdLst/>
                <a:ahLst/>
                <a:cxnLst/>
                <a:rect l="l" t="t" r="r" b="b"/>
                <a:pathLst>
                  <a:path w="151299" h="46553">
                    <a:moveTo>
                      <a:pt x="151299" y="46553"/>
                    </a:moveTo>
                    <a:lnTo>
                      <a:pt x="0" y="46553"/>
                    </a:lnTo>
                    <a:lnTo>
                      <a:pt x="75649" y="0"/>
                    </a:lnTo>
                    <a:close/>
                  </a:path>
                </a:pathLst>
              </a:custGeom>
              <a:solidFill>
                <a:srgbClr val="0B3D6E">
                  <a:alpha val="20000"/>
                </a:srgbClr>
              </a:solidFill>
              <a:ln>
                <a:noFill/>
              </a:ln>
            </p:spPr>
          </p:sp>
          <p:sp>
            <p:nvSpPr>
              <p:cNvPr id="151" name="Freeform 151"/>
              <p:cNvSpPr/>
              <p:nvPr/>
            </p:nvSpPr>
            <p:spPr>
              <a:xfrm>
                <a:off x="7523235" y="5724840"/>
                <a:ext cx="174575" cy="139944"/>
              </a:xfrm>
              <a:custGeom>
                <a:avLst/>
                <a:gdLst/>
                <a:ahLst/>
                <a:cxnLst/>
                <a:rect l="l" t="t" r="r" b="b"/>
                <a:pathLst>
                  <a:path w="174575" h="139944">
                    <a:moveTo>
                      <a:pt x="11638" y="58476"/>
                    </a:moveTo>
                    <a:lnTo>
                      <a:pt x="29096" y="58476"/>
                    </a:lnTo>
                    <a:lnTo>
                      <a:pt x="29096" y="105029"/>
                    </a:lnTo>
                    <a:lnTo>
                      <a:pt x="17458" y="105029"/>
                    </a:lnTo>
                    <a:cubicBezTo>
                      <a:pt x="14244" y="105029"/>
                      <a:pt x="11638" y="107634"/>
                      <a:pt x="11638" y="110848"/>
                    </a:cubicBezTo>
                    <a:cubicBezTo>
                      <a:pt x="11638" y="114062"/>
                      <a:pt x="14244" y="116667"/>
                      <a:pt x="17458" y="116667"/>
                    </a:cubicBezTo>
                    <a:lnTo>
                      <a:pt x="157118" y="116667"/>
                    </a:lnTo>
                    <a:cubicBezTo>
                      <a:pt x="160332" y="116667"/>
                      <a:pt x="162937" y="114062"/>
                      <a:pt x="162937" y="110848"/>
                    </a:cubicBezTo>
                    <a:cubicBezTo>
                      <a:pt x="162937" y="107634"/>
                      <a:pt x="160332" y="105029"/>
                      <a:pt x="157118" y="105029"/>
                    </a:cubicBezTo>
                    <a:lnTo>
                      <a:pt x="145480" y="105029"/>
                    </a:lnTo>
                    <a:lnTo>
                      <a:pt x="145480" y="58476"/>
                    </a:lnTo>
                    <a:lnTo>
                      <a:pt x="162937" y="58476"/>
                    </a:lnTo>
                    <a:cubicBezTo>
                      <a:pt x="165539" y="58473"/>
                      <a:pt x="167822" y="56744"/>
                      <a:pt x="168531" y="54241"/>
                    </a:cubicBezTo>
                    <a:cubicBezTo>
                      <a:pt x="169239" y="51737"/>
                      <a:pt x="168199" y="49068"/>
                      <a:pt x="165985" y="47703"/>
                    </a:cubicBezTo>
                    <a:lnTo>
                      <a:pt x="90336" y="1149"/>
                    </a:lnTo>
                    <a:cubicBezTo>
                      <a:pt x="88466" y="0"/>
                      <a:pt x="86109" y="0"/>
                      <a:pt x="84240" y="1149"/>
                    </a:cubicBezTo>
                    <a:lnTo>
                      <a:pt x="8591" y="47703"/>
                    </a:lnTo>
                    <a:cubicBezTo>
                      <a:pt x="6376" y="49068"/>
                      <a:pt x="5337" y="51737"/>
                      <a:pt x="6045" y="54241"/>
                    </a:cubicBezTo>
                    <a:cubicBezTo>
                      <a:pt x="6753" y="56744"/>
                      <a:pt x="9037" y="58473"/>
                      <a:pt x="11638" y="58476"/>
                    </a:cubicBezTo>
                    <a:close/>
                    <a:moveTo>
                      <a:pt x="40734" y="58476"/>
                    </a:moveTo>
                    <a:lnTo>
                      <a:pt x="64011" y="58476"/>
                    </a:lnTo>
                    <a:lnTo>
                      <a:pt x="64011" y="105029"/>
                    </a:lnTo>
                    <a:lnTo>
                      <a:pt x="40734" y="105029"/>
                    </a:lnTo>
                    <a:close/>
                    <a:moveTo>
                      <a:pt x="98926" y="58476"/>
                    </a:moveTo>
                    <a:lnTo>
                      <a:pt x="98926" y="105029"/>
                    </a:lnTo>
                    <a:lnTo>
                      <a:pt x="75649" y="105029"/>
                    </a:lnTo>
                    <a:lnTo>
                      <a:pt x="75649" y="58476"/>
                    </a:lnTo>
                    <a:close/>
                    <a:moveTo>
                      <a:pt x="133841" y="105029"/>
                    </a:moveTo>
                    <a:lnTo>
                      <a:pt x="110564" y="105029"/>
                    </a:lnTo>
                    <a:lnTo>
                      <a:pt x="110564" y="58476"/>
                    </a:lnTo>
                    <a:lnTo>
                      <a:pt x="133841" y="58476"/>
                    </a:lnTo>
                    <a:close/>
                    <a:moveTo>
                      <a:pt x="87288" y="12933"/>
                    </a:moveTo>
                    <a:lnTo>
                      <a:pt x="142381" y="46837"/>
                    </a:lnTo>
                    <a:lnTo>
                      <a:pt x="32195" y="46837"/>
                    </a:lnTo>
                    <a:close/>
                    <a:moveTo>
                      <a:pt x="174575" y="134125"/>
                    </a:moveTo>
                    <a:cubicBezTo>
                      <a:pt x="174575" y="137339"/>
                      <a:pt x="171970" y="139944"/>
                      <a:pt x="168756" y="139944"/>
                    </a:cubicBezTo>
                    <a:lnTo>
                      <a:pt x="5819" y="139944"/>
                    </a:lnTo>
                    <a:cubicBezTo>
                      <a:pt x="2605" y="139944"/>
                      <a:pt x="0" y="137339"/>
                      <a:pt x="0" y="134125"/>
                    </a:cubicBezTo>
                    <a:cubicBezTo>
                      <a:pt x="0" y="130911"/>
                      <a:pt x="2605" y="128306"/>
                      <a:pt x="5819" y="128306"/>
                    </a:cubicBezTo>
                    <a:lnTo>
                      <a:pt x="168756" y="128306"/>
                    </a:lnTo>
                    <a:cubicBezTo>
                      <a:pt x="171970" y="128306"/>
                      <a:pt x="174575" y="130911"/>
                      <a:pt x="174575" y="134125"/>
                    </a:cubicBezTo>
                    <a:close/>
                  </a:path>
                </a:pathLst>
              </a:custGeom>
              <a:solidFill>
                <a:srgbClr val="0B3D6E"/>
              </a:solidFill>
              <a:ln>
                <a:noFill/>
              </a:ln>
            </p:spPr>
          </p:sp>
        </p:grpSp>
        <p:sp>
          <p:nvSpPr>
            <p:cNvPr id="153" name="TextBox 153"/>
            <p:cNvSpPr txBox="1"/>
            <p:nvPr/>
          </p:nvSpPr>
          <p:spPr>
            <a:xfrm>
              <a:off x="7834122" y="5676424"/>
              <a:ext cx="471797" cy="190690"/>
            </a:xfrm>
            <a:prstGeom prst="rect">
              <a:avLst/>
            </a:prstGeom>
            <a:noFill/>
            <a:ln>
              <a:noFill/>
            </a:ln>
          </p:spPr>
          <p:txBody>
            <a:bodyPr wrap="none" lIns="0" tIns="0" rIns="0" bIns="0" anchor="t" anchorCtr="0">
              <a:spAutoFit/>
            </a:bodyPr>
            <a:lstStyle/>
            <a:p>
              <a:pPr algn="l"/>
              <a:r>
                <a:rPr lang="en-IN" sz="980" b="1" dirty="0">
                  <a:solidFill>
                    <a:srgbClr val="1D2939"/>
                  </a:solidFill>
                  <a:latin typeface="Calibri"/>
                  <a:ea typeface="Calibri"/>
                  <a:cs typeface="Calibri"/>
                </a:rPr>
                <a:t>Ministry</a:t>
              </a:r>
            </a:p>
          </p:txBody>
        </p:sp>
        <p:sp>
          <p:nvSpPr>
            <p:cNvPr id="154" name="TextBox 154"/>
            <p:cNvSpPr txBox="1"/>
            <p:nvPr/>
          </p:nvSpPr>
          <p:spPr>
            <a:xfrm>
              <a:off x="7834312" y="5835491"/>
              <a:ext cx="362532"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all India</a:t>
              </a:r>
            </a:p>
          </p:txBody>
        </p:sp>
        <p:sp>
          <p:nvSpPr>
            <p:cNvPr id="155" name="Ellipse 155"/>
            <p:cNvSpPr/>
            <p:nvPr/>
          </p:nvSpPr>
          <p:spPr>
            <a:xfrm>
              <a:off x="8963025" y="5638800"/>
              <a:ext cx="323850" cy="323850"/>
            </a:xfrm>
            <a:prstGeom prst="ellipse">
              <a:avLst/>
            </a:prstGeom>
            <a:solidFill>
              <a:srgbClr val="E8F1FA"/>
            </a:solidFill>
            <a:ln>
              <a:noFill/>
            </a:ln>
          </p:spPr>
        </p:sp>
        <p:grpSp>
          <p:nvGrpSpPr>
            <p:cNvPr id="158" name="Group 158"/>
            <p:cNvGrpSpPr/>
            <p:nvPr/>
          </p:nvGrpSpPr>
          <p:grpSpPr>
            <a:xfrm>
              <a:off x="9049348" y="5730778"/>
              <a:ext cx="151299" cy="139824"/>
              <a:chOff x="9049348" y="5730778"/>
              <a:chExt cx="151299" cy="139824"/>
            </a:xfrm>
          </p:grpSpPr>
          <p:sp>
            <p:nvSpPr>
              <p:cNvPr id="156" name="Freeform 156"/>
              <p:cNvSpPr/>
              <p:nvPr/>
            </p:nvSpPr>
            <p:spPr>
              <a:xfrm>
                <a:off x="9101721" y="5736762"/>
                <a:ext cx="46553" cy="128022"/>
              </a:xfrm>
              <a:custGeom>
                <a:avLst/>
                <a:gdLst/>
                <a:ahLst/>
                <a:cxnLst/>
                <a:rect l="l" t="t" r="r" b="b"/>
                <a:pathLst>
                  <a:path w="46553" h="128022">
                    <a:moveTo>
                      <a:pt x="46553" y="23277"/>
                    </a:moveTo>
                    <a:lnTo>
                      <a:pt x="46553" y="128022"/>
                    </a:lnTo>
                    <a:lnTo>
                      <a:pt x="0" y="104745"/>
                    </a:lnTo>
                    <a:lnTo>
                      <a:pt x="0" y="0"/>
                    </a:lnTo>
                    <a:close/>
                  </a:path>
                </a:pathLst>
              </a:custGeom>
              <a:solidFill>
                <a:srgbClr val="0B3D6E">
                  <a:alpha val="20000"/>
                </a:srgbClr>
              </a:solidFill>
              <a:ln>
                <a:noFill/>
              </a:ln>
            </p:spPr>
          </p:sp>
          <p:sp>
            <p:nvSpPr>
              <p:cNvPr id="157" name="Freeform 157"/>
              <p:cNvSpPr/>
              <p:nvPr/>
            </p:nvSpPr>
            <p:spPr>
              <a:xfrm>
                <a:off x="9049348" y="5730778"/>
                <a:ext cx="151299" cy="139824"/>
              </a:xfrm>
              <a:custGeom>
                <a:avLst/>
                <a:gdLst/>
                <a:ahLst/>
                <a:cxnLst/>
                <a:rect l="l" t="t" r="r" b="b"/>
                <a:pathLst>
                  <a:path w="151299" h="139824">
                    <a:moveTo>
                      <a:pt x="149058" y="13032"/>
                    </a:moveTo>
                    <a:cubicBezTo>
                      <a:pt x="147646" y="11931"/>
                      <a:pt x="145805" y="11542"/>
                      <a:pt x="144068" y="11977"/>
                    </a:cubicBezTo>
                    <a:lnTo>
                      <a:pt x="99603" y="23092"/>
                    </a:lnTo>
                    <a:lnTo>
                      <a:pt x="54977" y="775"/>
                    </a:lnTo>
                    <a:cubicBezTo>
                      <a:pt x="53733" y="155"/>
                      <a:pt x="52309" y="0"/>
                      <a:pt x="50961" y="339"/>
                    </a:cubicBezTo>
                    <a:lnTo>
                      <a:pt x="4408" y="11977"/>
                    </a:lnTo>
                    <a:cubicBezTo>
                      <a:pt x="1818" y="12624"/>
                      <a:pt x="0" y="14952"/>
                      <a:pt x="0" y="17622"/>
                    </a:cubicBezTo>
                    <a:lnTo>
                      <a:pt x="0" y="122367"/>
                    </a:lnTo>
                    <a:cubicBezTo>
                      <a:pt x="0" y="124159"/>
                      <a:pt x="826" y="125850"/>
                      <a:pt x="2238" y="126953"/>
                    </a:cubicBezTo>
                    <a:cubicBezTo>
                      <a:pt x="3651" y="128055"/>
                      <a:pt x="5492" y="128446"/>
                      <a:pt x="7230" y="128011"/>
                    </a:cubicBezTo>
                    <a:lnTo>
                      <a:pt x="51696" y="116897"/>
                    </a:lnTo>
                    <a:lnTo>
                      <a:pt x="96322" y="139213"/>
                    </a:lnTo>
                    <a:cubicBezTo>
                      <a:pt x="97132" y="139613"/>
                      <a:pt x="98023" y="139822"/>
                      <a:pt x="98926" y="139824"/>
                    </a:cubicBezTo>
                    <a:cubicBezTo>
                      <a:pt x="99402" y="139824"/>
                      <a:pt x="99876" y="139765"/>
                      <a:pt x="100337" y="139650"/>
                    </a:cubicBezTo>
                    <a:lnTo>
                      <a:pt x="146891" y="128011"/>
                    </a:lnTo>
                    <a:cubicBezTo>
                      <a:pt x="149481" y="127364"/>
                      <a:pt x="151298" y="125037"/>
                      <a:pt x="151299" y="122367"/>
                    </a:cubicBezTo>
                    <a:lnTo>
                      <a:pt x="151299" y="17622"/>
                    </a:lnTo>
                    <a:cubicBezTo>
                      <a:pt x="151299" y="15828"/>
                      <a:pt x="150472" y="14135"/>
                      <a:pt x="149058" y="13032"/>
                    </a:cubicBezTo>
                    <a:close/>
                    <a:moveTo>
                      <a:pt x="58192" y="15396"/>
                    </a:moveTo>
                    <a:lnTo>
                      <a:pt x="93107" y="32853"/>
                    </a:lnTo>
                    <a:lnTo>
                      <a:pt x="93107" y="124593"/>
                    </a:lnTo>
                    <a:lnTo>
                      <a:pt x="58192" y="107135"/>
                    </a:lnTo>
                    <a:close/>
                    <a:moveTo>
                      <a:pt x="11638" y="22168"/>
                    </a:moveTo>
                    <a:lnTo>
                      <a:pt x="46553" y="13439"/>
                    </a:lnTo>
                    <a:lnTo>
                      <a:pt x="46553" y="106182"/>
                    </a:lnTo>
                    <a:lnTo>
                      <a:pt x="11638" y="114911"/>
                    </a:lnTo>
                    <a:close/>
                    <a:moveTo>
                      <a:pt x="139660" y="117821"/>
                    </a:moveTo>
                    <a:lnTo>
                      <a:pt x="104745" y="126549"/>
                    </a:lnTo>
                    <a:lnTo>
                      <a:pt x="104745" y="33806"/>
                    </a:lnTo>
                    <a:lnTo>
                      <a:pt x="139660" y="25077"/>
                    </a:lnTo>
                    <a:close/>
                  </a:path>
                </a:pathLst>
              </a:custGeom>
              <a:solidFill>
                <a:srgbClr val="0B3D6E"/>
              </a:solidFill>
              <a:ln>
                <a:noFill/>
              </a:ln>
            </p:spPr>
          </p:sp>
        </p:grpSp>
        <p:sp>
          <p:nvSpPr>
            <p:cNvPr id="159" name="TextBox 159"/>
            <p:cNvSpPr txBox="1"/>
            <p:nvPr/>
          </p:nvSpPr>
          <p:spPr>
            <a:xfrm>
              <a:off x="9348597" y="5676424"/>
              <a:ext cx="406882" cy="190690"/>
            </a:xfrm>
            <a:prstGeom prst="rect">
              <a:avLst/>
            </a:prstGeom>
            <a:noFill/>
            <a:ln>
              <a:noFill/>
            </a:ln>
          </p:spPr>
          <p:txBody>
            <a:bodyPr wrap="none" lIns="0" tIns="0" rIns="0" bIns="0" anchor="t" anchorCtr="0">
              <a:spAutoFit/>
            </a:bodyPr>
            <a:lstStyle/>
            <a:p>
              <a:pPr algn="l"/>
              <a:r>
                <a:rPr lang="en-IN" sz="980" b="1" dirty="0">
                  <a:solidFill>
                    <a:srgbClr val="1D2939"/>
                  </a:solidFill>
                  <a:latin typeface="Calibri"/>
                  <a:ea typeface="Calibri"/>
                  <a:cs typeface="Calibri"/>
                </a:rPr>
                <a:t>District</a:t>
              </a:r>
            </a:p>
          </p:txBody>
        </p:sp>
        <p:sp>
          <p:nvSpPr>
            <p:cNvPr id="160" name="TextBox 160"/>
            <p:cNvSpPr txBox="1"/>
            <p:nvPr/>
          </p:nvSpPr>
          <p:spPr>
            <a:xfrm>
              <a:off x="9348788" y="5835491"/>
              <a:ext cx="540559"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own district</a:t>
              </a:r>
            </a:p>
          </p:txBody>
        </p:sp>
        <p:sp>
          <p:nvSpPr>
            <p:cNvPr id="161" name="Ellipse 161"/>
            <p:cNvSpPr/>
            <p:nvPr/>
          </p:nvSpPr>
          <p:spPr>
            <a:xfrm>
              <a:off x="10477500" y="5638800"/>
              <a:ext cx="323850" cy="323850"/>
            </a:xfrm>
            <a:prstGeom prst="ellipse">
              <a:avLst/>
            </a:prstGeom>
            <a:solidFill>
              <a:srgbClr val="E8F1FA"/>
            </a:solidFill>
            <a:ln>
              <a:noFill/>
            </a:ln>
          </p:spPr>
        </p:sp>
        <p:grpSp>
          <p:nvGrpSpPr>
            <p:cNvPr id="164" name="Group 164"/>
            <p:cNvGrpSpPr/>
            <p:nvPr/>
          </p:nvGrpSpPr>
          <p:grpSpPr>
            <a:xfrm>
              <a:off x="10557909" y="5725123"/>
              <a:ext cx="162937" cy="133841"/>
              <a:chOff x="10557909" y="5725123"/>
              <a:chExt cx="162937" cy="133841"/>
            </a:xfrm>
          </p:grpSpPr>
          <p:sp>
            <p:nvSpPr>
              <p:cNvPr id="162" name="Freeform 162"/>
              <p:cNvSpPr/>
              <p:nvPr/>
            </p:nvSpPr>
            <p:spPr>
              <a:xfrm>
                <a:off x="10575358" y="5744989"/>
                <a:ext cx="128039" cy="79061"/>
              </a:xfrm>
              <a:custGeom>
                <a:avLst/>
                <a:gdLst/>
                <a:ahLst/>
                <a:cxnLst/>
                <a:rect l="l" t="t" r="r" b="b"/>
                <a:pathLst>
                  <a:path w="128039" h="79061">
                    <a:moveTo>
                      <a:pt x="46562" y="0"/>
                    </a:moveTo>
                    <a:lnTo>
                      <a:pt x="46562" y="79061"/>
                    </a:lnTo>
                    <a:lnTo>
                      <a:pt x="8" y="79061"/>
                    </a:lnTo>
                    <a:lnTo>
                      <a:pt x="8" y="61603"/>
                    </a:lnTo>
                    <a:cubicBezTo>
                      <a:pt x="0" y="32967"/>
                      <a:pt x="19012" y="7810"/>
                      <a:pt x="46562" y="0"/>
                    </a:cubicBezTo>
                    <a:close/>
                    <a:moveTo>
                      <a:pt x="81477" y="0"/>
                    </a:moveTo>
                    <a:lnTo>
                      <a:pt x="81477" y="79061"/>
                    </a:lnTo>
                    <a:lnTo>
                      <a:pt x="128030" y="79061"/>
                    </a:lnTo>
                    <a:lnTo>
                      <a:pt x="128030" y="61603"/>
                    </a:lnTo>
                    <a:cubicBezTo>
                      <a:pt x="128039" y="32967"/>
                      <a:pt x="109027" y="7810"/>
                      <a:pt x="81477" y="0"/>
                    </a:cubicBezTo>
                    <a:close/>
                  </a:path>
                </a:pathLst>
              </a:custGeom>
              <a:solidFill>
                <a:srgbClr val="0B3D6E">
                  <a:alpha val="20000"/>
                </a:srgbClr>
              </a:solidFill>
              <a:ln>
                <a:noFill/>
              </a:ln>
            </p:spPr>
          </p:sp>
          <p:sp>
            <p:nvSpPr>
              <p:cNvPr id="163" name="Freeform 163"/>
              <p:cNvSpPr/>
              <p:nvPr/>
            </p:nvSpPr>
            <p:spPr>
              <a:xfrm>
                <a:off x="10557909" y="5725123"/>
                <a:ext cx="162937" cy="133841"/>
              </a:xfrm>
              <a:custGeom>
                <a:avLst/>
                <a:gdLst/>
                <a:ahLst/>
                <a:cxnLst/>
                <a:rect l="l" t="t" r="r" b="b"/>
                <a:pathLst>
                  <a:path w="162937" h="133841">
                    <a:moveTo>
                      <a:pt x="151299" y="93107"/>
                    </a:moveTo>
                    <a:lnTo>
                      <a:pt x="151299" y="81469"/>
                    </a:lnTo>
                    <a:cubicBezTo>
                      <a:pt x="151219" y="51901"/>
                      <a:pt x="132595" y="25563"/>
                      <a:pt x="104745" y="15632"/>
                    </a:cubicBezTo>
                    <a:lnTo>
                      <a:pt x="104745" y="11638"/>
                    </a:lnTo>
                    <a:cubicBezTo>
                      <a:pt x="104745" y="5211"/>
                      <a:pt x="99535" y="0"/>
                      <a:pt x="93107" y="0"/>
                    </a:cubicBezTo>
                    <a:lnTo>
                      <a:pt x="69830" y="0"/>
                    </a:lnTo>
                    <a:cubicBezTo>
                      <a:pt x="63402" y="0"/>
                      <a:pt x="58192" y="5211"/>
                      <a:pt x="58192" y="11638"/>
                    </a:cubicBezTo>
                    <a:lnTo>
                      <a:pt x="58192" y="15632"/>
                    </a:lnTo>
                    <a:cubicBezTo>
                      <a:pt x="30342" y="25563"/>
                      <a:pt x="11718" y="51901"/>
                      <a:pt x="11638" y="81469"/>
                    </a:cubicBezTo>
                    <a:lnTo>
                      <a:pt x="11638" y="93107"/>
                    </a:lnTo>
                    <a:cubicBezTo>
                      <a:pt x="5211" y="93107"/>
                      <a:pt x="0" y="98318"/>
                      <a:pt x="0" y="104745"/>
                    </a:cubicBezTo>
                    <a:lnTo>
                      <a:pt x="0" y="122203"/>
                    </a:lnTo>
                    <a:cubicBezTo>
                      <a:pt x="0" y="128630"/>
                      <a:pt x="5211" y="133841"/>
                      <a:pt x="11638" y="133841"/>
                    </a:cubicBezTo>
                    <a:lnTo>
                      <a:pt x="151299" y="133841"/>
                    </a:lnTo>
                    <a:cubicBezTo>
                      <a:pt x="157726" y="133841"/>
                      <a:pt x="162937" y="128630"/>
                      <a:pt x="162937" y="122203"/>
                    </a:cubicBezTo>
                    <a:lnTo>
                      <a:pt x="162937" y="104745"/>
                    </a:lnTo>
                    <a:cubicBezTo>
                      <a:pt x="162937" y="98318"/>
                      <a:pt x="157726" y="93107"/>
                      <a:pt x="151299" y="93107"/>
                    </a:cubicBezTo>
                    <a:close/>
                    <a:moveTo>
                      <a:pt x="139660" y="81469"/>
                    </a:moveTo>
                    <a:lnTo>
                      <a:pt x="139660" y="93107"/>
                    </a:lnTo>
                    <a:lnTo>
                      <a:pt x="104745" y="93107"/>
                    </a:lnTo>
                    <a:lnTo>
                      <a:pt x="104745" y="28128"/>
                    </a:lnTo>
                    <a:cubicBezTo>
                      <a:pt x="125908" y="37439"/>
                      <a:pt x="139595" y="58348"/>
                      <a:pt x="139660" y="81469"/>
                    </a:cubicBezTo>
                    <a:close/>
                    <a:moveTo>
                      <a:pt x="93107" y="11638"/>
                    </a:moveTo>
                    <a:lnTo>
                      <a:pt x="93107" y="93107"/>
                    </a:lnTo>
                    <a:lnTo>
                      <a:pt x="69830" y="93107"/>
                    </a:lnTo>
                    <a:lnTo>
                      <a:pt x="69830" y="11638"/>
                    </a:lnTo>
                    <a:close/>
                    <a:moveTo>
                      <a:pt x="23277" y="81469"/>
                    </a:moveTo>
                    <a:cubicBezTo>
                      <a:pt x="23342" y="58348"/>
                      <a:pt x="37029" y="37439"/>
                      <a:pt x="58192" y="28128"/>
                    </a:cubicBezTo>
                    <a:lnTo>
                      <a:pt x="58192" y="93107"/>
                    </a:lnTo>
                    <a:lnTo>
                      <a:pt x="23277" y="93107"/>
                    </a:lnTo>
                    <a:close/>
                    <a:moveTo>
                      <a:pt x="151299" y="122203"/>
                    </a:moveTo>
                    <a:lnTo>
                      <a:pt x="11638" y="122203"/>
                    </a:lnTo>
                    <a:lnTo>
                      <a:pt x="11638" y="104745"/>
                    </a:lnTo>
                    <a:lnTo>
                      <a:pt x="151299" y="104745"/>
                    </a:lnTo>
                    <a:lnTo>
                      <a:pt x="151299" y="122203"/>
                    </a:lnTo>
                    <a:close/>
                  </a:path>
                </a:pathLst>
              </a:custGeom>
              <a:solidFill>
                <a:srgbClr val="0B3D6E"/>
              </a:solidFill>
              <a:ln>
                <a:noFill/>
              </a:ln>
            </p:spPr>
          </p:sp>
        </p:grpSp>
        <p:sp>
          <p:nvSpPr>
            <p:cNvPr id="165" name="TextBox 165"/>
            <p:cNvSpPr txBox="1"/>
            <p:nvPr/>
          </p:nvSpPr>
          <p:spPr>
            <a:xfrm>
              <a:off x="10863072" y="5676424"/>
              <a:ext cx="275441" cy="190690"/>
            </a:xfrm>
            <a:prstGeom prst="rect">
              <a:avLst/>
            </a:prstGeom>
            <a:noFill/>
            <a:ln>
              <a:noFill/>
            </a:ln>
          </p:spPr>
          <p:txBody>
            <a:bodyPr wrap="none" lIns="0" tIns="0" rIns="0" bIns="0" anchor="t" anchorCtr="0">
              <a:spAutoFit/>
            </a:bodyPr>
            <a:lstStyle/>
            <a:p>
              <a:pPr algn="l"/>
              <a:r>
                <a:rPr lang="en-IN" sz="980" b="1" dirty="0">
                  <a:solidFill>
                    <a:srgbClr val="1D2939"/>
                  </a:solidFill>
                  <a:latin typeface="Calibri"/>
                  <a:ea typeface="Calibri"/>
                  <a:cs typeface="Calibri"/>
                </a:rPr>
                <a:t>Field</a:t>
              </a:r>
            </a:p>
          </p:txBody>
        </p:sp>
        <p:sp>
          <p:nvSpPr>
            <p:cNvPr id="166" name="TextBox 166"/>
            <p:cNvSpPr txBox="1"/>
            <p:nvPr/>
          </p:nvSpPr>
          <p:spPr>
            <a:xfrm>
              <a:off x="10863262" y="5835491"/>
              <a:ext cx="418757"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site visits</a:t>
              </a:r>
            </a:p>
          </p:txBody>
        </p:sp>
      </p:grpSp>
    </p:spTree>
  </p:cSld>
  <p:clrMapOvr>
    <a:masterClrMapping/>
  </p:clrMapOvr>
</p:sld>
</file>

<file path=ppt/slides/slide4.xml><?xml version="1.0" encoding="utf-8"?>
<p:sld xmlns:a="http://schemas.openxmlformats.org/drawingml/2006/main" xmlns:a14="http://schemas.microsoft.com/office/drawing/2010/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0" name="Rectangle 9">
            <a:extLst>
              <a:ext uri="{FF2B5EF4-FFF2-40B4-BE49-F238E27FC236}">
                <ns2:creationId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p:cNvSpPr/>
          <p:nvPr/>
        </p:nvSpPr>
        <p:spPr>
          <a:xfrm>
            <a:off x="329756" y="252222"/>
            <a:ext cx="1251871" cy="807339"/>
          </a:xfrm>
          <a:prstGeom prst="ellipse">
            <a:avLst/>
          </a:prstGeom>
          <a:solidFill>
            <a:srgbClr val="FFFFFF"/>
          </a:solidFill>
          <a:ln w="9525">
            <a:solidFill>
              <a:srgbClr val="8064A2"/>
            </a:solidFill>
          </a:ln>
        </p:spPr>
        <p:txBody>
          <a:bodyPr wrap="none" lIns="95" tIns="290798" rIns="0" bIns="0" anchor="t" anchorCtr="0">
            <a:noAutofit/>
          </a:bodyPr>
          <a:lstStyle/>
          <a:p>
            <a:pPr algn="ctr"/>
            <a:r>
              <a:rPr lang="en-IN" sz="1580" b="1" dirty="0">
                <a:solidFill>
                  <a:srgbClr val="0B3D6E"/>
                </a:solidFill>
                <a:latin typeface="Calibri"/>
                <a:ea typeface="Calibri"/>
                <a:cs typeface="Calibri"/>
              </a:rPr>
              <a:t>NeuralNexus</a:t>
            </a:r>
          </a:p>
        </p:txBody>
      </p:sp>
      <p:pic>
        <p:nvPicPr>
          <p:cNvPr id="11" name="Picture 10"/>
          <p:cNvPicPr>
            <a:picLocks noChangeAspect="1"/>
          </p:cNvPicPr>
          <p:nvPr/>
        </p:nvPicPr>
        <p:blipFill>
          <a:blip r:embed="rId3">
            <a:extLst>
              <a:ext uri="{28A0092B-C50C-407E-A947-70E740481C1C}">
                <a14:useLocalDpi val="0"/>
              </a:ext>
            </a:extLst>
          </a:blip>
          <a:stretch>
            <a:fillRect/>
          </a:stretch>
        </p:blipFill>
        <p:spPr>
          <a:xfrm>
            <a:off x="9780086" y="1500"/>
            <a:ext cx="2249850" cy="1062337"/>
          </a:xfrm>
          <a:prstGeom prst="rect">
            <a:avLst/>
          </a:prstGeom>
        </p:spPr>
      </p:pic>
      <p:grpSp>
        <p:nvGrpSpPr>
          <p:cNvPr id="107" name="scorecard"/>
          <p:cNvGrpSpPr/>
          <p:nvPr/>
        </p:nvGrpSpPr>
        <p:grpSpPr>
          <a:xfrm>
            <a:off x="300038" y="1231106"/>
            <a:ext cx="7091362" cy="3236119"/>
            <a:chOff x="300038" y="1231106"/>
            <a:chExt cx="7091362" cy="3236119"/>
          </a:xfrm>
        </p:grpSpPr>
        <p:sp>
          <p:nvSpPr>
            <p:cNvPr id="13" name="Polygon 13"/>
            <p:cNvSpPr/>
            <p:nvPr/>
          </p:nvSpPr>
          <p:spPr>
            <a:xfrm>
              <a:off x="304800" y="1257776"/>
              <a:ext cx="95250" cy="95250"/>
            </a:xfrm>
            <a:custGeom>
              <a:avLst/>
              <a:gdLst/>
              <a:ahLst/>
              <a:cxnLst/>
              <a:rect l="l" t="t" r="r" b="b"/>
              <a:pathLst>
                <a:path w="95250" h="95250">
                  <a:moveTo>
                    <a:pt x="47625" y="0"/>
                  </a:moveTo>
                  <a:lnTo>
                    <a:pt x="95250" y="47625"/>
                  </a:lnTo>
                  <a:lnTo>
                    <a:pt x="47625" y="95250"/>
                  </a:lnTo>
                  <a:lnTo>
                    <a:pt x="0" y="47625"/>
                  </a:lnTo>
                  <a:close/>
                </a:path>
              </a:pathLst>
            </a:custGeom>
            <a:solidFill>
              <a:srgbClr val="E8871E"/>
            </a:solidFill>
            <a:ln>
              <a:noFill/>
            </a:ln>
          </p:spPr>
        </p:sp>
        <p:sp>
          <p:nvSpPr>
            <p:cNvPr id="14" name="TextBox 14"/>
            <p:cNvSpPr txBox="1"/>
            <p:nvPr/>
          </p:nvSpPr>
          <p:spPr>
            <a:xfrm>
              <a:off x="451485" y="1231106"/>
              <a:ext cx="2287180" cy="220028"/>
            </a:xfrm>
            <a:prstGeom prst="rect">
              <a:avLst/>
            </a:prstGeom>
            <a:noFill/>
            <a:ln>
              <a:noFill/>
            </a:ln>
          </p:spPr>
          <p:txBody>
            <a:bodyPr wrap="none" lIns="0" tIns="0" rIns="0" bIns="0" anchor="t" anchorCtr="0">
              <a:spAutoFit/>
            </a:bodyPr>
            <a:lstStyle/>
            <a:p>
              <a:pPr algn="l"/>
              <a:r>
                <a:rPr lang="en-IN" sz="1120" b="1" dirty="0">
                  <a:solidFill>
                    <a:srgbClr val="0B3D6E"/>
                  </a:solidFill>
                  <a:latin typeface="Calibri"/>
                  <a:ea typeface="Calibri"/>
                  <a:cs typeface="Calibri"/>
                </a:rPr>
                <a:t>Analysis of the feasibility of the idea</a:t>
              </a:r>
            </a:p>
          </p:txBody>
        </p:sp>
        <p:sp>
          <p:nvSpPr>
            <p:cNvPr id="15" name="Line 15"/>
            <p:cNvSpPr/>
            <p:nvPr/>
          </p:nvSpPr>
          <p:spPr>
            <a:xfrm>
              <a:off x="304800" y="1419225"/>
              <a:ext cx="7086600" cy="9525"/>
            </a:xfrm>
            <a:custGeom>
              <a:avLst/>
              <a:gdLst/>
              <a:ahLst/>
              <a:cxnLst/>
              <a:rect l="l" t="t" r="r" b="b"/>
              <a:pathLst>
                <a:path w="7086600" h="9525">
                  <a:moveTo>
                    <a:pt x="0" y="0"/>
                  </a:moveTo>
                  <a:lnTo>
                    <a:pt x="7086600" y="0"/>
                  </a:lnTo>
                </a:path>
              </a:pathLst>
            </a:custGeom>
            <a:noFill/>
            <a:ln w="9525">
              <a:solidFill>
                <a:srgbClr val="D0D5DD"/>
              </a:solidFill>
            </a:ln>
          </p:spPr>
        </p:sp>
        <p:sp>
          <p:nvSpPr>
            <p:cNvPr id="16" name="TextBox 16"/>
            <p:cNvSpPr txBox="1"/>
            <p:nvPr/>
          </p:nvSpPr>
          <p:spPr>
            <a:xfrm>
              <a:off x="300038" y="1520666"/>
              <a:ext cx="2525804" cy="161925"/>
            </a:xfrm>
            <a:prstGeom prst="rect">
              <a:avLst/>
            </a:prstGeom>
            <a:noFill/>
            <a:ln>
              <a:noFill/>
            </a:ln>
          </p:spPr>
          <p:txBody>
            <a:bodyPr wrap="none" lIns="0" tIns="0" rIns="0" bIns="0" anchor="t" anchorCtr="0">
              <a:spAutoFit/>
            </a:bodyPr>
            <a:lstStyle/>
            <a:p>
              <a:pPr algn="l"/>
              <a:r>
                <a:rPr lang="en-IN" sz="820" b="1" dirty="0">
                  <a:solidFill>
                    <a:srgbClr val="667085"/>
                  </a:solidFill>
                  <a:latin typeface="Calibri"/>
                  <a:ea typeface="Calibri"/>
                  <a:cs typeface="Calibri"/>
                </a:rPr>
                <a:t>EACH AGENT, MEASURED ON REAL eSAKSHI WORKS</a:t>
              </a:r>
            </a:p>
          </p:txBody>
        </p:sp>
        <p:sp>
          <p:nvSpPr>
            <p:cNvPr id="17" name="Rectangle 17"/>
            <p:cNvSpPr/>
            <p:nvPr/>
          </p:nvSpPr>
          <p:spPr>
            <a:xfrm>
              <a:off x="304800" y="1704975"/>
              <a:ext cx="2298668" cy="857250"/>
            </a:xfrm>
            <a:prstGeom prst="roundRect">
              <a:avLst>
                <a:gd name="adj" fmla="val 8889"/>
              </a:avLst>
            </a:prstGeom>
            <a:solidFill>
              <a:srgbClr val="FFFFFF"/>
            </a:solidFill>
            <a:ln w="9525">
              <a:solidFill>
                <a:srgbClr val="D0D5DD"/>
              </a:solidFill>
            </a:ln>
          </p:spPr>
        </p:sp>
        <p:sp>
          <p:nvSpPr>
            <p:cNvPr id="18" name="Ellipse 18"/>
            <p:cNvSpPr/>
            <p:nvPr/>
          </p:nvSpPr>
          <p:spPr>
            <a:xfrm>
              <a:off x="381000" y="1781175"/>
              <a:ext cx="304800" cy="304800"/>
            </a:xfrm>
            <a:prstGeom prst="ellipse">
              <a:avLst/>
            </a:prstGeom>
            <a:solidFill>
              <a:srgbClr val="E8F1FA"/>
            </a:solidFill>
            <a:ln>
              <a:noFill/>
            </a:ln>
          </p:spPr>
        </p:sp>
        <p:grpSp>
          <p:nvGrpSpPr>
            <p:cNvPr id="21" name="Group 21"/>
            <p:cNvGrpSpPr/>
            <p:nvPr/>
          </p:nvGrpSpPr>
          <p:grpSpPr>
            <a:xfrm>
              <a:off x="489138" y="1867853"/>
              <a:ext cx="99031" cy="137306"/>
              <a:chOff x="489138" y="1867853"/>
              <a:chExt cx="99031" cy="137306"/>
            </a:xfrm>
          </p:grpSpPr>
          <p:sp>
            <p:nvSpPr>
              <p:cNvPr id="19" name="Freeform 19"/>
              <p:cNvSpPr/>
              <p:nvPr/>
            </p:nvSpPr>
            <p:spPr>
              <a:xfrm>
                <a:off x="495062" y="1873329"/>
                <a:ext cx="60246" cy="71199"/>
              </a:xfrm>
              <a:custGeom>
                <a:avLst/>
                <a:gdLst/>
                <a:ahLst/>
                <a:cxnLst/>
                <a:rect l="l" t="t" r="r" b="b"/>
                <a:pathLst>
                  <a:path w="60246" h="71199">
                    <a:moveTo>
                      <a:pt x="60246" y="35600"/>
                    </a:moveTo>
                    <a:cubicBezTo>
                      <a:pt x="60246" y="55261"/>
                      <a:pt x="44307" y="71199"/>
                      <a:pt x="24646" y="71199"/>
                    </a:cubicBezTo>
                    <a:lnTo>
                      <a:pt x="0" y="71199"/>
                    </a:lnTo>
                    <a:lnTo>
                      <a:pt x="0" y="0"/>
                    </a:lnTo>
                    <a:lnTo>
                      <a:pt x="24646" y="0"/>
                    </a:lnTo>
                    <a:cubicBezTo>
                      <a:pt x="44307" y="0"/>
                      <a:pt x="60246" y="15939"/>
                      <a:pt x="60246" y="35600"/>
                    </a:cubicBezTo>
                    <a:close/>
                  </a:path>
                </a:pathLst>
              </a:custGeom>
              <a:solidFill>
                <a:srgbClr val="0B3D6E">
                  <a:alpha val="20000"/>
                </a:srgbClr>
              </a:solidFill>
              <a:ln>
                <a:noFill/>
              </a:ln>
            </p:spPr>
          </p:sp>
          <p:sp>
            <p:nvSpPr>
              <p:cNvPr id="20" name="Freeform 20"/>
              <p:cNvSpPr/>
              <p:nvPr/>
            </p:nvSpPr>
            <p:spPr>
              <a:xfrm>
                <a:off x="489138" y="1867853"/>
                <a:ext cx="99031" cy="137306"/>
              </a:xfrm>
              <a:custGeom>
                <a:avLst/>
                <a:gdLst/>
                <a:ahLst/>
                <a:cxnLst/>
                <a:rect l="l" t="t" r="r" b="b"/>
                <a:pathLst>
                  <a:path w="99031" h="137306">
                    <a:moveTo>
                      <a:pt x="99031" y="32861"/>
                    </a:moveTo>
                    <a:cubicBezTo>
                      <a:pt x="99031" y="35886"/>
                      <a:pt x="96579" y="38338"/>
                      <a:pt x="93554" y="38338"/>
                    </a:cubicBezTo>
                    <a:lnTo>
                      <a:pt x="71544" y="38338"/>
                    </a:lnTo>
                    <a:cubicBezTo>
                      <a:pt x="71605" y="39242"/>
                      <a:pt x="71646" y="40152"/>
                      <a:pt x="71646" y="41077"/>
                    </a:cubicBezTo>
                    <a:cubicBezTo>
                      <a:pt x="71620" y="63752"/>
                      <a:pt x="53245" y="82127"/>
                      <a:pt x="30570" y="82153"/>
                    </a:cubicBezTo>
                    <a:lnTo>
                      <a:pt x="20088" y="82153"/>
                    </a:lnTo>
                    <a:lnTo>
                      <a:pt x="69853" y="127392"/>
                    </a:lnTo>
                    <a:cubicBezTo>
                      <a:pt x="71328" y="128701"/>
                      <a:pt x="71986" y="130702"/>
                      <a:pt x="71574" y="132631"/>
                    </a:cubicBezTo>
                    <a:cubicBezTo>
                      <a:pt x="71163" y="134560"/>
                      <a:pt x="69746" y="136119"/>
                      <a:pt x="67866" y="136712"/>
                    </a:cubicBezTo>
                    <a:cubicBezTo>
                      <a:pt x="65985" y="137306"/>
                      <a:pt x="63930" y="136842"/>
                      <a:pt x="62486" y="135498"/>
                    </a:cubicBezTo>
                    <a:lnTo>
                      <a:pt x="2241" y="80729"/>
                    </a:lnTo>
                    <a:cubicBezTo>
                      <a:pt x="566" y="79207"/>
                      <a:pt x="0" y="76812"/>
                      <a:pt x="816" y="74702"/>
                    </a:cubicBezTo>
                    <a:cubicBezTo>
                      <a:pt x="1631" y="72591"/>
                      <a:pt x="3661" y="71200"/>
                      <a:pt x="5924" y="71199"/>
                    </a:cubicBezTo>
                    <a:lnTo>
                      <a:pt x="30570" y="71199"/>
                    </a:lnTo>
                    <a:cubicBezTo>
                      <a:pt x="47198" y="71181"/>
                      <a:pt x="60674" y="57705"/>
                      <a:pt x="60692" y="41077"/>
                    </a:cubicBezTo>
                    <a:cubicBezTo>
                      <a:pt x="60692" y="40152"/>
                      <a:pt x="60645" y="39242"/>
                      <a:pt x="60562" y="38338"/>
                    </a:cubicBezTo>
                    <a:lnTo>
                      <a:pt x="5924" y="38338"/>
                    </a:lnTo>
                    <a:cubicBezTo>
                      <a:pt x="2899" y="38338"/>
                      <a:pt x="447" y="35886"/>
                      <a:pt x="447" y="32861"/>
                    </a:cubicBezTo>
                    <a:cubicBezTo>
                      <a:pt x="447" y="29836"/>
                      <a:pt x="2899" y="27384"/>
                      <a:pt x="5924" y="27384"/>
                    </a:cubicBezTo>
                    <a:lnTo>
                      <a:pt x="57386" y="27384"/>
                    </a:lnTo>
                    <a:cubicBezTo>
                      <a:pt x="52243" y="17306"/>
                      <a:pt x="41885" y="10959"/>
                      <a:pt x="30570" y="10954"/>
                    </a:cubicBezTo>
                    <a:lnTo>
                      <a:pt x="5924" y="10954"/>
                    </a:lnTo>
                    <a:cubicBezTo>
                      <a:pt x="2899" y="10954"/>
                      <a:pt x="447" y="8502"/>
                      <a:pt x="447" y="5477"/>
                    </a:cubicBezTo>
                    <a:cubicBezTo>
                      <a:pt x="447" y="2452"/>
                      <a:pt x="2899" y="0"/>
                      <a:pt x="5924" y="0"/>
                    </a:cubicBezTo>
                    <a:lnTo>
                      <a:pt x="93554" y="0"/>
                    </a:lnTo>
                    <a:cubicBezTo>
                      <a:pt x="96579" y="0"/>
                      <a:pt x="99031" y="2452"/>
                      <a:pt x="99031" y="5477"/>
                    </a:cubicBezTo>
                    <a:cubicBezTo>
                      <a:pt x="99031" y="8502"/>
                      <a:pt x="96579" y="10954"/>
                      <a:pt x="93554" y="10954"/>
                    </a:cubicBezTo>
                    <a:lnTo>
                      <a:pt x="58461" y="10954"/>
                    </a:lnTo>
                    <a:cubicBezTo>
                      <a:pt x="63346" y="15474"/>
                      <a:pt x="67062" y="21112"/>
                      <a:pt x="69291" y="27384"/>
                    </a:cubicBezTo>
                    <a:lnTo>
                      <a:pt x="93554" y="27384"/>
                    </a:lnTo>
                    <a:cubicBezTo>
                      <a:pt x="96579" y="27384"/>
                      <a:pt x="99031" y="29836"/>
                      <a:pt x="99031" y="32861"/>
                    </a:cubicBezTo>
                    <a:close/>
                  </a:path>
                </a:pathLst>
              </a:custGeom>
              <a:solidFill>
                <a:srgbClr val="0B3D6E"/>
              </a:solidFill>
              <a:ln>
                <a:noFill/>
              </a:ln>
            </p:spPr>
          </p:sp>
        </p:grpSp>
        <p:sp>
          <p:nvSpPr>
            <p:cNvPr id="22" name="TextBox 22"/>
            <p:cNvSpPr txBox="1"/>
            <p:nvPr/>
          </p:nvSpPr>
          <p:spPr>
            <a:xfrm>
              <a:off x="737806" y="1871901"/>
              <a:ext cx="260213" cy="198025"/>
            </a:xfrm>
            <a:prstGeom prst="rect">
              <a:avLst/>
            </a:prstGeom>
            <a:noFill/>
            <a:ln>
              <a:noFill/>
            </a:ln>
          </p:spPr>
          <p:txBody>
            <a:bodyPr wrap="none" lIns="0" tIns="0" rIns="0" bIns="0" anchor="t" anchorCtr="0">
              <a:spAutoFit/>
            </a:bodyPr>
            <a:lstStyle/>
            <a:p>
              <a:pPr algn="l"/>
              <a:r>
                <a:rPr lang="en-IN" sz="1010" b="1" dirty="0">
                  <a:solidFill>
                    <a:srgbClr val="1D2939"/>
                  </a:solidFill>
                  <a:latin typeface="Calibri"/>
                  <a:ea typeface="Calibri"/>
                  <a:cs typeface="Calibri"/>
                </a:rPr>
                <a:t>Cost</a:t>
              </a:r>
            </a:p>
          </p:txBody>
        </p:sp>
        <p:sp>
          <p:nvSpPr>
            <p:cNvPr id="23" name="Rectangle 23"/>
            <p:cNvSpPr/>
            <p:nvPr/>
          </p:nvSpPr>
          <p:spPr>
            <a:xfrm>
              <a:off x="2138648" y="1857375"/>
              <a:ext cx="369570" cy="152400"/>
            </a:xfrm>
            <a:prstGeom prst="roundRect">
              <a:avLst>
                <a:gd name="adj" fmla="val 50000"/>
              </a:avLst>
            </a:prstGeom>
            <a:solidFill>
              <a:srgbClr val="1E7B45"/>
            </a:solidFill>
            <a:ln w="9525">
              <a:solidFill>
                <a:srgbClr val="1E7B45"/>
              </a:solidFill>
            </a:ln>
          </p:spPr>
        </p:sp>
        <p:sp>
          <p:nvSpPr>
            <p:cNvPr id="24" name="TextBox 24"/>
            <p:cNvSpPr txBox="1"/>
            <p:nvPr/>
          </p:nvSpPr>
          <p:spPr>
            <a:xfrm>
              <a:off x="2229365" y="1889998"/>
              <a:ext cx="188137" cy="140494"/>
            </a:xfrm>
            <a:prstGeom prst="rect">
              <a:avLst/>
            </a:prstGeom>
            <a:noFill/>
            <a:ln>
              <a:noFill/>
            </a:ln>
          </p:spPr>
          <p:txBody>
            <a:bodyPr wrap="none" lIns="0" tIns="0" rIns="0" bIns="0" anchor="t" anchorCtr="0">
              <a:spAutoFit/>
            </a:bodyPr>
            <a:lstStyle/>
            <a:p>
              <a:pPr algn="ctr"/>
              <a:r>
                <a:rPr lang="en-IN" sz="710" b="1" dirty="0">
                  <a:solidFill>
                    <a:srgbClr val="FFFFFF"/>
                  </a:solidFill>
                  <a:latin typeface="Calibri"/>
                  <a:ea typeface="Calibri"/>
                  <a:cs typeface="Calibri"/>
                </a:rPr>
                <a:t>LIVE</a:t>
              </a:r>
            </a:p>
          </p:txBody>
        </p:sp>
        <p:sp>
          <p:nvSpPr>
            <p:cNvPr id="25" name="TextBox 25"/>
            <p:cNvSpPr txBox="1"/>
            <p:nvPr/>
          </p:nvSpPr>
          <p:spPr>
            <a:xfrm>
              <a:off x="428625" y="2131219"/>
              <a:ext cx="460077" cy="366712"/>
            </a:xfrm>
            <a:prstGeom prst="rect">
              <a:avLst/>
            </a:prstGeom>
            <a:noFill/>
            <a:ln>
              <a:noFill/>
            </a:ln>
          </p:spPr>
          <p:txBody>
            <a:bodyPr wrap="none" lIns="0" tIns="0" rIns="0" bIns="0" anchor="t" anchorCtr="0">
              <a:spAutoFit/>
            </a:bodyPr>
            <a:lstStyle/>
            <a:p>
              <a:pPr algn="l"/>
              <a:r>
                <a:rPr lang="en-IN" sz="1880" b="1" dirty="0">
                  <a:solidFill>
                    <a:srgbClr val="1E7B45"/>
                  </a:solidFill>
                  <a:latin typeface="Calibri"/>
                  <a:ea typeface="Calibri"/>
                  <a:cs typeface="Calibri"/>
                </a:rPr>
                <a:t>63%</a:t>
              </a:r>
            </a:p>
          </p:txBody>
        </p:sp>
        <p:sp>
          <p:nvSpPr>
            <p:cNvPr id="26" name="TextBox 26"/>
            <p:cNvSpPr txBox="1"/>
            <p:nvPr/>
          </p:nvSpPr>
          <p:spPr>
            <a:xfrm>
              <a:off x="966788" y="2187416"/>
              <a:ext cx="1237179" cy="285750"/>
            </a:xfrm>
            <a:prstGeom prst="rect">
              <a:avLst/>
            </a:prstGeom>
            <a:noFill/>
            <a:ln>
              <a:noFill/>
            </a:ln>
          </p:spPr>
          <p:txBody>
            <a:bodyPr wrap="none" lIns="0" tIns="0" rIns="0" bIns="0" anchor="t" anchorCtr="0">
              <a:spAutoFit/>
            </a:bodyPr>
            <a:lstStyle/>
            <a:p>
              <a:pPr algn="l">
                <a:lnSpc>
                  <a:spcPts val="975"/>
                </a:lnSpc>
              </a:pPr>
              <a:r>
                <a:rPr lang="en-IN" sz="820" dirty="0">
                  <a:solidFill>
                    <a:srgbClr val="344054"/>
                  </a:solidFill>
                  <a:latin typeface="Calibri"/>
                  <a:ea typeface="Calibri"/>
                  <a:cs typeface="Calibri"/>
                </a:rPr>
                <a:t>of 5× mark-ups caught · 1.5%</a:t>
              </a:r>
              <a:br/>
              <a:r>
                <a:rPr lang="en-IN" sz="820" dirty="0">
                  <a:solidFill>
                    <a:srgbClr val="344054"/>
                  </a:solidFill>
                  <a:latin typeface="Calibri"/>
                  <a:ea typeface="Calibri"/>
                  <a:cs typeface="Calibri"/>
                </a:rPr>
                <a:t>false alarms</a:t>
              </a:r>
            </a:p>
          </p:txBody>
        </p:sp>
        <p:sp>
          <p:nvSpPr>
            <p:cNvPr id="27" name="Rectangle 27"/>
            <p:cNvSpPr/>
            <p:nvPr/>
          </p:nvSpPr>
          <p:spPr>
            <a:xfrm>
              <a:off x="2698718" y="1704975"/>
              <a:ext cx="2298668" cy="857250"/>
            </a:xfrm>
            <a:prstGeom prst="roundRect">
              <a:avLst>
                <a:gd name="adj" fmla="val 8889"/>
              </a:avLst>
            </a:prstGeom>
            <a:solidFill>
              <a:srgbClr val="FFFFFF"/>
            </a:solidFill>
            <a:ln w="9525">
              <a:solidFill>
                <a:srgbClr val="D0D5DD"/>
              </a:solidFill>
            </a:ln>
          </p:spPr>
        </p:sp>
        <p:sp>
          <p:nvSpPr>
            <p:cNvPr id="28" name="Ellipse 28"/>
            <p:cNvSpPr/>
            <p:nvPr/>
          </p:nvSpPr>
          <p:spPr>
            <a:xfrm>
              <a:off x="2774918" y="1781175"/>
              <a:ext cx="304800" cy="304800"/>
            </a:xfrm>
            <a:prstGeom prst="ellipse">
              <a:avLst/>
            </a:prstGeom>
            <a:solidFill>
              <a:srgbClr val="E8F1FA"/>
            </a:solidFill>
            <a:ln>
              <a:noFill/>
            </a:ln>
          </p:spPr>
        </p:sp>
        <p:grpSp>
          <p:nvGrpSpPr>
            <p:cNvPr id="31" name="Group 31"/>
            <p:cNvGrpSpPr/>
            <p:nvPr/>
          </p:nvGrpSpPr>
          <p:grpSpPr>
            <a:xfrm>
              <a:off x="2856119" y="1873329"/>
              <a:ext cx="142399" cy="120491"/>
              <a:chOff x="2856119" y="1873329"/>
              <a:chExt cx="142399" cy="120491"/>
            </a:xfrm>
          </p:grpSpPr>
          <p:sp>
            <p:nvSpPr>
              <p:cNvPr id="29" name="Freeform 29"/>
              <p:cNvSpPr/>
              <p:nvPr/>
            </p:nvSpPr>
            <p:spPr>
              <a:xfrm>
                <a:off x="2861596" y="1878806"/>
                <a:ext cx="131445" cy="89040"/>
              </a:xfrm>
              <a:custGeom>
                <a:avLst/>
                <a:gdLst/>
                <a:ahLst/>
                <a:cxnLst/>
                <a:rect l="l" t="t" r="r" b="b"/>
                <a:pathLst>
                  <a:path w="131445" h="89040">
                    <a:moveTo>
                      <a:pt x="131445" y="5477"/>
                    </a:moveTo>
                    <a:lnTo>
                      <a:pt x="131445" y="89040"/>
                    </a:lnTo>
                    <a:lnTo>
                      <a:pt x="104252" y="61848"/>
                    </a:lnTo>
                    <a:cubicBezTo>
                      <a:pt x="102114" y="59710"/>
                      <a:pt x="98648" y="59710"/>
                      <a:pt x="96509" y="61848"/>
                    </a:cubicBezTo>
                    <a:lnTo>
                      <a:pt x="78942" y="79415"/>
                    </a:lnTo>
                    <a:lnTo>
                      <a:pt x="44951" y="45417"/>
                    </a:lnTo>
                    <a:cubicBezTo>
                      <a:pt x="43924" y="44389"/>
                      <a:pt x="42530" y="43811"/>
                      <a:pt x="41077" y="43811"/>
                    </a:cubicBezTo>
                    <a:cubicBezTo>
                      <a:pt x="39623" y="43811"/>
                      <a:pt x="38229" y="44389"/>
                      <a:pt x="37202" y="45417"/>
                    </a:cubicBezTo>
                    <a:lnTo>
                      <a:pt x="0" y="82626"/>
                    </a:lnTo>
                    <a:lnTo>
                      <a:pt x="0" y="5477"/>
                    </a:lnTo>
                    <a:cubicBezTo>
                      <a:pt x="0" y="2452"/>
                      <a:pt x="2452" y="0"/>
                      <a:pt x="5477" y="0"/>
                    </a:cubicBezTo>
                    <a:lnTo>
                      <a:pt x="125968" y="0"/>
                    </a:lnTo>
                    <a:cubicBezTo>
                      <a:pt x="128993" y="0"/>
                      <a:pt x="131445" y="2452"/>
                      <a:pt x="131445" y="5477"/>
                    </a:cubicBezTo>
                    <a:close/>
                  </a:path>
                </a:pathLst>
              </a:custGeom>
              <a:solidFill>
                <a:srgbClr val="0B3D6E">
                  <a:alpha val="20000"/>
                </a:srgbClr>
              </a:solidFill>
              <a:ln>
                <a:noFill/>
              </a:ln>
            </p:spPr>
          </p:sp>
          <p:sp>
            <p:nvSpPr>
              <p:cNvPr id="30" name="Freeform 30"/>
              <p:cNvSpPr/>
              <p:nvPr/>
            </p:nvSpPr>
            <p:spPr>
              <a:xfrm>
                <a:off x="2856119" y="1873329"/>
                <a:ext cx="142399" cy="120491"/>
              </a:xfrm>
              <a:custGeom>
                <a:avLst/>
                <a:gdLst/>
                <a:ahLst/>
                <a:cxnLst/>
                <a:rect l="l" t="t" r="r" b="b"/>
                <a:pathLst>
                  <a:path w="142399" h="120491">
                    <a:moveTo>
                      <a:pt x="131445" y="0"/>
                    </a:moveTo>
                    <a:lnTo>
                      <a:pt x="10954" y="0"/>
                    </a:lnTo>
                    <a:cubicBezTo>
                      <a:pt x="4904" y="0"/>
                      <a:pt x="0" y="4904"/>
                      <a:pt x="0" y="10954"/>
                    </a:cubicBezTo>
                    <a:lnTo>
                      <a:pt x="0" y="109538"/>
                    </a:lnTo>
                    <a:cubicBezTo>
                      <a:pt x="0" y="115587"/>
                      <a:pt x="4904" y="120491"/>
                      <a:pt x="10954" y="120491"/>
                    </a:cubicBezTo>
                    <a:lnTo>
                      <a:pt x="131445" y="120491"/>
                    </a:lnTo>
                    <a:cubicBezTo>
                      <a:pt x="137495" y="120491"/>
                      <a:pt x="142399" y="115587"/>
                      <a:pt x="142399" y="109538"/>
                    </a:cubicBezTo>
                    <a:lnTo>
                      <a:pt x="142399" y="10954"/>
                    </a:lnTo>
                    <a:cubicBezTo>
                      <a:pt x="142399" y="4904"/>
                      <a:pt x="137495" y="0"/>
                      <a:pt x="131445" y="0"/>
                    </a:cubicBezTo>
                    <a:close/>
                    <a:moveTo>
                      <a:pt x="131445" y="10954"/>
                    </a:moveTo>
                    <a:lnTo>
                      <a:pt x="131445" y="81297"/>
                    </a:lnTo>
                    <a:lnTo>
                      <a:pt x="113597" y="63456"/>
                    </a:lnTo>
                    <a:cubicBezTo>
                      <a:pt x="111543" y="61402"/>
                      <a:pt x="108756" y="60247"/>
                      <a:pt x="105851" y="60247"/>
                    </a:cubicBezTo>
                    <a:cubicBezTo>
                      <a:pt x="102945" y="60247"/>
                      <a:pt x="100159" y="61402"/>
                      <a:pt x="98105" y="63456"/>
                    </a:cubicBezTo>
                    <a:lnTo>
                      <a:pt x="84412" y="77149"/>
                    </a:lnTo>
                    <a:lnTo>
                      <a:pt x="54290" y="47026"/>
                    </a:lnTo>
                    <a:cubicBezTo>
                      <a:pt x="50012" y="42751"/>
                      <a:pt x="43081" y="42751"/>
                      <a:pt x="38804" y="47026"/>
                    </a:cubicBezTo>
                    <a:lnTo>
                      <a:pt x="10954" y="74876"/>
                    </a:lnTo>
                    <a:lnTo>
                      <a:pt x="10954" y="10954"/>
                    </a:lnTo>
                    <a:close/>
                    <a:moveTo>
                      <a:pt x="10954" y="90368"/>
                    </a:moveTo>
                    <a:lnTo>
                      <a:pt x="46553" y="54769"/>
                    </a:lnTo>
                    <a:lnTo>
                      <a:pt x="101322" y="109538"/>
                    </a:lnTo>
                    <a:lnTo>
                      <a:pt x="10954" y="109538"/>
                    </a:lnTo>
                    <a:close/>
                    <a:moveTo>
                      <a:pt x="131445" y="109538"/>
                    </a:moveTo>
                    <a:lnTo>
                      <a:pt x="116815" y="109538"/>
                    </a:lnTo>
                    <a:lnTo>
                      <a:pt x="92169" y="84892"/>
                    </a:lnTo>
                    <a:lnTo>
                      <a:pt x="105861" y="71199"/>
                    </a:lnTo>
                    <a:lnTo>
                      <a:pt x="131445" y="96790"/>
                    </a:lnTo>
                    <a:lnTo>
                      <a:pt x="131445" y="109538"/>
                    </a:lnTo>
                    <a:close/>
                    <a:moveTo>
                      <a:pt x="82153" y="41077"/>
                    </a:moveTo>
                    <a:cubicBezTo>
                      <a:pt x="82153" y="36539"/>
                      <a:pt x="85831" y="32861"/>
                      <a:pt x="90368" y="32861"/>
                    </a:cubicBezTo>
                    <a:cubicBezTo>
                      <a:pt x="94906" y="32861"/>
                      <a:pt x="98584" y="36539"/>
                      <a:pt x="98584" y="41077"/>
                    </a:cubicBezTo>
                    <a:cubicBezTo>
                      <a:pt x="98584" y="45614"/>
                      <a:pt x="94906" y="49292"/>
                      <a:pt x="90368" y="49292"/>
                    </a:cubicBezTo>
                    <a:cubicBezTo>
                      <a:pt x="85831" y="49292"/>
                      <a:pt x="82153" y="45614"/>
                      <a:pt x="82153" y="41077"/>
                    </a:cubicBezTo>
                    <a:close/>
                  </a:path>
                </a:pathLst>
              </a:custGeom>
              <a:solidFill>
                <a:srgbClr val="0B3D6E"/>
              </a:solidFill>
              <a:ln>
                <a:noFill/>
              </a:ln>
            </p:spPr>
          </p:sp>
        </p:grpSp>
        <p:sp>
          <p:nvSpPr>
            <p:cNvPr id="32" name="TextBox 32"/>
            <p:cNvSpPr txBox="1"/>
            <p:nvPr/>
          </p:nvSpPr>
          <p:spPr>
            <a:xfrm>
              <a:off x="3131725" y="1871901"/>
              <a:ext cx="910918" cy="198025"/>
            </a:xfrm>
            <a:prstGeom prst="rect">
              <a:avLst/>
            </a:prstGeom>
            <a:noFill/>
            <a:ln>
              <a:noFill/>
            </a:ln>
          </p:spPr>
          <p:txBody>
            <a:bodyPr wrap="none" lIns="0" tIns="0" rIns="0" bIns="0" anchor="t" anchorCtr="0">
              <a:spAutoFit/>
            </a:bodyPr>
            <a:lstStyle/>
            <a:p>
              <a:pPr algn="l"/>
              <a:r>
                <a:rPr lang="en-IN" sz="1010" b="1" dirty="0">
                  <a:solidFill>
                    <a:srgbClr val="1D2939"/>
                  </a:solidFill>
                  <a:latin typeface="Calibri"/>
                  <a:ea typeface="Calibri"/>
                  <a:cs typeface="Calibri"/>
                </a:rPr>
                <a:t>Photo Forensics</a:t>
              </a:r>
            </a:p>
          </p:txBody>
        </p:sp>
        <p:sp>
          <p:nvSpPr>
            <p:cNvPr id="33" name="Rectangle 33"/>
            <p:cNvSpPr/>
            <p:nvPr/>
          </p:nvSpPr>
          <p:spPr>
            <a:xfrm>
              <a:off x="4414552" y="1857375"/>
              <a:ext cx="487680" cy="152400"/>
            </a:xfrm>
            <a:prstGeom prst="roundRect">
              <a:avLst>
                <a:gd name="adj" fmla="val 50000"/>
              </a:avLst>
            </a:prstGeom>
            <a:solidFill>
              <a:srgbClr val="0070C0"/>
            </a:solidFill>
            <a:ln w="9525">
              <a:solidFill>
                <a:srgbClr val="0070C0"/>
              </a:solidFill>
            </a:ln>
          </p:spPr>
        </p:sp>
        <p:sp>
          <p:nvSpPr>
            <p:cNvPr id="34" name="TextBox 34"/>
            <p:cNvSpPr txBox="1"/>
            <p:nvPr/>
          </p:nvSpPr>
          <p:spPr>
            <a:xfrm>
              <a:off x="4498665" y="1889998"/>
              <a:ext cx="319454" cy="140494"/>
            </a:xfrm>
            <a:prstGeom prst="rect">
              <a:avLst/>
            </a:prstGeom>
            <a:noFill/>
            <a:ln>
              <a:noFill/>
            </a:ln>
          </p:spPr>
          <p:txBody>
            <a:bodyPr wrap="none" lIns="0" tIns="0" rIns="0" bIns="0" anchor="t" anchorCtr="0">
              <a:spAutoFit/>
            </a:bodyPr>
            <a:lstStyle/>
            <a:p>
              <a:pPr algn="ctr"/>
              <a:r>
                <a:rPr lang="en-IN" sz="710" b="1" dirty="0">
                  <a:solidFill>
                    <a:srgbClr val="FFFFFF"/>
                  </a:solidFill>
                  <a:latin typeface="Calibri"/>
                  <a:ea typeface="Calibri"/>
                  <a:cs typeface="Calibri"/>
                </a:rPr>
                <a:t>TESTED</a:t>
              </a:r>
            </a:p>
          </p:txBody>
        </p:sp>
        <p:sp>
          <p:nvSpPr>
            <p:cNvPr id="35" name="TextBox 35"/>
            <p:cNvSpPr txBox="1"/>
            <p:nvPr/>
          </p:nvSpPr>
          <p:spPr>
            <a:xfrm>
              <a:off x="2822543" y="2131219"/>
              <a:ext cx="655940" cy="366712"/>
            </a:xfrm>
            <a:prstGeom prst="rect">
              <a:avLst/>
            </a:prstGeom>
            <a:noFill/>
            <a:ln>
              <a:noFill/>
            </a:ln>
          </p:spPr>
          <p:txBody>
            <a:bodyPr wrap="none" lIns="0" tIns="0" rIns="0" bIns="0" anchor="t" anchorCtr="0">
              <a:spAutoFit/>
            </a:bodyPr>
            <a:lstStyle/>
            <a:p>
              <a:pPr algn="l"/>
              <a:r>
                <a:rPr lang="en-IN" sz="1880" b="1" dirty="0">
                  <a:solidFill>
                    <a:srgbClr val="0B3D6E"/>
                  </a:solidFill>
                  <a:latin typeface="Calibri"/>
                  <a:ea typeface="Calibri"/>
                  <a:cs typeface="Calibri"/>
                </a:rPr>
                <a:t>99.9%</a:t>
              </a:r>
            </a:p>
          </p:txBody>
        </p:sp>
        <p:sp>
          <p:nvSpPr>
            <p:cNvPr id="36" name="TextBox 36"/>
            <p:cNvSpPr txBox="1"/>
            <p:nvPr/>
          </p:nvSpPr>
          <p:spPr>
            <a:xfrm>
              <a:off x="3627406" y="2187416"/>
              <a:ext cx="962979" cy="285750"/>
            </a:xfrm>
            <a:prstGeom prst="rect">
              <a:avLst/>
            </a:prstGeom>
            <a:noFill/>
            <a:ln>
              <a:noFill/>
            </a:ln>
          </p:spPr>
          <p:txBody>
            <a:bodyPr wrap="none" lIns="0" tIns="0" rIns="0" bIns="0" anchor="t" anchorCtr="0">
              <a:spAutoFit/>
            </a:bodyPr>
            <a:lstStyle/>
            <a:p>
              <a:pPr algn="l">
                <a:lnSpc>
                  <a:spcPts val="975"/>
                </a:lnSpc>
              </a:pPr>
              <a:r>
                <a:rPr lang="en-IN" sz="820" dirty="0">
                  <a:solidFill>
                    <a:srgbClr val="344054"/>
                  </a:solidFill>
                  <a:latin typeface="Calibri"/>
                  <a:ea typeface="Calibri"/>
                  <a:cs typeface="Calibri"/>
                </a:rPr>
                <a:t>of edited photo copies</a:t>
              </a:r>
              <a:br/>
              <a:r>
                <a:rPr lang="en-IN" sz="820" dirty="0">
                  <a:solidFill>
                    <a:srgbClr val="344054"/>
                  </a:solidFill>
                  <a:latin typeface="Calibri"/>
                  <a:ea typeface="Calibri"/>
                  <a:cs typeface="Calibri"/>
                </a:rPr>
                <a:t>recognised</a:t>
              </a:r>
            </a:p>
          </p:txBody>
        </p:sp>
        <p:sp>
          <p:nvSpPr>
            <p:cNvPr id="37" name="Rectangle 37"/>
            <p:cNvSpPr/>
            <p:nvPr/>
          </p:nvSpPr>
          <p:spPr>
            <a:xfrm>
              <a:off x="5092732" y="1704975"/>
              <a:ext cx="2298668" cy="857250"/>
            </a:xfrm>
            <a:prstGeom prst="roundRect">
              <a:avLst>
                <a:gd name="adj" fmla="val 8889"/>
              </a:avLst>
            </a:prstGeom>
            <a:solidFill>
              <a:srgbClr val="FFFFFF"/>
            </a:solidFill>
            <a:ln w="9525">
              <a:solidFill>
                <a:srgbClr val="D0D5DD"/>
              </a:solidFill>
            </a:ln>
          </p:spPr>
        </p:sp>
        <p:sp>
          <p:nvSpPr>
            <p:cNvPr id="38" name="Ellipse 38"/>
            <p:cNvSpPr/>
            <p:nvPr/>
          </p:nvSpPr>
          <p:spPr>
            <a:xfrm>
              <a:off x="5168932" y="1781175"/>
              <a:ext cx="304800" cy="304800"/>
            </a:xfrm>
            <a:prstGeom prst="ellipse">
              <a:avLst/>
            </a:prstGeom>
            <a:solidFill>
              <a:srgbClr val="E8F1FA"/>
            </a:solidFill>
            <a:ln>
              <a:noFill/>
            </a:ln>
          </p:spPr>
        </p:sp>
        <p:grpSp>
          <p:nvGrpSpPr>
            <p:cNvPr id="41" name="Group 41"/>
            <p:cNvGrpSpPr/>
            <p:nvPr/>
          </p:nvGrpSpPr>
          <p:grpSpPr>
            <a:xfrm>
              <a:off x="5261086" y="1856899"/>
              <a:ext cx="120491" cy="153681"/>
              <a:chOff x="5261086" y="1856899"/>
              <a:chExt cx="120491" cy="153681"/>
            </a:xfrm>
          </p:grpSpPr>
          <p:sp>
            <p:nvSpPr>
              <p:cNvPr id="39" name="Freeform 39"/>
              <p:cNvSpPr/>
              <p:nvPr/>
            </p:nvSpPr>
            <p:spPr>
              <a:xfrm>
                <a:off x="5266563" y="1862376"/>
                <a:ext cx="109538" cy="142399"/>
              </a:xfrm>
              <a:custGeom>
                <a:avLst/>
                <a:gdLst/>
                <a:ahLst/>
                <a:cxnLst/>
                <a:rect l="l" t="t" r="r" b="b"/>
                <a:pathLst>
                  <a:path w="109538" h="142399">
                    <a:moveTo>
                      <a:pt x="54769" y="0"/>
                    </a:moveTo>
                    <a:cubicBezTo>
                      <a:pt x="24521" y="0"/>
                      <a:pt x="0" y="24521"/>
                      <a:pt x="0" y="54769"/>
                    </a:cubicBezTo>
                    <a:cubicBezTo>
                      <a:pt x="0" y="104061"/>
                      <a:pt x="54769" y="142399"/>
                      <a:pt x="54769" y="142399"/>
                    </a:cubicBezTo>
                    <a:cubicBezTo>
                      <a:pt x="54769" y="142399"/>
                      <a:pt x="109538" y="104061"/>
                      <a:pt x="109538" y="54769"/>
                    </a:cubicBezTo>
                    <a:cubicBezTo>
                      <a:pt x="109538" y="24521"/>
                      <a:pt x="85017" y="0"/>
                      <a:pt x="54769" y="0"/>
                    </a:cubicBezTo>
                    <a:close/>
                    <a:moveTo>
                      <a:pt x="54769" y="76676"/>
                    </a:moveTo>
                    <a:cubicBezTo>
                      <a:pt x="42670" y="76676"/>
                      <a:pt x="32861" y="66868"/>
                      <a:pt x="32861" y="54769"/>
                    </a:cubicBezTo>
                    <a:cubicBezTo>
                      <a:pt x="32861" y="42670"/>
                      <a:pt x="42670" y="32861"/>
                      <a:pt x="54769" y="32861"/>
                    </a:cubicBezTo>
                    <a:cubicBezTo>
                      <a:pt x="66868" y="32861"/>
                      <a:pt x="76676" y="42670"/>
                      <a:pt x="76676" y="54769"/>
                    </a:cubicBezTo>
                    <a:cubicBezTo>
                      <a:pt x="76676" y="66868"/>
                      <a:pt x="66868" y="76676"/>
                      <a:pt x="54769" y="76676"/>
                    </a:cubicBezTo>
                    <a:close/>
                  </a:path>
                </a:pathLst>
              </a:custGeom>
              <a:solidFill>
                <a:srgbClr val="0B3D6E">
                  <a:alpha val="20000"/>
                </a:srgbClr>
              </a:solidFill>
              <a:ln>
                <a:noFill/>
              </a:ln>
            </p:spPr>
          </p:sp>
          <p:sp>
            <p:nvSpPr>
              <p:cNvPr id="40" name="Freeform 40"/>
              <p:cNvSpPr/>
              <p:nvPr/>
            </p:nvSpPr>
            <p:spPr>
              <a:xfrm>
                <a:off x="5261086" y="1856899"/>
                <a:ext cx="120491" cy="153681"/>
              </a:xfrm>
              <a:custGeom>
                <a:avLst/>
                <a:gdLst/>
                <a:ahLst/>
                <a:cxnLst/>
                <a:rect l="l" t="t" r="r" b="b"/>
                <a:pathLst>
                  <a:path w="120491" h="153681">
                    <a:moveTo>
                      <a:pt x="60246" y="32861"/>
                    </a:moveTo>
                    <a:cubicBezTo>
                      <a:pt x="45122" y="32861"/>
                      <a:pt x="32861" y="45122"/>
                      <a:pt x="32861" y="60246"/>
                    </a:cubicBezTo>
                    <a:cubicBezTo>
                      <a:pt x="32861" y="75370"/>
                      <a:pt x="45122" y="87630"/>
                      <a:pt x="60246" y="87630"/>
                    </a:cubicBezTo>
                    <a:cubicBezTo>
                      <a:pt x="75370" y="87630"/>
                      <a:pt x="87630" y="75370"/>
                      <a:pt x="87630" y="60246"/>
                    </a:cubicBezTo>
                    <a:cubicBezTo>
                      <a:pt x="87630" y="45122"/>
                      <a:pt x="75370" y="32861"/>
                      <a:pt x="60246" y="32861"/>
                    </a:cubicBezTo>
                    <a:close/>
                    <a:moveTo>
                      <a:pt x="60246" y="76676"/>
                    </a:moveTo>
                    <a:cubicBezTo>
                      <a:pt x="51171" y="76676"/>
                      <a:pt x="43815" y="69320"/>
                      <a:pt x="43815" y="60246"/>
                    </a:cubicBezTo>
                    <a:cubicBezTo>
                      <a:pt x="43815" y="51171"/>
                      <a:pt x="51171" y="43815"/>
                      <a:pt x="60246" y="43815"/>
                    </a:cubicBezTo>
                    <a:cubicBezTo>
                      <a:pt x="69320" y="43815"/>
                      <a:pt x="76676" y="51171"/>
                      <a:pt x="76676" y="60246"/>
                    </a:cubicBezTo>
                    <a:cubicBezTo>
                      <a:pt x="76676" y="69320"/>
                      <a:pt x="69320" y="76676"/>
                      <a:pt x="60246" y="76676"/>
                    </a:cubicBezTo>
                    <a:close/>
                    <a:moveTo>
                      <a:pt x="60246" y="0"/>
                    </a:moveTo>
                    <a:cubicBezTo>
                      <a:pt x="26989" y="38"/>
                      <a:pt x="38" y="26989"/>
                      <a:pt x="0" y="60246"/>
                    </a:cubicBezTo>
                    <a:cubicBezTo>
                      <a:pt x="0" y="81742"/>
                      <a:pt x="9934" y="104526"/>
                      <a:pt x="28754" y="126139"/>
                    </a:cubicBezTo>
                    <a:cubicBezTo>
                      <a:pt x="37210" y="135906"/>
                      <a:pt x="46728" y="144700"/>
                      <a:pt x="57131" y="152360"/>
                    </a:cubicBezTo>
                    <a:cubicBezTo>
                      <a:pt x="59017" y="153681"/>
                      <a:pt x="61529" y="153681"/>
                      <a:pt x="63415" y="152360"/>
                    </a:cubicBezTo>
                    <a:cubicBezTo>
                      <a:pt x="73799" y="144697"/>
                      <a:pt x="83298" y="135903"/>
                      <a:pt x="91738" y="126139"/>
                    </a:cubicBezTo>
                    <a:cubicBezTo>
                      <a:pt x="110530" y="104526"/>
                      <a:pt x="120491" y="81742"/>
                      <a:pt x="120491" y="60246"/>
                    </a:cubicBezTo>
                    <a:cubicBezTo>
                      <a:pt x="120454" y="26989"/>
                      <a:pt x="93503" y="38"/>
                      <a:pt x="60246" y="0"/>
                    </a:cubicBezTo>
                    <a:close/>
                    <a:moveTo>
                      <a:pt x="60246" y="141030"/>
                    </a:moveTo>
                    <a:cubicBezTo>
                      <a:pt x="48929" y="132130"/>
                      <a:pt x="10954" y="99440"/>
                      <a:pt x="10954" y="60246"/>
                    </a:cubicBezTo>
                    <a:cubicBezTo>
                      <a:pt x="10954" y="33022"/>
                      <a:pt x="33022" y="10954"/>
                      <a:pt x="60246" y="10954"/>
                    </a:cubicBezTo>
                    <a:cubicBezTo>
                      <a:pt x="87469" y="10954"/>
                      <a:pt x="109538" y="33022"/>
                      <a:pt x="109538" y="60246"/>
                    </a:cubicBezTo>
                    <a:cubicBezTo>
                      <a:pt x="109538" y="99426"/>
                      <a:pt x="71562" y="132130"/>
                      <a:pt x="60246" y="141030"/>
                    </a:cubicBezTo>
                    <a:close/>
                  </a:path>
                </a:pathLst>
              </a:custGeom>
              <a:solidFill>
                <a:srgbClr val="0B3D6E"/>
              </a:solidFill>
              <a:ln>
                <a:noFill/>
              </a:ln>
            </p:spPr>
          </p:sp>
        </p:grpSp>
        <p:sp>
          <p:nvSpPr>
            <p:cNvPr id="42" name="TextBox 42"/>
            <p:cNvSpPr txBox="1"/>
            <p:nvPr/>
          </p:nvSpPr>
          <p:spPr>
            <a:xfrm>
              <a:off x="5525738" y="1871901"/>
              <a:ext cx="769039" cy="198025"/>
            </a:xfrm>
            <a:prstGeom prst="rect">
              <a:avLst/>
            </a:prstGeom>
            <a:noFill/>
            <a:ln>
              <a:noFill/>
            </a:ln>
          </p:spPr>
          <p:txBody>
            <a:bodyPr wrap="none" lIns="0" tIns="0" rIns="0" bIns="0" anchor="t" anchorCtr="0">
              <a:spAutoFit/>
            </a:bodyPr>
            <a:lstStyle/>
            <a:p>
              <a:pPr algn="l"/>
              <a:r>
                <a:rPr lang="en-IN" sz="1010" b="1" dirty="0">
                  <a:solidFill>
                    <a:srgbClr val="1D2939"/>
                  </a:solidFill>
                  <a:latin typeface="Calibri"/>
                  <a:ea typeface="Calibri"/>
                  <a:cs typeface="Calibri"/>
                </a:rPr>
                <a:t>Geo-Location</a:t>
              </a:r>
            </a:p>
          </p:txBody>
        </p:sp>
        <p:sp>
          <p:nvSpPr>
            <p:cNvPr id="43" name="Rectangle 43"/>
            <p:cNvSpPr/>
            <p:nvPr/>
          </p:nvSpPr>
          <p:spPr>
            <a:xfrm>
              <a:off x="6808470" y="1857375"/>
              <a:ext cx="487680" cy="152400"/>
            </a:xfrm>
            <a:prstGeom prst="roundRect">
              <a:avLst>
                <a:gd name="adj" fmla="val 50000"/>
              </a:avLst>
            </a:prstGeom>
            <a:solidFill>
              <a:srgbClr val="0070C0"/>
            </a:solidFill>
            <a:ln w="9525">
              <a:solidFill>
                <a:srgbClr val="0070C0"/>
              </a:solidFill>
            </a:ln>
          </p:spPr>
        </p:sp>
        <p:sp>
          <p:nvSpPr>
            <p:cNvPr id="44" name="TextBox 44"/>
            <p:cNvSpPr txBox="1"/>
            <p:nvPr/>
          </p:nvSpPr>
          <p:spPr>
            <a:xfrm>
              <a:off x="6892583" y="1889998"/>
              <a:ext cx="319454" cy="140494"/>
            </a:xfrm>
            <a:prstGeom prst="rect">
              <a:avLst/>
            </a:prstGeom>
            <a:noFill/>
            <a:ln>
              <a:noFill/>
            </a:ln>
          </p:spPr>
          <p:txBody>
            <a:bodyPr wrap="none" lIns="0" tIns="0" rIns="0" bIns="0" anchor="t" anchorCtr="0">
              <a:spAutoFit/>
            </a:bodyPr>
            <a:lstStyle/>
            <a:p>
              <a:pPr algn="ctr"/>
              <a:r>
                <a:rPr lang="en-IN" sz="710" b="1" dirty="0">
                  <a:solidFill>
                    <a:srgbClr val="FFFFFF"/>
                  </a:solidFill>
                  <a:latin typeface="Calibri"/>
                  <a:ea typeface="Calibri"/>
                  <a:cs typeface="Calibri"/>
                </a:rPr>
                <a:t>TESTED</a:t>
              </a:r>
            </a:p>
          </p:txBody>
        </p:sp>
        <p:sp>
          <p:nvSpPr>
            <p:cNvPr id="45" name="TextBox 45"/>
            <p:cNvSpPr txBox="1"/>
            <p:nvPr/>
          </p:nvSpPr>
          <p:spPr>
            <a:xfrm>
              <a:off x="5216557" y="2131219"/>
              <a:ext cx="755301" cy="366712"/>
            </a:xfrm>
            <a:prstGeom prst="rect">
              <a:avLst/>
            </a:prstGeom>
            <a:noFill/>
            <a:ln>
              <a:noFill/>
            </a:ln>
          </p:spPr>
          <p:txBody>
            <a:bodyPr wrap="none" lIns="0" tIns="0" rIns="0" bIns="0" anchor="t" anchorCtr="0">
              <a:spAutoFit/>
            </a:bodyPr>
            <a:lstStyle/>
            <a:p>
              <a:pPr algn="l"/>
              <a:r>
                <a:rPr lang="en-IN" sz="1880" b="1" dirty="0">
                  <a:solidFill>
                    <a:srgbClr val="0B3D6E"/>
                  </a:solidFill>
                  <a:latin typeface="Calibri"/>
                  <a:ea typeface="Calibri"/>
                  <a:cs typeface="Calibri"/>
                </a:rPr>
                <a:t>12 / 12</a:t>
              </a:r>
            </a:p>
          </p:txBody>
        </p:sp>
        <p:sp>
          <p:nvSpPr>
            <p:cNvPr id="46" name="TextBox 46"/>
            <p:cNvSpPr txBox="1"/>
            <p:nvPr/>
          </p:nvSpPr>
          <p:spPr>
            <a:xfrm>
              <a:off x="6288119" y="2187416"/>
              <a:ext cx="790138" cy="285750"/>
            </a:xfrm>
            <a:prstGeom prst="rect">
              <a:avLst/>
            </a:prstGeom>
            <a:noFill/>
            <a:ln>
              <a:noFill/>
            </a:ln>
          </p:spPr>
          <p:txBody>
            <a:bodyPr wrap="none" lIns="0" tIns="0" rIns="0" bIns="0" anchor="t" anchorCtr="0">
              <a:spAutoFit/>
            </a:bodyPr>
            <a:lstStyle/>
            <a:p>
              <a:pPr algn="l">
                <a:lnSpc>
                  <a:spcPts val="975"/>
                </a:lnSpc>
              </a:pPr>
              <a:r>
                <a:rPr lang="en-IN" sz="820" dirty="0">
                  <a:solidFill>
                    <a:srgbClr val="344054"/>
                  </a:solidFill>
                  <a:latin typeface="Calibri"/>
                  <a:ea typeface="Calibri"/>
                  <a:cs typeface="Calibri"/>
                </a:rPr>
                <a:t>GPS points correct</a:t>
              </a:r>
              <a:br/>
              <a:r>
                <a:rPr lang="en-IN" sz="820" dirty="0">
                  <a:solidFill>
                    <a:srgbClr val="344054"/>
                  </a:solidFill>
                  <a:latin typeface="Calibri"/>
                  <a:ea typeface="Calibri"/>
                  <a:cs typeface="Calibri"/>
                </a:rPr>
                <a:t>when checked</a:t>
              </a:r>
            </a:p>
          </p:txBody>
        </p:sp>
        <p:sp>
          <p:nvSpPr>
            <p:cNvPr id="47" name="Rectangle 47"/>
            <p:cNvSpPr/>
            <p:nvPr/>
          </p:nvSpPr>
          <p:spPr>
            <a:xfrm>
              <a:off x="304800" y="2657475"/>
              <a:ext cx="2298668" cy="857250"/>
            </a:xfrm>
            <a:prstGeom prst="roundRect">
              <a:avLst>
                <a:gd name="adj" fmla="val 8889"/>
              </a:avLst>
            </a:prstGeom>
            <a:solidFill>
              <a:srgbClr val="FFFFFF"/>
            </a:solidFill>
            <a:ln w="9525">
              <a:solidFill>
                <a:srgbClr val="D0D5DD"/>
              </a:solidFill>
            </a:ln>
          </p:spPr>
        </p:sp>
        <p:sp>
          <p:nvSpPr>
            <p:cNvPr id="48" name="Ellipse 48"/>
            <p:cNvSpPr/>
            <p:nvPr/>
          </p:nvSpPr>
          <p:spPr>
            <a:xfrm>
              <a:off x="381000" y="2733675"/>
              <a:ext cx="304800" cy="304800"/>
            </a:xfrm>
            <a:prstGeom prst="ellipse">
              <a:avLst/>
            </a:prstGeom>
            <a:solidFill>
              <a:srgbClr val="E8F1FA"/>
            </a:solidFill>
            <a:ln>
              <a:noFill/>
            </a:ln>
          </p:spPr>
        </p:sp>
        <p:grpSp>
          <p:nvGrpSpPr>
            <p:cNvPr id="51" name="Group 51"/>
            <p:cNvGrpSpPr/>
            <p:nvPr/>
          </p:nvGrpSpPr>
          <p:grpSpPr>
            <a:xfrm>
              <a:off x="473154" y="2814874"/>
              <a:ext cx="120492" cy="142400"/>
              <a:chOff x="473154" y="2814874"/>
              <a:chExt cx="120492" cy="142400"/>
            </a:xfrm>
          </p:grpSpPr>
          <p:sp>
            <p:nvSpPr>
              <p:cNvPr id="49" name="Freeform 49"/>
              <p:cNvSpPr/>
              <p:nvPr/>
            </p:nvSpPr>
            <p:spPr>
              <a:xfrm>
                <a:off x="549831" y="2820352"/>
                <a:ext cx="38338" cy="38338"/>
              </a:xfrm>
              <a:custGeom>
                <a:avLst/>
                <a:gdLst/>
                <a:ahLst/>
                <a:cxnLst/>
                <a:rect l="l" t="t" r="r" b="b"/>
                <a:pathLst>
                  <a:path w="38338" h="38338">
                    <a:moveTo>
                      <a:pt x="38338" y="38338"/>
                    </a:moveTo>
                    <a:lnTo>
                      <a:pt x="0" y="38338"/>
                    </a:lnTo>
                    <a:lnTo>
                      <a:pt x="0" y="0"/>
                    </a:lnTo>
                    <a:close/>
                  </a:path>
                </a:pathLst>
              </a:custGeom>
              <a:solidFill>
                <a:srgbClr val="0B3D6E">
                  <a:alpha val="20000"/>
                </a:srgbClr>
              </a:solidFill>
              <a:ln>
                <a:noFill/>
              </a:ln>
            </p:spPr>
          </p:sp>
          <p:sp>
            <p:nvSpPr>
              <p:cNvPr id="50" name="Freeform 50"/>
              <p:cNvSpPr/>
              <p:nvPr/>
            </p:nvSpPr>
            <p:spPr>
              <a:xfrm>
                <a:off x="473154" y="2814874"/>
                <a:ext cx="120492" cy="142400"/>
              </a:xfrm>
              <a:custGeom>
                <a:avLst/>
                <a:gdLst/>
                <a:ahLst/>
                <a:cxnLst/>
                <a:rect l="l" t="t" r="r" b="b"/>
                <a:pathLst>
                  <a:path w="120492" h="142400">
                    <a:moveTo>
                      <a:pt x="118889" y="39941"/>
                    </a:moveTo>
                    <a:lnTo>
                      <a:pt x="80551" y="1603"/>
                    </a:lnTo>
                    <a:cubicBezTo>
                      <a:pt x="79523" y="576"/>
                      <a:pt x="78129" y="0"/>
                      <a:pt x="76676" y="1"/>
                    </a:cubicBezTo>
                    <a:lnTo>
                      <a:pt x="10954" y="1"/>
                    </a:lnTo>
                    <a:cubicBezTo>
                      <a:pt x="4904" y="1"/>
                      <a:pt x="0" y="4905"/>
                      <a:pt x="0" y="10955"/>
                    </a:cubicBezTo>
                    <a:lnTo>
                      <a:pt x="0" y="131446"/>
                    </a:lnTo>
                    <a:cubicBezTo>
                      <a:pt x="0" y="137496"/>
                      <a:pt x="4904" y="142400"/>
                      <a:pt x="10954" y="142400"/>
                    </a:cubicBezTo>
                    <a:lnTo>
                      <a:pt x="109538" y="142400"/>
                    </a:lnTo>
                    <a:cubicBezTo>
                      <a:pt x="115587" y="142400"/>
                      <a:pt x="120491" y="137496"/>
                      <a:pt x="120491" y="131446"/>
                    </a:cubicBezTo>
                    <a:lnTo>
                      <a:pt x="120491" y="43816"/>
                    </a:lnTo>
                    <a:cubicBezTo>
                      <a:pt x="120492" y="42363"/>
                      <a:pt x="119916" y="40969"/>
                      <a:pt x="118889" y="39941"/>
                    </a:cubicBezTo>
                    <a:close/>
                    <a:moveTo>
                      <a:pt x="82153" y="18698"/>
                    </a:moveTo>
                    <a:lnTo>
                      <a:pt x="101795" y="38339"/>
                    </a:lnTo>
                    <a:lnTo>
                      <a:pt x="82153" y="38339"/>
                    </a:lnTo>
                    <a:close/>
                    <a:moveTo>
                      <a:pt x="109538" y="131446"/>
                    </a:moveTo>
                    <a:lnTo>
                      <a:pt x="10954" y="131446"/>
                    </a:lnTo>
                    <a:lnTo>
                      <a:pt x="10954" y="10955"/>
                    </a:lnTo>
                    <a:lnTo>
                      <a:pt x="71199" y="10955"/>
                    </a:lnTo>
                    <a:lnTo>
                      <a:pt x="71199" y="43816"/>
                    </a:lnTo>
                    <a:cubicBezTo>
                      <a:pt x="71199" y="46841"/>
                      <a:pt x="73651" y="49293"/>
                      <a:pt x="76676" y="49293"/>
                    </a:cubicBezTo>
                    <a:lnTo>
                      <a:pt x="109538" y="49293"/>
                    </a:lnTo>
                    <a:lnTo>
                      <a:pt x="109538" y="131446"/>
                    </a:lnTo>
                    <a:close/>
                    <a:moveTo>
                      <a:pt x="87630" y="76677"/>
                    </a:moveTo>
                    <a:cubicBezTo>
                      <a:pt x="87630" y="79702"/>
                      <a:pt x="85178" y="82154"/>
                      <a:pt x="82153" y="82154"/>
                    </a:cubicBezTo>
                    <a:lnTo>
                      <a:pt x="38338" y="82154"/>
                    </a:lnTo>
                    <a:cubicBezTo>
                      <a:pt x="35313" y="82154"/>
                      <a:pt x="32861" y="79702"/>
                      <a:pt x="32861" y="76677"/>
                    </a:cubicBezTo>
                    <a:cubicBezTo>
                      <a:pt x="32861" y="73653"/>
                      <a:pt x="35313" y="71201"/>
                      <a:pt x="38338" y="71201"/>
                    </a:cubicBezTo>
                    <a:lnTo>
                      <a:pt x="82153" y="71201"/>
                    </a:lnTo>
                    <a:cubicBezTo>
                      <a:pt x="85178" y="71201"/>
                      <a:pt x="87630" y="73653"/>
                      <a:pt x="87630" y="76677"/>
                    </a:cubicBezTo>
                    <a:close/>
                    <a:moveTo>
                      <a:pt x="87630" y="98585"/>
                    </a:moveTo>
                    <a:cubicBezTo>
                      <a:pt x="87630" y="101610"/>
                      <a:pt x="85178" y="104062"/>
                      <a:pt x="82153" y="104062"/>
                    </a:cubicBezTo>
                    <a:lnTo>
                      <a:pt x="38338" y="104062"/>
                    </a:lnTo>
                    <a:cubicBezTo>
                      <a:pt x="35313" y="104062"/>
                      <a:pt x="32861" y="101610"/>
                      <a:pt x="32861" y="98585"/>
                    </a:cubicBezTo>
                    <a:cubicBezTo>
                      <a:pt x="32861" y="95560"/>
                      <a:pt x="35313" y="93108"/>
                      <a:pt x="38338" y="93108"/>
                    </a:cubicBezTo>
                    <a:lnTo>
                      <a:pt x="82153" y="93108"/>
                    </a:lnTo>
                    <a:cubicBezTo>
                      <a:pt x="85178" y="93108"/>
                      <a:pt x="87630" y="95560"/>
                      <a:pt x="87630" y="98585"/>
                    </a:cubicBezTo>
                    <a:close/>
                  </a:path>
                </a:pathLst>
              </a:custGeom>
              <a:solidFill>
                <a:srgbClr val="0B3D6E"/>
              </a:solidFill>
              <a:ln>
                <a:noFill/>
              </a:ln>
            </p:spPr>
          </p:sp>
        </p:grpSp>
        <p:sp>
          <p:nvSpPr>
            <p:cNvPr id="52" name="TextBox 52"/>
            <p:cNvSpPr txBox="1"/>
            <p:nvPr/>
          </p:nvSpPr>
          <p:spPr>
            <a:xfrm>
              <a:off x="737806" y="2824401"/>
              <a:ext cx="602269" cy="198025"/>
            </a:xfrm>
            <a:prstGeom prst="rect">
              <a:avLst/>
            </a:prstGeom>
            <a:noFill/>
            <a:ln>
              <a:noFill/>
            </a:ln>
          </p:spPr>
          <p:txBody>
            <a:bodyPr wrap="none" lIns="0" tIns="0" rIns="0" bIns="0" anchor="t" anchorCtr="0">
              <a:spAutoFit/>
            </a:bodyPr>
            <a:lstStyle/>
            <a:p>
              <a:pPr algn="l"/>
              <a:r>
                <a:rPr lang="en-IN" sz="1010" b="1" dirty="0">
                  <a:solidFill>
                    <a:srgbClr val="1D2939"/>
                  </a:solidFill>
                  <a:latin typeface="Calibri"/>
                  <a:ea typeface="Calibri"/>
                  <a:cs typeface="Calibri"/>
                </a:rPr>
                <a:t>Document</a:t>
              </a:r>
            </a:p>
          </p:txBody>
        </p:sp>
        <p:sp>
          <p:nvSpPr>
            <p:cNvPr id="53" name="Rectangle 53"/>
            <p:cNvSpPr/>
            <p:nvPr/>
          </p:nvSpPr>
          <p:spPr>
            <a:xfrm>
              <a:off x="2020538" y="2809875"/>
              <a:ext cx="487680" cy="152400"/>
            </a:xfrm>
            <a:prstGeom prst="roundRect">
              <a:avLst>
                <a:gd name="adj" fmla="val 50000"/>
              </a:avLst>
            </a:prstGeom>
            <a:solidFill>
              <a:srgbClr val="0070C0"/>
            </a:solidFill>
            <a:ln w="9525">
              <a:solidFill>
                <a:srgbClr val="0070C0"/>
              </a:solidFill>
            </a:ln>
          </p:spPr>
        </p:sp>
        <p:sp>
          <p:nvSpPr>
            <p:cNvPr id="54" name="TextBox 54"/>
            <p:cNvSpPr txBox="1"/>
            <p:nvPr/>
          </p:nvSpPr>
          <p:spPr>
            <a:xfrm>
              <a:off x="2104651" y="2842498"/>
              <a:ext cx="319454" cy="140494"/>
            </a:xfrm>
            <a:prstGeom prst="rect">
              <a:avLst/>
            </a:prstGeom>
            <a:noFill/>
            <a:ln>
              <a:noFill/>
            </a:ln>
          </p:spPr>
          <p:txBody>
            <a:bodyPr wrap="none" lIns="0" tIns="0" rIns="0" bIns="0" anchor="t" anchorCtr="0">
              <a:spAutoFit/>
            </a:bodyPr>
            <a:lstStyle/>
            <a:p>
              <a:pPr algn="ctr"/>
              <a:r>
                <a:rPr lang="en-IN" sz="710" b="1" dirty="0">
                  <a:solidFill>
                    <a:srgbClr val="FFFFFF"/>
                  </a:solidFill>
                  <a:latin typeface="Calibri"/>
                  <a:ea typeface="Calibri"/>
                  <a:cs typeface="Calibri"/>
                </a:rPr>
                <a:t>TESTED</a:t>
              </a:r>
            </a:p>
          </p:txBody>
        </p:sp>
        <p:sp>
          <p:nvSpPr>
            <p:cNvPr id="55" name="TextBox 55"/>
            <p:cNvSpPr txBox="1"/>
            <p:nvPr/>
          </p:nvSpPr>
          <p:spPr>
            <a:xfrm>
              <a:off x="428625" y="3083719"/>
              <a:ext cx="586114" cy="366712"/>
            </a:xfrm>
            <a:prstGeom prst="rect">
              <a:avLst/>
            </a:prstGeom>
            <a:noFill/>
            <a:ln>
              <a:noFill/>
            </a:ln>
          </p:spPr>
          <p:txBody>
            <a:bodyPr wrap="none" lIns="0" tIns="0" rIns="0" bIns="0" anchor="t" anchorCtr="0">
              <a:spAutoFit/>
            </a:bodyPr>
            <a:lstStyle/>
            <a:p>
              <a:pPr algn="l"/>
              <a:r>
                <a:rPr lang="en-IN" sz="1880" b="1" dirty="0">
                  <a:solidFill>
                    <a:srgbClr val="0B3D6E"/>
                  </a:solidFill>
                  <a:latin typeface="Calibri"/>
                  <a:ea typeface="Calibri"/>
                  <a:cs typeface="Calibri"/>
                </a:rPr>
                <a:t>≥99%</a:t>
              </a:r>
            </a:p>
          </p:txBody>
        </p:sp>
        <p:sp>
          <p:nvSpPr>
            <p:cNvPr id="56" name="TextBox 56"/>
            <p:cNvSpPr txBox="1"/>
            <p:nvPr/>
          </p:nvSpPr>
          <p:spPr>
            <a:xfrm>
              <a:off x="1100138" y="3139916"/>
              <a:ext cx="1242845" cy="285750"/>
            </a:xfrm>
            <a:prstGeom prst="rect">
              <a:avLst/>
            </a:prstGeom>
            <a:noFill/>
            <a:ln>
              <a:noFill/>
            </a:ln>
          </p:spPr>
          <p:txBody>
            <a:bodyPr wrap="none" lIns="0" tIns="0" rIns="0" bIns="0" anchor="t" anchorCtr="0">
              <a:spAutoFit/>
            </a:bodyPr>
            <a:lstStyle/>
            <a:p>
              <a:pPr algn="l">
                <a:lnSpc>
                  <a:spcPts val="975"/>
                </a:lnSpc>
              </a:pPr>
              <a:r>
                <a:rPr lang="en-IN" sz="820" dirty="0">
                  <a:solidFill>
                    <a:srgbClr val="344054"/>
                  </a:solidFill>
                  <a:latin typeface="Calibri"/>
                  <a:ea typeface="Calibri"/>
                  <a:cs typeface="Calibri"/>
                </a:rPr>
                <a:t>of amounts &amp; payment dates</a:t>
              </a:r>
              <a:br/>
              <a:r>
                <a:rPr lang="en-IN" sz="820" dirty="0">
                  <a:solidFill>
                    <a:srgbClr val="344054"/>
                  </a:solidFill>
                  <a:latin typeface="Calibri"/>
                  <a:ea typeface="Calibri"/>
                  <a:cs typeface="Calibri"/>
                </a:rPr>
                <a:t>read</a:t>
              </a:r>
            </a:p>
          </p:txBody>
        </p:sp>
        <p:sp>
          <p:nvSpPr>
            <p:cNvPr id="57" name="Rectangle 57"/>
            <p:cNvSpPr/>
            <p:nvPr/>
          </p:nvSpPr>
          <p:spPr>
            <a:xfrm>
              <a:off x="2698718" y="2657475"/>
              <a:ext cx="2298668" cy="857250"/>
            </a:xfrm>
            <a:prstGeom prst="roundRect">
              <a:avLst>
                <a:gd name="adj" fmla="val 8889"/>
              </a:avLst>
            </a:prstGeom>
            <a:solidFill>
              <a:srgbClr val="FFFFFF"/>
            </a:solidFill>
            <a:ln w="9525">
              <a:solidFill>
                <a:srgbClr val="D0D5DD"/>
              </a:solidFill>
            </a:ln>
          </p:spPr>
        </p:sp>
        <p:sp>
          <p:nvSpPr>
            <p:cNvPr id="58" name="Ellipse 58"/>
            <p:cNvSpPr/>
            <p:nvPr/>
          </p:nvSpPr>
          <p:spPr>
            <a:xfrm>
              <a:off x="2774918" y="2733675"/>
              <a:ext cx="304800" cy="304800"/>
            </a:xfrm>
            <a:prstGeom prst="ellipse">
              <a:avLst/>
            </a:prstGeom>
            <a:solidFill>
              <a:srgbClr val="E8F1FA"/>
            </a:solidFill>
            <a:ln>
              <a:noFill/>
            </a:ln>
          </p:spPr>
        </p:sp>
        <p:grpSp>
          <p:nvGrpSpPr>
            <p:cNvPr id="61" name="Group 61"/>
            <p:cNvGrpSpPr/>
            <p:nvPr/>
          </p:nvGrpSpPr>
          <p:grpSpPr>
            <a:xfrm>
              <a:off x="2856119" y="2814876"/>
              <a:ext cx="142399" cy="142399"/>
              <a:chOff x="2856119" y="2814876"/>
              <a:chExt cx="142399" cy="142399"/>
            </a:xfrm>
          </p:grpSpPr>
          <p:sp>
            <p:nvSpPr>
              <p:cNvPr id="59" name="Freeform 59"/>
              <p:cNvSpPr/>
              <p:nvPr/>
            </p:nvSpPr>
            <p:spPr>
              <a:xfrm>
                <a:off x="2861596" y="2820352"/>
                <a:ext cx="131445" cy="131445"/>
              </a:xfrm>
              <a:custGeom>
                <a:avLst/>
                <a:gdLst/>
                <a:ahLst/>
                <a:cxnLst/>
                <a:rect l="l" t="t" r="r" b="b"/>
                <a:pathLst>
                  <a:path w="131445" h="131445">
                    <a:moveTo>
                      <a:pt x="131445" y="65722"/>
                    </a:moveTo>
                    <a:cubicBezTo>
                      <a:pt x="131445" y="102020"/>
                      <a:pt x="102020" y="131445"/>
                      <a:pt x="65722" y="131445"/>
                    </a:cubicBezTo>
                    <a:cubicBezTo>
                      <a:pt x="29425" y="131445"/>
                      <a:pt x="0" y="102020"/>
                      <a:pt x="0" y="65722"/>
                    </a:cubicBezTo>
                    <a:cubicBezTo>
                      <a:pt x="0" y="29425"/>
                      <a:pt x="29425" y="0"/>
                      <a:pt x="65722" y="0"/>
                    </a:cubicBezTo>
                    <a:cubicBezTo>
                      <a:pt x="102020" y="0"/>
                      <a:pt x="131445" y="29425"/>
                      <a:pt x="131445" y="65722"/>
                    </a:cubicBezTo>
                    <a:close/>
                  </a:path>
                </a:pathLst>
              </a:custGeom>
              <a:solidFill>
                <a:srgbClr val="0B3D6E">
                  <a:alpha val="20000"/>
                </a:srgbClr>
              </a:solidFill>
              <a:ln>
                <a:noFill/>
              </a:ln>
            </p:spPr>
          </p:sp>
          <p:sp>
            <p:nvSpPr>
              <p:cNvPr id="60" name="Freeform 60"/>
              <p:cNvSpPr/>
              <p:nvPr/>
            </p:nvSpPr>
            <p:spPr>
              <a:xfrm>
                <a:off x="2856119" y="2814876"/>
                <a:ext cx="142399" cy="142399"/>
              </a:xfrm>
              <a:custGeom>
                <a:avLst/>
                <a:gdLst/>
                <a:ahLst/>
                <a:cxnLst/>
                <a:rect l="l" t="t" r="r" b="b"/>
                <a:pathLst>
                  <a:path w="142399" h="142399">
                    <a:moveTo>
                      <a:pt x="71199" y="0"/>
                    </a:moveTo>
                    <a:cubicBezTo>
                      <a:pt x="31877" y="0"/>
                      <a:pt x="0" y="31877"/>
                      <a:pt x="0" y="71199"/>
                    </a:cubicBezTo>
                    <a:cubicBezTo>
                      <a:pt x="0" y="110522"/>
                      <a:pt x="31877" y="142399"/>
                      <a:pt x="71199" y="142399"/>
                    </a:cubicBezTo>
                    <a:cubicBezTo>
                      <a:pt x="110522" y="142399"/>
                      <a:pt x="142399" y="110522"/>
                      <a:pt x="142399" y="71199"/>
                    </a:cubicBezTo>
                    <a:cubicBezTo>
                      <a:pt x="142357" y="31894"/>
                      <a:pt x="110504" y="42"/>
                      <a:pt x="71199" y="0"/>
                    </a:cubicBezTo>
                    <a:close/>
                    <a:moveTo>
                      <a:pt x="131445" y="71199"/>
                    </a:moveTo>
                    <a:cubicBezTo>
                      <a:pt x="131459" y="85285"/>
                      <a:pt x="126512" y="98927"/>
                      <a:pt x="117472" y="109729"/>
                    </a:cubicBezTo>
                    <a:lnTo>
                      <a:pt x="32670" y="24920"/>
                    </a:lnTo>
                    <a:cubicBezTo>
                      <a:pt x="50628" y="9979"/>
                      <a:pt x="75606" y="6768"/>
                      <a:pt x="96760" y="16679"/>
                    </a:cubicBezTo>
                    <a:cubicBezTo>
                      <a:pt x="117914" y="26591"/>
                      <a:pt x="131432" y="47838"/>
                      <a:pt x="131445" y="71199"/>
                    </a:cubicBezTo>
                    <a:close/>
                    <a:moveTo>
                      <a:pt x="10954" y="71199"/>
                    </a:moveTo>
                    <a:cubicBezTo>
                      <a:pt x="10940" y="57113"/>
                      <a:pt x="15887" y="43472"/>
                      <a:pt x="24927" y="32670"/>
                    </a:cubicBezTo>
                    <a:lnTo>
                      <a:pt x="109729" y="117479"/>
                    </a:lnTo>
                    <a:cubicBezTo>
                      <a:pt x="91770" y="132419"/>
                      <a:pt x="66793" y="135631"/>
                      <a:pt x="45639" y="125719"/>
                    </a:cubicBezTo>
                    <a:cubicBezTo>
                      <a:pt x="24484" y="115808"/>
                      <a:pt x="10967" y="94560"/>
                      <a:pt x="10954" y="71199"/>
                    </a:cubicBezTo>
                    <a:close/>
                  </a:path>
                </a:pathLst>
              </a:custGeom>
              <a:solidFill>
                <a:srgbClr val="0B3D6E"/>
              </a:solidFill>
              <a:ln>
                <a:noFill/>
              </a:ln>
            </p:spPr>
          </p:sp>
        </p:grpSp>
        <p:sp>
          <p:nvSpPr>
            <p:cNvPr id="62" name="TextBox 62"/>
            <p:cNvSpPr txBox="1"/>
            <p:nvPr/>
          </p:nvSpPr>
          <p:spPr>
            <a:xfrm>
              <a:off x="3131725" y="2824401"/>
              <a:ext cx="528579" cy="198025"/>
            </a:xfrm>
            <a:prstGeom prst="rect">
              <a:avLst/>
            </a:prstGeom>
            <a:noFill/>
            <a:ln>
              <a:noFill/>
            </a:ln>
          </p:spPr>
          <p:txBody>
            <a:bodyPr wrap="none" lIns="0" tIns="0" rIns="0" bIns="0" anchor="t" anchorCtr="0">
              <a:spAutoFit/>
            </a:bodyPr>
            <a:lstStyle/>
            <a:p>
              <a:pPr algn="l"/>
              <a:r>
                <a:rPr lang="en-IN" sz="1010" b="1" dirty="0">
                  <a:solidFill>
                    <a:srgbClr val="1D2939"/>
                  </a:solidFill>
                  <a:latin typeface="Calibri"/>
                  <a:ea typeface="Calibri"/>
                  <a:cs typeface="Calibri"/>
                </a:rPr>
                <a:t>Eligibility</a:t>
              </a:r>
            </a:p>
          </p:txBody>
        </p:sp>
        <p:sp>
          <p:nvSpPr>
            <p:cNvPr id="63" name="Rectangle 63"/>
            <p:cNvSpPr/>
            <p:nvPr/>
          </p:nvSpPr>
          <p:spPr>
            <a:xfrm>
              <a:off x="4414552" y="2809875"/>
              <a:ext cx="487680" cy="152400"/>
            </a:xfrm>
            <a:prstGeom prst="roundRect">
              <a:avLst>
                <a:gd name="adj" fmla="val 50000"/>
              </a:avLst>
            </a:prstGeom>
            <a:solidFill>
              <a:srgbClr val="0070C0"/>
            </a:solidFill>
            <a:ln w="9525">
              <a:solidFill>
                <a:srgbClr val="0070C0"/>
              </a:solidFill>
            </a:ln>
          </p:spPr>
        </p:sp>
        <p:sp>
          <p:nvSpPr>
            <p:cNvPr id="64" name="TextBox 64"/>
            <p:cNvSpPr txBox="1"/>
            <p:nvPr/>
          </p:nvSpPr>
          <p:spPr>
            <a:xfrm>
              <a:off x="4498665" y="2842498"/>
              <a:ext cx="319454" cy="140494"/>
            </a:xfrm>
            <a:prstGeom prst="rect">
              <a:avLst/>
            </a:prstGeom>
            <a:noFill/>
            <a:ln>
              <a:noFill/>
            </a:ln>
          </p:spPr>
          <p:txBody>
            <a:bodyPr wrap="none" lIns="0" tIns="0" rIns="0" bIns="0" anchor="t" anchorCtr="0">
              <a:spAutoFit/>
            </a:bodyPr>
            <a:lstStyle/>
            <a:p>
              <a:pPr algn="ctr"/>
              <a:r>
                <a:rPr lang="en-IN" sz="710" b="1" dirty="0">
                  <a:solidFill>
                    <a:srgbClr val="FFFFFF"/>
                  </a:solidFill>
                  <a:latin typeface="Calibri"/>
                  <a:ea typeface="Calibri"/>
                  <a:cs typeface="Calibri"/>
                </a:rPr>
                <a:t>TESTED</a:t>
              </a:r>
            </a:p>
          </p:txBody>
        </p:sp>
        <p:sp>
          <p:nvSpPr>
            <p:cNvPr id="65" name="TextBox 65"/>
            <p:cNvSpPr txBox="1"/>
            <p:nvPr/>
          </p:nvSpPr>
          <p:spPr>
            <a:xfrm>
              <a:off x="2822543" y="3083719"/>
              <a:ext cx="460077" cy="366712"/>
            </a:xfrm>
            <a:prstGeom prst="rect">
              <a:avLst/>
            </a:prstGeom>
            <a:noFill/>
            <a:ln>
              <a:noFill/>
            </a:ln>
          </p:spPr>
          <p:txBody>
            <a:bodyPr wrap="none" lIns="0" tIns="0" rIns="0" bIns="0" anchor="t" anchorCtr="0">
              <a:spAutoFit/>
            </a:bodyPr>
            <a:lstStyle/>
            <a:p>
              <a:pPr algn="l"/>
              <a:r>
                <a:rPr lang="en-IN" sz="1880" b="1" dirty="0">
                  <a:solidFill>
                    <a:srgbClr val="0B3D6E"/>
                  </a:solidFill>
                  <a:latin typeface="Calibri"/>
                  <a:ea typeface="Calibri"/>
                  <a:cs typeface="Calibri"/>
                </a:rPr>
                <a:t>56%</a:t>
              </a:r>
            </a:p>
          </p:txBody>
        </p:sp>
        <p:sp>
          <p:nvSpPr>
            <p:cNvPr id="66" name="TextBox 66"/>
            <p:cNvSpPr txBox="1"/>
            <p:nvPr/>
          </p:nvSpPr>
          <p:spPr>
            <a:xfrm>
              <a:off x="3360706" y="3139916"/>
              <a:ext cx="1279875" cy="161925"/>
            </a:xfrm>
            <a:prstGeom prst="rect">
              <a:avLst/>
            </a:prstGeom>
            <a:noFill/>
            <a:ln>
              <a:noFill/>
            </a:ln>
          </p:spPr>
          <p:txBody>
            <a:bodyPr wrap="none" lIns="0" tIns="0" rIns="0" bIns="0" anchor="t" anchorCtr="0">
              <a:spAutoFit/>
            </a:bodyPr>
            <a:lstStyle/>
            <a:p>
              <a:pPr algn="l"/>
              <a:r>
                <a:rPr lang="en-IN" sz="820" dirty="0">
                  <a:solidFill>
                    <a:srgbClr val="344054"/>
                  </a:solidFill>
                  <a:latin typeface="Calibri"/>
                  <a:ea typeface="Calibri"/>
                  <a:cs typeface="Calibri"/>
                </a:rPr>
                <a:t>of its flags plainly prohibited</a:t>
              </a:r>
            </a:p>
          </p:txBody>
        </p:sp>
        <p:sp>
          <p:nvSpPr>
            <p:cNvPr id="67" name="Rectangle 67"/>
            <p:cNvSpPr/>
            <p:nvPr/>
          </p:nvSpPr>
          <p:spPr>
            <a:xfrm>
              <a:off x="5092732" y="2657475"/>
              <a:ext cx="2298668" cy="857250"/>
            </a:xfrm>
            <a:prstGeom prst="roundRect">
              <a:avLst>
                <a:gd name="adj" fmla="val 8889"/>
              </a:avLst>
            </a:prstGeom>
            <a:solidFill>
              <a:srgbClr val="FFFFFF"/>
            </a:solidFill>
            <a:ln w="9525">
              <a:solidFill>
                <a:srgbClr val="D0D5DD"/>
              </a:solidFill>
            </a:ln>
          </p:spPr>
        </p:sp>
        <p:sp>
          <p:nvSpPr>
            <p:cNvPr id="68" name="Ellipse 68"/>
            <p:cNvSpPr/>
            <p:nvPr/>
          </p:nvSpPr>
          <p:spPr>
            <a:xfrm>
              <a:off x="5168932" y="2733675"/>
              <a:ext cx="304800" cy="304800"/>
            </a:xfrm>
            <a:prstGeom prst="ellipse">
              <a:avLst/>
            </a:prstGeom>
            <a:solidFill>
              <a:srgbClr val="E8F1FA"/>
            </a:solidFill>
            <a:ln>
              <a:noFill/>
            </a:ln>
          </p:spPr>
        </p:sp>
        <p:grpSp>
          <p:nvGrpSpPr>
            <p:cNvPr id="71" name="Group 71"/>
            <p:cNvGrpSpPr/>
            <p:nvPr/>
          </p:nvGrpSpPr>
          <p:grpSpPr>
            <a:xfrm>
              <a:off x="5247344" y="2823008"/>
              <a:ext cx="151151" cy="126299"/>
              <a:chOff x="5247344" y="2823008"/>
              <a:chExt cx="151151" cy="126299"/>
            </a:xfrm>
          </p:grpSpPr>
          <p:sp>
            <p:nvSpPr>
              <p:cNvPr id="69" name="Freeform 69"/>
              <p:cNvSpPr/>
              <p:nvPr/>
            </p:nvSpPr>
            <p:spPr>
              <a:xfrm>
                <a:off x="5253738" y="2829436"/>
                <a:ext cx="42081" cy="113278"/>
              </a:xfrm>
              <a:custGeom>
                <a:avLst/>
                <a:gdLst/>
                <a:ahLst/>
                <a:cxnLst/>
                <a:rect l="l" t="t" r="r" b="b"/>
                <a:pathLst>
                  <a:path w="42081" h="113278">
                    <a:moveTo>
                      <a:pt x="7485" y="34594"/>
                    </a:moveTo>
                    <a:cubicBezTo>
                      <a:pt x="0" y="27108"/>
                      <a:pt x="0" y="14971"/>
                      <a:pt x="7486" y="7486"/>
                    </a:cubicBezTo>
                    <a:cubicBezTo>
                      <a:pt x="14972" y="0"/>
                      <a:pt x="27109" y="0"/>
                      <a:pt x="34595" y="7486"/>
                    </a:cubicBezTo>
                    <a:cubicBezTo>
                      <a:pt x="42081" y="14971"/>
                      <a:pt x="42081" y="27108"/>
                      <a:pt x="34596" y="34594"/>
                    </a:cubicBezTo>
                    <a:cubicBezTo>
                      <a:pt x="31001" y="38190"/>
                      <a:pt x="26125" y="40210"/>
                      <a:pt x="21041" y="40210"/>
                    </a:cubicBezTo>
                    <a:cubicBezTo>
                      <a:pt x="15956" y="40210"/>
                      <a:pt x="11080" y="38190"/>
                      <a:pt x="7485" y="34594"/>
                    </a:cubicBezTo>
                    <a:close/>
                    <a:moveTo>
                      <a:pt x="7485" y="78683"/>
                    </a:moveTo>
                    <a:cubicBezTo>
                      <a:pt x="0" y="86169"/>
                      <a:pt x="0" y="98306"/>
                      <a:pt x="7486" y="105792"/>
                    </a:cubicBezTo>
                    <a:cubicBezTo>
                      <a:pt x="14972" y="113278"/>
                      <a:pt x="27109" y="113278"/>
                      <a:pt x="34595" y="105792"/>
                    </a:cubicBezTo>
                    <a:cubicBezTo>
                      <a:pt x="42081" y="98306"/>
                      <a:pt x="42081" y="86169"/>
                      <a:pt x="34596" y="78683"/>
                    </a:cubicBezTo>
                    <a:cubicBezTo>
                      <a:pt x="31001" y="75088"/>
                      <a:pt x="26125" y="73068"/>
                      <a:pt x="21041" y="73068"/>
                    </a:cubicBezTo>
                    <a:cubicBezTo>
                      <a:pt x="15956" y="73068"/>
                      <a:pt x="11080" y="75088"/>
                      <a:pt x="7485" y="78683"/>
                    </a:cubicBezTo>
                    <a:close/>
                  </a:path>
                </a:pathLst>
              </a:custGeom>
              <a:solidFill>
                <a:srgbClr val="0B3D6E">
                  <a:alpha val="20000"/>
                </a:srgbClr>
              </a:solidFill>
              <a:ln>
                <a:noFill/>
              </a:ln>
            </p:spPr>
          </p:sp>
          <p:sp>
            <p:nvSpPr>
              <p:cNvPr id="70" name="Freeform 70"/>
              <p:cNvSpPr/>
              <p:nvPr/>
            </p:nvSpPr>
            <p:spPr>
              <a:xfrm>
                <a:off x="5247344" y="2823008"/>
                <a:ext cx="151151" cy="126299"/>
              </a:xfrm>
              <a:custGeom>
                <a:avLst/>
                <a:gdLst/>
                <a:ahLst/>
                <a:cxnLst/>
                <a:rect l="l" t="t" r="r" b="b"/>
                <a:pathLst>
                  <a:path w="151151" h="126299">
                    <a:moveTo>
                      <a:pt x="94342" y="52887"/>
                    </a:moveTo>
                    <a:cubicBezTo>
                      <a:pt x="93520" y="51687"/>
                      <a:pt x="93208" y="50210"/>
                      <a:pt x="93477" y="48780"/>
                    </a:cubicBezTo>
                    <a:cubicBezTo>
                      <a:pt x="93745" y="47351"/>
                      <a:pt x="94571" y="46087"/>
                      <a:pt x="95772" y="45267"/>
                    </a:cubicBezTo>
                    <a:lnTo>
                      <a:pt x="142093" y="13570"/>
                    </a:lnTo>
                    <a:cubicBezTo>
                      <a:pt x="144586" y="12028"/>
                      <a:pt x="147851" y="12721"/>
                      <a:pt x="149501" y="15144"/>
                    </a:cubicBezTo>
                    <a:cubicBezTo>
                      <a:pt x="151151" y="17566"/>
                      <a:pt x="150602" y="20858"/>
                      <a:pt x="148255" y="22614"/>
                    </a:cubicBezTo>
                    <a:lnTo>
                      <a:pt x="101927" y="54311"/>
                    </a:lnTo>
                    <a:cubicBezTo>
                      <a:pt x="101019" y="54937"/>
                      <a:pt x="99942" y="55271"/>
                      <a:pt x="98840" y="55270"/>
                    </a:cubicBezTo>
                    <a:cubicBezTo>
                      <a:pt x="97040" y="55263"/>
                      <a:pt x="95358" y="54372"/>
                      <a:pt x="94342" y="52887"/>
                    </a:cubicBezTo>
                    <a:close/>
                    <a:moveTo>
                      <a:pt x="149706" y="111140"/>
                    </a:moveTo>
                    <a:cubicBezTo>
                      <a:pt x="147997" y="113636"/>
                      <a:pt x="144589" y="114273"/>
                      <a:pt x="142093" y="112564"/>
                    </a:cubicBezTo>
                    <a:lnTo>
                      <a:pt x="79465" y="69708"/>
                    </a:lnTo>
                    <a:lnTo>
                      <a:pt x="50362" y="89616"/>
                    </a:lnTo>
                    <a:cubicBezTo>
                      <a:pt x="54960" y="101291"/>
                      <a:pt x="50052" y="114556"/>
                      <a:pt x="38963" y="120428"/>
                    </a:cubicBezTo>
                    <a:cubicBezTo>
                      <a:pt x="27874" y="126299"/>
                      <a:pt x="14144" y="122902"/>
                      <a:pt x="7072" y="112538"/>
                    </a:cubicBezTo>
                    <a:cubicBezTo>
                      <a:pt x="0" y="102173"/>
                      <a:pt x="1844" y="88150"/>
                      <a:pt x="11354" y="79966"/>
                    </a:cubicBezTo>
                    <a:cubicBezTo>
                      <a:pt x="20865" y="71781"/>
                      <a:pt x="35006" y="72048"/>
                      <a:pt x="44201" y="80586"/>
                    </a:cubicBezTo>
                    <a:lnTo>
                      <a:pt x="69764" y="63067"/>
                    </a:lnTo>
                    <a:lnTo>
                      <a:pt x="44167" y="45548"/>
                    </a:lnTo>
                    <a:cubicBezTo>
                      <a:pt x="35003" y="54042"/>
                      <a:pt x="20922" y="54299"/>
                      <a:pt x="11455" y="46145"/>
                    </a:cubicBezTo>
                    <a:cubicBezTo>
                      <a:pt x="1989" y="37990"/>
                      <a:pt x="156" y="24027"/>
                      <a:pt x="7198" y="13706"/>
                    </a:cubicBezTo>
                    <a:cubicBezTo>
                      <a:pt x="14240" y="3385"/>
                      <a:pt x="27911" y="0"/>
                      <a:pt x="38956" y="5842"/>
                    </a:cubicBezTo>
                    <a:cubicBezTo>
                      <a:pt x="50000" y="11683"/>
                      <a:pt x="54896" y="24888"/>
                      <a:pt x="50328" y="36518"/>
                    </a:cubicBezTo>
                    <a:lnTo>
                      <a:pt x="148227" y="103521"/>
                    </a:lnTo>
                    <a:cubicBezTo>
                      <a:pt x="149436" y="104333"/>
                      <a:pt x="150272" y="105594"/>
                      <a:pt x="150549" y="107023"/>
                    </a:cubicBezTo>
                    <a:cubicBezTo>
                      <a:pt x="150827" y="108453"/>
                      <a:pt x="150523" y="109935"/>
                      <a:pt x="149706" y="111140"/>
                    </a:cubicBezTo>
                    <a:close/>
                    <a:moveTo>
                      <a:pt x="41127" y="98667"/>
                    </a:moveTo>
                    <a:cubicBezTo>
                      <a:pt x="41128" y="92135"/>
                      <a:pt x="36515" y="86511"/>
                      <a:pt x="30109" y="85235"/>
                    </a:cubicBezTo>
                    <a:cubicBezTo>
                      <a:pt x="23702" y="83960"/>
                      <a:pt x="17287" y="87387"/>
                      <a:pt x="14786" y="93422"/>
                    </a:cubicBezTo>
                    <a:cubicBezTo>
                      <a:pt x="12285" y="99456"/>
                      <a:pt x="14395" y="106417"/>
                      <a:pt x="19826" y="110047"/>
                    </a:cubicBezTo>
                    <a:cubicBezTo>
                      <a:pt x="25257" y="113677"/>
                      <a:pt x="32495" y="112966"/>
                      <a:pt x="37115" y="108347"/>
                    </a:cubicBezTo>
                    <a:cubicBezTo>
                      <a:pt x="39693" y="105787"/>
                      <a:pt x="41138" y="102300"/>
                      <a:pt x="41127" y="98667"/>
                    </a:cubicBezTo>
                    <a:close/>
                    <a:moveTo>
                      <a:pt x="37115" y="37141"/>
                    </a:moveTo>
                    <a:cubicBezTo>
                      <a:pt x="41032" y="33225"/>
                      <a:pt x="42204" y="27336"/>
                      <a:pt x="40085" y="22219"/>
                    </a:cubicBezTo>
                    <a:cubicBezTo>
                      <a:pt x="37966" y="17102"/>
                      <a:pt x="32973" y="13766"/>
                      <a:pt x="27435" y="13766"/>
                    </a:cubicBezTo>
                    <a:cubicBezTo>
                      <a:pt x="21896" y="13766"/>
                      <a:pt x="16903" y="17102"/>
                      <a:pt x="14784" y="22219"/>
                    </a:cubicBezTo>
                    <a:cubicBezTo>
                      <a:pt x="12665" y="27336"/>
                      <a:pt x="13838" y="33225"/>
                      <a:pt x="17754" y="37141"/>
                    </a:cubicBezTo>
                    <a:cubicBezTo>
                      <a:pt x="20308" y="39733"/>
                      <a:pt x="23796" y="41193"/>
                      <a:pt x="27435" y="41193"/>
                    </a:cubicBezTo>
                    <a:cubicBezTo>
                      <a:pt x="31074" y="41193"/>
                      <a:pt x="34561" y="39733"/>
                      <a:pt x="37115" y="37141"/>
                    </a:cubicBezTo>
                    <a:close/>
                  </a:path>
                </a:pathLst>
              </a:custGeom>
              <a:solidFill>
                <a:srgbClr val="0B3D6E"/>
              </a:solidFill>
              <a:ln>
                <a:noFill/>
              </a:ln>
            </p:spPr>
          </p:sp>
        </p:grpSp>
        <p:sp>
          <p:nvSpPr>
            <p:cNvPr id="72" name="TextBox 72"/>
            <p:cNvSpPr txBox="1"/>
            <p:nvPr/>
          </p:nvSpPr>
          <p:spPr>
            <a:xfrm>
              <a:off x="5525738" y="2824401"/>
              <a:ext cx="637959" cy="198025"/>
            </a:xfrm>
            <a:prstGeom prst="rect">
              <a:avLst/>
            </a:prstGeom>
            <a:noFill/>
            <a:ln>
              <a:noFill/>
            </a:ln>
          </p:spPr>
          <p:txBody>
            <a:bodyPr wrap="none" lIns="0" tIns="0" rIns="0" bIns="0" anchor="t" anchorCtr="0">
              <a:spAutoFit/>
            </a:bodyPr>
            <a:lstStyle/>
            <a:p>
              <a:pPr algn="l"/>
              <a:r>
                <a:rPr lang="en-IN" sz="1010" b="1" dirty="0">
                  <a:solidFill>
                    <a:srgbClr val="1D2939"/>
                  </a:solidFill>
                  <a:latin typeface="Calibri"/>
                  <a:ea typeface="Calibri"/>
                  <a:cs typeface="Calibri"/>
                </a:rPr>
                <a:t>Split works</a:t>
              </a:r>
            </a:p>
          </p:txBody>
        </p:sp>
        <p:sp>
          <p:nvSpPr>
            <p:cNvPr id="73" name="Rectangle 73"/>
            <p:cNvSpPr/>
            <p:nvPr/>
          </p:nvSpPr>
          <p:spPr>
            <a:xfrm>
              <a:off x="6808470" y="2809875"/>
              <a:ext cx="487680" cy="152400"/>
            </a:xfrm>
            <a:prstGeom prst="roundRect">
              <a:avLst>
                <a:gd name="adj" fmla="val 50000"/>
              </a:avLst>
            </a:prstGeom>
            <a:solidFill>
              <a:srgbClr val="0070C0"/>
            </a:solidFill>
            <a:ln w="9525">
              <a:solidFill>
                <a:srgbClr val="0070C0"/>
              </a:solidFill>
            </a:ln>
          </p:spPr>
        </p:sp>
        <p:sp>
          <p:nvSpPr>
            <p:cNvPr id="74" name="TextBox 74"/>
            <p:cNvSpPr txBox="1"/>
            <p:nvPr/>
          </p:nvSpPr>
          <p:spPr>
            <a:xfrm>
              <a:off x="6892583" y="2842498"/>
              <a:ext cx="319454" cy="140494"/>
            </a:xfrm>
            <a:prstGeom prst="rect">
              <a:avLst/>
            </a:prstGeom>
            <a:noFill/>
            <a:ln>
              <a:noFill/>
            </a:ln>
          </p:spPr>
          <p:txBody>
            <a:bodyPr wrap="none" lIns="0" tIns="0" rIns="0" bIns="0" anchor="t" anchorCtr="0">
              <a:spAutoFit/>
            </a:bodyPr>
            <a:lstStyle/>
            <a:p>
              <a:pPr algn="ctr"/>
              <a:r>
                <a:rPr lang="en-IN" sz="710" b="1" dirty="0">
                  <a:solidFill>
                    <a:srgbClr val="FFFFFF"/>
                  </a:solidFill>
                  <a:latin typeface="Calibri"/>
                  <a:ea typeface="Calibri"/>
                  <a:cs typeface="Calibri"/>
                </a:rPr>
                <a:t>TESTED</a:t>
              </a:r>
            </a:p>
          </p:txBody>
        </p:sp>
        <p:sp>
          <p:nvSpPr>
            <p:cNvPr id="75" name="TextBox 75"/>
            <p:cNvSpPr txBox="1"/>
            <p:nvPr/>
          </p:nvSpPr>
          <p:spPr>
            <a:xfrm>
              <a:off x="5216557" y="3083719"/>
              <a:ext cx="401614" cy="366712"/>
            </a:xfrm>
            <a:prstGeom prst="rect">
              <a:avLst/>
            </a:prstGeom>
            <a:noFill/>
            <a:ln>
              <a:noFill/>
            </a:ln>
          </p:spPr>
          <p:txBody>
            <a:bodyPr wrap="none" lIns="0" tIns="0" rIns="0" bIns="0" anchor="t" anchorCtr="0">
              <a:spAutoFit/>
            </a:bodyPr>
            <a:lstStyle/>
            <a:p>
              <a:pPr algn="l"/>
              <a:r>
                <a:rPr lang="en-IN" sz="1880" b="1" dirty="0">
                  <a:solidFill>
                    <a:srgbClr val="0B3D6E"/>
                  </a:solidFill>
                  <a:latin typeface="Calibri"/>
                  <a:ea typeface="Calibri"/>
                  <a:cs typeface="Calibri"/>
                </a:rPr>
                <a:t>12×</a:t>
              </a:r>
            </a:p>
          </p:txBody>
        </p:sp>
        <p:sp>
          <p:nvSpPr>
            <p:cNvPr id="76" name="TextBox 76"/>
            <p:cNvSpPr txBox="1"/>
            <p:nvPr/>
          </p:nvSpPr>
          <p:spPr>
            <a:xfrm>
              <a:off x="5754719" y="3139916"/>
              <a:ext cx="1378087" cy="161925"/>
            </a:xfrm>
            <a:prstGeom prst="rect">
              <a:avLst/>
            </a:prstGeom>
            <a:noFill/>
            <a:ln>
              <a:noFill/>
            </a:ln>
          </p:spPr>
          <p:txBody>
            <a:bodyPr wrap="none" lIns="0" tIns="0" rIns="0" bIns="0" anchor="t" anchorCtr="0">
              <a:spAutoFit/>
            </a:bodyPr>
            <a:lstStyle/>
            <a:p>
              <a:pPr algn="l"/>
              <a:r>
                <a:rPr lang="en-IN" sz="820" dirty="0">
                  <a:solidFill>
                    <a:srgbClr val="344054"/>
                  </a:solidFill>
                  <a:latin typeface="Calibri"/>
                  <a:ea typeface="Calibri"/>
                  <a:cs typeface="Calibri"/>
                </a:rPr>
                <a:t>more works just under ₹5 lakh</a:t>
              </a:r>
            </a:p>
          </p:txBody>
        </p:sp>
        <p:sp>
          <p:nvSpPr>
            <p:cNvPr id="77" name="Rectangle 77"/>
            <p:cNvSpPr/>
            <p:nvPr/>
          </p:nvSpPr>
          <p:spPr>
            <a:xfrm>
              <a:off x="304800" y="3609975"/>
              <a:ext cx="2298668" cy="857250"/>
            </a:xfrm>
            <a:prstGeom prst="roundRect">
              <a:avLst>
                <a:gd name="adj" fmla="val 8889"/>
              </a:avLst>
            </a:prstGeom>
            <a:solidFill>
              <a:srgbClr val="FFFFFF"/>
            </a:solidFill>
            <a:ln w="9525">
              <a:solidFill>
                <a:srgbClr val="D0D5DD"/>
              </a:solidFill>
            </a:ln>
          </p:spPr>
        </p:sp>
        <p:sp>
          <p:nvSpPr>
            <p:cNvPr id="78" name="Ellipse 78"/>
            <p:cNvSpPr/>
            <p:nvPr/>
          </p:nvSpPr>
          <p:spPr>
            <a:xfrm>
              <a:off x="381000" y="3686175"/>
              <a:ext cx="304800" cy="304800"/>
            </a:xfrm>
            <a:prstGeom prst="ellipse">
              <a:avLst/>
            </a:prstGeom>
            <a:solidFill>
              <a:srgbClr val="EEF1F5"/>
            </a:solidFill>
            <a:ln>
              <a:noFill/>
            </a:ln>
          </p:spPr>
        </p:sp>
        <p:grpSp>
          <p:nvGrpSpPr>
            <p:cNvPr id="81" name="Group 81"/>
            <p:cNvGrpSpPr/>
            <p:nvPr/>
          </p:nvGrpSpPr>
          <p:grpSpPr>
            <a:xfrm>
              <a:off x="484108" y="3767376"/>
              <a:ext cx="98584" cy="142399"/>
              <a:chOff x="484108" y="3767376"/>
              <a:chExt cx="98584" cy="142399"/>
            </a:xfrm>
          </p:grpSpPr>
          <p:sp>
            <p:nvSpPr>
              <p:cNvPr id="79" name="Freeform 79"/>
              <p:cNvSpPr/>
              <p:nvPr/>
            </p:nvSpPr>
            <p:spPr>
              <a:xfrm>
                <a:off x="496890" y="3811191"/>
                <a:ext cx="72740" cy="27384"/>
              </a:xfrm>
              <a:custGeom>
                <a:avLst/>
                <a:gdLst/>
                <a:ahLst/>
                <a:cxnLst/>
                <a:rect l="l" t="t" r="r" b="b"/>
                <a:pathLst>
                  <a:path w="72740" h="27384">
                    <a:moveTo>
                      <a:pt x="72740" y="0"/>
                    </a:moveTo>
                    <a:lnTo>
                      <a:pt x="36510" y="27384"/>
                    </a:lnTo>
                    <a:lnTo>
                      <a:pt x="0" y="0"/>
                    </a:lnTo>
                    <a:close/>
                  </a:path>
                </a:pathLst>
              </a:custGeom>
              <a:solidFill>
                <a:srgbClr val="667085">
                  <a:alpha val="20000"/>
                </a:srgbClr>
              </a:solidFill>
              <a:ln>
                <a:noFill/>
              </a:ln>
            </p:spPr>
          </p:sp>
          <p:sp>
            <p:nvSpPr>
              <p:cNvPr id="80" name="Freeform 80"/>
              <p:cNvSpPr/>
              <p:nvPr/>
            </p:nvSpPr>
            <p:spPr>
              <a:xfrm>
                <a:off x="484108" y="3767376"/>
                <a:ext cx="98584" cy="142399"/>
              </a:xfrm>
              <a:custGeom>
                <a:avLst/>
                <a:gdLst/>
                <a:ahLst/>
                <a:cxnLst/>
                <a:rect l="l" t="t" r="r" b="b"/>
                <a:pathLst>
                  <a:path w="98584" h="142399">
                    <a:moveTo>
                      <a:pt x="98584" y="35353"/>
                    </a:moveTo>
                    <a:lnTo>
                      <a:pt x="98584" y="10954"/>
                    </a:lnTo>
                    <a:cubicBezTo>
                      <a:pt x="98584" y="4904"/>
                      <a:pt x="93680" y="0"/>
                      <a:pt x="87630" y="0"/>
                    </a:cubicBezTo>
                    <a:lnTo>
                      <a:pt x="10954" y="0"/>
                    </a:lnTo>
                    <a:cubicBezTo>
                      <a:pt x="4904" y="0"/>
                      <a:pt x="0" y="4904"/>
                      <a:pt x="0" y="10954"/>
                    </a:cubicBezTo>
                    <a:lnTo>
                      <a:pt x="0" y="35600"/>
                    </a:lnTo>
                    <a:cubicBezTo>
                      <a:pt x="8" y="39046"/>
                      <a:pt x="1629" y="42289"/>
                      <a:pt x="4381" y="44363"/>
                    </a:cubicBezTo>
                    <a:lnTo>
                      <a:pt x="40166" y="71199"/>
                    </a:lnTo>
                    <a:lnTo>
                      <a:pt x="4382" y="98036"/>
                    </a:lnTo>
                    <a:cubicBezTo>
                      <a:pt x="1629" y="100110"/>
                      <a:pt x="8" y="103353"/>
                      <a:pt x="0" y="106799"/>
                    </a:cubicBezTo>
                    <a:lnTo>
                      <a:pt x="0" y="131445"/>
                    </a:lnTo>
                    <a:cubicBezTo>
                      <a:pt x="0" y="137495"/>
                      <a:pt x="4904" y="142399"/>
                      <a:pt x="10954" y="142399"/>
                    </a:cubicBezTo>
                    <a:lnTo>
                      <a:pt x="87630" y="142399"/>
                    </a:lnTo>
                    <a:cubicBezTo>
                      <a:pt x="93680" y="142399"/>
                      <a:pt x="98584" y="137495"/>
                      <a:pt x="98584" y="131445"/>
                    </a:cubicBezTo>
                    <a:lnTo>
                      <a:pt x="98584" y="107046"/>
                    </a:lnTo>
                    <a:cubicBezTo>
                      <a:pt x="98576" y="103613"/>
                      <a:pt x="96968" y="100381"/>
                      <a:pt x="94236" y="98303"/>
                    </a:cubicBezTo>
                    <a:lnTo>
                      <a:pt x="58377" y="71199"/>
                    </a:lnTo>
                    <a:lnTo>
                      <a:pt x="94236" y="44096"/>
                    </a:lnTo>
                    <a:cubicBezTo>
                      <a:pt x="96968" y="42018"/>
                      <a:pt x="98576" y="38786"/>
                      <a:pt x="98584" y="35353"/>
                    </a:cubicBezTo>
                    <a:close/>
                    <a:moveTo>
                      <a:pt x="10954" y="10954"/>
                    </a:moveTo>
                    <a:lnTo>
                      <a:pt x="87630" y="10954"/>
                    </a:lnTo>
                    <a:lnTo>
                      <a:pt x="87630" y="35353"/>
                    </a:lnTo>
                    <a:lnTo>
                      <a:pt x="83680" y="38338"/>
                    </a:lnTo>
                    <a:lnTo>
                      <a:pt x="14603" y="38338"/>
                    </a:lnTo>
                    <a:lnTo>
                      <a:pt x="10954" y="35600"/>
                    </a:lnTo>
                    <a:close/>
                    <a:moveTo>
                      <a:pt x="49292" y="64353"/>
                    </a:moveTo>
                    <a:lnTo>
                      <a:pt x="29212" y="49292"/>
                    </a:lnTo>
                    <a:lnTo>
                      <a:pt x="69193" y="49292"/>
                    </a:lnTo>
                    <a:close/>
                    <a:moveTo>
                      <a:pt x="87630" y="131445"/>
                    </a:moveTo>
                    <a:lnTo>
                      <a:pt x="10954" y="131445"/>
                    </a:lnTo>
                    <a:lnTo>
                      <a:pt x="10954" y="106799"/>
                    </a:lnTo>
                    <a:lnTo>
                      <a:pt x="43815" y="82153"/>
                    </a:lnTo>
                    <a:lnTo>
                      <a:pt x="43815" y="98584"/>
                    </a:lnTo>
                    <a:cubicBezTo>
                      <a:pt x="43815" y="101609"/>
                      <a:pt x="46267" y="104061"/>
                      <a:pt x="49292" y="104061"/>
                    </a:cubicBezTo>
                    <a:cubicBezTo>
                      <a:pt x="52317" y="104061"/>
                      <a:pt x="54769" y="101609"/>
                      <a:pt x="54769" y="98584"/>
                    </a:cubicBezTo>
                    <a:lnTo>
                      <a:pt x="54769" y="82208"/>
                    </a:lnTo>
                    <a:lnTo>
                      <a:pt x="87630" y="107046"/>
                    </a:lnTo>
                    <a:close/>
                  </a:path>
                </a:pathLst>
              </a:custGeom>
              <a:solidFill>
                <a:srgbClr val="667085"/>
              </a:solidFill>
              <a:ln>
                <a:noFill/>
              </a:ln>
            </p:spPr>
          </p:sp>
        </p:grpSp>
        <p:sp>
          <p:nvSpPr>
            <p:cNvPr id="82" name="TextBox 82"/>
            <p:cNvSpPr txBox="1"/>
            <p:nvPr/>
          </p:nvSpPr>
          <p:spPr>
            <a:xfrm>
              <a:off x="737806" y="3776901"/>
              <a:ext cx="332971" cy="198025"/>
            </a:xfrm>
            <a:prstGeom prst="rect">
              <a:avLst/>
            </a:prstGeom>
            <a:noFill/>
            <a:ln>
              <a:noFill/>
            </a:ln>
          </p:spPr>
          <p:txBody>
            <a:bodyPr wrap="none" lIns="0" tIns="0" rIns="0" bIns="0" anchor="t" anchorCtr="0">
              <a:spAutoFit/>
            </a:bodyPr>
            <a:lstStyle/>
            <a:p>
              <a:pPr algn="l"/>
              <a:r>
                <a:rPr lang="en-IN" sz="1010" b="1" dirty="0">
                  <a:solidFill>
                    <a:srgbClr val="1D2939"/>
                  </a:solidFill>
                  <a:latin typeface="Calibri"/>
                  <a:ea typeface="Calibri"/>
                  <a:cs typeface="Calibri"/>
                </a:rPr>
                <a:t>Delay</a:t>
              </a:r>
            </a:p>
          </p:txBody>
        </p:sp>
        <p:sp>
          <p:nvSpPr>
            <p:cNvPr id="83" name="Rectangle 83"/>
            <p:cNvSpPr/>
            <p:nvPr/>
          </p:nvSpPr>
          <p:spPr>
            <a:xfrm>
              <a:off x="2138648" y="3762375"/>
              <a:ext cx="369570" cy="152400"/>
            </a:xfrm>
            <a:prstGeom prst="roundRect">
              <a:avLst>
                <a:gd name="adj" fmla="val 50000"/>
              </a:avLst>
            </a:prstGeom>
            <a:solidFill>
              <a:srgbClr val="FFFFFF"/>
            </a:solidFill>
            <a:ln w="9525">
              <a:solidFill>
                <a:srgbClr val="E8871E"/>
              </a:solidFill>
            </a:ln>
          </p:spPr>
        </p:sp>
        <p:sp>
          <p:nvSpPr>
            <p:cNvPr id="84" name="TextBox 84"/>
            <p:cNvSpPr txBox="1"/>
            <p:nvPr/>
          </p:nvSpPr>
          <p:spPr>
            <a:xfrm>
              <a:off x="2190065" y="3794998"/>
              <a:ext cx="266737" cy="140494"/>
            </a:xfrm>
            <a:prstGeom prst="rect">
              <a:avLst/>
            </a:prstGeom>
            <a:noFill/>
            <a:ln>
              <a:noFill/>
            </a:ln>
          </p:spPr>
          <p:txBody>
            <a:bodyPr wrap="none" lIns="0" tIns="0" rIns="0" bIns="0" anchor="t" anchorCtr="0">
              <a:spAutoFit/>
            </a:bodyPr>
            <a:lstStyle/>
            <a:p>
              <a:pPr algn="ctr"/>
              <a:r>
                <a:rPr lang="en-IN" sz="710" b="1" dirty="0">
                  <a:solidFill>
                    <a:srgbClr val="B35900"/>
                  </a:solidFill>
                  <a:latin typeface="Calibri"/>
                  <a:ea typeface="Calibri"/>
                  <a:cs typeface="Calibri"/>
                </a:rPr>
                <a:t>WEAK</a:t>
              </a:r>
            </a:p>
          </p:txBody>
        </p:sp>
        <p:sp>
          <p:nvSpPr>
            <p:cNvPr id="85" name="TextBox 85"/>
            <p:cNvSpPr txBox="1"/>
            <p:nvPr/>
          </p:nvSpPr>
          <p:spPr>
            <a:xfrm>
              <a:off x="428625" y="4036219"/>
              <a:ext cx="471441" cy="366712"/>
            </a:xfrm>
            <a:prstGeom prst="rect">
              <a:avLst/>
            </a:prstGeom>
            <a:noFill/>
            <a:ln>
              <a:noFill/>
            </a:ln>
          </p:spPr>
          <p:txBody>
            <a:bodyPr wrap="none" lIns="0" tIns="0" rIns="0" bIns="0" anchor="t" anchorCtr="0">
              <a:spAutoFit/>
            </a:bodyPr>
            <a:lstStyle/>
            <a:p>
              <a:pPr algn="l"/>
              <a:r>
                <a:rPr lang="en-IN" sz="1880" b="1" dirty="0">
                  <a:solidFill>
                    <a:srgbClr val="667085"/>
                  </a:solidFill>
                  <a:latin typeface="Calibri"/>
                  <a:ea typeface="Calibri"/>
                  <a:cs typeface="Calibri"/>
                </a:rPr>
                <a:t>0.71</a:t>
              </a:r>
            </a:p>
          </p:txBody>
        </p:sp>
        <p:sp>
          <p:nvSpPr>
            <p:cNvPr id="86" name="TextBox 86"/>
            <p:cNvSpPr txBox="1"/>
            <p:nvPr/>
          </p:nvSpPr>
          <p:spPr>
            <a:xfrm>
              <a:off x="1100138" y="4092416"/>
              <a:ext cx="1318191" cy="161925"/>
            </a:xfrm>
            <a:prstGeom prst="rect">
              <a:avLst/>
            </a:prstGeom>
            <a:noFill/>
            <a:ln>
              <a:noFill/>
            </a:ln>
          </p:spPr>
          <p:txBody>
            <a:bodyPr wrap="none" lIns="0" tIns="0" rIns="0" bIns="0" anchor="t" anchorCtr="0">
              <a:spAutoFit/>
            </a:bodyPr>
            <a:lstStyle/>
            <a:p>
              <a:pPr algn="l"/>
              <a:r>
                <a:rPr lang="en-IN" sz="820" dirty="0">
                  <a:solidFill>
                    <a:srgbClr val="344054"/>
                  </a:solidFill>
                  <a:latin typeface="Calibri"/>
                  <a:ea typeface="Calibri"/>
                  <a:cs typeface="Calibri"/>
                </a:rPr>
                <a:t>vs 0.68 for the office's record</a:t>
              </a:r>
            </a:p>
          </p:txBody>
        </p:sp>
        <p:sp>
          <p:nvSpPr>
            <p:cNvPr id="87" name="Rectangle 87"/>
            <p:cNvSpPr/>
            <p:nvPr/>
          </p:nvSpPr>
          <p:spPr>
            <a:xfrm>
              <a:off x="2698718" y="3609975"/>
              <a:ext cx="2298668" cy="857250"/>
            </a:xfrm>
            <a:prstGeom prst="roundRect">
              <a:avLst>
                <a:gd name="adj" fmla="val 8889"/>
              </a:avLst>
            </a:prstGeom>
            <a:solidFill>
              <a:srgbClr val="FFFFFF"/>
            </a:solidFill>
            <a:ln w="9525">
              <a:solidFill>
                <a:srgbClr val="D0D5DD"/>
              </a:solidFill>
            </a:ln>
          </p:spPr>
        </p:sp>
        <p:sp>
          <p:nvSpPr>
            <p:cNvPr id="88" name="Ellipse 88"/>
            <p:cNvSpPr/>
            <p:nvPr/>
          </p:nvSpPr>
          <p:spPr>
            <a:xfrm>
              <a:off x="2774918" y="3686175"/>
              <a:ext cx="304800" cy="304800"/>
            </a:xfrm>
            <a:prstGeom prst="ellipse">
              <a:avLst/>
            </a:prstGeom>
            <a:solidFill>
              <a:srgbClr val="EEF1F5"/>
            </a:solidFill>
            <a:ln>
              <a:noFill/>
            </a:ln>
          </p:spPr>
        </p:sp>
        <p:grpSp>
          <p:nvGrpSpPr>
            <p:cNvPr id="91" name="Group 91"/>
            <p:cNvGrpSpPr/>
            <p:nvPr/>
          </p:nvGrpSpPr>
          <p:grpSpPr>
            <a:xfrm>
              <a:off x="2855164" y="3766307"/>
              <a:ext cx="143354" cy="143468"/>
              <a:chOff x="2855164" y="3766307"/>
              <a:chExt cx="143354" cy="143468"/>
            </a:xfrm>
          </p:grpSpPr>
          <p:sp>
            <p:nvSpPr>
              <p:cNvPr id="89" name="Freeform 89"/>
              <p:cNvSpPr/>
              <p:nvPr/>
            </p:nvSpPr>
            <p:spPr>
              <a:xfrm>
                <a:off x="2855164" y="3766307"/>
                <a:ext cx="131716" cy="125469"/>
              </a:xfrm>
              <a:custGeom>
                <a:avLst/>
                <a:gdLst/>
                <a:ahLst/>
                <a:cxnLst/>
                <a:rect l="l" t="t" r="r" b="b"/>
                <a:pathLst>
                  <a:path w="131716" h="125469">
                    <a:moveTo>
                      <a:pt x="131716" y="100138"/>
                    </a:moveTo>
                    <a:cubicBezTo>
                      <a:pt x="126992" y="110208"/>
                      <a:pt x="119800" y="118922"/>
                      <a:pt x="110808" y="125469"/>
                    </a:cubicBezTo>
                    <a:lnTo>
                      <a:pt x="104400" y="119054"/>
                    </a:lnTo>
                    <a:cubicBezTo>
                      <a:pt x="103713" y="118365"/>
                      <a:pt x="102855" y="117871"/>
                      <a:pt x="101915" y="117623"/>
                    </a:cubicBezTo>
                    <a:lnTo>
                      <a:pt x="87216" y="113748"/>
                    </a:lnTo>
                    <a:cubicBezTo>
                      <a:pt x="84518" y="113039"/>
                      <a:pt x="82785" y="110415"/>
                      <a:pt x="83191" y="107655"/>
                    </a:cubicBezTo>
                    <a:lnTo>
                      <a:pt x="84820" y="96565"/>
                    </a:lnTo>
                    <a:cubicBezTo>
                      <a:pt x="85100" y="94662"/>
                      <a:pt x="86358" y="93045"/>
                      <a:pt x="88133" y="92306"/>
                    </a:cubicBezTo>
                    <a:lnTo>
                      <a:pt x="108987" y="83639"/>
                    </a:lnTo>
                    <a:cubicBezTo>
                      <a:pt x="110953" y="82823"/>
                      <a:pt x="113215" y="83221"/>
                      <a:pt x="114785" y="84659"/>
                    </a:cubicBezTo>
                    <a:close/>
                    <a:moveTo>
                      <a:pt x="93987" y="56522"/>
                    </a:moveTo>
                    <a:lnTo>
                      <a:pt x="109165" y="38859"/>
                    </a:lnTo>
                    <a:cubicBezTo>
                      <a:pt x="110018" y="37869"/>
                      <a:pt x="110489" y="36606"/>
                      <a:pt x="110493" y="35299"/>
                    </a:cubicBezTo>
                    <a:lnTo>
                      <a:pt x="110493" y="18868"/>
                    </a:lnTo>
                    <a:cubicBezTo>
                      <a:pt x="84259" y="0"/>
                      <a:pt x="48201" y="3002"/>
                      <a:pt x="25448" y="25949"/>
                    </a:cubicBezTo>
                    <a:cubicBezTo>
                      <a:pt x="2696" y="48896"/>
                      <a:pt x="0" y="84978"/>
                      <a:pt x="19091" y="111051"/>
                    </a:cubicBezTo>
                    <a:lnTo>
                      <a:pt x="25882" y="106587"/>
                    </a:lnTo>
                    <a:cubicBezTo>
                      <a:pt x="27409" y="105578"/>
                      <a:pt x="28332" y="103872"/>
                      <a:pt x="28340" y="102041"/>
                    </a:cubicBezTo>
                    <a:lnTo>
                      <a:pt x="28483" y="77238"/>
                    </a:lnTo>
                    <a:cubicBezTo>
                      <a:pt x="28491" y="76163"/>
                      <a:pt x="28812" y="75114"/>
                      <a:pt x="29408" y="74219"/>
                    </a:cubicBezTo>
                    <a:lnTo>
                      <a:pt x="43743" y="52791"/>
                    </a:lnTo>
                    <a:cubicBezTo>
                      <a:pt x="44574" y="51558"/>
                      <a:pt x="45870" y="50715"/>
                      <a:pt x="47334" y="50457"/>
                    </a:cubicBezTo>
                    <a:cubicBezTo>
                      <a:pt x="48798" y="50199"/>
                      <a:pt x="50304" y="50547"/>
                      <a:pt x="51507" y="51421"/>
                    </a:cubicBezTo>
                    <a:lnTo>
                      <a:pt x="65069" y="60321"/>
                    </a:lnTo>
                    <a:cubicBezTo>
                      <a:pt x="66211" y="61144"/>
                      <a:pt x="67624" y="61499"/>
                      <a:pt x="69019" y="61314"/>
                    </a:cubicBezTo>
                    <a:lnTo>
                      <a:pt x="90557" y="58398"/>
                    </a:lnTo>
                    <a:cubicBezTo>
                      <a:pt x="91892" y="58215"/>
                      <a:pt x="93113" y="57548"/>
                      <a:pt x="93987" y="56522"/>
                    </a:cubicBezTo>
                    <a:close/>
                  </a:path>
                </a:pathLst>
              </a:custGeom>
              <a:solidFill>
                <a:srgbClr val="667085">
                  <a:alpha val="20000"/>
                </a:srgbClr>
              </a:solidFill>
              <a:ln>
                <a:noFill/>
              </a:ln>
            </p:spPr>
          </p:sp>
          <p:sp>
            <p:nvSpPr>
              <p:cNvPr id="90" name="Freeform 90"/>
              <p:cNvSpPr/>
              <p:nvPr/>
            </p:nvSpPr>
            <p:spPr>
              <a:xfrm>
                <a:off x="2856119" y="3767376"/>
                <a:ext cx="142399" cy="142399"/>
              </a:xfrm>
              <a:custGeom>
                <a:avLst/>
                <a:gdLst/>
                <a:ahLst/>
                <a:cxnLst/>
                <a:rect l="l" t="t" r="r" b="b"/>
                <a:pathLst>
                  <a:path w="142399" h="142399">
                    <a:moveTo>
                      <a:pt x="71199" y="0"/>
                    </a:moveTo>
                    <a:cubicBezTo>
                      <a:pt x="31877" y="0"/>
                      <a:pt x="0" y="31877"/>
                      <a:pt x="0" y="71199"/>
                    </a:cubicBezTo>
                    <a:cubicBezTo>
                      <a:pt x="0" y="110522"/>
                      <a:pt x="31877" y="142399"/>
                      <a:pt x="71199" y="142399"/>
                    </a:cubicBezTo>
                    <a:cubicBezTo>
                      <a:pt x="110522" y="142399"/>
                      <a:pt x="142399" y="110522"/>
                      <a:pt x="142399" y="71199"/>
                    </a:cubicBezTo>
                    <a:cubicBezTo>
                      <a:pt x="142357" y="31894"/>
                      <a:pt x="110504" y="42"/>
                      <a:pt x="71199" y="0"/>
                    </a:cubicBezTo>
                    <a:close/>
                    <a:moveTo>
                      <a:pt x="71199" y="10954"/>
                    </a:moveTo>
                    <a:cubicBezTo>
                      <a:pt x="82872" y="10941"/>
                      <a:pt x="94293" y="14339"/>
                      <a:pt x="104061" y="20730"/>
                    </a:cubicBezTo>
                    <a:lnTo>
                      <a:pt x="104061" y="34230"/>
                    </a:lnTo>
                    <a:lnTo>
                      <a:pt x="88883" y="51852"/>
                    </a:lnTo>
                    <a:lnTo>
                      <a:pt x="67338" y="54769"/>
                    </a:lnTo>
                    <a:lnTo>
                      <a:pt x="67126" y="54618"/>
                    </a:lnTo>
                    <a:lnTo>
                      <a:pt x="53660" y="45814"/>
                    </a:lnTo>
                    <a:cubicBezTo>
                      <a:pt x="51248" y="44115"/>
                      <a:pt x="48252" y="43461"/>
                      <a:pt x="45352" y="43999"/>
                    </a:cubicBezTo>
                    <a:cubicBezTo>
                      <a:pt x="42451" y="44538"/>
                      <a:pt x="39890" y="46224"/>
                      <a:pt x="38249" y="48676"/>
                    </a:cubicBezTo>
                    <a:lnTo>
                      <a:pt x="23913" y="70104"/>
                    </a:lnTo>
                    <a:cubicBezTo>
                      <a:pt x="22719" y="71890"/>
                      <a:pt x="22076" y="73987"/>
                      <a:pt x="22065" y="76135"/>
                    </a:cubicBezTo>
                    <a:lnTo>
                      <a:pt x="21907" y="100939"/>
                    </a:lnTo>
                    <a:lnTo>
                      <a:pt x="19669" y="102411"/>
                    </a:lnTo>
                    <a:cubicBezTo>
                      <a:pt x="8401" y="83807"/>
                      <a:pt x="8035" y="60575"/>
                      <a:pt x="18712" y="41626"/>
                    </a:cubicBezTo>
                    <a:cubicBezTo>
                      <a:pt x="29388" y="22677"/>
                      <a:pt x="49450" y="10954"/>
                      <a:pt x="71199" y="10954"/>
                    </a:cubicBezTo>
                    <a:close/>
                    <a:moveTo>
                      <a:pt x="26214" y="111228"/>
                    </a:moveTo>
                    <a:lnTo>
                      <a:pt x="27939" y="110099"/>
                    </a:lnTo>
                    <a:cubicBezTo>
                      <a:pt x="30999" y="108081"/>
                      <a:pt x="32846" y="104666"/>
                      <a:pt x="32861" y="101000"/>
                    </a:cubicBezTo>
                    <a:lnTo>
                      <a:pt x="33005" y="76197"/>
                    </a:lnTo>
                    <a:lnTo>
                      <a:pt x="47354" y="54769"/>
                    </a:lnTo>
                    <a:cubicBezTo>
                      <a:pt x="47425" y="54823"/>
                      <a:pt x="47498" y="54873"/>
                      <a:pt x="47574" y="54919"/>
                    </a:cubicBezTo>
                    <a:lnTo>
                      <a:pt x="61040" y="63730"/>
                    </a:lnTo>
                    <a:cubicBezTo>
                      <a:pt x="63297" y="65323"/>
                      <a:pt x="66073" y="66001"/>
                      <a:pt x="68810" y="65627"/>
                    </a:cubicBezTo>
                    <a:lnTo>
                      <a:pt x="90368" y="62703"/>
                    </a:lnTo>
                    <a:cubicBezTo>
                      <a:pt x="93027" y="62349"/>
                      <a:pt x="95463" y="61031"/>
                      <a:pt x="97215" y="59000"/>
                    </a:cubicBezTo>
                    <a:lnTo>
                      <a:pt x="112392" y="41364"/>
                    </a:lnTo>
                    <a:cubicBezTo>
                      <a:pt x="114090" y="39375"/>
                      <a:pt x="115020" y="36845"/>
                      <a:pt x="115014" y="34230"/>
                    </a:cubicBezTo>
                    <a:lnTo>
                      <a:pt x="115014" y="29897"/>
                    </a:lnTo>
                    <a:cubicBezTo>
                      <a:pt x="130103" y="45860"/>
                      <a:pt x="135291" y="68778"/>
                      <a:pt x="128549" y="89684"/>
                    </a:cubicBezTo>
                    <a:lnTo>
                      <a:pt x="117500" y="79579"/>
                    </a:lnTo>
                    <a:cubicBezTo>
                      <a:pt x="114363" y="76700"/>
                      <a:pt x="109843" y="75899"/>
                      <a:pt x="105909" y="77525"/>
                    </a:cubicBezTo>
                    <a:lnTo>
                      <a:pt x="85056" y="86185"/>
                    </a:lnTo>
                    <a:cubicBezTo>
                      <a:pt x="81510" y="87674"/>
                      <a:pt x="78997" y="90905"/>
                      <a:pt x="78429" y="94709"/>
                    </a:cubicBezTo>
                    <a:lnTo>
                      <a:pt x="76793" y="105793"/>
                    </a:lnTo>
                    <a:cubicBezTo>
                      <a:pt x="75978" y="111317"/>
                      <a:pt x="79449" y="116569"/>
                      <a:pt x="84850" y="117986"/>
                    </a:cubicBezTo>
                    <a:lnTo>
                      <a:pt x="99542" y="121860"/>
                    </a:lnTo>
                    <a:lnTo>
                      <a:pt x="101158" y="123483"/>
                    </a:lnTo>
                    <a:cubicBezTo>
                      <a:pt x="76429" y="137672"/>
                      <a:pt x="45136" y="132555"/>
                      <a:pt x="26214" y="111228"/>
                    </a:cubicBezTo>
                    <a:close/>
                    <a:moveTo>
                      <a:pt x="110222" y="117068"/>
                    </a:moveTo>
                    <a:lnTo>
                      <a:pt x="107278" y="114118"/>
                    </a:lnTo>
                    <a:cubicBezTo>
                      <a:pt x="105905" y="112739"/>
                      <a:pt x="104190" y="111751"/>
                      <a:pt x="102308" y="111256"/>
                    </a:cubicBezTo>
                    <a:lnTo>
                      <a:pt x="87630" y="107381"/>
                    </a:lnTo>
                    <a:lnTo>
                      <a:pt x="89266" y="96297"/>
                    </a:lnTo>
                    <a:lnTo>
                      <a:pt x="110113" y="87630"/>
                    </a:lnTo>
                    <a:lnTo>
                      <a:pt x="123914" y="100282"/>
                    </a:lnTo>
                    <a:cubicBezTo>
                      <a:pt x="120397" y="106655"/>
                      <a:pt x="115758" y="112341"/>
                      <a:pt x="110222" y="117068"/>
                    </a:cubicBezTo>
                    <a:close/>
                  </a:path>
                </a:pathLst>
              </a:custGeom>
              <a:solidFill>
                <a:srgbClr val="667085"/>
              </a:solidFill>
              <a:ln>
                <a:noFill/>
              </a:ln>
            </p:spPr>
          </p:sp>
        </p:grpSp>
        <p:sp>
          <p:nvSpPr>
            <p:cNvPr id="92" name="TextBox 92"/>
            <p:cNvSpPr txBox="1"/>
            <p:nvPr/>
          </p:nvSpPr>
          <p:spPr>
            <a:xfrm>
              <a:off x="3131725" y="3776901"/>
              <a:ext cx="475945" cy="198025"/>
            </a:xfrm>
            <a:prstGeom prst="rect">
              <a:avLst/>
            </a:prstGeom>
            <a:noFill/>
            <a:ln>
              <a:noFill/>
            </a:ln>
          </p:spPr>
          <p:txBody>
            <a:bodyPr wrap="none" lIns="0" tIns="0" rIns="0" bIns="0" anchor="t" anchorCtr="0">
              <a:spAutoFit/>
            </a:bodyPr>
            <a:lstStyle/>
            <a:p>
              <a:pPr algn="l"/>
              <a:r>
                <a:rPr lang="en-IN" sz="1010" b="1" dirty="0">
                  <a:solidFill>
                    <a:srgbClr val="1D2939"/>
                  </a:solidFill>
                  <a:latin typeface="Calibri"/>
                  <a:ea typeface="Calibri"/>
                  <a:cs typeface="Calibri"/>
                </a:rPr>
                <a:t>Satellite</a:t>
              </a:r>
            </a:p>
          </p:txBody>
        </p:sp>
        <p:sp>
          <p:nvSpPr>
            <p:cNvPr id="93" name="Rectangle 93"/>
            <p:cNvSpPr/>
            <p:nvPr/>
          </p:nvSpPr>
          <p:spPr>
            <a:xfrm>
              <a:off x="4591717" y="3762375"/>
              <a:ext cx="310515" cy="152400"/>
            </a:xfrm>
            <a:prstGeom prst="roundRect">
              <a:avLst>
                <a:gd name="adj" fmla="val 50000"/>
              </a:avLst>
            </a:prstGeom>
            <a:solidFill>
              <a:srgbClr val="FFFFFF"/>
            </a:solidFill>
            <a:ln w="9525">
              <a:solidFill>
                <a:srgbClr val="667085"/>
              </a:solidFill>
            </a:ln>
          </p:spPr>
        </p:sp>
        <p:sp>
          <p:nvSpPr>
            <p:cNvPr id="94" name="TextBox 94"/>
            <p:cNvSpPr txBox="1"/>
            <p:nvPr/>
          </p:nvSpPr>
          <p:spPr>
            <a:xfrm>
              <a:off x="4661707" y="3794998"/>
              <a:ext cx="170534" cy="140494"/>
            </a:xfrm>
            <a:prstGeom prst="rect">
              <a:avLst/>
            </a:prstGeom>
            <a:noFill/>
            <a:ln>
              <a:noFill/>
            </a:ln>
          </p:spPr>
          <p:txBody>
            <a:bodyPr wrap="none" lIns="0" tIns="0" rIns="0" bIns="0" anchor="t" anchorCtr="0">
              <a:spAutoFit/>
            </a:bodyPr>
            <a:lstStyle/>
            <a:p>
              <a:pPr algn="ctr"/>
              <a:r>
                <a:rPr lang="en-IN" sz="710" b="1" dirty="0">
                  <a:solidFill>
                    <a:srgbClr val="667085"/>
                  </a:solidFill>
                  <a:latin typeface="Calibri"/>
                  <a:ea typeface="Calibri"/>
                  <a:cs typeface="Calibri"/>
                </a:rPr>
                <a:t>OFF</a:t>
              </a:r>
            </a:p>
          </p:txBody>
        </p:sp>
        <p:sp>
          <p:nvSpPr>
            <p:cNvPr id="95" name="TextBox 95"/>
            <p:cNvSpPr txBox="1"/>
            <p:nvPr/>
          </p:nvSpPr>
          <p:spPr>
            <a:xfrm>
              <a:off x="2822543" y="4036219"/>
              <a:ext cx="445384" cy="366712"/>
            </a:xfrm>
            <a:prstGeom prst="rect">
              <a:avLst/>
            </a:prstGeom>
            <a:noFill/>
            <a:ln>
              <a:noFill/>
            </a:ln>
          </p:spPr>
          <p:txBody>
            <a:bodyPr wrap="none" lIns="0" tIns="0" rIns="0" bIns="0" anchor="t" anchorCtr="0">
              <a:spAutoFit/>
            </a:bodyPr>
            <a:lstStyle/>
            <a:p>
              <a:pPr algn="l"/>
              <a:r>
                <a:rPr lang="en-IN" sz="1880" b="1" dirty="0">
                  <a:solidFill>
                    <a:srgbClr val="667085"/>
                  </a:solidFill>
                  <a:latin typeface="Calibri"/>
                  <a:ea typeface="Calibri"/>
                  <a:cs typeface="Calibri"/>
                </a:rPr>
                <a:t>OFF</a:t>
              </a:r>
            </a:p>
          </p:txBody>
        </p:sp>
        <p:sp>
          <p:nvSpPr>
            <p:cNvPr id="96" name="TextBox 96"/>
            <p:cNvSpPr txBox="1"/>
            <p:nvPr/>
          </p:nvSpPr>
          <p:spPr>
            <a:xfrm>
              <a:off x="3360706" y="4092416"/>
              <a:ext cx="1243634" cy="161925"/>
            </a:xfrm>
            <a:prstGeom prst="rect">
              <a:avLst/>
            </a:prstGeom>
            <a:noFill/>
            <a:ln>
              <a:noFill/>
            </a:ln>
          </p:spPr>
          <p:txBody>
            <a:bodyPr wrap="none" lIns="0" tIns="0" rIns="0" bIns="0" anchor="t" anchorCtr="0">
              <a:spAutoFit/>
            </a:bodyPr>
            <a:lstStyle/>
            <a:p>
              <a:pPr algn="l"/>
              <a:r>
                <a:rPr lang="en-IN" sz="820" dirty="0">
                  <a:solidFill>
                    <a:srgbClr val="344054"/>
                  </a:solidFill>
                  <a:latin typeface="Calibri"/>
                  <a:ea typeface="Calibri"/>
                  <a:cs typeface="Calibri"/>
                </a:rPr>
                <a:t>pilot works too small to see</a:t>
              </a:r>
            </a:p>
          </p:txBody>
        </p:sp>
        <p:sp>
          <p:nvSpPr>
            <p:cNvPr id="97" name="Rectangle 97"/>
            <p:cNvSpPr/>
            <p:nvPr/>
          </p:nvSpPr>
          <p:spPr>
            <a:xfrm>
              <a:off x="5092732" y="3609975"/>
              <a:ext cx="2298668" cy="857250"/>
            </a:xfrm>
            <a:prstGeom prst="roundRect">
              <a:avLst>
                <a:gd name="adj" fmla="val 8889"/>
              </a:avLst>
            </a:prstGeom>
            <a:solidFill>
              <a:srgbClr val="FFFFFF"/>
            </a:solidFill>
            <a:ln w="9525">
              <a:solidFill>
                <a:srgbClr val="D0D5DD"/>
              </a:solidFill>
            </a:ln>
          </p:spPr>
        </p:sp>
        <p:sp>
          <p:nvSpPr>
            <p:cNvPr id="98" name="Ellipse 98"/>
            <p:cNvSpPr/>
            <p:nvPr/>
          </p:nvSpPr>
          <p:spPr>
            <a:xfrm>
              <a:off x="5168932" y="3686175"/>
              <a:ext cx="304800" cy="304800"/>
            </a:xfrm>
            <a:prstGeom prst="ellipse">
              <a:avLst/>
            </a:prstGeom>
            <a:solidFill>
              <a:srgbClr val="EEF1F5"/>
            </a:solidFill>
            <a:ln>
              <a:noFill/>
            </a:ln>
          </p:spPr>
        </p:sp>
        <p:grpSp>
          <p:nvGrpSpPr>
            <p:cNvPr id="101" name="Group 101"/>
            <p:cNvGrpSpPr/>
            <p:nvPr/>
          </p:nvGrpSpPr>
          <p:grpSpPr>
            <a:xfrm>
              <a:off x="5261086" y="3778329"/>
              <a:ext cx="120491" cy="120491"/>
              <a:chOff x="5261086" y="3778329"/>
              <a:chExt cx="120491" cy="120491"/>
            </a:xfrm>
          </p:grpSpPr>
          <p:sp>
            <p:nvSpPr>
              <p:cNvPr id="99" name="Freeform 99"/>
              <p:cNvSpPr/>
              <p:nvPr/>
            </p:nvSpPr>
            <p:spPr>
              <a:xfrm>
                <a:off x="5266563" y="3783806"/>
                <a:ext cx="109538" cy="109538"/>
              </a:xfrm>
              <a:custGeom>
                <a:avLst/>
                <a:gdLst/>
                <a:ahLst/>
                <a:cxnLst/>
                <a:rect l="l" t="t" r="r" b="b"/>
                <a:pathLst>
                  <a:path w="109538" h="109538">
                    <a:moveTo>
                      <a:pt x="43815" y="5477"/>
                    </a:moveTo>
                    <a:lnTo>
                      <a:pt x="43815" y="38338"/>
                    </a:lnTo>
                    <a:cubicBezTo>
                      <a:pt x="43815" y="41363"/>
                      <a:pt x="41363" y="43815"/>
                      <a:pt x="38338" y="43815"/>
                    </a:cubicBezTo>
                    <a:lnTo>
                      <a:pt x="5477" y="43815"/>
                    </a:lnTo>
                    <a:cubicBezTo>
                      <a:pt x="2452" y="43815"/>
                      <a:pt x="0" y="41363"/>
                      <a:pt x="0" y="38338"/>
                    </a:cubicBezTo>
                    <a:lnTo>
                      <a:pt x="0" y="5477"/>
                    </a:lnTo>
                    <a:cubicBezTo>
                      <a:pt x="0" y="2452"/>
                      <a:pt x="2452" y="0"/>
                      <a:pt x="5477" y="0"/>
                    </a:cubicBezTo>
                    <a:lnTo>
                      <a:pt x="38338" y="0"/>
                    </a:lnTo>
                    <a:cubicBezTo>
                      <a:pt x="41363" y="0"/>
                      <a:pt x="43815" y="2452"/>
                      <a:pt x="43815" y="5477"/>
                    </a:cubicBezTo>
                    <a:close/>
                    <a:moveTo>
                      <a:pt x="38338" y="65723"/>
                    </a:moveTo>
                    <a:lnTo>
                      <a:pt x="5477" y="65723"/>
                    </a:lnTo>
                    <a:cubicBezTo>
                      <a:pt x="2452" y="65723"/>
                      <a:pt x="0" y="68175"/>
                      <a:pt x="0" y="71199"/>
                    </a:cubicBezTo>
                    <a:lnTo>
                      <a:pt x="0" y="104061"/>
                    </a:lnTo>
                    <a:cubicBezTo>
                      <a:pt x="0" y="107085"/>
                      <a:pt x="2452" y="109538"/>
                      <a:pt x="5477" y="109538"/>
                    </a:cubicBezTo>
                    <a:lnTo>
                      <a:pt x="38338" y="109538"/>
                    </a:lnTo>
                    <a:cubicBezTo>
                      <a:pt x="41363" y="109538"/>
                      <a:pt x="43815" y="107085"/>
                      <a:pt x="43815" y="104061"/>
                    </a:cubicBezTo>
                    <a:lnTo>
                      <a:pt x="43815" y="71199"/>
                    </a:lnTo>
                    <a:cubicBezTo>
                      <a:pt x="43815" y="68175"/>
                      <a:pt x="41363" y="65723"/>
                      <a:pt x="38338" y="65723"/>
                    </a:cubicBezTo>
                    <a:close/>
                    <a:moveTo>
                      <a:pt x="104061" y="0"/>
                    </a:moveTo>
                    <a:lnTo>
                      <a:pt x="71199" y="0"/>
                    </a:lnTo>
                    <a:cubicBezTo>
                      <a:pt x="68175" y="0"/>
                      <a:pt x="65722" y="2452"/>
                      <a:pt x="65722" y="5477"/>
                    </a:cubicBezTo>
                    <a:lnTo>
                      <a:pt x="65722" y="38338"/>
                    </a:lnTo>
                    <a:cubicBezTo>
                      <a:pt x="65722" y="41363"/>
                      <a:pt x="68175" y="43815"/>
                      <a:pt x="71199" y="43815"/>
                    </a:cubicBezTo>
                    <a:lnTo>
                      <a:pt x="104061" y="43815"/>
                    </a:lnTo>
                    <a:cubicBezTo>
                      <a:pt x="107085" y="43815"/>
                      <a:pt x="109538" y="41363"/>
                      <a:pt x="109538" y="38338"/>
                    </a:cubicBezTo>
                    <a:lnTo>
                      <a:pt x="109538" y="5477"/>
                    </a:lnTo>
                    <a:cubicBezTo>
                      <a:pt x="109538" y="2452"/>
                      <a:pt x="107085" y="0"/>
                      <a:pt x="104061" y="0"/>
                    </a:cubicBezTo>
                    <a:close/>
                  </a:path>
                </a:pathLst>
              </a:custGeom>
              <a:solidFill>
                <a:srgbClr val="667085">
                  <a:alpha val="20000"/>
                </a:srgbClr>
              </a:solidFill>
              <a:ln>
                <a:noFill/>
              </a:ln>
            </p:spPr>
          </p:sp>
          <p:sp>
            <p:nvSpPr>
              <p:cNvPr id="100" name="Freeform 100"/>
              <p:cNvSpPr/>
              <p:nvPr/>
            </p:nvSpPr>
            <p:spPr>
              <a:xfrm>
                <a:off x="5261086" y="3778329"/>
                <a:ext cx="120491" cy="120491"/>
              </a:xfrm>
              <a:custGeom>
                <a:avLst/>
                <a:gdLst/>
                <a:ahLst/>
                <a:cxnLst/>
                <a:rect l="l" t="t" r="r" b="b"/>
                <a:pathLst>
                  <a:path w="120491" h="120491">
                    <a:moveTo>
                      <a:pt x="43815" y="0"/>
                    </a:moveTo>
                    <a:lnTo>
                      <a:pt x="10954" y="0"/>
                    </a:lnTo>
                    <a:cubicBezTo>
                      <a:pt x="4904" y="0"/>
                      <a:pt x="0" y="4904"/>
                      <a:pt x="0" y="10954"/>
                    </a:cubicBezTo>
                    <a:lnTo>
                      <a:pt x="0" y="43815"/>
                    </a:lnTo>
                    <a:cubicBezTo>
                      <a:pt x="0" y="49865"/>
                      <a:pt x="4904" y="54769"/>
                      <a:pt x="10954" y="54769"/>
                    </a:cubicBezTo>
                    <a:lnTo>
                      <a:pt x="43815" y="54769"/>
                    </a:lnTo>
                    <a:cubicBezTo>
                      <a:pt x="49865" y="54769"/>
                      <a:pt x="54769" y="49865"/>
                      <a:pt x="54769" y="43815"/>
                    </a:cubicBezTo>
                    <a:lnTo>
                      <a:pt x="54769" y="10954"/>
                    </a:lnTo>
                    <a:cubicBezTo>
                      <a:pt x="54769" y="4904"/>
                      <a:pt x="49865" y="0"/>
                      <a:pt x="43815" y="0"/>
                    </a:cubicBezTo>
                    <a:close/>
                    <a:moveTo>
                      <a:pt x="43815" y="43815"/>
                    </a:moveTo>
                    <a:lnTo>
                      <a:pt x="10954" y="43815"/>
                    </a:lnTo>
                    <a:lnTo>
                      <a:pt x="10954" y="10954"/>
                    </a:lnTo>
                    <a:lnTo>
                      <a:pt x="43815" y="10954"/>
                    </a:lnTo>
                    <a:lnTo>
                      <a:pt x="43815" y="43815"/>
                    </a:lnTo>
                    <a:close/>
                    <a:moveTo>
                      <a:pt x="43815" y="65722"/>
                    </a:moveTo>
                    <a:lnTo>
                      <a:pt x="10954" y="65722"/>
                    </a:lnTo>
                    <a:cubicBezTo>
                      <a:pt x="4904" y="65722"/>
                      <a:pt x="0" y="70627"/>
                      <a:pt x="0" y="76676"/>
                    </a:cubicBezTo>
                    <a:lnTo>
                      <a:pt x="0" y="109538"/>
                    </a:lnTo>
                    <a:cubicBezTo>
                      <a:pt x="0" y="115587"/>
                      <a:pt x="4904" y="120491"/>
                      <a:pt x="10954" y="120491"/>
                    </a:cubicBezTo>
                    <a:lnTo>
                      <a:pt x="43815" y="120491"/>
                    </a:lnTo>
                    <a:cubicBezTo>
                      <a:pt x="49865" y="120491"/>
                      <a:pt x="54769" y="115587"/>
                      <a:pt x="54769" y="109538"/>
                    </a:cubicBezTo>
                    <a:lnTo>
                      <a:pt x="54769" y="76676"/>
                    </a:lnTo>
                    <a:cubicBezTo>
                      <a:pt x="54769" y="70627"/>
                      <a:pt x="49865" y="65722"/>
                      <a:pt x="43815" y="65722"/>
                    </a:cubicBezTo>
                    <a:close/>
                    <a:moveTo>
                      <a:pt x="43815" y="109538"/>
                    </a:moveTo>
                    <a:lnTo>
                      <a:pt x="10954" y="109538"/>
                    </a:lnTo>
                    <a:lnTo>
                      <a:pt x="10954" y="76676"/>
                    </a:lnTo>
                    <a:lnTo>
                      <a:pt x="43815" y="76676"/>
                    </a:lnTo>
                    <a:lnTo>
                      <a:pt x="43815" y="109538"/>
                    </a:lnTo>
                    <a:close/>
                    <a:moveTo>
                      <a:pt x="109538" y="0"/>
                    </a:moveTo>
                    <a:lnTo>
                      <a:pt x="76676" y="0"/>
                    </a:lnTo>
                    <a:cubicBezTo>
                      <a:pt x="70627" y="0"/>
                      <a:pt x="65722" y="4904"/>
                      <a:pt x="65722" y="10954"/>
                    </a:cubicBezTo>
                    <a:lnTo>
                      <a:pt x="65722" y="43815"/>
                    </a:lnTo>
                    <a:cubicBezTo>
                      <a:pt x="65722" y="49865"/>
                      <a:pt x="70627" y="54769"/>
                      <a:pt x="76676" y="54769"/>
                    </a:cubicBezTo>
                    <a:lnTo>
                      <a:pt x="109538" y="54769"/>
                    </a:lnTo>
                    <a:cubicBezTo>
                      <a:pt x="115587" y="54769"/>
                      <a:pt x="120491" y="49865"/>
                      <a:pt x="120491" y="43815"/>
                    </a:cubicBezTo>
                    <a:lnTo>
                      <a:pt x="120491" y="10954"/>
                    </a:lnTo>
                    <a:cubicBezTo>
                      <a:pt x="120491" y="4904"/>
                      <a:pt x="115587" y="0"/>
                      <a:pt x="109538" y="0"/>
                    </a:cubicBezTo>
                    <a:close/>
                    <a:moveTo>
                      <a:pt x="109538" y="43815"/>
                    </a:moveTo>
                    <a:lnTo>
                      <a:pt x="76676" y="43815"/>
                    </a:lnTo>
                    <a:lnTo>
                      <a:pt x="76676" y="10954"/>
                    </a:lnTo>
                    <a:lnTo>
                      <a:pt x="109538" y="10954"/>
                    </a:lnTo>
                    <a:lnTo>
                      <a:pt x="109538" y="43815"/>
                    </a:lnTo>
                    <a:close/>
                    <a:moveTo>
                      <a:pt x="65722" y="93107"/>
                    </a:moveTo>
                    <a:lnTo>
                      <a:pt x="65722" y="71199"/>
                    </a:lnTo>
                    <a:cubicBezTo>
                      <a:pt x="65722" y="68175"/>
                      <a:pt x="68175" y="65722"/>
                      <a:pt x="71199" y="65722"/>
                    </a:cubicBezTo>
                    <a:cubicBezTo>
                      <a:pt x="74224" y="65722"/>
                      <a:pt x="76676" y="68175"/>
                      <a:pt x="76676" y="71199"/>
                    </a:cubicBezTo>
                    <a:lnTo>
                      <a:pt x="76676" y="93107"/>
                    </a:lnTo>
                    <a:cubicBezTo>
                      <a:pt x="76676" y="96132"/>
                      <a:pt x="74224" y="98584"/>
                      <a:pt x="71199" y="98584"/>
                    </a:cubicBezTo>
                    <a:cubicBezTo>
                      <a:pt x="68175" y="98584"/>
                      <a:pt x="65722" y="96132"/>
                      <a:pt x="65722" y="93107"/>
                    </a:cubicBezTo>
                    <a:close/>
                    <a:moveTo>
                      <a:pt x="120491" y="82153"/>
                    </a:moveTo>
                    <a:cubicBezTo>
                      <a:pt x="120491" y="85178"/>
                      <a:pt x="118039" y="87630"/>
                      <a:pt x="115014" y="87630"/>
                    </a:cubicBezTo>
                    <a:lnTo>
                      <a:pt x="98584" y="87630"/>
                    </a:lnTo>
                    <a:lnTo>
                      <a:pt x="98584" y="115014"/>
                    </a:lnTo>
                    <a:cubicBezTo>
                      <a:pt x="98584" y="118039"/>
                      <a:pt x="96132" y="120491"/>
                      <a:pt x="93107" y="120491"/>
                    </a:cubicBezTo>
                    <a:lnTo>
                      <a:pt x="71199" y="120491"/>
                    </a:lnTo>
                    <a:cubicBezTo>
                      <a:pt x="68175" y="120491"/>
                      <a:pt x="65722" y="118039"/>
                      <a:pt x="65722" y="115014"/>
                    </a:cubicBezTo>
                    <a:cubicBezTo>
                      <a:pt x="65722" y="111990"/>
                      <a:pt x="68175" y="109538"/>
                      <a:pt x="71199" y="109538"/>
                    </a:cubicBezTo>
                    <a:lnTo>
                      <a:pt x="87630" y="109538"/>
                    </a:lnTo>
                    <a:lnTo>
                      <a:pt x="87630" y="71199"/>
                    </a:lnTo>
                    <a:cubicBezTo>
                      <a:pt x="87630" y="68175"/>
                      <a:pt x="90082" y="65722"/>
                      <a:pt x="93107" y="65722"/>
                    </a:cubicBezTo>
                    <a:cubicBezTo>
                      <a:pt x="96132" y="65722"/>
                      <a:pt x="98584" y="68175"/>
                      <a:pt x="98584" y="71199"/>
                    </a:cubicBezTo>
                    <a:lnTo>
                      <a:pt x="98584" y="76676"/>
                    </a:lnTo>
                    <a:lnTo>
                      <a:pt x="115014" y="76676"/>
                    </a:lnTo>
                    <a:cubicBezTo>
                      <a:pt x="118039" y="76676"/>
                      <a:pt x="120491" y="79128"/>
                      <a:pt x="120491" y="82153"/>
                    </a:cubicBezTo>
                    <a:close/>
                    <a:moveTo>
                      <a:pt x="120491" y="104061"/>
                    </a:moveTo>
                    <a:lnTo>
                      <a:pt x="120491" y="115014"/>
                    </a:lnTo>
                    <a:cubicBezTo>
                      <a:pt x="120491" y="118039"/>
                      <a:pt x="118039" y="120491"/>
                      <a:pt x="115014" y="120491"/>
                    </a:cubicBezTo>
                    <a:cubicBezTo>
                      <a:pt x="111990" y="120491"/>
                      <a:pt x="109538" y="118039"/>
                      <a:pt x="109538" y="115014"/>
                    </a:cubicBezTo>
                    <a:lnTo>
                      <a:pt x="109538" y="104061"/>
                    </a:lnTo>
                    <a:cubicBezTo>
                      <a:pt x="109538" y="101036"/>
                      <a:pt x="111990" y="98584"/>
                      <a:pt x="115014" y="98584"/>
                    </a:cubicBezTo>
                    <a:cubicBezTo>
                      <a:pt x="118039" y="98584"/>
                      <a:pt x="120491" y="101036"/>
                      <a:pt x="120491" y="104061"/>
                    </a:cubicBezTo>
                    <a:close/>
                  </a:path>
                </a:pathLst>
              </a:custGeom>
              <a:solidFill>
                <a:srgbClr val="667085"/>
              </a:solidFill>
              <a:ln>
                <a:noFill/>
              </a:ln>
            </p:spPr>
          </p:sp>
        </p:grpSp>
        <p:sp>
          <p:nvSpPr>
            <p:cNvPr id="102" name="TextBox 102"/>
            <p:cNvSpPr txBox="1"/>
            <p:nvPr/>
          </p:nvSpPr>
          <p:spPr>
            <a:xfrm>
              <a:off x="5525738" y="3776901"/>
              <a:ext cx="394715" cy="198025"/>
            </a:xfrm>
            <a:prstGeom prst="rect">
              <a:avLst/>
            </a:prstGeom>
            <a:noFill/>
            <a:ln>
              <a:noFill/>
            </a:ln>
          </p:spPr>
          <p:txBody>
            <a:bodyPr wrap="none" lIns="0" tIns="0" rIns="0" bIns="0" anchor="t" anchorCtr="0">
              <a:spAutoFit/>
            </a:bodyPr>
            <a:lstStyle/>
            <a:p>
              <a:pPr algn="l"/>
              <a:r>
                <a:rPr lang="en-IN" sz="1010" b="1" dirty="0">
                  <a:solidFill>
                    <a:srgbClr val="1D2939"/>
                  </a:solidFill>
                  <a:latin typeface="Calibri"/>
                  <a:ea typeface="Calibri"/>
                  <a:cs typeface="Calibri"/>
                </a:rPr>
                <a:t>Citizen</a:t>
              </a:r>
            </a:p>
          </p:txBody>
        </p:sp>
        <p:sp>
          <p:nvSpPr>
            <p:cNvPr id="103" name="Rectangle 103"/>
            <p:cNvSpPr/>
            <p:nvPr/>
          </p:nvSpPr>
          <p:spPr>
            <a:xfrm>
              <a:off x="6631305" y="3762375"/>
              <a:ext cx="664845" cy="152400"/>
            </a:xfrm>
            <a:prstGeom prst="roundRect">
              <a:avLst>
                <a:gd name="adj" fmla="val 50000"/>
              </a:avLst>
            </a:prstGeom>
            <a:solidFill>
              <a:srgbClr val="FFFFFF"/>
            </a:solidFill>
            <a:ln w="9525">
              <a:solidFill>
                <a:srgbClr val="667085"/>
              </a:solidFill>
            </a:ln>
          </p:spPr>
        </p:sp>
        <p:sp>
          <p:nvSpPr>
            <p:cNvPr id="104" name="TextBox 104"/>
            <p:cNvSpPr txBox="1"/>
            <p:nvPr/>
          </p:nvSpPr>
          <p:spPr>
            <a:xfrm>
              <a:off x="6697804" y="3794998"/>
              <a:ext cx="531847" cy="140494"/>
            </a:xfrm>
            <a:prstGeom prst="rect">
              <a:avLst/>
            </a:prstGeom>
            <a:noFill/>
            <a:ln>
              <a:noFill/>
            </a:ln>
          </p:spPr>
          <p:txBody>
            <a:bodyPr wrap="none" lIns="0" tIns="0" rIns="0" bIns="0" anchor="t" anchorCtr="0">
              <a:spAutoFit/>
            </a:bodyPr>
            <a:lstStyle/>
            <a:p>
              <a:pPr algn="ctr"/>
              <a:r>
                <a:rPr lang="en-IN" sz="710" b="1" dirty="0">
                  <a:solidFill>
                    <a:srgbClr val="667085"/>
                  </a:solidFill>
                  <a:latin typeface="Calibri"/>
                  <a:ea typeface="Calibri"/>
                  <a:cs typeface="Calibri"/>
                </a:rPr>
                <a:t>DEMO ONLY</a:t>
              </a:r>
            </a:p>
          </p:txBody>
        </p:sp>
        <p:sp>
          <p:nvSpPr>
            <p:cNvPr id="105" name="TextBox 105"/>
            <p:cNvSpPr txBox="1"/>
            <p:nvPr/>
          </p:nvSpPr>
          <p:spPr>
            <a:xfrm>
              <a:off x="5216557" y="4036219"/>
              <a:ext cx="147314" cy="366712"/>
            </a:xfrm>
            <a:prstGeom prst="rect">
              <a:avLst/>
            </a:prstGeom>
            <a:noFill/>
            <a:ln>
              <a:noFill/>
            </a:ln>
          </p:spPr>
          <p:txBody>
            <a:bodyPr wrap="none" lIns="0" tIns="0" rIns="0" bIns="0" anchor="t" anchorCtr="0">
              <a:spAutoFit/>
            </a:bodyPr>
            <a:lstStyle/>
            <a:p>
              <a:pPr algn="l"/>
              <a:r>
                <a:rPr lang="en-IN" sz="1880" b="1" dirty="0">
                  <a:solidFill>
                    <a:srgbClr val="667085"/>
                  </a:solidFill>
                  <a:latin typeface="Calibri"/>
                  <a:ea typeface="Calibri"/>
                  <a:cs typeface="Calibri"/>
                </a:rPr>
                <a:t>4</a:t>
              </a:r>
            </a:p>
          </p:txBody>
        </p:sp>
        <p:sp>
          <p:nvSpPr>
            <p:cNvPr id="106" name="TextBox 106"/>
            <p:cNvSpPr txBox="1"/>
            <p:nvPr/>
          </p:nvSpPr>
          <p:spPr>
            <a:xfrm>
              <a:off x="5488019" y="4092416"/>
              <a:ext cx="1877193" cy="161925"/>
            </a:xfrm>
            <a:prstGeom prst="rect">
              <a:avLst/>
            </a:prstGeom>
            <a:noFill/>
            <a:ln>
              <a:noFill/>
            </a:ln>
          </p:spPr>
          <p:txBody>
            <a:bodyPr wrap="none" lIns="0" tIns="0" rIns="0" bIns="0" anchor="t" anchorCtr="0">
              <a:spAutoFit/>
            </a:bodyPr>
            <a:lstStyle/>
            <a:p>
              <a:pPr algn="l"/>
              <a:r>
                <a:rPr lang="en-IN" sz="820" dirty="0">
                  <a:solidFill>
                    <a:srgbClr val="344054"/>
                  </a:solidFill>
                  <a:latin typeface="Calibri"/>
                  <a:ea typeface="Calibri"/>
                  <a:cs typeface="Calibri"/>
                </a:rPr>
                <a:t>of 21,793 eSAKSHI ratings are above zero</a:t>
              </a:r>
            </a:p>
          </p:txBody>
        </p:sp>
      </p:grpSp>
      <p:grpSp>
        <p:nvGrpSpPr>
          <p:cNvPr id="122" name="cost-chart"/>
          <p:cNvGrpSpPr/>
          <p:nvPr/>
        </p:nvGrpSpPr>
        <p:grpSpPr>
          <a:xfrm>
            <a:off x="300038" y="4625816"/>
            <a:ext cx="2500312" cy="1657350"/>
            <a:chOff x="300038" y="4625816"/>
            <a:chExt cx="2500312" cy="1657350"/>
          </a:xfrm>
        </p:grpSpPr>
        <p:sp>
          <p:nvSpPr>
            <p:cNvPr id="108" name="TextBox 108"/>
            <p:cNvSpPr txBox="1"/>
            <p:nvPr/>
          </p:nvSpPr>
          <p:spPr>
            <a:xfrm>
              <a:off x="300038" y="4625816"/>
              <a:ext cx="1990181" cy="161925"/>
            </a:xfrm>
            <a:prstGeom prst="rect">
              <a:avLst/>
            </a:prstGeom>
            <a:noFill/>
            <a:ln>
              <a:noFill/>
            </a:ln>
          </p:spPr>
          <p:txBody>
            <a:bodyPr wrap="none" lIns="0" tIns="0" rIns="0" bIns="0" anchor="t" anchorCtr="0">
              <a:spAutoFit/>
            </a:bodyPr>
            <a:lstStyle/>
            <a:p>
              <a:pPr algn="l"/>
              <a:r>
                <a:rPr lang="en-IN" sz="820" b="1" dirty="0">
                  <a:solidFill>
                    <a:srgbClr val="667085"/>
                  </a:solidFill>
                  <a:latin typeface="Calibri"/>
                  <a:ea typeface="Calibri"/>
                  <a:cs typeface="Calibri"/>
                </a:rPr>
                <a:t>COST AGENT: INFLATED WORKS CAUGHT</a:t>
              </a:r>
            </a:p>
          </p:txBody>
        </p:sp>
        <p:sp>
          <p:nvSpPr>
            <p:cNvPr id="109" name="Rectangle 109"/>
            <p:cNvSpPr/>
            <p:nvPr/>
          </p:nvSpPr>
          <p:spPr>
            <a:xfrm>
              <a:off x="400050" y="5866066"/>
              <a:ext cx="381000" cy="210884"/>
            </a:xfrm>
            <a:prstGeom prst="rect">
              <a:avLst/>
            </a:prstGeom>
            <a:solidFill>
              <a:srgbClr val="0B3D6E"/>
            </a:solidFill>
            <a:ln>
              <a:noFill/>
            </a:ln>
          </p:spPr>
        </p:sp>
        <p:sp>
          <p:nvSpPr>
            <p:cNvPr id="110" name="TextBox 110"/>
            <p:cNvSpPr txBox="1"/>
            <p:nvPr/>
          </p:nvSpPr>
          <p:spPr>
            <a:xfrm>
              <a:off x="484914" y="5734860"/>
              <a:ext cx="211271" cy="169069"/>
            </a:xfrm>
            <a:prstGeom prst="rect">
              <a:avLst/>
            </a:prstGeom>
            <a:noFill/>
            <a:ln>
              <a:noFill/>
            </a:ln>
          </p:spPr>
          <p:txBody>
            <a:bodyPr wrap="none" lIns="0" tIns="0" rIns="0" bIns="0" anchor="t" anchorCtr="0">
              <a:spAutoFit/>
            </a:bodyPr>
            <a:lstStyle/>
            <a:p>
              <a:pPr algn="ctr"/>
              <a:r>
                <a:rPr lang="en-IN" sz="860" b="1" dirty="0">
                  <a:solidFill>
                    <a:srgbClr val="1D2939"/>
                  </a:solidFill>
                  <a:latin typeface="Calibri"/>
                  <a:ea typeface="Calibri"/>
                  <a:cs typeface="Calibri"/>
                </a:rPr>
                <a:t>18%</a:t>
              </a:r>
            </a:p>
          </p:txBody>
        </p:sp>
        <p:sp>
          <p:nvSpPr>
            <p:cNvPr id="111" name="TextBox 111"/>
            <p:cNvSpPr txBox="1"/>
            <p:nvPr/>
          </p:nvSpPr>
          <p:spPr>
            <a:xfrm>
              <a:off x="530328" y="6121241"/>
              <a:ext cx="120443"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2×</a:t>
              </a:r>
            </a:p>
          </p:txBody>
        </p:sp>
        <p:sp>
          <p:nvSpPr>
            <p:cNvPr id="112" name="Rectangle 112"/>
            <p:cNvSpPr/>
            <p:nvPr/>
          </p:nvSpPr>
          <p:spPr>
            <a:xfrm>
              <a:off x="1009650" y="5620036"/>
              <a:ext cx="381000" cy="456914"/>
            </a:xfrm>
            <a:prstGeom prst="rect">
              <a:avLst/>
            </a:prstGeom>
            <a:solidFill>
              <a:srgbClr val="0B3D6E"/>
            </a:solidFill>
            <a:ln>
              <a:noFill/>
            </a:ln>
          </p:spPr>
        </p:sp>
        <p:sp>
          <p:nvSpPr>
            <p:cNvPr id="113" name="TextBox 113"/>
            <p:cNvSpPr txBox="1"/>
            <p:nvPr/>
          </p:nvSpPr>
          <p:spPr>
            <a:xfrm>
              <a:off x="1094514" y="5488829"/>
              <a:ext cx="211271" cy="169069"/>
            </a:xfrm>
            <a:prstGeom prst="rect">
              <a:avLst/>
            </a:prstGeom>
            <a:noFill/>
            <a:ln>
              <a:noFill/>
            </a:ln>
          </p:spPr>
          <p:txBody>
            <a:bodyPr wrap="none" lIns="0" tIns="0" rIns="0" bIns="0" anchor="t" anchorCtr="0">
              <a:spAutoFit/>
            </a:bodyPr>
            <a:lstStyle/>
            <a:p>
              <a:pPr algn="ctr"/>
              <a:r>
                <a:rPr lang="en-IN" sz="860" b="1" dirty="0">
                  <a:solidFill>
                    <a:srgbClr val="1D2939"/>
                  </a:solidFill>
                  <a:latin typeface="Calibri"/>
                  <a:ea typeface="Calibri"/>
                  <a:cs typeface="Calibri"/>
                </a:rPr>
                <a:t>39%</a:t>
              </a:r>
            </a:p>
          </p:txBody>
        </p:sp>
        <p:sp>
          <p:nvSpPr>
            <p:cNvPr id="114" name="TextBox 114"/>
            <p:cNvSpPr txBox="1"/>
            <p:nvPr/>
          </p:nvSpPr>
          <p:spPr>
            <a:xfrm>
              <a:off x="1139928" y="6121241"/>
              <a:ext cx="120443"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3×</a:t>
              </a:r>
            </a:p>
          </p:txBody>
        </p:sp>
        <p:sp>
          <p:nvSpPr>
            <p:cNvPr id="115" name="Rectangle 115"/>
            <p:cNvSpPr/>
            <p:nvPr/>
          </p:nvSpPr>
          <p:spPr>
            <a:xfrm>
              <a:off x="1619250" y="5338858"/>
              <a:ext cx="381000" cy="738092"/>
            </a:xfrm>
            <a:prstGeom prst="rect">
              <a:avLst/>
            </a:prstGeom>
            <a:solidFill>
              <a:srgbClr val="E8871E"/>
            </a:solidFill>
            <a:ln>
              <a:noFill/>
            </a:ln>
          </p:spPr>
        </p:sp>
        <p:sp>
          <p:nvSpPr>
            <p:cNvPr id="116" name="TextBox 116"/>
            <p:cNvSpPr txBox="1"/>
            <p:nvPr/>
          </p:nvSpPr>
          <p:spPr>
            <a:xfrm>
              <a:off x="1704114" y="5207651"/>
              <a:ext cx="211271" cy="169069"/>
            </a:xfrm>
            <a:prstGeom prst="rect">
              <a:avLst/>
            </a:prstGeom>
            <a:noFill/>
            <a:ln>
              <a:noFill/>
            </a:ln>
          </p:spPr>
          <p:txBody>
            <a:bodyPr wrap="none" lIns="0" tIns="0" rIns="0" bIns="0" anchor="t" anchorCtr="0">
              <a:spAutoFit/>
            </a:bodyPr>
            <a:lstStyle/>
            <a:p>
              <a:pPr algn="ctr"/>
              <a:r>
                <a:rPr lang="en-IN" sz="860" b="1" dirty="0">
                  <a:solidFill>
                    <a:srgbClr val="1D2939"/>
                  </a:solidFill>
                  <a:latin typeface="Calibri"/>
                  <a:ea typeface="Calibri"/>
                  <a:cs typeface="Calibri"/>
                </a:rPr>
                <a:t>63%</a:t>
              </a:r>
            </a:p>
          </p:txBody>
        </p:sp>
        <p:sp>
          <p:nvSpPr>
            <p:cNvPr id="117" name="TextBox 117"/>
            <p:cNvSpPr txBox="1"/>
            <p:nvPr/>
          </p:nvSpPr>
          <p:spPr>
            <a:xfrm>
              <a:off x="1749528" y="6121241"/>
              <a:ext cx="120443"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5×</a:t>
              </a:r>
            </a:p>
          </p:txBody>
        </p:sp>
        <p:sp>
          <p:nvSpPr>
            <p:cNvPr id="118" name="Rectangle 118"/>
            <p:cNvSpPr/>
            <p:nvPr/>
          </p:nvSpPr>
          <p:spPr>
            <a:xfrm>
              <a:off x="2228850" y="5092827"/>
              <a:ext cx="381000" cy="984123"/>
            </a:xfrm>
            <a:prstGeom prst="rect">
              <a:avLst/>
            </a:prstGeom>
            <a:solidFill>
              <a:srgbClr val="0B3D6E"/>
            </a:solidFill>
            <a:ln>
              <a:noFill/>
            </a:ln>
          </p:spPr>
        </p:sp>
        <p:sp>
          <p:nvSpPr>
            <p:cNvPr id="119" name="TextBox 119"/>
            <p:cNvSpPr txBox="1"/>
            <p:nvPr/>
          </p:nvSpPr>
          <p:spPr>
            <a:xfrm>
              <a:off x="2313714" y="4961620"/>
              <a:ext cx="211271" cy="169069"/>
            </a:xfrm>
            <a:prstGeom prst="rect">
              <a:avLst/>
            </a:prstGeom>
            <a:noFill/>
            <a:ln>
              <a:noFill/>
            </a:ln>
          </p:spPr>
          <p:txBody>
            <a:bodyPr wrap="none" lIns="0" tIns="0" rIns="0" bIns="0" anchor="t" anchorCtr="0">
              <a:spAutoFit/>
            </a:bodyPr>
            <a:lstStyle/>
            <a:p>
              <a:pPr algn="ctr"/>
              <a:r>
                <a:rPr lang="en-IN" sz="860" b="1" dirty="0">
                  <a:solidFill>
                    <a:srgbClr val="1D2939"/>
                  </a:solidFill>
                  <a:latin typeface="Calibri"/>
                  <a:ea typeface="Calibri"/>
                  <a:cs typeface="Calibri"/>
                </a:rPr>
                <a:t>84%</a:t>
              </a:r>
            </a:p>
          </p:txBody>
        </p:sp>
        <p:sp>
          <p:nvSpPr>
            <p:cNvPr id="120" name="TextBox 120"/>
            <p:cNvSpPr txBox="1"/>
            <p:nvPr/>
          </p:nvSpPr>
          <p:spPr>
            <a:xfrm>
              <a:off x="2331156" y="6121241"/>
              <a:ext cx="176388" cy="161925"/>
            </a:xfrm>
            <a:prstGeom prst="rect">
              <a:avLst/>
            </a:prstGeom>
            <a:noFill/>
            <a:ln>
              <a:noFill/>
            </a:ln>
          </p:spPr>
          <p:txBody>
            <a:bodyPr wrap="none" lIns="0" tIns="0" rIns="0" bIns="0" anchor="t" anchorCtr="0">
              <a:spAutoFit/>
            </a:bodyPr>
            <a:lstStyle/>
            <a:p>
              <a:pPr algn="ctr"/>
              <a:r>
                <a:rPr lang="en-IN" sz="820" dirty="0">
                  <a:solidFill>
                    <a:srgbClr val="667085"/>
                  </a:solidFill>
                  <a:latin typeface="Calibri"/>
                  <a:ea typeface="Calibri"/>
                  <a:cs typeface="Calibri"/>
                </a:rPr>
                <a:t>10×</a:t>
              </a:r>
            </a:p>
          </p:txBody>
        </p:sp>
        <p:sp>
          <p:nvSpPr>
            <p:cNvPr id="121" name="Line 121"/>
            <p:cNvSpPr/>
            <p:nvPr/>
          </p:nvSpPr>
          <p:spPr>
            <a:xfrm>
              <a:off x="304800" y="6076950"/>
              <a:ext cx="2495550" cy="9525"/>
            </a:xfrm>
            <a:custGeom>
              <a:avLst/>
              <a:gdLst/>
              <a:ahLst/>
              <a:cxnLst/>
              <a:rect l="l" t="t" r="r" b="b"/>
              <a:pathLst>
                <a:path w="2495550" h="9525">
                  <a:moveTo>
                    <a:pt x="0" y="0"/>
                  </a:moveTo>
                  <a:lnTo>
                    <a:pt x="2495550" y="0"/>
                  </a:lnTo>
                </a:path>
              </a:pathLst>
            </a:custGeom>
            <a:noFill/>
            <a:ln w="9525">
              <a:solidFill>
                <a:srgbClr val="667085"/>
              </a:solidFill>
            </a:ln>
          </p:spPr>
        </p:sp>
      </p:grpSp>
      <p:grpSp>
        <p:nvGrpSpPr>
          <p:cNvPr id="152" name="feasibility"/>
          <p:cNvGrpSpPr/>
          <p:nvPr/>
        </p:nvGrpSpPr>
        <p:grpSpPr>
          <a:xfrm>
            <a:off x="3062288" y="4625816"/>
            <a:ext cx="4329112" cy="1213009"/>
            <a:chOff x="3062288" y="4625816"/>
            <a:chExt cx="4329112" cy="1213009"/>
          </a:xfrm>
        </p:grpSpPr>
        <p:sp>
          <p:nvSpPr>
            <p:cNvPr id="123" name="TextBox 123"/>
            <p:cNvSpPr txBox="1"/>
            <p:nvPr/>
          </p:nvSpPr>
          <p:spPr>
            <a:xfrm>
              <a:off x="3062288" y="4625816"/>
              <a:ext cx="572099" cy="161925"/>
            </a:xfrm>
            <a:prstGeom prst="rect">
              <a:avLst/>
            </a:prstGeom>
            <a:noFill/>
            <a:ln>
              <a:noFill/>
            </a:ln>
          </p:spPr>
          <p:txBody>
            <a:bodyPr wrap="none" lIns="0" tIns="0" rIns="0" bIns="0" anchor="t" anchorCtr="0">
              <a:spAutoFit/>
            </a:bodyPr>
            <a:lstStyle/>
            <a:p>
              <a:pPr algn="l"/>
              <a:r>
                <a:rPr lang="en-IN" sz="820" b="1" dirty="0">
                  <a:solidFill>
                    <a:srgbClr val="667085"/>
                  </a:solidFill>
                  <a:latin typeface="Calibri"/>
                  <a:ea typeface="Calibri"/>
                  <a:cs typeface="Calibri"/>
                </a:rPr>
                <a:t>FEASIBILITY</a:t>
              </a:r>
            </a:p>
          </p:txBody>
        </p:sp>
        <p:sp>
          <p:nvSpPr>
            <p:cNvPr id="124" name="Rectangle 124"/>
            <p:cNvSpPr/>
            <p:nvPr/>
          </p:nvSpPr>
          <p:spPr>
            <a:xfrm>
              <a:off x="3067050" y="4810125"/>
              <a:ext cx="2114550" cy="476250"/>
            </a:xfrm>
            <a:prstGeom prst="roundRect">
              <a:avLst>
                <a:gd name="adj" fmla="val 12000"/>
              </a:avLst>
            </a:prstGeom>
            <a:solidFill>
              <a:srgbClr val="F2F5F9"/>
            </a:solidFill>
            <a:ln>
              <a:noFill/>
            </a:ln>
          </p:spPr>
        </p:sp>
        <p:sp>
          <p:nvSpPr>
            <p:cNvPr id="125" name="Ellipse 125"/>
            <p:cNvSpPr/>
            <p:nvPr/>
          </p:nvSpPr>
          <p:spPr>
            <a:xfrm>
              <a:off x="3143250" y="4895850"/>
              <a:ext cx="304800" cy="304800"/>
            </a:xfrm>
            <a:prstGeom prst="ellipse">
              <a:avLst/>
            </a:prstGeom>
            <a:solidFill>
              <a:srgbClr val="FFFFFF"/>
            </a:solidFill>
            <a:ln>
              <a:noFill/>
            </a:ln>
          </p:spPr>
        </p:sp>
        <p:grpSp>
          <p:nvGrpSpPr>
            <p:cNvPr id="128" name="Group 128"/>
            <p:cNvGrpSpPr/>
            <p:nvPr/>
          </p:nvGrpSpPr>
          <p:grpSpPr>
            <a:xfrm>
              <a:off x="3210879" y="4988004"/>
              <a:ext cx="166924" cy="120491"/>
              <a:chOff x="3210879" y="4988004"/>
              <a:chExt cx="166924" cy="120491"/>
            </a:xfrm>
          </p:grpSpPr>
          <p:sp>
            <p:nvSpPr>
              <p:cNvPr id="126" name="Freeform 126"/>
              <p:cNvSpPr/>
              <p:nvPr/>
            </p:nvSpPr>
            <p:spPr>
              <a:xfrm>
                <a:off x="3216351" y="4989501"/>
                <a:ext cx="155976" cy="113518"/>
              </a:xfrm>
              <a:custGeom>
                <a:avLst/>
                <a:gdLst/>
                <a:ahLst/>
                <a:cxnLst/>
                <a:rect l="l" t="t" r="r" b="b"/>
                <a:pathLst>
                  <a:path w="155976" h="113518">
                    <a:moveTo>
                      <a:pt x="155976" y="58749"/>
                    </a:moveTo>
                    <a:cubicBezTo>
                      <a:pt x="155976" y="88997"/>
                      <a:pt x="131455" y="113518"/>
                      <a:pt x="101207" y="113518"/>
                    </a:cubicBezTo>
                    <a:lnTo>
                      <a:pt x="40961" y="113518"/>
                    </a:lnTo>
                    <a:cubicBezTo>
                      <a:pt x="26122" y="113500"/>
                      <a:pt x="12627" y="104920"/>
                      <a:pt x="6313" y="91491"/>
                    </a:cubicBezTo>
                    <a:cubicBezTo>
                      <a:pt x="0" y="78062"/>
                      <a:pt x="2003" y="62196"/>
                      <a:pt x="11456" y="50758"/>
                    </a:cubicBezTo>
                    <a:cubicBezTo>
                      <a:pt x="20908" y="39319"/>
                      <a:pt x="36113" y="34363"/>
                      <a:pt x="50491" y="38033"/>
                    </a:cubicBezTo>
                    <a:lnTo>
                      <a:pt x="50491" y="38102"/>
                    </a:lnTo>
                    <a:cubicBezTo>
                      <a:pt x="60375" y="13858"/>
                      <a:pt x="86034" y="0"/>
                      <a:pt x="111728" y="5029"/>
                    </a:cubicBezTo>
                    <a:cubicBezTo>
                      <a:pt x="137421" y="10059"/>
                      <a:pt x="155962" y="32569"/>
                      <a:pt x="155976" y="58749"/>
                    </a:cubicBezTo>
                    <a:close/>
                  </a:path>
                </a:pathLst>
              </a:custGeom>
              <a:solidFill>
                <a:srgbClr val="0B3D6E">
                  <a:alpha val="20000"/>
                </a:srgbClr>
              </a:solidFill>
              <a:ln>
                <a:noFill/>
              </a:ln>
            </p:spPr>
          </p:sp>
          <p:sp>
            <p:nvSpPr>
              <p:cNvPr id="127" name="Freeform 127"/>
              <p:cNvSpPr/>
              <p:nvPr/>
            </p:nvSpPr>
            <p:spPr>
              <a:xfrm>
                <a:off x="3210879" y="4988004"/>
                <a:ext cx="166924" cy="120491"/>
              </a:xfrm>
              <a:custGeom>
                <a:avLst/>
                <a:gdLst/>
                <a:ahLst/>
                <a:cxnLst/>
                <a:rect l="l" t="t" r="r" b="b"/>
                <a:pathLst>
                  <a:path w="166924" h="120491">
                    <a:moveTo>
                      <a:pt x="106678" y="0"/>
                    </a:moveTo>
                    <a:cubicBezTo>
                      <a:pt x="83859" y="18"/>
                      <a:pt x="63004" y="12913"/>
                      <a:pt x="52793" y="33320"/>
                    </a:cubicBezTo>
                    <a:cubicBezTo>
                      <a:pt x="36557" y="30952"/>
                      <a:pt x="20359" y="37853"/>
                      <a:pt x="10820" y="51203"/>
                    </a:cubicBezTo>
                    <a:cubicBezTo>
                      <a:pt x="1281" y="64552"/>
                      <a:pt x="0" y="82113"/>
                      <a:pt x="7500" y="96705"/>
                    </a:cubicBezTo>
                    <a:cubicBezTo>
                      <a:pt x="15001" y="111298"/>
                      <a:pt x="30025" y="120477"/>
                      <a:pt x="46433" y="120491"/>
                    </a:cubicBezTo>
                    <a:lnTo>
                      <a:pt x="106678" y="120491"/>
                    </a:lnTo>
                    <a:cubicBezTo>
                      <a:pt x="139951" y="120491"/>
                      <a:pt x="166924" y="93518"/>
                      <a:pt x="166924" y="60246"/>
                    </a:cubicBezTo>
                    <a:cubicBezTo>
                      <a:pt x="166924" y="26973"/>
                      <a:pt x="139951" y="0"/>
                      <a:pt x="106678" y="0"/>
                    </a:cubicBezTo>
                    <a:close/>
                    <a:moveTo>
                      <a:pt x="106678" y="109538"/>
                    </a:moveTo>
                    <a:lnTo>
                      <a:pt x="46433" y="109538"/>
                    </a:lnTo>
                    <a:cubicBezTo>
                      <a:pt x="28284" y="109538"/>
                      <a:pt x="13571" y="94825"/>
                      <a:pt x="13571" y="76676"/>
                    </a:cubicBezTo>
                    <a:cubicBezTo>
                      <a:pt x="13571" y="58527"/>
                      <a:pt x="28284" y="43815"/>
                      <a:pt x="46433" y="43815"/>
                    </a:cubicBezTo>
                    <a:cubicBezTo>
                      <a:pt x="47186" y="43815"/>
                      <a:pt x="47939" y="43815"/>
                      <a:pt x="48685" y="43890"/>
                    </a:cubicBezTo>
                    <a:cubicBezTo>
                      <a:pt x="47187" y="49213"/>
                      <a:pt x="46429" y="54716"/>
                      <a:pt x="46433" y="60246"/>
                    </a:cubicBezTo>
                    <a:cubicBezTo>
                      <a:pt x="46433" y="63270"/>
                      <a:pt x="48885" y="65722"/>
                      <a:pt x="51909" y="65722"/>
                    </a:cubicBezTo>
                    <a:cubicBezTo>
                      <a:pt x="54934" y="65722"/>
                      <a:pt x="57386" y="63270"/>
                      <a:pt x="57386" y="60246"/>
                    </a:cubicBezTo>
                    <a:cubicBezTo>
                      <a:pt x="57386" y="33022"/>
                      <a:pt x="79455" y="10954"/>
                      <a:pt x="106678" y="10954"/>
                    </a:cubicBezTo>
                    <a:cubicBezTo>
                      <a:pt x="133901" y="10954"/>
                      <a:pt x="155970" y="33022"/>
                      <a:pt x="155970" y="60246"/>
                    </a:cubicBezTo>
                    <a:cubicBezTo>
                      <a:pt x="155970" y="87469"/>
                      <a:pt x="133901" y="109538"/>
                      <a:pt x="106678" y="109538"/>
                    </a:cubicBezTo>
                    <a:close/>
                  </a:path>
                </a:pathLst>
              </a:custGeom>
              <a:solidFill>
                <a:srgbClr val="0B3D6E"/>
              </a:solidFill>
              <a:ln>
                <a:noFill/>
              </a:ln>
            </p:spPr>
          </p:sp>
        </p:grpSp>
        <p:sp>
          <p:nvSpPr>
            <p:cNvPr id="129" name="TextBox 129"/>
            <p:cNvSpPr txBox="1"/>
            <p:nvPr/>
          </p:nvSpPr>
          <p:spPr>
            <a:xfrm>
              <a:off x="3519297" y="4914424"/>
              <a:ext cx="526810" cy="190690"/>
            </a:xfrm>
            <a:prstGeom prst="rect">
              <a:avLst/>
            </a:prstGeom>
            <a:noFill/>
            <a:ln>
              <a:noFill/>
            </a:ln>
          </p:spPr>
          <p:txBody>
            <a:bodyPr wrap="none" lIns="0" tIns="0" rIns="0" bIns="0" anchor="t" anchorCtr="0">
              <a:spAutoFit/>
            </a:bodyPr>
            <a:lstStyle/>
            <a:p>
              <a:pPr algn="l"/>
              <a:r>
                <a:rPr lang="en-IN" sz="980" b="1" dirty="0">
                  <a:solidFill>
                    <a:srgbClr val="1D2939"/>
                  </a:solidFill>
                  <a:latin typeface="Calibri"/>
                  <a:ea typeface="Calibri"/>
                  <a:cs typeface="Calibri"/>
                </a:rPr>
                <a:t>Technical</a:t>
              </a:r>
            </a:p>
          </p:txBody>
        </p:sp>
        <p:sp>
          <p:nvSpPr>
            <p:cNvPr id="130" name="TextBox 130"/>
            <p:cNvSpPr txBox="1"/>
            <p:nvPr/>
          </p:nvSpPr>
          <p:spPr>
            <a:xfrm>
              <a:off x="3519488" y="5083016"/>
              <a:ext cx="1154005"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live on Vercel + Supabase</a:t>
              </a:r>
            </a:p>
          </p:txBody>
        </p:sp>
        <p:sp>
          <p:nvSpPr>
            <p:cNvPr id="131" name="Rectangle 131"/>
            <p:cNvSpPr/>
            <p:nvPr/>
          </p:nvSpPr>
          <p:spPr>
            <a:xfrm>
              <a:off x="5276850" y="4810125"/>
              <a:ext cx="2114550" cy="476250"/>
            </a:xfrm>
            <a:prstGeom prst="roundRect">
              <a:avLst>
                <a:gd name="adj" fmla="val 12000"/>
              </a:avLst>
            </a:prstGeom>
            <a:solidFill>
              <a:srgbClr val="F2F5F9"/>
            </a:solidFill>
            <a:ln>
              <a:noFill/>
            </a:ln>
          </p:spPr>
        </p:sp>
        <p:sp>
          <p:nvSpPr>
            <p:cNvPr id="132" name="Ellipse 132"/>
            <p:cNvSpPr/>
            <p:nvPr/>
          </p:nvSpPr>
          <p:spPr>
            <a:xfrm>
              <a:off x="5353050" y="4895850"/>
              <a:ext cx="304800" cy="304800"/>
            </a:xfrm>
            <a:prstGeom prst="ellipse">
              <a:avLst/>
            </a:prstGeom>
            <a:solidFill>
              <a:srgbClr val="FFFFFF"/>
            </a:solidFill>
            <a:ln>
              <a:noFill/>
            </a:ln>
          </p:spPr>
        </p:sp>
        <p:grpSp>
          <p:nvGrpSpPr>
            <p:cNvPr id="135" name="Group 135"/>
            <p:cNvGrpSpPr/>
            <p:nvPr/>
          </p:nvGrpSpPr>
          <p:grpSpPr>
            <a:xfrm>
              <a:off x="5439727" y="4977051"/>
              <a:ext cx="131445" cy="142399"/>
              <a:chOff x="5439727" y="4977051"/>
              <a:chExt cx="131445" cy="142399"/>
            </a:xfrm>
          </p:grpSpPr>
          <p:sp>
            <p:nvSpPr>
              <p:cNvPr id="133" name="Freeform 133"/>
              <p:cNvSpPr/>
              <p:nvPr/>
            </p:nvSpPr>
            <p:spPr>
              <a:xfrm>
                <a:off x="5445204" y="4982527"/>
                <a:ext cx="120491" cy="65723"/>
              </a:xfrm>
              <a:custGeom>
                <a:avLst/>
                <a:gdLst/>
                <a:ahLst/>
                <a:cxnLst/>
                <a:rect l="l" t="t" r="r" b="b"/>
                <a:pathLst>
                  <a:path w="120491" h="65723">
                    <a:moveTo>
                      <a:pt x="120491" y="32861"/>
                    </a:moveTo>
                    <a:cubicBezTo>
                      <a:pt x="120491" y="51010"/>
                      <a:pt x="93518" y="65723"/>
                      <a:pt x="60246" y="65723"/>
                    </a:cubicBezTo>
                    <a:cubicBezTo>
                      <a:pt x="26974" y="65723"/>
                      <a:pt x="0" y="51010"/>
                      <a:pt x="0" y="32861"/>
                    </a:cubicBezTo>
                    <a:cubicBezTo>
                      <a:pt x="0" y="14712"/>
                      <a:pt x="26974" y="0"/>
                      <a:pt x="60246" y="0"/>
                    </a:cubicBezTo>
                    <a:cubicBezTo>
                      <a:pt x="93518" y="0"/>
                      <a:pt x="120491" y="14712"/>
                      <a:pt x="120491" y="32861"/>
                    </a:cubicBezTo>
                    <a:close/>
                  </a:path>
                </a:pathLst>
              </a:custGeom>
              <a:solidFill>
                <a:srgbClr val="0B3D6E">
                  <a:alpha val="20000"/>
                </a:srgbClr>
              </a:solidFill>
              <a:ln>
                <a:noFill/>
              </a:ln>
            </p:spPr>
          </p:sp>
          <p:sp>
            <p:nvSpPr>
              <p:cNvPr id="134" name="Freeform 134"/>
              <p:cNvSpPr/>
              <p:nvPr/>
            </p:nvSpPr>
            <p:spPr>
              <a:xfrm>
                <a:off x="5439727" y="4977051"/>
                <a:ext cx="131445" cy="142399"/>
              </a:xfrm>
              <a:custGeom>
                <a:avLst/>
                <a:gdLst/>
                <a:ahLst/>
                <a:cxnLst/>
                <a:rect l="l" t="t" r="r" b="b"/>
                <a:pathLst>
                  <a:path w="131445" h="142399">
                    <a:moveTo>
                      <a:pt x="65723" y="0"/>
                    </a:moveTo>
                    <a:cubicBezTo>
                      <a:pt x="28870" y="0"/>
                      <a:pt x="0" y="16841"/>
                      <a:pt x="0" y="38338"/>
                    </a:cubicBezTo>
                    <a:lnTo>
                      <a:pt x="0" y="104061"/>
                    </a:lnTo>
                    <a:cubicBezTo>
                      <a:pt x="0" y="125557"/>
                      <a:pt x="28870" y="142399"/>
                      <a:pt x="65723" y="142399"/>
                    </a:cubicBezTo>
                    <a:cubicBezTo>
                      <a:pt x="102575" y="142399"/>
                      <a:pt x="131445" y="125557"/>
                      <a:pt x="131445" y="104061"/>
                    </a:cubicBezTo>
                    <a:lnTo>
                      <a:pt x="131445" y="38338"/>
                    </a:lnTo>
                    <a:cubicBezTo>
                      <a:pt x="131445" y="16841"/>
                      <a:pt x="102575" y="0"/>
                      <a:pt x="65723" y="0"/>
                    </a:cubicBezTo>
                    <a:close/>
                    <a:moveTo>
                      <a:pt x="120491" y="71199"/>
                    </a:moveTo>
                    <a:cubicBezTo>
                      <a:pt x="120491" y="77785"/>
                      <a:pt x="115097" y="84501"/>
                      <a:pt x="105697" y="89629"/>
                    </a:cubicBezTo>
                    <a:cubicBezTo>
                      <a:pt x="95113" y="95400"/>
                      <a:pt x="80914" y="98584"/>
                      <a:pt x="65723" y="98584"/>
                    </a:cubicBezTo>
                    <a:cubicBezTo>
                      <a:pt x="50531" y="98584"/>
                      <a:pt x="36332" y="95400"/>
                      <a:pt x="25748" y="89629"/>
                    </a:cubicBezTo>
                    <a:cubicBezTo>
                      <a:pt x="16348" y="84501"/>
                      <a:pt x="10954" y="77785"/>
                      <a:pt x="10954" y="71199"/>
                    </a:cubicBezTo>
                    <a:lnTo>
                      <a:pt x="10954" y="59807"/>
                    </a:lnTo>
                    <a:cubicBezTo>
                      <a:pt x="22633" y="70077"/>
                      <a:pt x="42603" y="76676"/>
                      <a:pt x="65723" y="76676"/>
                    </a:cubicBezTo>
                    <a:cubicBezTo>
                      <a:pt x="88842" y="76676"/>
                      <a:pt x="108812" y="70049"/>
                      <a:pt x="120491" y="59807"/>
                    </a:cubicBezTo>
                    <a:close/>
                    <a:moveTo>
                      <a:pt x="25748" y="19908"/>
                    </a:moveTo>
                    <a:cubicBezTo>
                      <a:pt x="36332" y="14137"/>
                      <a:pt x="50531" y="10954"/>
                      <a:pt x="65723" y="10954"/>
                    </a:cubicBezTo>
                    <a:cubicBezTo>
                      <a:pt x="80914" y="10954"/>
                      <a:pt x="95113" y="14137"/>
                      <a:pt x="105697" y="19908"/>
                    </a:cubicBezTo>
                    <a:cubicBezTo>
                      <a:pt x="115097" y="25036"/>
                      <a:pt x="120491" y="31752"/>
                      <a:pt x="120491" y="38338"/>
                    </a:cubicBezTo>
                    <a:cubicBezTo>
                      <a:pt x="120491" y="44924"/>
                      <a:pt x="115097" y="51640"/>
                      <a:pt x="105697" y="56768"/>
                    </a:cubicBezTo>
                    <a:cubicBezTo>
                      <a:pt x="95113" y="62539"/>
                      <a:pt x="80914" y="65722"/>
                      <a:pt x="65723" y="65722"/>
                    </a:cubicBezTo>
                    <a:cubicBezTo>
                      <a:pt x="50531" y="65722"/>
                      <a:pt x="36332" y="62539"/>
                      <a:pt x="25748" y="56768"/>
                    </a:cubicBezTo>
                    <a:cubicBezTo>
                      <a:pt x="16348" y="51640"/>
                      <a:pt x="10954" y="44924"/>
                      <a:pt x="10954" y="38338"/>
                    </a:cubicBezTo>
                    <a:cubicBezTo>
                      <a:pt x="10954" y="31752"/>
                      <a:pt x="16348" y="25036"/>
                      <a:pt x="25748" y="19908"/>
                    </a:cubicBezTo>
                    <a:close/>
                    <a:moveTo>
                      <a:pt x="105697" y="122490"/>
                    </a:moveTo>
                    <a:cubicBezTo>
                      <a:pt x="95113" y="128262"/>
                      <a:pt x="80914" y="131445"/>
                      <a:pt x="65723" y="131445"/>
                    </a:cubicBezTo>
                    <a:cubicBezTo>
                      <a:pt x="50531" y="131445"/>
                      <a:pt x="36332" y="128262"/>
                      <a:pt x="25748" y="122490"/>
                    </a:cubicBezTo>
                    <a:cubicBezTo>
                      <a:pt x="16348" y="117363"/>
                      <a:pt x="10954" y="110647"/>
                      <a:pt x="10954" y="104061"/>
                    </a:cubicBezTo>
                    <a:lnTo>
                      <a:pt x="10954" y="92669"/>
                    </a:lnTo>
                    <a:cubicBezTo>
                      <a:pt x="22633" y="102938"/>
                      <a:pt x="42603" y="109538"/>
                      <a:pt x="65723" y="109538"/>
                    </a:cubicBezTo>
                    <a:cubicBezTo>
                      <a:pt x="88842" y="109538"/>
                      <a:pt x="108812" y="102910"/>
                      <a:pt x="120491" y="92669"/>
                    </a:cubicBezTo>
                    <a:lnTo>
                      <a:pt x="120491" y="104061"/>
                    </a:lnTo>
                    <a:cubicBezTo>
                      <a:pt x="120491" y="110647"/>
                      <a:pt x="115097" y="117363"/>
                      <a:pt x="105697" y="122490"/>
                    </a:cubicBezTo>
                    <a:close/>
                  </a:path>
                </a:pathLst>
              </a:custGeom>
              <a:solidFill>
                <a:srgbClr val="0B3D6E"/>
              </a:solidFill>
              <a:ln>
                <a:noFill/>
              </a:ln>
            </p:spPr>
          </p:sp>
        </p:grpSp>
        <p:sp>
          <p:nvSpPr>
            <p:cNvPr id="136" name="TextBox 136"/>
            <p:cNvSpPr txBox="1"/>
            <p:nvPr/>
          </p:nvSpPr>
          <p:spPr>
            <a:xfrm>
              <a:off x="5729097" y="4914424"/>
              <a:ext cx="272745" cy="190690"/>
            </a:xfrm>
            <a:prstGeom prst="rect">
              <a:avLst/>
            </a:prstGeom>
            <a:noFill/>
            <a:ln>
              <a:noFill/>
            </a:ln>
          </p:spPr>
          <p:txBody>
            <a:bodyPr wrap="none" lIns="0" tIns="0" rIns="0" bIns="0" anchor="t" anchorCtr="0">
              <a:spAutoFit/>
            </a:bodyPr>
            <a:lstStyle/>
            <a:p>
              <a:pPr algn="l"/>
              <a:r>
                <a:rPr lang="en-IN" sz="980" b="1" dirty="0">
                  <a:solidFill>
                    <a:srgbClr val="1D2939"/>
                  </a:solidFill>
                  <a:latin typeface="Calibri"/>
                  <a:ea typeface="Calibri"/>
                  <a:cs typeface="Calibri"/>
                </a:rPr>
                <a:t>Data</a:t>
              </a:r>
            </a:p>
          </p:txBody>
        </p:sp>
        <p:sp>
          <p:nvSpPr>
            <p:cNvPr id="137" name="TextBox 137"/>
            <p:cNvSpPr txBox="1"/>
            <p:nvPr/>
          </p:nvSpPr>
          <p:spPr>
            <a:xfrm>
              <a:off x="5729288" y="5083016"/>
              <a:ext cx="1378032"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2 in 3 finished works have files</a:t>
              </a:r>
            </a:p>
          </p:txBody>
        </p:sp>
        <p:sp>
          <p:nvSpPr>
            <p:cNvPr id="138" name="Rectangle 138"/>
            <p:cNvSpPr/>
            <p:nvPr/>
          </p:nvSpPr>
          <p:spPr>
            <a:xfrm>
              <a:off x="3067050" y="5362575"/>
              <a:ext cx="2114550" cy="476250"/>
            </a:xfrm>
            <a:prstGeom prst="roundRect">
              <a:avLst>
                <a:gd name="adj" fmla="val 12000"/>
              </a:avLst>
            </a:prstGeom>
            <a:solidFill>
              <a:srgbClr val="F2F5F9"/>
            </a:solidFill>
            <a:ln>
              <a:noFill/>
            </a:ln>
          </p:spPr>
        </p:sp>
        <p:sp>
          <p:nvSpPr>
            <p:cNvPr id="139" name="Ellipse 139"/>
            <p:cNvSpPr/>
            <p:nvPr/>
          </p:nvSpPr>
          <p:spPr>
            <a:xfrm>
              <a:off x="3143250" y="5448300"/>
              <a:ext cx="304800" cy="304800"/>
            </a:xfrm>
            <a:prstGeom prst="ellipse">
              <a:avLst/>
            </a:prstGeom>
            <a:solidFill>
              <a:srgbClr val="FFFFFF"/>
            </a:solidFill>
            <a:ln>
              <a:noFill/>
            </a:ln>
          </p:spPr>
        </p:sp>
        <p:grpSp>
          <p:nvGrpSpPr>
            <p:cNvPr id="142" name="Group 142"/>
            <p:cNvGrpSpPr/>
            <p:nvPr/>
          </p:nvGrpSpPr>
          <p:grpSpPr>
            <a:xfrm>
              <a:off x="3212775" y="5545105"/>
              <a:ext cx="165196" cy="121544"/>
              <a:chOff x="3212775" y="5545105"/>
              <a:chExt cx="165196" cy="121544"/>
            </a:xfrm>
          </p:grpSpPr>
          <p:sp>
            <p:nvSpPr>
              <p:cNvPr id="140" name="Freeform 140"/>
              <p:cNvSpPr/>
              <p:nvPr/>
            </p:nvSpPr>
            <p:spPr>
              <a:xfrm>
                <a:off x="3229928" y="5551408"/>
                <a:ext cx="131445" cy="87630"/>
              </a:xfrm>
              <a:custGeom>
                <a:avLst/>
                <a:gdLst/>
                <a:ahLst/>
                <a:cxnLst/>
                <a:rect l="l" t="t" r="r" b="b"/>
                <a:pathLst>
                  <a:path w="131445" h="87630">
                    <a:moveTo>
                      <a:pt x="93107" y="60246"/>
                    </a:moveTo>
                    <a:cubicBezTo>
                      <a:pt x="93107" y="75370"/>
                      <a:pt x="80846" y="87630"/>
                      <a:pt x="65722" y="87630"/>
                    </a:cubicBezTo>
                    <a:cubicBezTo>
                      <a:pt x="50599" y="87630"/>
                      <a:pt x="38338" y="75370"/>
                      <a:pt x="38338" y="60246"/>
                    </a:cubicBezTo>
                    <a:cubicBezTo>
                      <a:pt x="38338" y="45122"/>
                      <a:pt x="50599" y="32861"/>
                      <a:pt x="65722" y="32861"/>
                    </a:cubicBezTo>
                    <a:cubicBezTo>
                      <a:pt x="80846" y="32861"/>
                      <a:pt x="93107" y="45122"/>
                      <a:pt x="93107" y="60246"/>
                    </a:cubicBezTo>
                    <a:close/>
                    <a:moveTo>
                      <a:pt x="21908" y="0"/>
                    </a:moveTo>
                    <a:cubicBezTo>
                      <a:pt x="9808" y="0"/>
                      <a:pt x="0" y="9808"/>
                      <a:pt x="0" y="21908"/>
                    </a:cubicBezTo>
                    <a:cubicBezTo>
                      <a:pt x="0" y="34007"/>
                      <a:pt x="9808" y="43815"/>
                      <a:pt x="21908" y="43815"/>
                    </a:cubicBezTo>
                    <a:cubicBezTo>
                      <a:pt x="34007" y="43815"/>
                      <a:pt x="43815" y="34007"/>
                      <a:pt x="43815" y="21908"/>
                    </a:cubicBezTo>
                    <a:cubicBezTo>
                      <a:pt x="43815" y="9808"/>
                      <a:pt x="34007" y="0"/>
                      <a:pt x="21908" y="0"/>
                    </a:cubicBezTo>
                    <a:close/>
                    <a:moveTo>
                      <a:pt x="109538" y="0"/>
                    </a:moveTo>
                    <a:cubicBezTo>
                      <a:pt x="97438" y="0"/>
                      <a:pt x="87630" y="9808"/>
                      <a:pt x="87630" y="21908"/>
                    </a:cubicBezTo>
                    <a:cubicBezTo>
                      <a:pt x="87630" y="34007"/>
                      <a:pt x="97438" y="43815"/>
                      <a:pt x="109538" y="43815"/>
                    </a:cubicBezTo>
                    <a:cubicBezTo>
                      <a:pt x="121637" y="43815"/>
                      <a:pt x="131445" y="34007"/>
                      <a:pt x="131445" y="21908"/>
                    </a:cubicBezTo>
                    <a:cubicBezTo>
                      <a:pt x="131445" y="9808"/>
                      <a:pt x="121637" y="0"/>
                      <a:pt x="109538" y="0"/>
                    </a:cubicBezTo>
                    <a:close/>
                  </a:path>
                </a:pathLst>
              </a:custGeom>
              <a:solidFill>
                <a:srgbClr val="0B3D6E">
                  <a:alpha val="20000"/>
                </a:srgbClr>
              </a:solidFill>
              <a:ln>
                <a:noFill/>
              </a:ln>
            </p:spPr>
          </p:sp>
          <p:sp>
            <p:nvSpPr>
              <p:cNvPr id="141" name="Freeform 141"/>
              <p:cNvSpPr/>
              <p:nvPr/>
            </p:nvSpPr>
            <p:spPr>
              <a:xfrm>
                <a:off x="3212775" y="5545105"/>
                <a:ext cx="165196" cy="121544"/>
              </a:xfrm>
              <a:custGeom>
                <a:avLst/>
                <a:gdLst/>
                <a:ahLst/>
                <a:cxnLst/>
                <a:rect l="l" t="t" r="r" b="b"/>
                <a:pathLst>
                  <a:path w="165196" h="121544">
                    <a:moveTo>
                      <a:pt x="162837" y="70931"/>
                    </a:moveTo>
                    <a:cubicBezTo>
                      <a:pt x="160417" y="72746"/>
                      <a:pt x="156984" y="72255"/>
                      <a:pt x="155169" y="69835"/>
                    </a:cubicBezTo>
                    <a:cubicBezTo>
                      <a:pt x="148475" y="60837"/>
                      <a:pt x="137905" y="55552"/>
                      <a:pt x="126690" y="55595"/>
                    </a:cubicBezTo>
                    <a:cubicBezTo>
                      <a:pt x="123665" y="55595"/>
                      <a:pt x="121213" y="53143"/>
                      <a:pt x="121213" y="50119"/>
                    </a:cubicBezTo>
                    <a:cubicBezTo>
                      <a:pt x="121213" y="47094"/>
                      <a:pt x="123665" y="44642"/>
                      <a:pt x="126690" y="44642"/>
                    </a:cubicBezTo>
                    <a:cubicBezTo>
                      <a:pt x="135228" y="44641"/>
                      <a:pt x="142343" y="38100"/>
                      <a:pt x="143061" y="29592"/>
                    </a:cubicBezTo>
                    <a:cubicBezTo>
                      <a:pt x="143778" y="21084"/>
                      <a:pt x="137860" y="13444"/>
                      <a:pt x="129442" y="12013"/>
                    </a:cubicBezTo>
                    <a:cubicBezTo>
                      <a:pt x="121025" y="10582"/>
                      <a:pt x="112914" y="15836"/>
                      <a:pt x="110779" y="24103"/>
                    </a:cubicBezTo>
                    <a:cubicBezTo>
                      <a:pt x="110023" y="27034"/>
                      <a:pt x="107035" y="28796"/>
                      <a:pt x="104104" y="28040"/>
                    </a:cubicBezTo>
                    <a:cubicBezTo>
                      <a:pt x="101174" y="27284"/>
                      <a:pt x="99412" y="24295"/>
                      <a:pt x="100168" y="21365"/>
                    </a:cubicBezTo>
                    <a:cubicBezTo>
                      <a:pt x="103093" y="10047"/>
                      <a:pt x="112879" y="1834"/>
                      <a:pt x="124533" y="917"/>
                    </a:cubicBezTo>
                    <a:cubicBezTo>
                      <a:pt x="136186" y="0"/>
                      <a:pt x="147137" y="6581"/>
                      <a:pt x="151796" y="17302"/>
                    </a:cubicBezTo>
                    <a:cubicBezTo>
                      <a:pt x="156455" y="28023"/>
                      <a:pt x="153795" y="40520"/>
                      <a:pt x="145174" y="48414"/>
                    </a:cubicBezTo>
                    <a:cubicBezTo>
                      <a:pt x="152621" y="51638"/>
                      <a:pt x="159095" y="56755"/>
                      <a:pt x="163953" y="63256"/>
                    </a:cubicBezTo>
                    <a:cubicBezTo>
                      <a:pt x="164824" y="64421"/>
                      <a:pt x="165196" y="65885"/>
                      <a:pt x="164987" y="67325"/>
                    </a:cubicBezTo>
                    <a:cubicBezTo>
                      <a:pt x="164778" y="68765"/>
                      <a:pt x="164004" y="70062"/>
                      <a:pt x="162837" y="70931"/>
                    </a:cubicBezTo>
                    <a:close/>
                    <a:moveTo>
                      <a:pt x="125950" y="113103"/>
                    </a:moveTo>
                    <a:cubicBezTo>
                      <a:pt x="126991" y="114800"/>
                      <a:pt x="127029" y="116928"/>
                      <a:pt x="126049" y="118662"/>
                    </a:cubicBezTo>
                    <a:cubicBezTo>
                      <a:pt x="125069" y="120395"/>
                      <a:pt x="123225" y="121460"/>
                      <a:pt x="121234" y="121443"/>
                    </a:cubicBezTo>
                    <a:cubicBezTo>
                      <a:pt x="119243" y="121426"/>
                      <a:pt x="117418" y="120329"/>
                      <a:pt x="116468" y="118580"/>
                    </a:cubicBezTo>
                    <a:cubicBezTo>
                      <a:pt x="109448" y="106697"/>
                      <a:pt x="96673" y="99406"/>
                      <a:pt x="82871" y="99406"/>
                    </a:cubicBezTo>
                    <a:cubicBezTo>
                      <a:pt x="69069" y="99406"/>
                      <a:pt x="56294" y="106697"/>
                      <a:pt x="49274" y="118580"/>
                    </a:cubicBezTo>
                    <a:cubicBezTo>
                      <a:pt x="48341" y="120362"/>
                      <a:pt x="46507" y="121490"/>
                      <a:pt x="44495" y="121517"/>
                    </a:cubicBezTo>
                    <a:cubicBezTo>
                      <a:pt x="42483" y="121544"/>
                      <a:pt x="40619" y="120467"/>
                      <a:pt x="39638" y="118710"/>
                    </a:cubicBezTo>
                    <a:cubicBezTo>
                      <a:pt x="38658" y="116953"/>
                      <a:pt x="38720" y="114800"/>
                      <a:pt x="39799" y="113103"/>
                    </a:cubicBezTo>
                    <a:cubicBezTo>
                      <a:pt x="45109" y="103979"/>
                      <a:pt x="53205" y="96800"/>
                      <a:pt x="62898" y="92619"/>
                    </a:cubicBezTo>
                    <a:cubicBezTo>
                      <a:pt x="51715" y="84057"/>
                      <a:pt x="47231" y="69320"/>
                      <a:pt x="51752" y="55981"/>
                    </a:cubicBezTo>
                    <a:cubicBezTo>
                      <a:pt x="56272" y="42642"/>
                      <a:pt x="68790" y="33666"/>
                      <a:pt x="82875" y="33666"/>
                    </a:cubicBezTo>
                    <a:cubicBezTo>
                      <a:pt x="96959" y="33666"/>
                      <a:pt x="109477" y="42642"/>
                      <a:pt x="113997" y="55981"/>
                    </a:cubicBezTo>
                    <a:cubicBezTo>
                      <a:pt x="118518" y="69320"/>
                      <a:pt x="114034" y="84057"/>
                      <a:pt x="102851" y="92619"/>
                    </a:cubicBezTo>
                    <a:cubicBezTo>
                      <a:pt x="112544" y="96800"/>
                      <a:pt x="120640" y="103979"/>
                      <a:pt x="125950" y="113103"/>
                    </a:cubicBezTo>
                    <a:close/>
                    <a:moveTo>
                      <a:pt x="82875" y="88457"/>
                    </a:moveTo>
                    <a:cubicBezTo>
                      <a:pt x="94974" y="88457"/>
                      <a:pt x="104782" y="78648"/>
                      <a:pt x="104782" y="66549"/>
                    </a:cubicBezTo>
                    <a:cubicBezTo>
                      <a:pt x="104782" y="54450"/>
                      <a:pt x="94974" y="44642"/>
                      <a:pt x="82875" y="44642"/>
                    </a:cubicBezTo>
                    <a:cubicBezTo>
                      <a:pt x="70775" y="44642"/>
                      <a:pt x="60967" y="54450"/>
                      <a:pt x="60967" y="66549"/>
                    </a:cubicBezTo>
                    <a:cubicBezTo>
                      <a:pt x="60967" y="78648"/>
                      <a:pt x="70775" y="88457"/>
                      <a:pt x="82875" y="88457"/>
                    </a:cubicBezTo>
                    <a:close/>
                    <a:moveTo>
                      <a:pt x="44536" y="50119"/>
                    </a:moveTo>
                    <a:cubicBezTo>
                      <a:pt x="44536" y="47094"/>
                      <a:pt x="42084" y="44642"/>
                      <a:pt x="39060" y="44642"/>
                    </a:cubicBezTo>
                    <a:cubicBezTo>
                      <a:pt x="30521" y="44641"/>
                      <a:pt x="23406" y="38100"/>
                      <a:pt x="22688" y="29592"/>
                    </a:cubicBezTo>
                    <a:cubicBezTo>
                      <a:pt x="21971" y="21084"/>
                      <a:pt x="27889" y="13444"/>
                      <a:pt x="36307" y="12013"/>
                    </a:cubicBezTo>
                    <a:cubicBezTo>
                      <a:pt x="44724" y="10582"/>
                      <a:pt x="52835" y="15836"/>
                      <a:pt x="54970" y="24103"/>
                    </a:cubicBezTo>
                    <a:cubicBezTo>
                      <a:pt x="55726" y="27034"/>
                      <a:pt x="58715" y="28796"/>
                      <a:pt x="61645" y="28040"/>
                    </a:cubicBezTo>
                    <a:cubicBezTo>
                      <a:pt x="64575" y="27284"/>
                      <a:pt x="66337" y="24295"/>
                      <a:pt x="65581" y="21365"/>
                    </a:cubicBezTo>
                    <a:cubicBezTo>
                      <a:pt x="62656" y="10047"/>
                      <a:pt x="52870" y="1834"/>
                      <a:pt x="41216" y="917"/>
                    </a:cubicBezTo>
                    <a:cubicBezTo>
                      <a:pt x="29563" y="0"/>
                      <a:pt x="18612" y="6581"/>
                      <a:pt x="13953" y="17302"/>
                    </a:cubicBezTo>
                    <a:cubicBezTo>
                      <a:pt x="9294" y="28023"/>
                      <a:pt x="11954" y="40520"/>
                      <a:pt x="20575" y="48414"/>
                    </a:cubicBezTo>
                    <a:cubicBezTo>
                      <a:pt x="13135" y="51641"/>
                      <a:pt x="6669" y="56758"/>
                      <a:pt x="1817" y="63256"/>
                    </a:cubicBezTo>
                    <a:cubicBezTo>
                      <a:pt x="0" y="65676"/>
                      <a:pt x="489" y="69111"/>
                      <a:pt x="2909" y="70927"/>
                    </a:cubicBezTo>
                    <a:cubicBezTo>
                      <a:pt x="5329" y="72744"/>
                      <a:pt x="8763" y="72255"/>
                      <a:pt x="10580" y="69835"/>
                    </a:cubicBezTo>
                    <a:cubicBezTo>
                      <a:pt x="17274" y="60837"/>
                      <a:pt x="27844" y="55552"/>
                      <a:pt x="39060" y="55595"/>
                    </a:cubicBezTo>
                    <a:cubicBezTo>
                      <a:pt x="42084" y="55595"/>
                      <a:pt x="44536" y="53143"/>
                      <a:pt x="44536" y="50119"/>
                    </a:cubicBezTo>
                    <a:close/>
                  </a:path>
                </a:pathLst>
              </a:custGeom>
              <a:solidFill>
                <a:srgbClr val="0B3D6E"/>
              </a:solidFill>
              <a:ln>
                <a:noFill/>
              </a:ln>
            </p:spPr>
          </p:sp>
        </p:grpSp>
        <p:sp>
          <p:nvSpPr>
            <p:cNvPr id="143" name="TextBox 143"/>
            <p:cNvSpPr txBox="1"/>
            <p:nvPr/>
          </p:nvSpPr>
          <p:spPr>
            <a:xfrm>
              <a:off x="3519297" y="5466874"/>
              <a:ext cx="669133" cy="190690"/>
            </a:xfrm>
            <a:prstGeom prst="rect">
              <a:avLst/>
            </a:prstGeom>
            <a:noFill/>
            <a:ln>
              <a:noFill/>
            </a:ln>
          </p:spPr>
          <p:txBody>
            <a:bodyPr wrap="none" lIns="0" tIns="0" rIns="0" bIns="0" anchor="t" anchorCtr="0">
              <a:spAutoFit/>
            </a:bodyPr>
            <a:lstStyle/>
            <a:p>
              <a:pPr algn="l"/>
              <a:r>
                <a:rPr lang="en-IN" sz="980" b="1" dirty="0">
                  <a:solidFill>
                    <a:srgbClr val="1D2939"/>
                  </a:solidFill>
                  <a:latin typeface="Calibri"/>
                  <a:ea typeface="Calibri"/>
                  <a:cs typeface="Calibri"/>
                </a:rPr>
                <a:t>Operational</a:t>
              </a:r>
            </a:p>
          </p:txBody>
        </p:sp>
        <p:sp>
          <p:nvSpPr>
            <p:cNvPr id="144" name="TextBox 144"/>
            <p:cNvSpPr txBox="1"/>
            <p:nvPr/>
          </p:nvSpPr>
          <p:spPr>
            <a:xfrm>
              <a:off x="3519488" y="5635466"/>
              <a:ext cx="1313609"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read-only, no new data entry</a:t>
              </a:r>
            </a:p>
          </p:txBody>
        </p:sp>
        <p:sp>
          <p:nvSpPr>
            <p:cNvPr id="145" name="Rectangle 145"/>
            <p:cNvSpPr/>
            <p:nvPr/>
          </p:nvSpPr>
          <p:spPr>
            <a:xfrm>
              <a:off x="5276850" y="5362575"/>
              <a:ext cx="2114550" cy="476250"/>
            </a:xfrm>
            <a:prstGeom prst="roundRect">
              <a:avLst>
                <a:gd name="adj" fmla="val 12000"/>
              </a:avLst>
            </a:prstGeom>
            <a:solidFill>
              <a:srgbClr val="F2F5F9"/>
            </a:solidFill>
            <a:ln>
              <a:noFill/>
            </a:ln>
          </p:spPr>
        </p:sp>
        <p:sp>
          <p:nvSpPr>
            <p:cNvPr id="146" name="Ellipse 146"/>
            <p:cNvSpPr/>
            <p:nvPr/>
          </p:nvSpPr>
          <p:spPr>
            <a:xfrm>
              <a:off x="5353050" y="5448300"/>
              <a:ext cx="304800" cy="304800"/>
            </a:xfrm>
            <a:prstGeom prst="ellipse">
              <a:avLst/>
            </a:prstGeom>
            <a:solidFill>
              <a:srgbClr val="FFFFFF"/>
            </a:solidFill>
            <a:ln>
              <a:noFill/>
            </a:ln>
          </p:spPr>
        </p:sp>
        <p:grpSp>
          <p:nvGrpSpPr>
            <p:cNvPr id="149" name="Group 149"/>
            <p:cNvGrpSpPr/>
            <p:nvPr/>
          </p:nvGrpSpPr>
          <p:grpSpPr>
            <a:xfrm>
              <a:off x="5417820" y="5527374"/>
              <a:ext cx="166569" cy="133572"/>
              <a:chOff x="5417820" y="5527374"/>
              <a:chExt cx="166569" cy="133572"/>
            </a:xfrm>
          </p:grpSpPr>
          <p:sp>
            <p:nvSpPr>
              <p:cNvPr id="147" name="Freeform 147"/>
              <p:cNvSpPr/>
              <p:nvPr/>
            </p:nvSpPr>
            <p:spPr>
              <a:xfrm>
                <a:off x="5423297" y="5533474"/>
                <a:ext cx="153484" cy="121995"/>
              </a:xfrm>
              <a:custGeom>
                <a:avLst/>
                <a:gdLst/>
                <a:ahLst/>
                <a:cxnLst/>
                <a:rect l="l" t="t" r="r" b="b"/>
                <a:pathLst>
                  <a:path w="153484" h="121995">
                    <a:moveTo>
                      <a:pt x="5477" y="83657"/>
                    </a:moveTo>
                    <a:lnTo>
                      <a:pt x="27384" y="83657"/>
                    </a:lnTo>
                    <a:lnTo>
                      <a:pt x="27384" y="121995"/>
                    </a:lnTo>
                    <a:lnTo>
                      <a:pt x="5477" y="121995"/>
                    </a:lnTo>
                    <a:cubicBezTo>
                      <a:pt x="2452" y="121995"/>
                      <a:pt x="0" y="119543"/>
                      <a:pt x="0" y="116518"/>
                    </a:cubicBezTo>
                    <a:lnTo>
                      <a:pt x="0" y="89134"/>
                    </a:lnTo>
                    <a:cubicBezTo>
                      <a:pt x="0" y="86109"/>
                      <a:pt x="2452" y="83657"/>
                      <a:pt x="5477" y="83657"/>
                    </a:cubicBezTo>
                    <a:close/>
                    <a:moveTo>
                      <a:pt x="134183" y="17934"/>
                    </a:moveTo>
                    <a:cubicBezTo>
                      <a:pt x="131341" y="17936"/>
                      <a:pt x="128535" y="18570"/>
                      <a:pt x="125968" y="19790"/>
                    </a:cubicBezTo>
                    <a:lnTo>
                      <a:pt x="125968" y="19790"/>
                    </a:lnTo>
                    <a:cubicBezTo>
                      <a:pt x="125585" y="11348"/>
                      <a:pt x="119720" y="4153"/>
                      <a:pt x="111529" y="2076"/>
                    </a:cubicBezTo>
                    <a:cubicBezTo>
                      <a:pt x="103338" y="0"/>
                      <a:pt x="94754" y="3532"/>
                      <a:pt x="90396" y="10772"/>
                    </a:cubicBezTo>
                    <a:cubicBezTo>
                      <a:pt x="86038" y="18011"/>
                      <a:pt x="86934" y="27251"/>
                      <a:pt x="92603" y="33517"/>
                    </a:cubicBezTo>
                    <a:cubicBezTo>
                      <a:pt x="98272" y="39784"/>
                      <a:pt x="107375" y="41599"/>
                      <a:pt x="115014" y="37986"/>
                    </a:cubicBezTo>
                    <a:lnTo>
                      <a:pt x="115014" y="37986"/>
                    </a:lnTo>
                    <a:cubicBezTo>
                      <a:pt x="115497" y="48445"/>
                      <a:pt x="124281" y="56581"/>
                      <a:pt x="134745" y="56264"/>
                    </a:cubicBezTo>
                    <a:cubicBezTo>
                      <a:pt x="145210" y="55946"/>
                      <a:pt x="153484" y="47291"/>
                      <a:pt x="153330" y="36822"/>
                    </a:cubicBezTo>
                    <a:cubicBezTo>
                      <a:pt x="153177" y="26354"/>
                      <a:pt x="144653" y="17945"/>
                      <a:pt x="134183" y="17934"/>
                    </a:cubicBezTo>
                    <a:close/>
                  </a:path>
                </a:pathLst>
              </a:custGeom>
              <a:solidFill>
                <a:srgbClr val="0B3D6E">
                  <a:alpha val="20000"/>
                </a:srgbClr>
              </a:solidFill>
              <a:ln>
                <a:noFill/>
              </a:ln>
            </p:spPr>
          </p:sp>
          <p:sp>
            <p:nvSpPr>
              <p:cNvPr id="148" name="Freeform 148"/>
              <p:cNvSpPr/>
              <p:nvPr/>
            </p:nvSpPr>
            <p:spPr>
              <a:xfrm>
                <a:off x="5417820" y="5527374"/>
                <a:ext cx="166569" cy="133572"/>
              </a:xfrm>
              <a:custGeom>
                <a:avLst/>
                <a:gdLst/>
                <a:ahLst/>
                <a:cxnLst/>
                <a:rect l="l" t="t" r="r" b="b"/>
                <a:pathLst>
                  <a:path w="166569" h="133572">
                    <a:moveTo>
                      <a:pt x="157686" y="82267"/>
                    </a:moveTo>
                    <a:cubicBezTo>
                      <a:pt x="153555" y="79088"/>
                      <a:pt x="148178" y="78018"/>
                      <a:pt x="143145" y="79371"/>
                    </a:cubicBezTo>
                    <a:lnTo>
                      <a:pt x="114501" y="85957"/>
                    </a:lnTo>
                    <a:cubicBezTo>
                      <a:pt x="115851" y="80253"/>
                      <a:pt x="114518" y="74246"/>
                      <a:pt x="110882" y="69649"/>
                    </a:cubicBezTo>
                    <a:cubicBezTo>
                      <a:pt x="107246" y="65052"/>
                      <a:pt x="101706" y="62371"/>
                      <a:pt x="95845" y="62372"/>
                    </a:cubicBezTo>
                    <a:lnTo>
                      <a:pt x="61574" y="62372"/>
                    </a:lnTo>
                    <a:cubicBezTo>
                      <a:pt x="55760" y="62358"/>
                      <a:pt x="50183" y="64667"/>
                      <a:pt x="46081" y="68787"/>
                    </a:cubicBezTo>
                    <a:lnTo>
                      <a:pt x="30595" y="84280"/>
                    </a:lnTo>
                    <a:lnTo>
                      <a:pt x="10954" y="84280"/>
                    </a:lnTo>
                    <a:cubicBezTo>
                      <a:pt x="4904" y="84280"/>
                      <a:pt x="0" y="89184"/>
                      <a:pt x="0" y="95233"/>
                    </a:cubicBezTo>
                    <a:lnTo>
                      <a:pt x="0" y="122618"/>
                    </a:lnTo>
                    <a:cubicBezTo>
                      <a:pt x="0" y="128667"/>
                      <a:pt x="4904" y="133571"/>
                      <a:pt x="10954" y="133571"/>
                    </a:cubicBezTo>
                    <a:lnTo>
                      <a:pt x="82153" y="133571"/>
                    </a:lnTo>
                    <a:cubicBezTo>
                      <a:pt x="82601" y="133572"/>
                      <a:pt x="83047" y="133517"/>
                      <a:pt x="83481" y="133407"/>
                    </a:cubicBezTo>
                    <a:lnTo>
                      <a:pt x="127296" y="122453"/>
                    </a:lnTo>
                    <a:cubicBezTo>
                      <a:pt x="127576" y="122387"/>
                      <a:pt x="127848" y="122295"/>
                      <a:pt x="128111" y="122180"/>
                    </a:cubicBezTo>
                    <a:lnTo>
                      <a:pt x="154722" y="110856"/>
                    </a:lnTo>
                    <a:lnTo>
                      <a:pt x="155023" y="110719"/>
                    </a:lnTo>
                    <a:cubicBezTo>
                      <a:pt x="160222" y="108121"/>
                      <a:pt x="163714" y="103026"/>
                      <a:pt x="164262" y="97239"/>
                    </a:cubicBezTo>
                    <a:cubicBezTo>
                      <a:pt x="164809" y="91453"/>
                      <a:pt x="162334" y="85793"/>
                      <a:pt x="157713" y="82267"/>
                    </a:cubicBezTo>
                    <a:close/>
                    <a:moveTo>
                      <a:pt x="10954" y="95233"/>
                    </a:moveTo>
                    <a:lnTo>
                      <a:pt x="27384" y="95233"/>
                    </a:lnTo>
                    <a:lnTo>
                      <a:pt x="27384" y="122618"/>
                    </a:lnTo>
                    <a:lnTo>
                      <a:pt x="10954" y="122618"/>
                    </a:lnTo>
                    <a:close/>
                    <a:moveTo>
                      <a:pt x="150224" y="100854"/>
                    </a:moveTo>
                    <a:lnTo>
                      <a:pt x="124209" y="111931"/>
                    </a:lnTo>
                    <a:lnTo>
                      <a:pt x="81469" y="122618"/>
                    </a:lnTo>
                    <a:lnTo>
                      <a:pt x="38338" y="122618"/>
                    </a:lnTo>
                    <a:lnTo>
                      <a:pt x="38338" y="92023"/>
                    </a:lnTo>
                    <a:lnTo>
                      <a:pt x="53831" y="76537"/>
                    </a:lnTo>
                    <a:cubicBezTo>
                      <a:pt x="55878" y="74473"/>
                      <a:pt x="58667" y="73317"/>
                      <a:pt x="61574" y="73326"/>
                    </a:cubicBezTo>
                    <a:lnTo>
                      <a:pt x="95845" y="73326"/>
                    </a:lnTo>
                    <a:cubicBezTo>
                      <a:pt x="100383" y="73326"/>
                      <a:pt x="104061" y="77004"/>
                      <a:pt x="104061" y="81541"/>
                    </a:cubicBezTo>
                    <a:cubicBezTo>
                      <a:pt x="104061" y="86078"/>
                      <a:pt x="100383" y="89756"/>
                      <a:pt x="95845" y="89756"/>
                    </a:cubicBezTo>
                    <a:lnTo>
                      <a:pt x="76676" y="89756"/>
                    </a:lnTo>
                    <a:cubicBezTo>
                      <a:pt x="73651" y="89756"/>
                      <a:pt x="71199" y="92209"/>
                      <a:pt x="71199" y="95233"/>
                    </a:cubicBezTo>
                    <a:cubicBezTo>
                      <a:pt x="71199" y="98258"/>
                      <a:pt x="73651" y="100710"/>
                      <a:pt x="76676" y="100710"/>
                    </a:cubicBezTo>
                    <a:lnTo>
                      <a:pt x="98584" y="100710"/>
                    </a:lnTo>
                    <a:cubicBezTo>
                      <a:pt x="98996" y="100709"/>
                      <a:pt x="99407" y="100663"/>
                      <a:pt x="99809" y="100573"/>
                    </a:cubicBezTo>
                    <a:lnTo>
                      <a:pt x="145678" y="90023"/>
                    </a:lnTo>
                    <a:lnTo>
                      <a:pt x="145890" y="89969"/>
                    </a:lnTo>
                    <a:cubicBezTo>
                      <a:pt x="148790" y="89164"/>
                      <a:pt x="151830" y="90675"/>
                      <a:pt x="152939" y="93473"/>
                    </a:cubicBezTo>
                    <a:cubicBezTo>
                      <a:pt x="154047" y="96271"/>
                      <a:pt x="152868" y="99454"/>
                      <a:pt x="150203" y="100854"/>
                    </a:cubicBezTo>
                    <a:close/>
                    <a:moveTo>
                      <a:pt x="112276" y="51418"/>
                    </a:moveTo>
                    <a:cubicBezTo>
                      <a:pt x="113629" y="51420"/>
                      <a:pt x="114980" y="51310"/>
                      <a:pt x="116315" y="51090"/>
                    </a:cubicBezTo>
                    <a:cubicBezTo>
                      <a:pt x="120495" y="63506"/>
                      <a:pt x="133658" y="70482"/>
                      <a:pt x="146279" y="66970"/>
                    </a:cubicBezTo>
                    <a:cubicBezTo>
                      <a:pt x="158900" y="63459"/>
                      <a:pt x="166569" y="50687"/>
                      <a:pt x="163736" y="37896"/>
                    </a:cubicBezTo>
                    <a:cubicBezTo>
                      <a:pt x="160903" y="25106"/>
                      <a:pt x="148558" y="16767"/>
                      <a:pt x="135635" y="18913"/>
                    </a:cubicBezTo>
                    <a:cubicBezTo>
                      <a:pt x="131623" y="6988"/>
                      <a:pt x="119273" y="0"/>
                      <a:pt x="106984" y="2701"/>
                    </a:cubicBezTo>
                    <a:cubicBezTo>
                      <a:pt x="94696" y="5402"/>
                      <a:pt x="86415" y="16926"/>
                      <a:pt x="87774" y="29434"/>
                    </a:cubicBezTo>
                    <a:cubicBezTo>
                      <a:pt x="89132" y="41942"/>
                      <a:pt x="99694" y="51419"/>
                      <a:pt x="112276" y="51418"/>
                    </a:cubicBezTo>
                    <a:close/>
                    <a:moveTo>
                      <a:pt x="153353" y="43203"/>
                    </a:moveTo>
                    <a:cubicBezTo>
                      <a:pt x="153353" y="50765"/>
                      <a:pt x="147222" y="56895"/>
                      <a:pt x="139660" y="56895"/>
                    </a:cubicBezTo>
                    <a:cubicBezTo>
                      <a:pt x="132098" y="56895"/>
                      <a:pt x="125968" y="50765"/>
                      <a:pt x="125968" y="43203"/>
                    </a:cubicBezTo>
                    <a:cubicBezTo>
                      <a:pt x="125968" y="35641"/>
                      <a:pt x="132098" y="29511"/>
                      <a:pt x="139660" y="29511"/>
                    </a:cubicBezTo>
                    <a:cubicBezTo>
                      <a:pt x="147222" y="29511"/>
                      <a:pt x="153353" y="35641"/>
                      <a:pt x="153353" y="43203"/>
                    </a:cubicBezTo>
                    <a:close/>
                    <a:moveTo>
                      <a:pt x="112276" y="13080"/>
                    </a:moveTo>
                    <a:cubicBezTo>
                      <a:pt x="118414" y="13083"/>
                      <a:pt x="123800" y="17171"/>
                      <a:pt x="125455" y="23082"/>
                    </a:cubicBezTo>
                    <a:cubicBezTo>
                      <a:pt x="119783" y="27073"/>
                      <a:pt x="116055" y="33269"/>
                      <a:pt x="115186" y="40150"/>
                    </a:cubicBezTo>
                    <a:cubicBezTo>
                      <a:pt x="114229" y="40356"/>
                      <a:pt x="113254" y="40462"/>
                      <a:pt x="112276" y="40465"/>
                    </a:cubicBezTo>
                    <a:cubicBezTo>
                      <a:pt x="104714" y="40465"/>
                      <a:pt x="98584" y="34334"/>
                      <a:pt x="98584" y="26772"/>
                    </a:cubicBezTo>
                    <a:cubicBezTo>
                      <a:pt x="98584" y="19210"/>
                      <a:pt x="104714" y="13080"/>
                      <a:pt x="112276" y="13080"/>
                    </a:cubicBezTo>
                    <a:close/>
                  </a:path>
                </a:pathLst>
              </a:custGeom>
              <a:solidFill>
                <a:srgbClr val="0B3D6E"/>
              </a:solidFill>
              <a:ln>
                <a:noFill/>
              </a:ln>
            </p:spPr>
          </p:sp>
        </p:grpSp>
        <p:sp>
          <p:nvSpPr>
            <p:cNvPr id="150" name="TextBox 150"/>
            <p:cNvSpPr txBox="1"/>
            <p:nvPr/>
          </p:nvSpPr>
          <p:spPr>
            <a:xfrm>
              <a:off x="5729097" y="5466874"/>
              <a:ext cx="540779" cy="190690"/>
            </a:xfrm>
            <a:prstGeom prst="rect">
              <a:avLst/>
            </a:prstGeom>
            <a:noFill/>
            <a:ln>
              <a:noFill/>
            </a:ln>
          </p:spPr>
          <p:txBody>
            <a:bodyPr wrap="none" lIns="0" tIns="0" rIns="0" bIns="0" anchor="t" anchorCtr="0">
              <a:spAutoFit/>
            </a:bodyPr>
            <a:lstStyle/>
            <a:p>
              <a:pPr algn="l"/>
              <a:r>
                <a:rPr lang="en-IN" sz="980" b="1" dirty="0">
                  <a:solidFill>
                    <a:srgbClr val="1D2939"/>
                  </a:solidFill>
                  <a:latin typeface="Calibri"/>
                  <a:ea typeface="Calibri"/>
                  <a:cs typeface="Calibri"/>
                </a:rPr>
                <a:t>Economic</a:t>
              </a:r>
            </a:p>
          </p:txBody>
        </p:sp>
        <p:sp>
          <p:nvSpPr>
            <p:cNvPr id="151" name="TextBox 151"/>
            <p:cNvSpPr txBox="1"/>
            <p:nvPr/>
          </p:nvSpPr>
          <p:spPr>
            <a:xfrm>
              <a:off x="5729288" y="5635466"/>
              <a:ext cx="1277213" cy="161925"/>
            </a:xfrm>
            <a:prstGeom prst="rect">
              <a:avLst/>
            </a:prstGeom>
            <a:noFill/>
            <a:ln>
              <a:noFill/>
            </a:ln>
          </p:spPr>
          <p:txBody>
            <a:bodyPr wrap="none" lIns="0" tIns="0" rIns="0" bIns="0" anchor="t" anchorCtr="0">
              <a:spAutoFit/>
            </a:bodyPr>
            <a:lstStyle/>
            <a:p>
              <a:pPr algn="l"/>
              <a:r>
                <a:rPr lang="en-IN" sz="820" dirty="0">
                  <a:solidFill>
                    <a:srgbClr val="667085"/>
                  </a:solidFill>
                  <a:latin typeface="Calibri"/>
                  <a:ea typeface="Calibri"/>
                  <a:cs typeface="Calibri"/>
                </a:rPr>
                <a:t>open source, AI cost capped</a:t>
              </a:r>
            </a:p>
          </p:txBody>
        </p:sp>
      </p:grpSp>
      <p:grpSp>
        <p:nvGrpSpPr>
          <p:cNvPr id="214" name="challenges"/>
          <p:cNvGrpSpPr/>
          <p:nvPr/>
        </p:nvGrpSpPr>
        <p:grpSpPr>
          <a:xfrm>
            <a:off x="7581900" y="1231106"/>
            <a:ext cx="4305300" cy="3255169"/>
            <a:chOff x="7581900" y="1231106"/>
            <a:chExt cx="4305300" cy="3255169"/>
          </a:xfrm>
        </p:grpSpPr>
        <p:sp>
          <p:nvSpPr>
            <p:cNvPr id="153" name="Polygon 153"/>
            <p:cNvSpPr/>
            <p:nvPr/>
          </p:nvSpPr>
          <p:spPr>
            <a:xfrm>
              <a:off x="7581900" y="1257776"/>
              <a:ext cx="95250" cy="95250"/>
            </a:xfrm>
            <a:custGeom>
              <a:avLst/>
              <a:gdLst/>
              <a:ahLst/>
              <a:cxnLst/>
              <a:rect l="l" t="t" r="r" b="b"/>
              <a:pathLst>
                <a:path w="95250" h="95250">
                  <a:moveTo>
                    <a:pt x="47625" y="0"/>
                  </a:moveTo>
                  <a:lnTo>
                    <a:pt x="95250" y="47625"/>
                  </a:lnTo>
                  <a:lnTo>
                    <a:pt x="47625" y="95250"/>
                  </a:lnTo>
                  <a:lnTo>
                    <a:pt x="0" y="47625"/>
                  </a:lnTo>
                  <a:close/>
                </a:path>
              </a:pathLst>
            </a:custGeom>
            <a:solidFill>
              <a:srgbClr val="E8871E"/>
            </a:solidFill>
            <a:ln>
              <a:noFill/>
            </a:ln>
          </p:spPr>
        </p:sp>
        <p:sp>
          <p:nvSpPr>
            <p:cNvPr id="154" name="TextBox 154"/>
            <p:cNvSpPr txBox="1"/>
            <p:nvPr/>
          </p:nvSpPr>
          <p:spPr>
            <a:xfrm>
              <a:off x="7728585" y="1231106"/>
              <a:ext cx="1865099" cy="220028"/>
            </a:xfrm>
            <a:prstGeom prst="rect">
              <a:avLst/>
            </a:prstGeom>
            <a:noFill/>
            <a:ln>
              <a:noFill/>
            </a:ln>
          </p:spPr>
          <p:txBody>
            <a:bodyPr wrap="none" lIns="0" tIns="0" rIns="0" bIns="0" anchor="t" anchorCtr="0">
              <a:spAutoFit/>
            </a:bodyPr>
            <a:lstStyle/>
            <a:p>
              <a:pPr algn="l"/>
              <a:r>
                <a:rPr lang="en-IN" sz="1120" b="1" dirty="0">
                  <a:solidFill>
                    <a:srgbClr val="0B3D6E"/>
                  </a:solidFill>
                  <a:latin typeface="Calibri"/>
                  <a:ea typeface="Calibri"/>
                  <a:cs typeface="Calibri"/>
                </a:rPr>
                <a:t>Potential challenges and risks</a:t>
              </a:r>
            </a:p>
          </p:txBody>
        </p:sp>
        <p:sp>
          <p:nvSpPr>
            <p:cNvPr id="155" name="Line 155"/>
            <p:cNvSpPr/>
            <p:nvPr/>
          </p:nvSpPr>
          <p:spPr>
            <a:xfrm>
              <a:off x="7581900" y="1419225"/>
              <a:ext cx="2019300" cy="9525"/>
            </a:xfrm>
            <a:custGeom>
              <a:avLst/>
              <a:gdLst/>
              <a:ahLst/>
              <a:cxnLst/>
              <a:rect l="l" t="t" r="r" b="b"/>
              <a:pathLst>
                <a:path w="2019300" h="9525">
                  <a:moveTo>
                    <a:pt x="0" y="0"/>
                  </a:moveTo>
                  <a:lnTo>
                    <a:pt x="2019300" y="0"/>
                  </a:lnTo>
                </a:path>
              </a:pathLst>
            </a:custGeom>
            <a:noFill/>
            <a:ln w="9525">
              <a:solidFill>
                <a:srgbClr val="D0D5DD"/>
              </a:solidFill>
            </a:ln>
          </p:spPr>
        </p:sp>
        <p:sp>
          <p:nvSpPr>
            <p:cNvPr id="156" name="Polygon 156"/>
            <p:cNvSpPr/>
            <p:nvPr/>
          </p:nvSpPr>
          <p:spPr>
            <a:xfrm>
              <a:off x="9867900" y="1257776"/>
              <a:ext cx="95250" cy="95250"/>
            </a:xfrm>
            <a:custGeom>
              <a:avLst/>
              <a:gdLst/>
              <a:ahLst/>
              <a:cxnLst/>
              <a:rect l="l" t="t" r="r" b="b"/>
              <a:pathLst>
                <a:path w="95250" h="95250">
                  <a:moveTo>
                    <a:pt x="47625" y="0"/>
                  </a:moveTo>
                  <a:lnTo>
                    <a:pt x="95250" y="47625"/>
                  </a:lnTo>
                  <a:lnTo>
                    <a:pt x="47625" y="95250"/>
                  </a:lnTo>
                  <a:lnTo>
                    <a:pt x="0" y="47625"/>
                  </a:lnTo>
                  <a:close/>
                </a:path>
              </a:pathLst>
            </a:custGeom>
            <a:solidFill>
              <a:srgbClr val="E8871E"/>
            </a:solidFill>
            <a:ln>
              <a:noFill/>
            </a:ln>
          </p:spPr>
        </p:sp>
        <p:sp>
          <p:nvSpPr>
            <p:cNvPr id="157" name="TextBox 157"/>
            <p:cNvSpPr txBox="1"/>
            <p:nvPr/>
          </p:nvSpPr>
          <p:spPr>
            <a:xfrm>
              <a:off x="10014585" y="1231106"/>
              <a:ext cx="1533099" cy="391478"/>
            </a:xfrm>
            <a:prstGeom prst="rect">
              <a:avLst/>
            </a:prstGeom>
            <a:noFill/>
            <a:ln>
              <a:noFill/>
            </a:ln>
          </p:spPr>
          <p:txBody>
            <a:bodyPr wrap="none" lIns="0" tIns="0" rIns="0" bIns="0" anchor="t" anchorCtr="0">
              <a:spAutoFit/>
            </a:bodyPr>
            <a:lstStyle/>
            <a:p>
              <a:pPr algn="l">
                <a:lnSpc>
                  <a:spcPts val="1350"/>
                </a:lnSpc>
              </a:pPr>
              <a:r>
                <a:rPr lang="en-IN" sz="1120" b="1" dirty="0">
                  <a:solidFill>
                    <a:srgbClr val="0B3D6E"/>
                  </a:solidFill>
                  <a:latin typeface="Calibri"/>
                  <a:ea typeface="Calibri"/>
                  <a:cs typeface="Calibri"/>
                </a:rPr>
                <a:t>Strategies for overcoming</a:t>
              </a:r>
              <a:br/>
              <a:r>
                <a:rPr lang="en-IN" sz="1120" b="1" dirty="0">
                  <a:solidFill>
                    <a:srgbClr val="0B3D6E"/>
                  </a:solidFill>
                  <a:latin typeface="Calibri"/>
                  <a:ea typeface="Calibri"/>
                  <a:cs typeface="Calibri"/>
                </a:rPr>
                <a:t>these challenges</a:t>
              </a:r>
            </a:p>
          </p:txBody>
        </p:sp>
        <p:sp>
          <p:nvSpPr>
            <p:cNvPr id="158" name="Line 158"/>
            <p:cNvSpPr/>
            <p:nvPr/>
          </p:nvSpPr>
          <p:spPr>
            <a:xfrm>
              <a:off x="9867900" y="1590675"/>
              <a:ext cx="2019300" cy="9525"/>
            </a:xfrm>
            <a:custGeom>
              <a:avLst/>
              <a:gdLst/>
              <a:ahLst/>
              <a:cxnLst/>
              <a:rect l="l" t="t" r="r" b="b"/>
              <a:pathLst>
                <a:path w="2019300" h="9525">
                  <a:moveTo>
                    <a:pt x="0" y="0"/>
                  </a:moveTo>
                  <a:lnTo>
                    <a:pt x="2019300" y="0"/>
                  </a:lnTo>
                </a:path>
              </a:pathLst>
            </a:custGeom>
            <a:noFill/>
            <a:ln w="9525">
              <a:solidFill>
                <a:srgbClr val="D0D5DD"/>
              </a:solidFill>
            </a:ln>
          </p:spPr>
        </p:sp>
        <p:sp>
          <p:nvSpPr>
            <p:cNvPr id="159" name="Rectangle 159"/>
            <p:cNvSpPr/>
            <p:nvPr/>
          </p:nvSpPr>
          <p:spPr>
            <a:xfrm>
              <a:off x="7581900" y="1704975"/>
              <a:ext cx="2019300" cy="495300"/>
            </a:xfrm>
            <a:prstGeom prst="roundRect">
              <a:avLst>
                <a:gd name="adj" fmla="val 15385"/>
              </a:avLst>
            </a:prstGeom>
            <a:solidFill>
              <a:srgbClr val="FDECEA"/>
            </a:solidFill>
            <a:ln>
              <a:noFill/>
            </a:ln>
          </p:spPr>
        </p:sp>
        <p:grpSp>
          <p:nvGrpSpPr>
            <p:cNvPr id="162" name="Group 162"/>
            <p:cNvGrpSpPr/>
            <p:nvPr/>
          </p:nvGrpSpPr>
          <p:grpSpPr>
            <a:xfrm>
              <a:off x="7715845" y="1829351"/>
              <a:ext cx="185766" cy="223881"/>
              <a:chOff x="7715845" y="1829351"/>
              <a:chExt cx="185766" cy="223881"/>
            </a:xfrm>
          </p:grpSpPr>
          <p:sp>
            <p:nvSpPr>
              <p:cNvPr id="160" name="Freeform 160"/>
              <p:cNvSpPr/>
              <p:nvPr/>
            </p:nvSpPr>
            <p:spPr>
              <a:xfrm>
                <a:off x="7723584" y="1829351"/>
                <a:ext cx="170259" cy="223329"/>
              </a:xfrm>
              <a:custGeom>
                <a:avLst/>
                <a:gdLst/>
                <a:ahLst/>
                <a:cxnLst/>
                <a:rect l="l" t="t" r="r" b="b"/>
                <a:pathLst>
                  <a:path w="170259" h="223329">
                    <a:moveTo>
                      <a:pt x="170259" y="53622"/>
                    </a:moveTo>
                    <a:lnTo>
                      <a:pt x="170259" y="169707"/>
                    </a:lnTo>
                    <a:cubicBezTo>
                      <a:pt x="108346" y="223329"/>
                      <a:pt x="61912" y="116085"/>
                      <a:pt x="0" y="169707"/>
                    </a:cubicBezTo>
                    <a:lnTo>
                      <a:pt x="0" y="53622"/>
                    </a:lnTo>
                    <a:cubicBezTo>
                      <a:pt x="61912" y="0"/>
                      <a:pt x="108346" y="107244"/>
                      <a:pt x="170259" y="53622"/>
                    </a:cubicBezTo>
                    <a:close/>
                  </a:path>
                </a:pathLst>
              </a:custGeom>
              <a:solidFill>
                <a:srgbClr val="B42318">
                  <a:alpha val="20000"/>
                </a:srgbClr>
              </a:solidFill>
              <a:ln>
                <a:noFill/>
              </a:ln>
            </p:spPr>
          </p:sp>
          <p:sp>
            <p:nvSpPr>
              <p:cNvPr id="161" name="Freeform 161"/>
              <p:cNvSpPr/>
              <p:nvPr/>
            </p:nvSpPr>
            <p:spPr>
              <a:xfrm>
                <a:off x="7715845" y="1846977"/>
                <a:ext cx="185766" cy="206255"/>
              </a:xfrm>
              <a:custGeom>
                <a:avLst/>
                <a:gdLst/>
                <a:ahLst/>
                <a:cxnLst/>
                <a:rect l="l" t="t" r="r" b="b"/>
                <a:pathLst>
                  <a:path w="185766" h="206255">
                    <a:moveTo>
                      <a:pt x="2670" y="30192"/>
                    </a:moveTo>
                    <a:cubicBezTo>
                      <a:pt x="986" y="31652"/>
                      <a:pt x="13" y="33767"/>
                      <a:pt x="0" y="35996"/>
                    </a:cubicBezTo>
                    <a:lnTo>
                      <a:pt x="0" y="198516"/>
                    </a:lnTo>
                    <a:cubicBezTo>
                      <a:pt x="0" y="202790"/>
                      <a:pt x="3465" y="206255"/>
                      <a:pt x="7739" y="206255"/>
                    </a:cubicBezTo>
                    <a:cubicBezTo>
                      <a:pt x="12013" y="206255"/>
                      <a:pt x="15478" y="202790"/>
                      <a:pt x="15478" y="198516"/>
                    </a:cubicBezTo>
                    <a:lnTo>
                      <a:pt x="15478" y="155729"/>
                    </a:lnTo>
                    <a:cubicBezTo>
                      <a:pt x="41394" y="135259"/>
                      <a:pt x="63721" y="146297"/>
                      <a:pt x="89434" y="159027"/>
                    </a:cubicBezTo>
                    <a:cubicBezTo>
                      <a:pt x="105299" y="166873"/>
                      <a:pt x="122383" y="175328"/>
                      <a:pt x="140705" y="175328"/>
                    </a:cubicBezTo>
                    <a:cubicBezTo>
                      <a:pt x="154181" y="175328"/>
                      <a:pt x="168314" y="170733"/>
                      <a:pt x="183096" y="157915"/>
                    </a:cubicBezTo>
                    <a:cubicBezTo>
                      <a:pt x="184780" y="156455"/>
                      <a:pt x="185753" y="154340"/>
                      <a:pt x="185766" y="152111"/>
                    </a:cubicBezTo>
                    <a:lnTo>
                      <a:pt x="185766" y="35996"/>
                    </a:lnTo>
                    <a:cubicBezTo>
                      <a:pt x="185758" y="32962"/>
                      <a:pt x="183979" y="30213"/>
                      <a:pt x="181215" y="28963"/>
                    </a:cubicBezTo>
                    <a:cubicBezTo>
                      <a:pt x="178451" y="27713"/>
                      <a:pt x="175211" y="28193"/>
                      <a:pt x="172929" y="30192"/>
                    </a:cubicBezTo>
                    <a:cubicBezTo>
                      <a:pt x="145842" y="53631"/>
                      <a:pt x="122896" y="42274"/>
                      <a:pt x="96302" y="29108"/>
                    </a:cubicBezTo>
                    <a:cubicBezTo>
                      <a:pt x="68752" y="15449"/>
                      <a:pt x="37515" y="0"/>
                      <a:pt x="2670" y="30192"/>
                    </a:cubicBezTo>
                    <a:close/>
                    <a:moveTo>
                      <a:pt x="170259" y="148454"/>
                    </a:moveTo>
                    <a:cubicBezTo>
                      <a:pt x="144342" y="168924"/>
                      <a:pt x="122015" y="157876"/>
                      <a:pt x="96302" y="145155"/>
                    </a:cubicBezTo>
                    <a:cubicBezTo>
                      <a:pt x="72118" y="133208"/>
                      <a:pt x="45215" y="119877"/>
                      <a:pt x="15478" y="137029"/>
                    </a:cubicBezTo>
                    <a:lnTo>
                      <a:pt x="15478" y="39663"/>
                    </a:lnTo>
                    <a:cubicBezTo>
                      <a:pt x="41394" y="19193"/>
                      <a:pt x="63721" y="30231"/>
                      <a:pt x="89434" y="42952"/>
                    </a:cubicBezTo>
                    <a:cubicBezTo>
                      <a:pt x="113619" y="54899"/>
                      <a:pt x="140531" y="68229"/>
                      <a:pt x="170259" y="51078"/>
                    </a:cubicBezTo>
                    <a:close/>
                  </a:path>
                </a:pathLst>
              </a:custGeom>
              <a:solidFill>
                <a:srgbClr val="B42318"/>
              </a:solidFill>
              <a:ln>
                <a:noFill/>
              </a:ln>
            </p:spPr>
          </p:sp>
        </p:grpSp>
        <p:sp>
          <p:nvSpPr>
            <p:cNvPr id="163" name="TextBox 163"/>
            <p:cNvSpPr txBox="1"/>
            <p:nvPr/>
          </p:nvSpPr>
          <p:spPr>
            <a:xfrm>
              <a:off x="7996238" y="1803797"/>
              <a:ext cx="1379818"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No confirmed fraud labels</a:t>
              </a:r>
            </a:p>
          </p:txBody>
        </p:sp>
        <p:sp>
          <p:nvSpPr>
            <p:cNvPr id="164" name="Line 164"/>
            <p:cNvSpPr/>
            <p:nvPr/>
          </p:nvSpPr>
          <p:spPr>
            <a:xfrm>
              <a:off x="9629775" y="1952625"/>
              <a:ext cx="209550" cy="1"/>
            </a:xfrm>
            <a:prstGeom prst="line">
              <a:avLst/>
            </a:prstGeom>
            <a:noFill/>
            <a:ln w="15240">
              <a:solidFill>
                <a:srgbClr val="0B3D6E"/>
              </a:solidFill>
              <a:tailEnd type="triangle" w="lg" len="lg"/>
            </a:ln>
          </p:spPr>
        </p:sp>
        <p:sp>
          <p:nvSpPr>
            <p:cNvPr id="165" name="Rectangle 165"/>
            <p:cNvSpPr/>
            <p:nvPr/>
          </p:nvSpPr>
          <p:spPr>
            <a:xfrm>
              <a:off x="9867900" y="1704975"/>
              <a:ext cx="2019300" cy="495300"/>
            </a:xfrm>
            <a:prstGeom prst="roundRect">
              <a:avLst>
                <a:gd name="adj" fmla="val 15385"/>
              </a:avLst>
            </a:prstGeom>
            <a:solidFill>
              <a:srgbClr val="E7F4EC"/>
            </a:solidFill>
            <a:ln>
              <a:noFill/>
            </a:ln>
          </p:spPr>
        </p:sp>
        <p:grpSp>
          <p:nvGrpSpPr>
            <p:cNvPr id="168" name="Group 168"/>
            <p:cNvGrpSpPr/>
            <p:nvPr/>
          </p:nvGrpSpPr>
          <p:grpSpPr>
            <a:xfrm>
              <a:off x="9975640" y="1842659"/>
              <a:ext cx="224385" cy="222832"/>
              <a:chOff x="9975640" y="1842659"/>
              <a:chExt cx="224385" cy="222832"/>
            </a:xfrm>
          </p:grpSpPr>
          <p:sp>
            <p:nvSpPr>
              <p:cNvPr id="166" name="Freeform 166"/>
              <p:cNvSpPr/>
              <p:nvPr/>
            </p:nvSpPr>
            <p:spPr>
              <a:xfrm>
                <a:off x="10040540" y="1906190"/>
                <a:ext cx="92868" cy="92868"/>
              </a:xfrm>
              <a:custGeom>
                <a:avLst/>
                <a:gdLst/>
                <a:ahLst/>
                <a:cxnLst/>
                <a:rect l="l" t="t" r="r" b="b"/>
                <a:pathLst>
                  <a:path w="92868" h="92868">
                    <a:moveTo>
                      <a:pt x="92868" y="46434"/>
                    </a:moveTo>
                    <a:cubicBezTo>
                      <a:pt x="92868" y="72079"/>
                      <a:pt x="72079" y="92868"/>
                      <a:pt x="46434" y="92868"/>
                    </a:cubicBezTo>
                    <a:cubicBezTo>
                      <a:pt x="20789" y="92868"/>
                      <a:pt x="0" y="72079"/>
                      <a:pt x="0" y="46434"/>
                    </a:cubicBezTo>
                    <a:cubicBezTo>
                      <a:pt x="0" y="20789"/>
                      <a:pt x="20789" y="0"/>
                      <a:pt x="46434" y="0"/>
                    </a:cubicBezTo>
                    <a:cubicBezTo>
                      <a:pt x="72079" y="0"/>
                      <a:pt x="92868" y="20789"/>
                      <a:pt x="92868" y="46434"/>
                    </a:cubicBezTo>
                    <a:close/>
                  </a:path>
                </a:pathLst>
              </a:custGeom>
              <a:solidFill>
                <a:srgbClr val="1E7B45">
                  <a:alpha val="20000"/>
                </a:srgbClr>
              </a:solidFill>
              <a:ln>
                <a:noFill/>
              </a:ln>
            </p:spPr>
          </p:sp>
          <p:sp>
            <p:nvSpPr>
              <p:cNvPr id="167" name="Freeform 167"/>
              <p:cNvSpPr/>
              <p:nvPr/>
            </p:nvSpPr>
            <p:spPr>
              <a:xfrm>
                <a:off x="9975640" y="1842659"/>
                <a:ext cx="224385" cy="222832"/>
              </a:xfrm>
              <a:custGeom>
                <a:avLst/>
                <a:gdLst/>
                <a:ahLst/>
                <a:cxnLst/>
                <a:rect l="l" t="t" r="r" b="b"/>
                <a:pathLst>
                  <a:path w="224385" h="222832">
                    <a:moveTo>
                      <a:pt x="202142" y="66588"/>
                    </a:moveTo>
                    <a:cubicBezTo>
                      <a:pt x="224385" y="113109"/>
                      <a:pt x="207894" y="168915"/>
                      <a:pt x="163938" y="195873"/>
                    </a:cubicBezTo>
                    <a:cubicBezTo>
                      <a:pt x="119981" y="222832"/>
                      <a:pt x="62763" y="212231"/>
                      <a:pt x="31382" y="171315"/>
                    </a:cubicBezTo>
                    <a:cubicBezTo>
                      <a:pt x="0" y="130400"/>
                      <a:pt x="4595" y="72389"/>
                      <a:pt x="42027" y="36925"/>
                    </a:cubicBezTo>
                    <a:cubicBezTo>
                      <a:pt x="79459" y="1460"/>
                      <a:pt x="137633" y="0"/>
                      <a:pt x="176797" y="33543"/>
                    </a:cubicBezTo>
                    <a:lnTo>
                      <a:pt x="198727" y="11603"/>
                    </a:lnTo>
                    <a:cubicBezTo>
                      <a:pt x="201751" y="8579"/>
                      <a:pt x="206654" y="8579"/>
                      <a:pt x="209678" y="11603"/>
                    </a:cubicBezTo>
                    <a:cubicBezTo>
                      <a:pt x="212702" y="14626"/>
                      <a:pt x="212702" y="19529"/>
                      <a:pt x="209678" y="22553"/>
                    </a:cubicBezTo>
                    <a:lnTo>
                      <a:pt x="116810" y="115422"/>
                    </a:lnTo>
                    <a:cubicBezTo>
                      <a:pt x="113786" y="118445"/>
                      <a:pt x="108883" y="118445"/>
                      <a:pt x="105859" y="115422"/>
                    </a:cubicBezTo>
                    <a:cubicBezTo>
                      <a:pt x="102835" y="112398"/>
                      <a:pt x="102835" y="107495"/>
                      <a:pt x="105859" y="104471"/>
                    </a:cubicBezTo>
                    <a:lnTo>
                      <a:pt x="132675" y="77655"/>
                    </a:lnTo>
                    <a:cubicBezTo>
                      <a:pt x="117713" y="67760"/>
                      <a:pt x="97913" y="69445"/>
                      <a:pt x="84838" y="81725"/>
                    </a:cubicBezTo>
                    <a:cubicBezTo>
                      <a:pt x="71763" y="94005"/>
                      <a:pt x="68842" y="113661"/>
                      <a:pt x="77781" y="129213"/>
                    </a:cubicBezTo>
                    <a:cubicBezTo>
                      <a:pt x="86720" y="144765"/>
                      <a:pt x="105175" y="152134"/>
                      <a:pt x="122367" y="147018"/>
                    </a:cubicBezTo>
                    <a:cubicBezTo>
                      <a:pt x="139559" y="141901"/>
                      <a:pt x="150981" y="125639"/>
                      <a:pt x="149962" y="107731"/>
                    </a:cubicBezTo>
                    <a:cubicBezTo>
                      <a:pt x="149721" y="103457"/>
                      <a:pt x="152991" y="99797"/>
                      <a:pt x="157265" y="99557"/>
                    </a:cubicBezTo>
                    <a:cubicBezTo>
                      <a:pt x="161539" y="99316"/>
                      <a:pt x="165199" y="102586"/>
                      <a:pt x="165440" y="106860"/>
                    </a:cubicBezTo>
                    <a:cubicBezTo>
                      <a:pt x="166893" y="132225"/>
                      <a:pt x="150524" y="155192"/>
                      <a:pt x="126074" y="162095"/>
                    </a:cubicBezTo>
                    <a:cubicBezTo>
                      <a:pt x="101623" y="168998"/>
                      <a:pt x="75660" y="157981"/>
                      <a:pt x="63635" y="135601"/>
                    </a:cubicBezTo>
                    <a:cubicBezTo>
                      <a:pt x="51609" y="113221"/>
                      <a:pt x="56752" y="85491"/>
                      <a:pt x="76003" y="68911"/>
                    </a:cubicBezTo>
                    <a:cubicBezTo>
                      <a:pt x="95254" y="52332"/>
                      <a:pt x="123440" y="51358"/>
                      <a:pt x="143790" y="66569"/>
                    </a:cubicBezTo>
                    <a:lnTo>
                      <a:pt x="165798" y="44561"/>
                    </a:lnTo>
                    <a:cubicBezTo>
                      <a:pt x="132399" y="16832"/>
                      <a:pt x="83474" y="18719"/>
                      <a:pt x="52310" y="48938"/>
                    </a:cubicBezTo>
                    <a:cubicBezTo>
                      <a:pt x="21147" y="79158"/>
                      <a:pt x="17756" y="128002"/>
                      <a:pt x="44445" y="162237"/>
                    </a:cubicBezTo>
                    <a:cubicBezTo>
                      <a:pt x="71135" y="196472"/>
                      <a:pt x="119330" y="205101"/>
                      <a:pt x="156239" y="182253"/>
                    </a:cubicBezTo>
                    <a:cubicBezTo>
                      <a:pt x="193149" y="159404"/>
                      <a:pt x="206916" y="112418"/>
                      <a:pt x="188173" y="73263"/>
                    </a:cubicBezTo>
                    <a:cubicBezTo>
                      <a:pt x="186330" y="69406"/>
                      <a:pt x="187963" y="64785"/>
                      <a:pt x="191820" y="62941"/>
                    </a:cubicBezTo>
                    <a:cubicBezTo>
                      <a:pt x="195677" y="61098"/>
                      <a:pt x="200299" y="62731"/>
                      <a:pt x="202142" y="66588"/>
                    </a:cubicBezTo>
                    <a:close/>
                  </a:path>
                </a:pathLst>
              </a:custGeom>
              <a:solidFill>
                <a:srgbClr val="1E7B45"/>
              </a:solidFill>
              <a:ln>
                <a:noFill/>
              </a:ln>
            </p:spPr>
          </p:sp>
        </p:grpSp>
        <p:sp>
          <p:nvSpPr>
            <p:cNvPr id="169" name="TextBox 169"/>
            <p:cNvSpPr txBox="1"/>
            <p:nvPr/>
          </p:nvSpPr>
          <p:spPr>
            <a:xfrm>
              <a:off x="10282238" y="1811893"/>
              <a:ext cx="1148810" cy="302419"/>
            </a:xfrm>
            <a:prstGeom prst="rect">
              <a:avLst/>
            </a:prstGeom>
            <a:noFill/>
            <a:ln>
              <a:noFill/>
            </a:ln>
          </p:spPr>
          <p:txBody>
            <a:bodyPr wrap="none" lIns="0" tIns="0" rIns="0" bIns="0" anchor="t" anchorCtr="0">
              <a:spAutoFit/>
            </a:bodyPr>
            <a:lstStyle/>
            <a:p>
              <a:pPr algn="l">
                <a:lnSpc>
                  <a:spcPts val="1050"/>
                </a:lnSpc>
              </a:pPr>
              <a:r>
                <a:rPr lang="en-IN" sz="860" dirty="0">
                  <a:solidFill>
                    <a:srgbClr val="344054"/>
                  </a:solidFill>
                  <a:latin typeface="Calibri"/>
                  <a:ea typeface="Calibri"/>
                  <a:cs typeface="Calibri"/>
                </a:rPr>
                <a:t>Planted test cases; officer</a:t>
              </a:r>
              <a:br/>
              <a:r>
                <a:rPr lang="en-IN" sz="860" dirty="0">
                  <a:solidFill>
                    <a:srgbClr val="344054"/>
                  </a:solidFill>
                  <a:latin typeface="Calibri"/>
                  <a:ea typeface="Calibri"/>
                  <a:cs typeface="Calibri"/>
                </a:rPr>
                <a:t>verdicts as labels</a:t>
              </a:r>
            </a:p>
          </p:txBody>
        </p:sp>
        <p:sp>
          <p:nvSpPr>
            <p:cNvPr id="170" name="Rectangle 170"/>
            <p:cNvSpPr/>
            <p:nvPr/>
          </p:nvSpPr>
          <p:spPr>
            <a:xfrm>
              <a:off x="7581900" y="2276475"/>
              <a:ext cx="2019300" cy="495300"/>
            </a:xfrm>
            <a:prstGeom prst="roundRect">
              <a:avLst>
                <a:gd name="adj" fmla="val 15385"/>
              </a:avLst>
            </a:prstGeom>
            <a:solidFill>
              <a:srgbClr val="FDECEA"/>
            </a:solidFill>
            <a:ln>
              <a:noFill/>
            </a:ln>
          </p:spPr>
        </p:sp>
        <p:grpSp>
          <p:nvGrpSpPr>
            <p:cNvPr id="173" name="Group 173"/>
            <p:cNvGrpSpPr/>
            <p:nvPr/>
          </p:nvGrpSpPr>
          <p:grpSpPr>
            <a:xfrm>
              <a:off x="7691582" y="2423516"/>
              <a:ext cx="218778" cy="193565"/>
              <a:chOff x="7691582" y="2423516"/>
              <a:chExt cx="218778" cy="193565"/>
            </a:xfrm>
          </p:grpSpPr>
          <p:sp>
            <p:nvSpPr>
              <p:cNvPr id="171" name="Freeform 171"/>
              <p:cNvSpPr/>
              <p:nvPr/>
            </p:nvSpPr>
            <p:spPr>
              <a:xfrm>
                <a:off x="7696498" y="2428567"/>
                <a:ext cx="208954" cy="180687"/>
              </a:xfrm>
              <a:custGeom>
                <a:avLst/>
                <a:gdLst/>
                <a:ahLst/>
                <a:cxnLst/>
                <a:rect l="l" t="t" r="r" b="b"/>
                <a:pathLst>
                  <a:path w="208954" h="180687">
                    <a:moveTo>
                      <a:pt x="189084" y="180687"/>
                    </a:moveTo>
                    <a:lnTo>
                      <a:pt x="19870" y="180687"/>
                    </a:lnTo>
                    <a:cubicBezTo>
                      <a:pt x="7662" y="180687"/>
                      <a:pt x="0" y="167908"/>
                      <a:pt x="5930" y="157557"/>
                    </a:cubicBezTo>
                    <a:lnTo>
                      <a:pt x="90537" y="10641"/>
                    </a:lnTo>
                    <a:cubicBezTo>
                      <a:pt x="96631" y="0"/>
                      <a:pt x="112322" y="0"/>
                      <a:pt x="118417" y="10641"/>
                    </a:cubicBezTo>
                    <a:lnTo>
                      <a:pt x="203024" y="157557"/>
                    </a:lnTo>
                    <a:cubicBezTo>
                      <a:pt x="208954" y="167908"/>
                      <a:pt x="201292" y="180687"/>
                      <a:pt x="189084" y="180687"/>
                    </a:cubicBezTo>
                    <a:close/>
                  </a:path>
                </a:pathLst>
              </a:custGeom>
              <a:solidFill>
                <a:srgbClr val="B42318">
                  <a:alpha val="20000"/>
                </a:srgbClr>
              </a:solidFill>
              <a:ln>
                <a:noFill/>
              </a:ln>
            </p:spPr>
          </p:sp>
          <p:sp>
            <p:nvSpPr>
              <p:cNvPr id="172" name="Freeform 172"/>
              <p:cNvSpPr/>
              <p:nvPr/>
            </p:nvSpPr>
            <p:spPr>
              <a:xfrm>
                <a:off x="7691582" y="2423516"/>
                <a:ext cx="218778" cy="193565"/>
              </a:xfrm>
              <a:custGeom>
                <a:avLst/>
                <a:gdLst/>
                <a:ahLst/>
                <a:cxnLst/>
                <a:rect l="l" t="t" r="r" b="b"/>
                <a:pathLst>
                  <a:path w="218778" h="193565">
                    <a:moveTo>
                      <a:pt x="214643" y="158738"/>
                    </a:moveTo>
                    <a:lnTo>
                      <a:pt x="130046" y="11822"/>
                    </a:lnTo>
                    <a:lnTo>
                      <a:pt x="130046" y="11822"/>
                    </a:lnTo>
                    <a:cubicBezTo>
                      <a:pt x="125744" y="4498"/>
                      <a:pt x="117886" y="0"/>
                      <a:pt x="109392" y="0"/>
                    </a:cubicBezTo>
                    <a:cubicBezTo>
                      <a:pt x="100898" y="0"/>
                      <a:pt x="93040" y="4498"/>
                      <a:pt x="88739" y="11822"/>
                    </a:cubicBezTo>
                    <a:lnTo>
                      <a:pt x="4141" y="158738"/>
                    </a:lnTo>
                    <a:cubicBezTo>
                      <a:pt x="0" y="165826"/>
                      <a:pt x="0" y="174596"/>
                      <a:pt x="4141" y="181684"/>
                    </a:cubicBezTo>
                    <a:cubicBezTo>
                      <a:pt x="8390" y="189057"/>
                      <a:pt x="16286" y="193565"/>
                      <a:pt x="24795" y="193476"/>
                    </a:cubicBezTo>
                    <a:lnTo>
                      <a:pt x="193989" y="193476"/>
                    </a:lnTo>
                    <a:cubicBezTo>
                      <a:pt x="202492" y="193558"/>
                      <a:pt x="210378" y="189051"/>
                      <a:pt x="214623" y="181684"/>
                    </a:cubicBezTo>
                    <a:cubicBezTo>
                      <a:pt x="218771" y="174599"/>
                      <a:pt x="218778" y="165829"/>
                      <a:pt x="214643" y="158738"/>
                    </a:cubicBezTo>
                    <a:close/>
                    <a:moveTo>
                      <a:pt x="201225" y="173935"/>
                    </a:moveTo>
                    <a:cubicBezTo>
                      <a:pt x="199724" y="176497"/>
                      <a:pt x="196958" y="178050"/>
                      <a:pt x="193989" y="177998"/>
                    </a:cubicBezTo>
                    <a:lnTo>
                      <a:pt x="24795" y="177998"/>
                    </a:lnTo>
                    <a:cubicBezTo>
                      <a:pt x="21826" y="178050"/>
                      <a:pt x="19060" y="176497"/>
                      <a:pt x="17559" y="173935"/>
                    </a:cubicBezTo>
                    <a:cubicBezTo>
                      <a:pt x="16198" y="171632"/>
                      <a:pt x="16198" y="168771"/>
                      <a:pt x="17559" y="166467"/>
                    </a:cubicBezTo>
                    <a:lnTo>
                      <a:pt x="102156" y="19551"/>
                    </a:lnTo>
                    <a:cubicBezTo>
                      <a:pt x="103686" y="17005"/>
                      <a:pt x="106440" y="15447"/>
                      <a:pt x="109411" y="15447"/>
                    </a:cubicBezTo>
                    <a:cubicBezTo>
                      <a:pt x="112383" y="15447"/>
                      <a:pt x="115136" y="17005"/>
                      <a:pt x="116667" y="19551"/>
                    </a:cubicBezTo>
                    <a:lnTo>
                      <a:pt x="201264" y="166467"/>
                    </a:lnTo>
                    <a:cubicBezTo>
                      <a:pt x="202613" y="168778"/>
                      <a:pt x="202598" y="171639"/>
                      <a:pt x="201225" y="173935"/>
                    </a:cubicBezTo>
                    <a:close/>
                    <a:moveTo>
                      <a:pt x="101653" y="116086"/>
                    </a:moveTo>
                    <a:lnTo>
                      <a:pt x="101653" y="77391"/>
                    </a:lnTo>
                    <a:cubicBezTo>
                      <a:pt x="101653" y="73117"/>
                      <a:pt x="105118" y="69652"/>
                      <a:pt x="109392" y="69652"/>
                    </a:cubicBezTo>
                    <a:cubicBezTo>
                      <a:pt x="113666" y="69652"/>
                      <a:pt x="117131" y="73117"/>
                      <a:pt x="117131" y="77391"/>
                    </a:cubicBezTo>
                    <a:lnTo>
                      <a:pt x="117131" y="116086"/>
                    </a:lnTo>
                    <a:cubicBezTo>
                      <a:pt x="117131" y="120360"/>
                      <a:pt x="113666" y="123825"/>
                      <a:pt x="109392" y="123825"/>
                    </a:cubicBezTo>
                    <a:cubicBezTo>
                      <a:pt x="105118" y="123825"/>
                      <a:pt x="101653" y="120360"/>
                      <a:pt x="101653" y="116086"/>
                    </a:cubicBezTo>
                    <a:close/>
                    <a:moveTo>
                      <a:pt x="121001" y="150912"/>
                    </a:moveTo>
                    <a:cubicBezTo>
                      <a:pt x="121001" y="157323"/>
                      <a:pt x="115803" y="162520"/>
                      <a:pt x="109392" y="162520"/>
                    </a:cubicBezTo>
                    <a:cubicBezTo>
                      <a:pt x="102981" y="162520"/>
                      <a:pt x="97784" y="157323"/>
                      <a:pt x="97784" y="150912"/>
                    </a:cubicBezTo>
                    <a:cubicBezTo>
                      <a:pt x="97784" y="144500"/>
                      <a:pt x="102981" y="139303"/>
                      <a:pt x="109392" y="139303"/>
                    </a:cubicBezTo>
                    <a:cubicBezTo>
                      <a:pt x="115803" y="139303"/>
                      <a:pt x="121001" y="144500"/>
                      <a:pt x="121001" y="150912"/>
                    </a:cubicBezTo>
                    <a:close/>
                  </a:path>
                </a:pathLst>
              </a:custGeom>
              <a:solidFill>
                <a:srgbClr val="B42318"/>
              </a:solidFill>
              <a:ln>
                <a:noFill/>
              </a:ln>
            </p:spPr>
          </p:sp>
        </p:grpSp>
        <p:sp>
          <p:nvSpPr>
            <p:cNvPr id="174" name="TextBox 174"/>
            <p:cNvSpPr txBox="1"/>
            <p:nvPr/>
          </p:nvSpPr>
          <p:spPr>
            <a:xfrm>
              <a:off x="7996238" y="2375297"/>
              <a:ext cx="661725"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False alarms</a:t>
              </a:r>
            </a:p>
          </p:txBody>
        </p:sp>
        <p:sp>
          <p:nvSpPr>
            <p:cNvPr id="175" name="Line 175"/>
            <p:cNvSpPr/>
            <p:nvPr/>
          </p:nvSpPr>
          <p:spPr>
            <a:xfrm>
              <a:off x="9629775" y="2524125"/>
              <a:ext cx="209550" cy="1"/>
            </a:xfrm>
            <a:prstGeom prst="line">
              <a:avLst/>
            </a:prstGeom>
            <a:noFill/>
            <a:ln w="15240">
              <a:solidFill>
                <a:srgbClr val="0B3D6E"/>
              </a:solidFill>
              <a:tailEnd type="triangle" w="lg" len="lg"/>
            </a:ln>
          </p:spPr>
        </p:sp>
        <p:sp>
          <p:nvSpPr>
            <p:cNvPr id="176" name="Rectangle 176"/>
            <p:cNvSpPr/>
            <p:nvPr/>
          </p:nvSpPr>
          <p:spPr>
            <a:xfrm>
              <a:off x="9867900" y="2276475"/>
              <a:ext cx="2019300" cy="495300"/>
            </a:xfrm>
            <a:prstGeom prst="roundRect">
              <a:avLst>
                <a:gd name="adj" fmla="val 15385"/>
              </a:avLst>
            </a:prstGeom>
            <a:solidFill>
              <a:srgbClr val="E7F4EC"/>
            </a:solidFill>
            <a:ln>
              <a:noFill/>
            </a:ln>
          </p:spPr>
        </p:sp>
        <p:grpSp>
          <p:nvGrpSpPr>
            <p:cNvPr id="179" name="Group 179"/>
            <p:cNvGrpSpPr/>
            <p:nvPr/>
          </p:nvGrpSpPr>
          <p:grpSpPr>
            <a:xfrm>
              <a:off x="9994106" y="2431256"/>
              <a:ext cx="185737" cy="185737"/>
              <a:chOff x="9994106" y="2431256"/>
              <a:chExt cx="185737" cy="185737"/>
            </a:xfrm>
          </p:grpSpPr>
          <p:sp>
            <p:nvSpPr>
              <p:cNvPr id="177" name="Freeform 177"/>
              <p:cNvSpPr/>
              <p:nvPr/>
            </p:nvSpPr>
            <p:spPr>
              <a:xfrm>
                <a:off x="10001845" y="2438995"/>
                <a:ext cx="170259" cy="170259"/>
              </a:xfrm>
              <a:custGeom>
                <a:avLst/>
                <a:gdLst/>
                <a:ahLst/>
                <a:cxnLst/>
                <a:rect l="l" t="t" r="r" b="b"/>
                <a:pathLst>
                  <a:path w="170259" h="170259">
                    <a:moveTo>
                      <a:pt x="170259" y="7739"/>
                    </a:moveTo>
                    <a:lnTo>
                      <a:pt x="170259" y="162520"/>
                    </a:lnTo>
                    <a:cubicBezTo>
                      <a:pt x="170259" y="166794"/>
                      <a:pt x="166794" y="170259"/>
                      <a:pt x="162520" y="170259"/>
                    </a:cubicBezTo>
                    <a:lnTo>
                      <a:pt x="7739" y="170259"/>
                    </a:lnTo>
                    <a:cubicBezTo>
                      <a:pt x="3465" y="170259"/>
                      <a:pt x="0" y="166794"/>
                      <a:pt x="0" y="162520"/>
                    </a:cubicBezTo>
                    <a:lnTo>
                      <a:pt x="0" y="7739"/>
                    </a:lnTo>
                    <a:cubicBezTo>
                      <a:pt x="0" y="3465"/>
                      <a:pt x="3465" y="0"/>
                      <a:pt x="7739" y="0"/>
                    </a:cubicBezTo>
                    <a:lnTo>
                      <a:pt x="162520" y="0"/>
                    </a:lnTo>
                    <a:cubicBezTo>
                      <a:pt x="166794" y="0"/>
                      <a:pt x="170259" y="3465"/>
                      <a:pt x="170259" y="7739"/>
                    </a:cubicBezTo>
                    <a:close/>
                  </a:path>
                </a:pathLst>
              </a:custGeom>
              <a:solidFill>
                <a:srgbClr val="1E7B45">
                  <a:alpha val="20000"/>
                </a:srgbClr>
              </a:solidFill>
              <a:ln>
                <a:noFill/>
              </a:ln>
            </p:spPr>
          </p:sp>
          <p:sp>
            <p:nvSpPr>
              <p:cNvPr id="178" name="Freeform 178"/>
              <p:cNvSpPr/>
              <p:nvPr/>
            </p:nvSpPr>
            <p:spPr>
              <a:xfrm>
                <a:off x="9994106" y="2431256"/>
                <a:ext cx="185737" cy="185737"/>
              </a:xfrm>
              <a:custGeom>
                <a:avLst/>
                <a:gdLst/>
                <a:ahLst/>
                <a:cxnLst/>
                <a:rect l="l" t="t" r="r" b="b"/>
                <a:pathLst>
                  <a:path w="185737" h="185737">
                    <a:moveTo>
                      <a:pt x="137039" y="64176"/>
                    </a:moveTo>
                    <a:cubicBezTo>
                      <a:pt x="138492" y="65627"/>
                      <a:pt x="139309" y="67597"/>
                      <a:pt x="139309" y="69651"/>
                    </a:cubicBezTo>
                    <a:cubicBezTo>
                      <a:pt x="139309" y="71705"/>
                      <a:pt x="138492" y="73675"/>
                      <a:pt x="137039" y="75127"/>
                    </a:cubicBezTo>
                    <a:lnTo>
                      <a:pt x="82866" y="129300"/>
                    </a:lnTo>
                    <a:cubicBezTo>
                      <a:pt x="81414" y="130753"/>
                      <a:pt x="79444" y="131570"/>
                      <a:pt x="77390" y="131570"/>
                    </a:cubicBezTo>
                    <a:cubicBezTo>
                      <a:pt x="75336" y="131570"/>
                      <a:pt x="73366" y="130753"/>
                      <a:pt x="71915" y="129300"/>
                    </a:cubicBezTo>
                    <a:lnTo>
                      <a:pt x="48698" y="106083"/>
                    </a:lnTo>
                    <a:cubicBezTo>
                      <a:pt x="45674" y="103059"/>
                      <a:pt x="45674" y="98156"/>
                      <a:pt x="48698" y="95132"/>
                    </a:cubicBezTo>
                    <a:cubicBezTo>
                      <a:pt x="51722" y="92108"/>
                      <a:pt x="56625" y="92108"/>
                      <a:pt x="59649" y="95132"/>
                    </a:cubicBezTo>
                    <a:lnTo>
                      <a:pt x="77390" y="112883"/>
                    </a:lnTo>
                    <a:lnTo>
                      <a:pt x="126088" y="64176"/>
                    </a:lnTo>
                    <a:cubicBezTo>
                      <a:pt x="127540" y="62723"/>
                      <a:pt x="129509" y="61906"/>
                      <a:pt x="131563" y="61906"/>
                    </a:cubicBezTo>
                    <a:cubicBezTo>
                      <a:pt x="133617" y="61906"/>
                      <a:pt x="135587" y="62723"/>
                      <a:pt x="137039" y="64176"/>
                    </a:cubicBezTo>
                    <a:close/>
                    <a:moveTo>
                      <a:pt x="185737" y="15478"/>
                    </a:moveTo>
                    <a:lnTo>
                      <a:pt x="185737" y="170259"/>
                    </a:lnTo>
                    <a:cubicBezTo>
                      <a:pt x="185737" y="178807"/>
                      <a:pt x="178807" y="185737"/>
                      <a:pt x="170259" y="185737"/>
                    </a:cubicBezTo>
                    <a:lnTo>
                      <a:pt x="15478" y="185737"/>
                    </a:lnTo>
                    <a:cubicBezTo>
                      <a:pt x="6930" y="185737"/>
                      <a:pt x="0" y="178807"/>
                      <a:pt x="0" y="170259"/>
                    </a:cubicBezTo>
                    <a:lnTo>
                      <a:pt x="0" y="15478"/>
                    </a:lnTo>
                    <a:cubicBezTo>
                      <a:pt x="0" y="6930"/>
                      <a:pt x="6930" y="0"/>
                      <a:pt x="15478" y="0"/>
                    </a:cubicBezTo>
                    <a:lnTo>
                      <a:pt x="170259" y="0"/>
                    </a:lnTo>
                    <a:cubicBezTo>
                      <a:pt x="178807" y="0"/>
                      <a:pt x="185737" y="6930"/>
                      <a:pt x="185737" y="15478"/>
                    </a:cubicBezTo>
                    <a:close/>
                    <a:moveTo>
                      <a:pt x="170259" y="170259"/>
                    </a:moveTo>
                    <a:lnTo>
                      <a:pt x="170259" y="15478"/>
                    </a:lnTo>
                    <a:lnTo>
                      <a:pt x="15478" y="15478"/>
                    </a:lnTo>
                    <a:lnTo>
                      <a:pt x="15478" y="170259"/>
                    </a:lnTo>
                    <a:lnTo>
                      <a:pt x="170259" y="170259"/>
                    </a:lnTo>
                    <a:close/>
                  </a:path>
                </a:pathLst>
              </a:custGeom>
              <a:solidFill>
                <a:srgbClr val="1E7B45"/>
              </a:solidFill>
              <a:ln>
                <a:noFill/>
              </a:ln>
            </p:spPr>
          </p:sp>
        </p:grpSp>
        <p:sp>
          <p:nvSpPr>
            <p:cNvPr id="180" name="TextBox 180"/>
            <p:cNvSpPr txBox="1"/>
            <p:nvPr/>
          </p:nvSpPr>
          <p:spPr>
            <a:xfrm>
              <a:off x="10282238" y="2383393"/>
              <a:ext cx="1415274" cy="302419"/>
            </a:xfrm>
            <a:prstGeom prst="rect">
              <a:avLst/>
            </a:prstGeom>
            <a:noFill/>
            <a:ln>
              <a:noFill/>
            </a:ln>
          </p:spPr>
          <p:txBody>
            <a:bodyPr wrap="none" lIns="0" tIns="0" rIns="0" bIns="0" anchor="t" anchorCtr="0">
              <a:spAutoFit/>
            </a:bodyPr>
            <a:lstStyle/>
            <a:p>
              <a:pPr algn="l">
                <a:lnSpc>
                  <a:spcPts val="1050"/>
                </a:lnSpc>
              </a:pPr>
              <a:r>
                <a:rPr lang="en-IN" sz="860" dirty="0">
                  <a:solidFill>
                    <a:srgbClr val="344054"/>
                  </a:solidFill>
                  <a:latin typeface="Calibri"/>
                  <a:ea typeface="Calibri"/>
                  <a:cs typeface="Calibri"/>
                </a:rPr>
                <a:t>Price alone never makes a work</a:t>
              </a:r>
              <a:br/>
              <a:r>
                <a:rPr lang="en-IN" sz="860" dirty="0">
                  <a:solidFill>
                    <a:srgbClr val="344054"/>
                  </a:solidFill>
                  <a:latin typeface="Calibri"/>
                  <a:ea typeface="Calibri"/>
                  <a:cs typeface="Calibri"/>
                </a:rPr>
                <a:t>high-risk</a:t>
              </a:r>
            </a:p>
          </p:txBody>
        </p:sp>
        <p:sp>
          <p:nvSpPr>
            <p:cNvPr id="181" name="Rectangle 181"/>
            <p:cNvSpPr/>
            <p:nvPr/>
          </p:nvSpPr>
          <p:spPr>
            <a:xfrm>
              <a:off x="7581900" y="2847975"/>
              <a:ext cx="2019300" cy="495300"/>
            </a:xfrm>
            <a:prstGeom prst="roundRect">
              <a:avLst>
                <a:gd name="adj" fmla="val 15385"/>
              </a:avLst>
            </a:prstGeom>
            <a:solidFill>
              <a:srgbClr val="FDECEA"/>
            </a:solidFill>
            <a:ln>
              <a:noFill/>
            </a:ln>
          </p:spPr>
        </p:sp>
        <p:grpSp>
          <p:nvGrpSpPr>
            <p:cNvPr id="184" name="Group 184"/>
            <p:cNvGrpSpPr/>
            <p:nvPr/>
          </p:nvGrpSpPr>
          <p:grpSpPr>
            <a:xfrm>
              <a:off x="7700367" y="2995017"/>
              <a:ext cx="217071" cy="194571"/>
              <a:chOff x="7700367" y="2995017"/>
              <a:chExt cx="217071" cy="194571"/>
            </a:xfrm>
          </p:grpSpPr>
          <p:sp>
            <p:nvSpPr>
              <p:cNvPr id="182" name="Freeform 182"/>
              <p:cNvSpPr/>
              <p:nvPr/>
            </p:nvSpPr>
            <p:spPr>
              <a:xfrm>
                <a:off x="7739033" y="3025973"/>
                <a:ext cx="154809" cy="123824"/>
              </a:xfrm>
              <a:custGeom>
                <a:avLst/>
                <a:gdLst/>
                <a:ahLst/>
                <a:cxnLst/>
                <a:rect l="l" t="t" r="r" b="b"/>
                <a:pathLst>
                  <a:path w="154809" h="123824">
                    <a:moveTo>
                      <a:pt x="154809" y="123824"/>
                    </a:moveTo>
                    <a:lnTo>
                      <a:pt x="77419" y="123824"/>
                    </a:lnTo>
                    <a:lnTo>
                      <a:pt x="116114" y="46434"/>
                    </a:lnTo>
                    <a:close/>
                    <a:moveTo>
                      <a:pt x="30985" y="69226"/>
                    </a:moveTo>
                    <a:lnTo>
                      <a:pt x="30985" y="69226"/>
                    </a:lnTo>
                    <a:cubicBezTo>
                      <a:pt x="50706" y="51623"/>
                      <a:pt x="61970" y="26435"/>
                      <a:pt x="61941" y="0"/>
                    </a:cubicBezTo>
                    <a:lnTo>
                      <a:pt x="29" y="0"/>
                    </a:lnTo>
                    <a:cubicBezTo>
                      <a:pt x="0" y="26435"/>
                      <a:pt x="11264" y="51623"/>
                      <a:pt x="30985" y="69226"/>
                    </a:cubicBezTo>
                    <a:close/>
                  </a:path>
                </a:pathLst>
              </a:custGeom>
              <a:solidFill>
                <a:srgbClr val="B42318">
                  <a:alpha val="20000"/>
                </a:srgbClr>
              </a:solidFill>
              <a:ln>
                <a:noFill/>
              </a:ln>
            </p:spPr>
          </p:sp>
          <p:sp>
            <p:nvSpPr>
              <p:cNvPr id="183" name="Freeform 183"/>
              <p:cNvSpPr/>
              <p:nvPr/>
            </p:nvSpPr>
            <p:spPr>
              <a:xfrm>
                <a:off x="7700367" y="2995017"/>
                <a:ext cx="217071" cy="194571"/>
              </a:xfrm>
              <a:custGeom>
                <a:avLst/>
                <a:gdLst/>
                <a:ahLst/>
                <a:cxnLst/>
                <a:rect l="l" t="t" r="r" b="b"/>
                <a:pathLst>
                  <a:path w="217071" h="194571">
                    <a:moveTo>
                      <a:pt x="215870" y="182273"/>
                    </a:moveTo>
                    <a:lnTo>
                      <a:pt x="161697" y="73927"/>
                    </a:lnTo>
                    <a:cubicBezTo>
                      <a:pt x="160386" y="71306"/>
                      <a:pt x="157707" y="69650"/>
                      <a:pt x="154776" y="69650"/>
                    </a:cubicBezTo>
                    <a:cubicBezTo>
                      <a:pt x="151845" y="69650"/>
                      <a:pt x="149165" y="71306"/>
                      <a:pt x="147854" y="73927"/>
                    </a:cubicBezTo>
                    <a:lnTo>
                      <a:pt x="126852" y="115940"/>
                    </a:lnTo>
                    <a:cubicBezTo>
                      <a:pt x="110390" y="115015"/>
                      <a:pt x="94551" y="109328"/>
                      <a:pt x="81260" y="99572"/>
                    </a:cubicBezTo>
                    <a:cubicBezTo>
                      <a:pt x="96855" y="82918"/>
                      <a:pt x="106304" y="61444"/>
                      <a:pt x="108046" y="38695"/>
                    </a:cubicBezTo>
                    <a:lnTo>
                      <a:pt x="131563" y="38695"/>
                    </a:lnTo>
                    <a:cubicBezTo>
                      <a:pt x="135838" y="38695"/>
                      <a:pt x="139302" y="35230"/>
                      <a:pt x="139302" y="30956"/>
                    </a:cubicBezTo>
                    <a:cubicBezTo>
                      <a:pt x="139302" y="26682"/>
                      <a:pt x="135838" y="23217"/>
                      <a:pt x="131563" y="23217"/>
                    </a:cubicBezTo>
                    <a:lnTo>
                      <a:pt x="77390" y="23217"/>
                    </a:lnTo>
                    <a:lnTo>
                      <a:pt x="77390" y="7739"/>
                    </a:lnTo>
                    <a:cubicBezTo>
                      <a:pt x="77390" y="3465"/>
                      <a:pt x="73925" y="0"/>
                      <a:pt x="69651" y="0"/>
                    </a:cubicBezTo>
                    <a:cubicBezTo>
                      <a:pt x="65377" y="0"/>
                      <a:pt x="61912" y="3465"/>
                      <a:pt x="61912" y="7739"/>
                    </a:cubicBezTo>
                    <a:lnTo>
                      <a:pt x="61912" y="23217"/>
                    </a:lnTo>
                    <a:lnTo>
                      <a:pt x="7739" y="23217"/>
                    </a:lnTo>
                    <a:cubicBezTo>
                      <a:pt x="3465" y="23217"/>
                      <a:pt x="0" y="26682"/>
                      <a:pt x="0" y="30956"/>
                    </a:cubicBezTo>
                    <a:cubicBezTo>
                      <a:pt x="0" y="35230"/>
                      <a:pt x="3465" y="38695"/>
                      <a:pt x="7739" y="38695"/>
                    </a:cubicBezTo>
                    <a:lnTo>
                      <a:pt x="92510" y="38695"/>
                    </a:lnTo>
                    <a:cubicBezTo>
                      <a:pt x="90791" y="57663"/>
                      <a:pt x="82739" y="75501"/>
                      <a:pt x="69651" y="89337"/>
                    </a:cubicBezTo>
                    <a:cubicBezTo>
                      <a:pt x="61498" y="80734"/>
                      <a:pt x="55237" y="70519"/>
                      <a:pt x="51271" y="59349"/>
                    </a:cubicBezTo>
                    <a:cubicBezTo>
                      <a:pt x="50384" y="56696"/>
                      <a:pt x="48134" y="54729"/>
                      <a:pt x="45387" y="54203"/>
                    </a:cubicBezTo>
                    <a:cubicBezTo>
                      <a:pt x="42639" y="53677"/>
                      <a:pt x="39822" y="54675"/>
                      <a:pt x="38018" y="56812"/>
                    </a:cubicBezTo>
                    <a:cubicBezTo>
                      <a:pt x="36214" y="58950"/>
                      <a:pt x="35703" y="61894"/>
                      <a:pt x="36683" y="64514"/>
                    </a:cubicBezTo>
                    <a:cubicBezTo>
                      <a:pt x="41300" y="77573"/>
                      <a:pt x="48573" y="89533"/>
                      <a:pt x="58043" y="99640"/>
                    </a:cubicBezTo>
                    <a:cubicBezTo>
                      <a:pt x="43462" y="110354"/>
                      <a:pt x="25833" y="116118"/>
                      <a:pt x="7739" y="116085"/>
                    </a:cubicBezTo>
                    <a:cubicBezTo>
                      <a:pt x="3465" y="116085"/>
                      <a:pt x="0" y="119550"/>
                      <a:pt x="0" y="123824"/>
                    </a:cubicBezTo>
                    <a:cubicBezTo>
                      <a:pt x="0" y="128099"/>
                      <a:pt x="3465" y="131563"/>
                      <a:pt x="7739" y="131563"/>
                    </a:cubicBezTo>
                    <a:cubicBezTo>
                      <a:pt x="30188" y="131588"/>
                      <a:pt x="51993" y="124066"/>
                      <a:pt x="69651" y="110204"/>
                    </a:cubicBezTo>
                    <a:cubicBezTo>
                      <a:pt x="84061" y="121463"/>
                      <a:pt x="101263" y="128589"/>
                      <a:pt x="119413" y="130819"/>
                    </a:cubicBezTo>
                    <a:lnTo>
                      <a:pt x="93681" y="182273"/>
                    </a:lnTo>
                    <a:cubicBezTo>
                      <a:pt x="91768" y="186096"/>
                      <a:pt x="93317" y="190745"/>
                      <a:pt x="97139" y="192658"/>
                    </a:cubicBezTo>
                    <a:cubicBezTo>
                      <a:pt x="100962" y="194571"/>
                      <a:pt x="105611" y="193022"/>
                      <a:pt x="107524" y="189200"/>
                    </a:cubicBezTo>
                    <a:lnTo>
                      <a:pt x="120864" y="162520"/>
                    </a:lnTo>
                    <a:lnTo>
                      <a:pt x="188687" y="162520"/>
                    </a:lnTo>
                    <a:lnTo>
                      <a:pt x="202027" y="189200"/>
                    </a:lnTo>
                    <a:cubicBezTo>
                      <a:pt x="203339" y="191822"/>
                      <a:pt x="206021" y="193478"/>
                      <a:pt x="208954" y="193476"/>
                    </a:cubicBezTo>
                    <a:cubicBezTo>
                      <a:pt x="211636" y="193474"/>
                      <a:pt x="214125" y="192084"/>
                      <a:pt x="215534" y="189802"/>
                    </a:cubicBezTo>
                    <a:cubicBezTo>
                      <a:pt x="216943" y="187520"/>
                      <a:pt x="217071" y="184672"/>
                      <a:pt x="215870" y="182273"/>
                    </a:cubicBezTo>
                    <a:close/>
                    <a:moveTo>
                      <a:pt x="128603" y="147041"/>
                    </a:moveTo>
                    <a:lnTo>
                      <a:pt x="154780" y="94697"/>
                    </a:lnTo>
                    <a:lnTo>
                      <a:pt x="180948" y="147041"/>
                    </a:lnTo>
                    <a:close/>
                  </a:path>
                </a:pathLst>
              </a:custGeom>
              <a:solidFill>
                <a:srgbClr val="B42318"/>
              </a:solidFill>
              <a:ln>
                <a:noFill/>
              </a:ln>
            </p:spPr>
          </p:sp>
        </p:grpSp>
        <p:sp>
          <p:nvSpPr>
            <p:cNvPr id="185" name="TextBox 185"/>
            <p:cNvSpPr txBox="1"/>
            <p:nvPr/>
          </p:nvSpPr>
          <p:spPr>
            <a:xfrm>
              <a:off x="7996238" y="2946797"/>
              <a:ext cx="1479422"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Hindi &amp; handwritten papers</a:t>
              </a:r>
            </a:p>
          </p:txBody>
        </p:sp>
        <p:sp>
          <p:nvSpPr>
            <p:cNvPr id="186" name="Line 186"/>
            <p:cNvSpPr/>
            <p:nvPr/>
          </p:nvSpPr>
          <p:spPr>
            <a:xfrm>
              <a:off x="9629775" y="3095625"/>
              <a:ext cx="209550" cy="1"/>
            </a:xfrm>
            <a:prstGeom prst="line">
              <a:avLst/>
            </a:prstGeom>
            <a:noFill/>
            <a:ln w="15240">
              <a:solidFill>
                <a:srgbClr val="0B3D6E"/>
              </a:solidFill>
              <a:tailEnd type="triangle" w="lg" len="lg"/>
            </a:ln>
          </p:spPr>
        </p:sp>
        <p:sp>
          <p:nvSpPr>
            <p:cNvPr id="187" name="Rectangle 187"/>
            <p:cNvSpPr/>
            <p:nvPr/>
          </p:nvSpPr>
          <p:spPr>
            <a:xfrm>
              <a:off x="9867900" y="2847975"/>
              <a:ext cx="2019300" cy="495300"/>
            </a:xfrm>
            <a:prstGeom prst="roundRect">
              <a:avLst>
                <a:gd name="adj" fmla="val 15385"/>
              </a:avLst>
            </a:prstGeom>
            <a:solidFill>
              <a:srgbClr val="E7F4EC"/>
            </a:solidFill>
            <a:ln>
              <a:noFill/>
            </a:ln>
          </p:spPr>
        </p:sp>
        <p:grpSp>
          <p:nvGrpSpPr>
            <p:cNvPr id="190" name="Group 190"/>
            <p:cNvGrpSpPr/>
            <p:nvPr/>
          </p:nvGrpSpPr>
          <p:grpSpPr>
            <a:xfrm>
              <a:off x="9994106" y="3002756"/>
              <a:ext cx="185737" cy="185737"/>
              <a:chOff x="9994106" y="3002756"/>
              <a:chExt cx="185737" cy="185737"/>
            </a:xfrm>
          </p:grpSpPr>
          <p:sp>
            <p:nvSpPr>
              <p:cNvPr id="188" name="Freeform 188"/>
              <p:cNvSpPr/>
              <p:nvPr/>
            </p:nvSpPr>
            <p:spPr>
              <a:xfrm>
                <a:off x="10040540" y="3049190"/>
                <a:ext cx="92868" cy="92868"/>
              </a:xfrm>
              <a:custGeom>
                <a:avLst/>
                <a:gdLst/>
                <a:ahLst/>
                <a:cxnLst/>
                <a:rect l="l" t="t" r="r" b="b"/>
                <a:pathLst>
                  <a:path w="92868" h="92868">
                    <a:moveTo>
                      <a:pt x="92868" y="0"/>
                    </a:moveTo>
                    <a:lnTo>
                      <a:pt x="92868" y="92868"/>
                    </a:lnTo>
                    <a:lnTo>
                      <a:pt x="0" y="92868"/>
                    </a:lnTo>
                    <a:lnTo>
                      <a:pt x="0" y="0"/>
                    </a:lnTo>
                    <a:close/>
                  </a:path>
                </a:pathLst>
              </a:custGeom>
              <a:solidFill>
                <a:srgbClr val="1E7B45">
                  <a:alpha val="20000"/>
                </a:srgbClr>
              </a:solidFill>
              <a:ln>
                <a:noFill/>
              </a:ln>
            </p:spPr>
          </p:sp>
          <p:sp>
            <p:nvSpPr>
              <p:cNvPr id="189" name="Freeform 189"/>
              <p:cNvSpPr/>
              <p:nvPr/>
            </p:nvSpPr>
            <p:spPr>
              <a:xfrm>
                <a:off x="9994106" y="3002756"/>
                <a:ext cx="185737" cy="185737"/>
              </a:xfrm>
              <a:custGeom>
                <a:avLst/>
                <a:gdLst/>
                <a:ahLst/>
                <a:cxnLst/>
                <a:rect l="l" t="t" r="r" b="b"/>
                <a:pathLst>
                  <a:path w="185737" h="185737">
                    <a:moveTo>
                      <a:pt x="185737" y="7739"/>
                    </a:moveTo>
                    <a:lnTo>
                      <a:pt x="185737" y="46434"/>
                    </a:lnTo>
                    <a:cubicBezTo>
                      <a:pt x="185737" y="50708"/>
                      <a:pt x="182272" y="54173"/>
                      <a:pt x="177998" y="54173"/>
                    </a:cubicBezTo>
                    <a:cubicBezTo>
                      <a:pt x="173723" y="54173"/>
                      <a:pt x="170259" y="50708"/>
                      <a:pt x="170259" y="46434"/>
                    </a:cubicBezTo>
                    <a:lnTo>
                      <a:pt x="170259" y="15478"/>
                    </a:lnTo>
                    <a:lnTo>
                      <a:pt x="139302" y="15478"/>
                    </a:lnTo>
                    <a:cubicBezTo>
                      <a:pt x="135028" y="15478"/>
                      <a:pt x="131563" y="12013"/>
                      <a:pt x="131563" y="7739"/>
                    </a:cubicBezTo>
                    <a:cubicBezTo>
                      <a:pt x="131563" y="3465"/>
                      <a:pt x="135028" y="0"/>
                      <a:pt x="139302" y="0"/>
                    </a:cubicBezTo>
                    <a:lnTo>
                      <a:pt x="177998" y="0"/>
                    </a:lnTo>
                    <a:cubicBezTo>
                      <a:pt x="182272" y="0"/>
                      <a:pt x="185737" y="3465"/>
                      <a:pt x="185737" y="7739"/>
                    </a:cubicBezTo>
                    <a:close/>
                    <a:moveTo>
                      <a:pt x="46434" y="170259"/>
                    </a:moveTo>
                    <a:lnTo>
                      <a:pt x="15478" y="170259"/>
                    </a:lnTo>
                    <a:lnTo>
                      <a:pt x="15478" y="139302"/>
                    </a:lnTo>
                    <a:cubicBezTo>
                      <a:pt x="15478" y="135028"/>
                      <a:pt x="12013" y="131563"/>
                      <a:pt x="7739" y="131563"/>
                    </a:cubicBezTo>
                    <a:cubicBezTo>
                      <a:pt x="3465" y="131563"/>
                      <a:pt x="0" y="135028"/>
                      <a:pt x="0" y="139302"/>
                    </a:cubicBezTo>
                    <a:lnTo>
                      <a:pt x="0" y="177998"/>
                    </a:lnTo>
                    <a:cubicBezTo>
                      <a:pt x="0" y="182272"/>
                      <a:pt x="3465" y="185737"/>
                      <a:pt x="7739" y="185737"/>
                    </a:cubicBezTo>
                    <a:lnTo>
                      <a:pt x="46434" y="185737"/>
                    </a:lnTo>
                    <a:cubicBezTo>
                      <a:pt x="50708" y="185737"/>
                      <a:pt x="54173" y="182272"/>
                      <a:pt x="54173" y="177998"/>
                    </a:cubicBezTo>
                    <a:cubicBezTo>
                      <a:pt x="54173" y="173723"/>
                      <a:pt x="50708" y="170259"/>
                      <a:pt x="46434" y="170259"/>
                    </a:cubicBezTo>
                    <a:close/>
                    <a:moveTo>
                      <a:pt x="177998" y="131563"/>
                    </a:moveTo>
                    <a:cubicBezTo>
                      <a:pt x="173723" y="131563"/>
                      <a:pt x="170259" y="135028"/>
                      <a:pt x="170259" y="139302"/>
                    </a:cubicBezTo>
                    <a:lnTo>
                      <a:pt x="170259" y="170259"/>
                    </a:lnTo>
                    <a:lnTo>
                      <a:pt x="139302" y="170259"/>
                    </a:lnTo>
                    <a:cubicBezTo>
                      <a:pt x="135028" y="170259"/>
                      <a:pt x="131563" y="173723"/>
                      <a:pt x="131563" y="177998"/>
                    </a:cubicBezTo>
                    <a:cubicBezTo>
                      <a:pt x="131563" y="182272"/>
                      <a:pt x="135028" y="185737"/>
                      <a:pt x="139302" y="185737"/>
                    </a:cubicBezTo>
                    <a:lnTo>
                      <a:pt x="177998" y="185737"/>
                    </a:lnTo>
                    <a:cubicBezTo>
                      <a:pt x="182272" y="185737"/>
                      <a:pt x="185737" y="182272"/>
                      <a:pt x="185737" y="177998"/>
                    </a:cubicBezTo>
                    <a:lnTo>
                      <a:pt x="185737" y="139302"/>
                    </a:lnTo>
                    <a:cubicBezTo>
                      <a:pt x="185737" y="135028"/>
                      <a:pt x="182272" y="131563"/>
                      <a:pt x="177998" y="131563"/>
                    </a:cubicBezTo>
                    <a:close/>
                    <a:moveTo>
                      <a:pt x="7739" y="54173"/>
                    </a:moveTo>
                    <a:cubicBezTo>
                      <a:pt x="12013" y="54173"/>
                      <a:pt x="15478" y="50708"/>
                      <a:pt x="15478" y="46434"/>
                    </a:cubicBezTo>
                    <a:lnTo>
                      <a:pt x="15478" y="15478"/>
                    </a:lnTo>
                    <a:lnTo>
                      <a:pt x="46434" y="15478"/>
                    </a:lnTo>
                    <a:cubicBezTo>
                      <a:pt x="50708" y="15478"/>
                      <a:pt x="54173" y="12013"/>
                      <a:pt x="54173" y="7739"/>
                    </a:cubicBezTo>
                    <a:cubicBezTo>
                      <a:pt x="54173" y="3465"/>
                      <a:pt x="50708" y="0"/>
                      <a:pt x="46434" y="0"/>
                    </a:cubicBezTo>
                    <a:lnTo>
                      <a:pt x="7739" y="0"/>
                    </a:lnTo>
                    <a:cubicBezTo>
                      <a:pt x="3465" y="0"/>
                      <a:pt x="0" y="3465"/>
                      <a:pt x="0" y="7739"/>
                    </a:cubicBezTo>
                    <a:lnTo>
                      <a:pt x="0" y="46434"/>
                    </a:lnTo>
                    <a:cubicBezTo>
                      <a:pt x="0" y="50708"/>
                      <a:pt x="3465" y="54173"/>
                      <a:pt x="7739" y="54173"/>
                    </a:cubicBezTo>
                    <a:close/>
                    <a:moveTo>
                      <a:pt x="46434" y="38695"/>
                    </a:moveTo>
                    <a:lnTo>
                      <a:pt x="139302" y="38695"/>
                    </a:lnTo>
                    <a:cubicBezTo>
                      <a:pt x="143577" y="38695"/>
                      <a:pt x="147041" y="42160"/>
                      <a:pt x="147041" y="46434"/>
                    </a:cubicBezTo>
                    <a:lnTo>
                      <a:pt x="147041" y="139302"/>
                    </a:lnTo>
                    <a:cubicBezTo>
                      <a:pt x="147041" y="143577"/>
                      <a:pt x="143577" y="147041"/>
                      <a:pt x="139302" y="147041"/>
                    </a:cubicBezTo>
                    <a:lnTo>
                      <a:pt x="46434" y="147041"/>
                    </a:lnTo>
                    <a:cubicBezTo>
                      <a:pt x="42160" y="147041"/>
                      <a:pt x="38695" y="143577"/>
                      <a:pt x="38695" y="139302"/>
                    </a:cubicBezTo>
                    <a:lnTo>
                      <a:pt x="38695" y="46434"/>
                    </a:lnTo>
                    <a:cubicBezTo>
                      <a:pt x="38695" y="42160"/>
                      <a:pt x="42160" y="38695"/>
                      <a:pt x="46434" y="38695"/>
                    </a:cubicBezTo>
                    <a:close/>
                    <a:moveTo>
                      <a:pt x="54173" y="131563"/>
                    </a:moveTo>
                    <a:lnTo>
                      <a:pt x="131563" y="131563"/>
                    </a:lnTo>
                    <a:lnTo>
                      <a:pt x="131563" y="54173"/>
                    </a:lnTo>
                    <a:lnTo>
                      <a:pt x="54173" y="54173"/>
                    </a:lnTo>
                    <a:close/>
                  </a:path>
                </a:pathLst>
              </a:custGeom>
              <a:solidFill>
                <a:srgbClr val="1E7B45"/>
              </a:solidFill>
              <a:ln>
                <a:noFill/>
              </a:ln>
            </p:spPr>
          </p:sp>
        </p:grpSp>
        <p:sp>
          <p:nvSpPr>
            <p:cNvPr id="191" name="TextBox 191"/>
            <p:cNvSpPr txBox="1"/>
            <p:nvPr/>
          </p:nvSpPr>
          <p:spPr>
            <a:xfrm>
              <a:off x="10282238" y="2954893"/>
              <a:ext cx="1344696" cy="302419"/>
            </a:xfrm>
            <a:prstGeom prst="rect">
              <a:avLst/>
            </a:prstGeom>
            <a:noFill/>
            <a:ln>
              <a:noFill/>
            </a:ln>
          </p:spPr>
          <p:txBody>
            <a:bodyPr wrap="none" lIns="0" tIns="0" rIns="0" bIns="0" anchor="t" anchorCtr="0">
              <a:spAutoFit/>
            </a:bodyPr>
            <a:lstStyle/>
            <a:p>
              <a:pPr algn="l">
                <a:lnSpc>
                  <a:spcPts val="1050"/>
                </a:lnSpc>
              </a:pPr>
              <a:r>
                <a:rPr lang="en-IN" sz="860" dirty="0">
                  <a:solidFill>
                    <a:srgbClr val="344054"/>
                  </a:solidFill>
                  <a:latin typeface="Calibri"/>
                  <a:ea typeface="Calibri"/>
                  <a:cs typeface="Calibri"/>
                </a:rPr>
                <a:t>Unclear reads = “can't tell”; AI</a:t>
              </a:r>
              <a:br/>
              <a:r>
                <a:rPr lang="en-IN" sz="860" dirty="0">
                  <a:solidFill>
                    <a:srgbClr val="344054"/>
                  </a:solidFill>
                  <a:latin typeface="Calibri"/>
                  <a:ea typeface="Calibri"/>
                  <a:cs typeface="Calibri"/>
                </a:rPr>
                <a:t>reader capped</a:t>
              </a:r>
            </a:p>
          </p:txBody>
        </p:sp>
        <p:sp>
          <p:nvSpPr>
            <p:cNvPr id="192" name="Rectangle 192"/>
            <p:cNvSpPr/>
            <p:nvPr/>
          </p:nvSpPr>
          <p:spPr>
            <a:xfrm>
              <a:off x="7581900" y="3419475"/>
              <a:ext cx="2019300" cy="495300"/>
            </a:xfrm>
            <a:prstGeom prst="roundRect">
              <a:avLst>
                <a:gd name="adj" fmla="val 15385"/>
              </a:avLst>
            </a:prstGeom>
            <a:solidFill>
              <a:srgbClr val="FDECEA"/>
            </a:solidFill>
            <a:ln>
              <a:noFill/>
            </a:ln>
          </p:spPr>
        </p:sp>
        <p:grpSp>
          <p:nvGrpSpPr>
            <p:cNvPr id="195" name="Group 195"/>
            <p:cNvGrpSpPr/>
            <p:nvPr/>
          </p:nvGrpSpPr>
          <p:grpSpPr>
            <a:xfrm>
              <a:off x="7708106" y="3551039"/>
              <a:ext cx="185737" cy="208954"/>
              <a:chOff x="7708106" y="3551039"/>
              <a:chExt cx="185737" cy="208954"/>
            </a:xfrm>
          </p:grpSpPr>
          <p:sp>
            <p:nvSpPr>
              <p:cNvPr id="193" name="Freeform 193"/>
              <p:cNvSpPr/>
              <p:nvPr/>
            </p:nvSpPr>
            <p:spPr>
              <a:xfrm>
                <a:off x="7715845" y="3628429"/>
                <a:ext cx="170259" cy="123824"/>
              </a:xfrm>
              <a:custGeom>
                <a:avLst/>
                <a:gdLst/>
                <a:ahLst/>
                <a:cxnLst/>
                <a:rect l="l" t="t" r="r" b="b"/>
                <a:pathLst>
                  <a:path w="170259" h="123824">
                    <a:moveTo>
                      <a:pt x="162520" y="0"/>
                    </a:moveTo>
                    <a:lnTo>
                      <a:pt x="7739" y="0"/>
                    </a:lnTo>
                    <a:cubicBezTo>
                      <a:pt x="3465" y="0"/>
                      <a:pt x="0" y="3465"/>
                      <a:pt x="0" y="7739"/>
                    </a:cubicBezTo>
                    <a:lnTo>
                      <a:pt x="0" y="116085"/>
                    </a:lnTo>
                    <a:cubicBezTo>
                      <a:pt x="0" y="120360"/>
                      <a:pt x="3465" y="123824"/>
                      <a:pt x="7739" y="123824"/>
                    </a:cubicBezTo>
                    <a:lnTo>
                      <a:pt x="162520" y="123824"/>
                    </a:lnTo>
                    <a:cubicBezTo>
                      <a:pt x="166794" y="123824"/>
                      <a:pt x="170259" y="120360"/>
                      <a:pt x="170259" y="116085"/>
                    </a:cubicBezTo>
                    <a:lnTo>
                      <a:pt x="170259" y="7739"/>
                    </a:lnTo>
                    <a:cubicBezTo>
                      <a:pt x="170259" y="3465"/>
                      <a:pt x="166794" y="0"/>
                      <a:pt x="162520" y="0"/>
                    </a:cubicBezTo>
                    <a:close/>
                    <a:moveTo>
                      <a:pt x="85129" y="69651"/>
                    </a:moveTo>
                    <a:cubicBezTo>
                      <a:pt x="74444" y="69651"/>
                      <a:pt x="65782" y="60989"/>
                      <a:pt x="65782" y="50304"/>
                    </a:cubicBezTo>
                    <a:cubicBezTo>
                      <a:pt x="65782" y="39618"/>
                      <a:pt x="74444" y="30956"/>
                      <a:pt x="85129" y="30956"/>
                    </a:cubicBezTo>
                    <a:cubicBezTo>
                      <a:pt x="95815" y="30956"/>
                      <a:pt x="104477" y="39618"/>
                      <a:pt x="104477" y="50304"/>
                    </a:cubicBezTo>
                    <a:cubicBezTo>
                      <a:pt x="104477" y="60989"/>
                      <a:pt x="95815" y="69651"/>
                      <a:pt x="85129" y="69651"/>
                    </a:cubicBezTo>
                    <a:close/>
                  </a:path>
                </a:pathLst>
              </a:custGeom>
              <a:solidFill>
                <a:srgbClr val="B42318">
                  <a:alpha val="20000"/>
                </a:srgbClr>
              </a:solidFill>
              <a:ln>
                <a:noFill/>
              </a:ln>
            </p:spPr>
          </p:sp>
          <p:sp>
            <p:nvSpPr>
              <p:cNvPr id="194" name="Freeform 194"/>
              <p:cNvSpPr/>
              <p:nvPr/>
            </p:nvSpPr>
            <p:spPr>
              <a:xfrm>
                <a:off x="7708106" y="3551039"/>
                <a:ext cx="185737" cy="208954"/>
              </a:xfrm>
              <a:custGeom>
                <a:avLst/>
                <a:gdLst/>
                <a:ahLst/>
                <a:cxnLst/>
                <a:rect l="l" t="t" r="r" b="b"/>
                <a:pathLst>
                  <a:path w="185737" h="208954">
                    <a:moveTo>
                      <a:pt x="170259" y="69651"/>
                    </a:moveTo>
                    <a:lnTo>
                      <a:pt x="139302" y="69651"/>
                    </a:lnTo>
                    <a:lnTo>
                      <a:pt x="139302" y="46434"/>
                    </a:lnTo>
                    <a:cubicBezTo>
                      <a:pt x="139302" y="20789"/>
                      <a:pt x="118513" y="0"/>
                      <a:pt x="92868" y="0"/>
                    </a:cubicBezTo>
                    <a:cubicBezTo>
                      <a:pt x="67223" y="0"/>
                      <a:pt x="46434" y="20789"/>
                      <a:pt x="46434" y="46434"/>
                    </a:cubicBezTo>
                    <a:lnTo>
                      <a:pt x="46434" y="69651"/>
                    </a:lnTo>
                    <a:lnTo>
                      <a:pt x="15478" y="69651"/>
                    </a:lnTo>
                    <a:cubicBezTo>
                      <a:pt x="6930" y="69651"/>
                      <a:pt x="0" y="76581"/>
                      <a:pt x="0" y="85129"/>
                    </a:cubicBezTo>
                    <a:lnTo>
                      <a:pt x="0" y="193476"/>
                    </a:lnTo>
                    <a:cubicBezTo>
                      <a:pt x="0" y="202024"/>
                      <a:pt x="6930" y="208954"/>
                      <a:pt x="15478" y="208954"/>
                    </a:cubicBezTo>
                    <a:lnTo>
                      <a:pt x="170259" y="208954"/>
                    </a:lnTo>
                    <a:cubicBezTo>
                      <a:pt x="178807" y="208954"/>
                      <a:pt x="185737" y="202024"/>
                      <a:pt x="185737" y="193476"/>
                    </a:cubicBezTo>
                    <a:lnTo>
                      <a:pt x="185737" y="85129"/>
                    </a:lnTo>
                    <a:cubicBezTo>
                      <a:pt x="185737" y="76581"/>
                      <a:pt x="178807" y="69651"/>
                      <a:pt x="170259" y="69651"/>
                    </a:cubicBezTo>
                    <a:close/>
                    <a:moveTo>
                      <a:pt x="61912" y="46434"/>
                    </a:moveTo>
                    <a:cubicBezTo>
                      <a:pt x="61912" y="29338"/>
                      <a:pt x="75772" y="15478"/>
                      <a:pt x="92868" y="15478"/>
                    </a:cubicBezTo>
                    <a:cubicBezTo>
                      <a:pt x="109965" y="15478"/>
                      <a:pt x="123824" y="29338"/>
                      <a:pt x="123824" y="46434"/>
                    </a:cubicBezTo>
                    <a:lnTo>
                      <a:pt x="123824" y="69651"/>
                    </a:lnTo>
                    <a:lnTo>
                      <a:pt x="61912" y="69651"/>
                    </a:lnTo>
                    <a:close/>
                    <a:moveTo>
                      <a:pt x="170259" y="193476"/>
                    </a:moveTo>
                    <a:lnTo>
                      <a:pt x="15478" y="193476"/>
                    </a:lnTo>
                    <a:lnTo>
                      <a:pt x="15478" y="85129"/>
                    </a:lnTo>
                    <a:lnTo>
                      <a:pt x="170259" y="85129"/>
                    </a:lnTo>
                    <a:lnTo>
                      <a:pt x="170259" y="193476"/>
                    </a:lnTo>
                    <a:close/>
                    <a:moveTo>
                      <a:pt x="92868" y="100607"/>
                    </a:moveTo>
                    <a:cubicBezTo>
                      <a:pt x="79423" y="100612"/>
                      <a:pt x="68016" y="110479"/>
                      <a:pt x="66075" y="123783"/>
                    </a:cubicBezTo>
                    <a:cubicBezTo>
                      <a:pt x="64133" y="137088"/>
                      <a:pt x="72246" y="149803"/>
                      <a:pt x="85129" y="153649"/>
                    </a:cubicBezTo>
                    <a:lnTo>
                      <a:pt x="85129" y="170259"/>
                    </a:lnTo>
                    <a:cubicBezTo>
                      <a:pt x="85129" y="174533"/>
                      <a:pt x="88594" y="177998"/>
                      <a:pt x="92868" y="177998"/>
                    </a:cubicBezTo>
                    <a:cubicBezTo>
                      <a:pt x="97142" y="177998"/>
                      <a:pt x="100607" y="174533"/>
                      <a:pt x="100607" y="170259"/>
                    </a:cubicBezTo>
                    <a:lnTo>
                      <a:pt x="100607" y="153649"/>
                    </a:lnTo>
                    <a:cubicBezTo>
                      <a:pt x="113491" y="149803"/>
                      <a:pt x="121603" y="137088"/>
                      <a:pt x="119662" y="123783"/>
                    </a:cubicBezTo>
                    <a:cubicBezTo>
                      <a:pt x="117721" y="110479"/>
                      <a:pt x="106314" y="100612"/>
                      <a:pt x="92868" y="100607"/>
                    </a:cubicBezTo>
                    <a:close/>
                    <a:moveTo>
                      <a:pt x="92868" y="139302"/>
                    </a:moveTo>
                    <a:cubicBezTo>
                      <a:pt x="86457" y="139302"/>
                      <a:pt x="81260" y="134105"/>
                      <a:pt x="81260" y="127694"/>
                    </a:cubicBezTo>
                    <a:cubicBezTo>
                      <a:pt x="81260" y="121283"/>
                      <a:pt x="86457" y="116085"/>
                      <a:pt x="92868" y="116085"/>
                    </a:cubicBezTo>
                    <a:cubicBezTo>
                      <a:pt x="99280" y="116085"/>
                      <a:pt x="104477" y="121283"/>
                      <a:pt x="104477" y="127694"/>
                    </a:cubicBezTo>
                    <a:cubicBezTo>
                      <a:pt x="104477" y="134105"/>
                      <a:pt x="99280" y="139302"/>
                      <a:pt x="92868" y="139302"/>
                    </a:cubicBezTo>
                    <a:close/>
                  </a:path>
                </a:pathLst>
              </a:custGeom>
              <a:solidFill>
                <a:srgbClr val="B42318"/>
              </a:solidFill>
              <a:ln>
                <a:noFill/>
              </a:ln>
            </p:spPr>
          </p:sp>
        </p:grpSp>
        <p:sp>
          <p:nvSpPr>
            <p:cNvPr id="196" name="TextBox 196"/>
            <p:cNvSpPr txBox="1"/>
            <p:nvPr/>
          </p:nvSpPr>
          <p:spPr>
            <a:xfrm>
              <a:off x="7996238" y="3518297"/>
              <a:ext cx="1283528"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Personal data in records</a:t>
              </a:r>
            </a:p>
          </p:txBody>
        </p:sp>
        <p:sp>
          <p:nvSpPr>
            <p:cNvPr id="197" name="Line 197"/>
            <p:cNvSpPr/>
            <p:nvPr/>
          </p:nvSpPr>
          <p:spPr>
            <a:xfrm>
              <a:off x="9629775" y="3667125"/>
              <a:ext cx="209550" cy="1"/>
            </a:xfrm>
            <a:prstGeom prst="line">
              <a:avLst/>
            </a:prstGeom>
            <a:noFill/>
            <a:ln w="15240">
              <a:solidFill>
                <a:srgbClr val="0B3D6E"/>
              </a:solidFill>
              <a:tailEnd type="triangle" w="lg" len="lg"/>
            </a:ln>
          </p:spPr>
        </p:sp>
        <p:sp>
          <p:nvSpPr>
            <p:cNvPr id="198" name="Rectangle 198"/>
            <p:cNvSpPr/>
            <p:nvPr/>
          </p:nvSpPr>
          <p:spPr>
            <a:xfrm>
              <a:off x="9867900" y="3419475"/>
              <a:ext cx="2019300" cy="495300"/>
            </a:xfrm>
            <a:prstGeom prst="roundRect">
              <a:avLst>
                <a:gd name="adj" fmla="val 15385"/>
              </a:avLst>
            </a:prstGeom>
            <a:solidFill>
              <a:srgbClr val="E7F4EC"/>
            </a:solidFill>
            <a:ln>
              <a:noFill/>
            </a:ln>
          </p:spPr>
        </p:sp>
        <p:grpSp>
          <p:nvGrpSpPr>
            <p:cNvPr id="201" name="Group 201"/>
            <p:cNvGrpSpPr/>
            <p:nvPr/>
          </p:nvGrpSpPr>
          <p:grpSpPr>
            <a:xfrm>
              <a:off x="9994106" y="3581995"/>
              <a:ext cx="185737" cy="193567"/>
              <a:chOff x="9994106" y="3581995"/>
              <a:chExt cx="185737" cy="193567"/>
            </a:xfrm>
          </p:grpSpPr>
          <p:sp>
            <p:nvSpPr>
              <p:cNvPr id="199" name="Freeform 199"/>
              <p:cNvSpPr/>
              <p:nvPr/>
            </p:nvSpPr>
            <p:spPr>
              <a:xfrm>
                <a:off x="10001845" y="3589734"/>
                <a:ext cx="170259" cy="177998"/>
              </a:xfrm>
              <a:custGeom>
                <a:avLst/>
                <a:gdLst/>
                <a:ahLst/>
                <a:cxnLst/>
                <a:rect l="l" t="t" r="r" b="b"/>
                <a:pathLst>
                  <a:path w="170259" h="177998">
                    <a:moveTo>
                      <a:pt x="170259" y="7739"/>
                    </a:moveTo>
                    <a:lnTo>
                      <a:pt x="170259" y="61912"/>
                    </a:lnTo>
                    <a:cubicBezTo>
                      <a:pt x="170259" y="154780"/>
                      <a:pt x="85129" y="177998"/>
                      <a:pt x="85129" y="177998"/>
                    </a:cubicBezTo>
                    <a:cubicBezTo>
                      <a:pt x="85129" y="177998"/>
                      <a:pt x="0" y="154780"/>
                      <a:pt x="0" y="61912"/>
                    </a:cubicBezTo>
                    <a:lnTo>
                      <a:pt x="0" y="7739"/>
                    </a:lnTo>
                    <a:cubicBezTo>
                      <a:pt x="0" y="3465"/>
                      <a:pt x="3465" y="0"/>
                      <a:pt x="7739" y="0"/>
                    </a:cubicBezTo>
                    <a:lnTo>
                      <a:pt x="162520" y="0"/>
                    </a:lnTo>
                    <a:cubicBezTo>
                      <a:pt x="166794" y="0"/>
                      <a:pt x="170259" y="3465"/>
                      <a:pt x="170259" y="7739"/>
                    </a:cubicBezTo>
                    <a:close/>
                  </a:path>
                </a:pathLst>
              </a:custGeom>
              <a:solidFill>
                <a:srgbClr val="1E7B45">
                  <a:alpha val="20000"/>
                </a:srgbClr>
              </a:solidFill>
              <a:ln>
                <a:noFill/>
              </a:ln>
            </p:spPr>
          </p:sp>
          <p:sp>
            <p:nvSpPr>
              <p:cNvPr id="200" name="Freeform 200"/>
              <p:cNvSpPr/>
              <p:nvPr/>
            </p:nvSpPr>
            <p:spPr>
              <a:xfrm>
                <a:off x="9994106" y="3581995"/>
                <a:ext cx="185737" cy="193567"/>
              </a:xfrm>
              <a:custGeom>
                <a:avLst/>
                <a:gdLst/>
                <a:ahLst/>
                <a:cxnLst/>
                <a:rect l="l" t="t" r="r" b="b"/>
                <a:pathLst>
                  <a:path w="185737" h="193567">
                    <a:moveTo>
                      <a:pt x="170259" y="0"/>
                    </a:moveTo>
                    <a:lnTo>
                      <a:pt x="15478" y="0"/>
                    </a:lnTo>
                    <a:cubicBezTo>
                      <a:pt x="6930" y="0"/>
                      <a:pt x="0" y="6930"/>
                      <a:pt x="0" y="15478"/>
                    </a:cubicBezTo>
                    <a:lnTo>
                      <a:pt x="0" y="69651"/>
                    </a:lnTo>
                    <a:cubicBezTo>
                      <a:pt x="0" y="120651"/>
                      <a:pt x="24687" y="151559"/>
                      <a:pt x="45399" y="168508"/>
                    </a:cubicBezTo>
                    <a:cubicBezTo>
                      <a:pt x="67707" y="186752"/>
                      <a:pt x="89898" y="192944"/>
                      <a:pt x="90866" y="193205"/>
                    </a:cubicBezTo>
                    <a:cubicBezTo>
                      <a:pt x="92196" y="193567"/>
                      <a:pt x="93599" y="193567"/>
                      <a:pt x="94929" y="193205"/>
                    </a:cubicBezTo>
                    <a:cubicBezTo>
                      <a:pt x="95896" y="192944"/>
                      <a:pt x="118059" y="186752"/>
                      <a:pt x="140396" y="168508"/>
                    </a:cubicBezTo>
                    <a:cubicBezTo>
                      <a:pt x="161049" y="151559"/>
                      <a:pt x="185737" y="120651"/>
                      <a:pt x="185737" y="69651"/>
                    </a:cubicBezTo>
                    <a:lnTo>
                      <a:pt x="185737" y="15478"/>
                    </a:lnTo>
                    <a:cubicBezTo>
                      <a:pt x="185737" y="6930"/>
                      <a:pt x="178807" y="0"/>
                      <a:pt x="170259" y="0"/>
                    </a:cubicBezTo>
                    <a:close/>
                    <a:moveTo>
                      <a:pt x="170259" y="69651"/>
                    </a:moveTo>
                    <a:cubicBezTo>
                      <a:pt x="170259" y="105512"/>
                      <a:pt x="157044" y="134620"/>
                      <a:pt x="130983" y="156154"/>
                    </a:cubicBezTo>
                    <a:cubicBezTo>
                      <a:pt x="119638" y="165496"/>
                      <a:pt x="106736" y="172766"/>
                      <a:pt x="92868" y="177630"/>
                    </a:cubicBezTo>
                    <a:cubicBezTo>
                      <a:pt x="79182" y="172851"/>
                      <a:pt x="66439" y="165710"/>
                      <a:pt x="55218" y="156531"/>
                    </a:cubicBezTo>
                    <a:cubicBezTo>
                      <a:pt x="28847" y="134959"/>
                      <a:pt x="15478" y="105734"/>
                      <a:pt x="15478" y="69651"/>
                    </a:cubicBezTo>
                    <a:lnTo>
                      <a:pt x="15478" y="15478"/>
                    </a:lnTo>
                    <a:lnTo>
                      <a:pt x="170259" y="15478"/>
                    </a:lnTo>
                    <a:close/>
                    <a:moveTo>
                      <a:pt x="48698" y="98344"/>
                    </a:moveTo>
                    <a:cubicBezTo>
                      <a:pt x="45674" y="95320"/>
                      <a:pt x="45674" y="90417"/>
                      <a:pt x="48698" y="87393"/>
                    </a:cubicBezTo>
                    <a:cubicBezTo>
                      <a:pt x="51722" y="84369"/>
                      <a:pt x="56625" y="84369"/>
                      <a:pt x="59649" y="87393"/>
                    </a:cubicBezTo>
                    <a:lnTo>
                      <a:pt x="77390" y="105144"/>
                    </a:lnTo>
                    <a:lnTo>
                      <a:pt x="126088" y="56437"/>
                    </a:lnTo>
                    <a:cubicBezTo>
                      <a:pt x="129112" y="53413"/>
                      <a:pt x="134015" y="53413"/>
                      <a:pt x="137039" y="56437"/>
                    </a:cubicBezTo>
                    <a:cubicBezTo>
                      <a:pt x="140063" y="59461"/>
                      <a:pt x="140063" y="64364"/>
                      <a:pt x="137039" y="67388"/>
                    </a:cubicBezTo>
                    <a:lnTo>
                      <a:pt x="82866" y="121561"/>
                    </a:lnTo>
                    <a:cubicBezTo>
                      <a:pt x="81414" y="123014"/>
                      <a:pt x="79444" y="123830"/>
                      <a:pt x="77390" y="123830"/>
                    </a:cubicBezTo>
                    <a:cubicBezTo>
                      <a:pt x="75336" y="123830"/>
                      <a:pt x="73366" y="123014"/>
                      <a:pt x="71915" y="121561"/>
                    </a:cubicBezTo>
                    <a:close/>
                  </a:path>
                </a:pathLst>
              </a:custGeom>
              <a:solidFill>
                <a:srgbClr val="1E7B45"/>
              </a:solidFill>
              <a:ln>
                <a:noFill/>
              </a:ln>
            </p:spPr>
          </p:sp>
        </p:grpSp>
        <p:sp>
          <p:nvSpPr>
            <p:cNvPr id="202" name="TextBox 202"/>
            <p:cNvSpPr txBox="1"/>
            <p:nvPr/>
          </p:nvSpPr>
          <p:spPr>
            <a:xfrm>
              <a:off x="10282238" y="3526393"/>
              <a:ext cx="1450093" cy="302419"/>
            </a:xfrm>
            <a:prstGeom prst="rect">
              <a:avLst/>
            </a:prstGeom>
            <a:noFill/>
            <a:ln>
              <a:noFill/>
            </a:ln>
          </p:spPr>
          <p:txBody>
            <a:bodyPr wrap="none" lIns="0" tIns="0" rIns="0" bIns="0" anchor="t" anchorCtr="0">
              <a:spAutoFit/>
            </a:bodyPr>
            <a:lstStyle/>
            <a:p>
              <a:pPr algn="l">
                <a:lnSpc>
                  <a:spcPts val="1050"/>
                </a:lnSpc>
              </a:pPr>
              <a:r>
                <a:rPr lang="en-IN" sz="860" dirty="0">
                  <a:solidFill>
                    <a:srgbClr val="344054"/>
                  </a:solidFill>
                  <a:latin typeface="Calibri"/>
                  <a:ea typeface="Calibri"/>
                  <a:cs typeface="Calibri"/>
                </a:rPr>
                <a:t>Phone &amp; bank numbers masked;</a:t>
              </a:r>
              <a:br/>
              <a:r>
                <a:rPr lang="en-IN" sz="860" dirty="0">
                  <a:solidFill>
                    <a:srgbClr val="344054"/>
                  </a:solidFill>
                  <a:latin typeface="Calibri"/>
                  <a:ea typeface="Calibri"/>
                  <a:cs typeface="Calibri"/>
                </a:rPr>
                <a:t>role access</a:t>
              </a:r>
            </a:p>
          </p:txBody>
        </p:sp>
        <p:sp>
          <p:nvSpPr>
            <p:cNvPr id="203" name="Rectangle 203"/>
            <p:cNvSpPr/>
            <p:nvPr/>
          </p:nvSpPr>
          <p:spPr>
            <a:xfrm>
              <a:off x="7581900" y="3990975"/>
              <a:ext cx="2019300" cy="495300"/>
            </a:xfrm>
            <a:prstGeom prst="roundRect">
              <a:avLst>
                <a:gd name="adj" fmla="val 15385"/>
              </a:avLst>
            </a:prstGeom>
            <a:solidFill>
              <a:srgbClr val="FDECEA"/>
            </a:solidFill>
            <a:ln>
              <a:noFill/>
            </a:ln>
          </p:spPr>
        </p:sp>
        <p:grpSp>
          <p:nvGrpSpPr>
            <p:cNvPr id="206" name="Group 206"/>
            <p:cNvGrpSpPr/>
            <p:nvPr/>
          </p:nvGrpSpPr>
          <p:grpSpPr>
            <a:xfrm>
              <a:off x="7708106" y="4130278"/>
              <a:ext cx="185737" cy="201215"/>
              <a:chOff x="7708106" y="4130278"/>
              <a:chExt cx="185737" cy="201215"/>
            </a:xfrm>
          </p:grpSpPr>
          <p:sp>
            <p:nvSpPr>
              <p:cNvPr id="204" name="Freeform 204"/>
              <p:cNvSpPr/>
              <p:nvPr/>
            </p:nvSpPr>
            <p:spPr>
              <a:xfrm>
                <a:off x="7715845" y="4153495"/>
                <a:ext cx="170259" cy="46434"/>
              </a:xfrm>
              <a:custGeom>
                <a:avLst/>
                <a:gdLst/>
                <a:ahLst/>
                <a:cxnLst/>
                <a:rect l="l" t="t" r="r" b="b"/>
                <a:pathLst>
                  <a:path w="170259" h="46434">
                    <a:moveTo>
                      <a:pt x="170259" y="7739"/>
                    </a:moveTo>
                    <a:lnTo>
                      <a:pt x="170259" y="46434"/>
                    </a:lnTo>
                    <a:lnTo>
                      <a:pt x="0" y="46434"/>
                    </a:lnTo>
                    <a:lnTo>
                      <a:pt x="0" y="7739"/>
                    </a:lnTo>
                    <a:cubicBezTo>
                      <a:pt x="0" y="3465"/>
                      <a:pt x="3465" y="0"/>
                      <a:pt x="7739" y="0"/>
                    </a:cubicBezTo>
                    <a:lnTo>
                      <a:pt x="162520" y="0"/>
                    </a:lnTo>
                    <a:cubicBezTo>
                      <a:pt x="166794" y="0"/>
                      <a:pt x="170259" y="3465"/>
                      <a:pt x="170259" y="7739"/>
                    </a:cubicBezTo>
                    <a:close/>
                  </a:path>
                </a:pathLst>
              </a:custGeom>
              <a:solidFill>
                <a:srgbClr val="B42318">
                  <a:alpha val="20000"/>
                </a:srgbClr>
              </a:solidFill>
              <a:ln>
                <a:noFill/>
              </a:ln>
            </p:spPr>
          </p:sp>
          <p:sp>
            <p:nvSpPr>
              <p:cNvPr id="205" name="Freeform 205"/>
              <p:cNvSpPr/>
              <p:nvPr/>
            </p:nvSpPr>
            <p:spPr>
              <a:xfrm>
                <a:off x="7708106" y="4130278"/>
                <a:ext cx="185737" cy="201215"/>
              </a:xfrm>
              <a:custGeom>
                <a:avLst/>
                <a:gdLst/>
                <a:ahLst/>
                <a:cxnLst/>
                <a:rect l="l" t="t" r="r" b="b"/>
                <a:pathLst>
                  <a:path w="185737" h="201215">
                    <a:moveTo>
                      <a:pt x="170259" y="15478"/>
                    </a:moveTo>
                    <a:lnTo>
                      <a:pt x="147041" y="15478"/>
                    </a:lnTo>
                    <a:lnTo>
                      <a:pt x="147041" y="7739"/>
                    </a:lnTo>
                    <a:cubicBezTo>
                      <a:pt x="147041" y="3465"/>
                      <a:pt x="143577" y="0"/>
                      <a:pt x="139302" y="0"/>
                    </a:cubicBezTo>
                    <a:cubicBezTo>
                      <a:pt x="135028" y="0"/>
                      <a:pt x="131563" y="3465"/>
                      <a:pt x="131563" y="7739"/>
                    </a:cubicBezTo>
                    <a:lnTo>
                      <a:pt x="131563" y="15478"/>
                    </a:lnTo>
                    <a:lnTo>
                      <a:pt x="54173" y="15478"/>
                    </a:lnTo>
                    <a:lnTo>
                      <a:pt x="54173" y="7739"/>
                    </a:lnTo>
                    <a:cubicBezTo>
                      <a:pt x="54173" y="3465"/>
                      <a:pt x="50708" y="0"/>
                      <a:pt x="46434" y="0"/>
                    </a:cubicBezTo>
                    <a:cubicBezTo>
                      <a:pt x="42160" y="0"/>
                      <a:pt x="38695" y="3465"/>
                      <a:pt x="38695" y="7739"/>
                    </a:cubicBezTo>
                    <a:lnTo>
                      <a:pt x="38695" y="15478"/>
                    </a:lnTo>
                    <a:lnTo>
                      <a:pt x="15478" y="15478"/>
                    </a:lnTo>
                    <a:cubicBezTo>
                      <a:pt x="6930" y="15478"/>
                      <a:pt x="0" y="22408"/>
                      <a:pt x="0" y="30956"/>
                    </a:cubicBezTo>
                    <a:lnTo>
                      <a:pt x="0" y="185737"/>
                    </a:lnTo>
                    <a:cubicBezTo>
                      <a:pt x="0" y="194285"/>
                      <a:pt x="6930" y="201215"/>
                      <a:pt x="15478" y="201215"/>
                    </a:cubicBezTo>
                    <a:lnTo>
                      <a:pt x="170259" y="201215"/>
                    </a:lnTo>
                    <a:cubicBezTo>
                      <a:pt x="178807" y="201215"/>
                      <a:pt x="185737" y="194285"/>
                      <a:pt x="185737" y="185737"/>
                    </a:cubicBezTo>
                    <a:lnTo>
                      <a:pt x="185737" y="30956"/>
                    </a:lnTo>
                    <a:cubicBezTo>
                      <a:pt x="185737" y="22408"/>
                      <a:pt x="178807" y="15478"/>
                      <a:pt x="170259" y="15478"/>
                    </a:cubicBezTo>
                    <a:close/>
                    <a:moveTo>
                      <a:pt x="38695" y="30956"/>
                    </a:moveTo>
                    <a:lnTo>
                      <a:pt x="38695" y="38695"/>
                    </a:lnTo>
                    <a:cubicBezTo>
                      <a:pt x="38695" y="42969"/>
                      <a:pt x="42160" y="46434"/>
                      <a:pt x="46434" y="46434"/>
                    </a:cubicBezTo>
                    <a:cubicBezTo>
                      <a:pt x="50708" y="46434"/>
                      <a:pt x="54173" y="42969"/>
                      <a:pt x="54173" y="38695"/>
                    </a:cubicBezTo>
                    <a:lnTo>
                      <a:pt x="54173" y="30956"/>
                    </a:lnTo>
                    <a:lnTo>
                      <a:pt x="131563" y="30956"/>
                    </a:lnTo>
                    <a:lnTo>
                      <a:pt x="131563" y="38695"/>
                    </a:lnTo>
                    <a:cubicBezTo>
                      <a:pt x="131563" y="42969"/>
                      <a:pt x="135028" y="46434"/>
                      <a:pt x="139302" y="46434"/>
                    </a:cubicBezTo>
                    <a:cubicBezTo>
                      <a:pt x="143577" y="46434"/>
                      <a:pt x="147041" y="42969"/>
                      <a:pt x="147041" y="38695"/>
                    </a:cubicBezTo>
                    <a:lnTo>
                      <a:pt x="147041" y="30956"/>
                    </a:lnTo>
                    <a:lnTo>
                      <a:pt x="170259" y="30956"/>
                    </a:lnTo>
                    <a:lnTo>
                      <a:pt x="170259" y="61912"/>
                    </a:lnTo>
                    <a:lnTo>
                      <a:pt x="15478" y="61912"/>
                    </a:lnTo>
                    <a:lnTo>
                      <a:pt x="15478" y="30956"/>
                    </a:lnTo>
                    <a:close/>
                    <a:moveTo>
                      <a:pt x="170259" y="185737"/>
                    </a:moveTo>
                    <a:lnTo>
                      <a:pt x="15478" y="185737"/>
                    </a:lnTo>
                    <a:lnTo>
                      <a:pt x="15478" y="77390"/>
                    </a:lnTo>
                    <a:lnTo>
                      <a:pt x="170259" y="77390"/>
                    </a:lnTo>
                    <a:lnTo>
                      <a:pt x="170259" y="185737"/>
                    </a:lnTo>
                    <a:close/>
                    <a:moveTo>
                      <a:pt x="121561" y="113822"/>
                    </a:moveTo>
                    <a:lnTo>
                      <a:pt x="103809" y="131563"/>
                    </a:lnTo>
                    <a:lnTo>
                      <a:pt x="121561" y="149305"/>
                    </a:lnTo>
                    <a:cubicBezTo>
                      <a:pt x="124585" y="152329"/>
                      <a:pt x="124585" y="157232"/>
                      <a:pt x="121561" y="160256"/>
                    </a:cubicBezTo>
                    <a:cubicBezTo>
                      <a:pt x="118537" y="163280"/>
                      <a:pt x="113634" y="163280"/>
                      <a:pt x="110610" y="160256"/>
                    </a:cubicBezTo>
                    <a:lnTo>
                      <a:pt x="92868" y="142504"/>
                    </a:lnTo>
                    <a:lnTo>
                      <a:pt x="75127" y="160256"/>
                    </a:lnTo>
                    <a:cubicBezTo>
                      <a:pt x="72103" y="163280"/>
                      <a:pt x="67200" y="163280"/>
                      <a:pt x="64176" y="160256"/>
                    </a:cubicBezTo>
                    <a:cubicBezTo>
                      <a:pt x="61152" y="157232"/>
                      <a:pt x="61152" y="152329"/>
                      <a:pt x="64176" y="149305"/>
                    </a:cubicBezTo>
                    <a:lnTo>
                      <a:pt x="81927" y="131563"/>
                    </a:lnTo>
                    <a:lnTo>
                      <a:pt x="64176" y="113822"/>
                    </a:lnTo>
                    <a:cubicBezTo>
                      <a:pt x="61152" y="110798"/>
                      <a:pt x="61152" y="105895"/>
                      <a:pt x="64176" y="102871"/>
                    </a:cubicBezTo>
                    <a:cubicBezTo>
                      <a:pt x="67200" y="99847"/>
                      <a:pt x="72103" y="99847"/>
                      <a:pt x="75127" y="102871"/>
                    </a:cubicBezTo>
                    <a:lnTo>
                      <a:pt x="92868" y="120622"/>
                    </a:lnTo>
                    <a:lnTo>
                      <a:pt x="110610" y="102871"/>
                    </a:lnTo>
                    <a:cubicBezTo>
                      <a:pt x="113634" y="99847"/>
                      <a:pt x="118537" y="99847"/>
                      <a:pt x="121561" y="102871"/>
                    </a:cubicBezTo>
                    <a:cubicBezTo>
                      <a:pt x="124585" y="105895"/>
                      <a:pt x="124585" y="110798"/>
                      <a:pt x="121561" y="113822"/>
                    </a:cubicBezTo>
                    <a:close/>
                  </a:path>
                </a:pathLst>
              </a:custGeom>
              <a:solidFill>
                <a:srgbClr val="B42318"/>
              </a:solidFill>
              <a:ln>
                <a:noFill/>
              </a:ln>
            </p:spPr>
          </p:sp>
        </p:grpSp>
        <p:sp>
          <p:nvSpPr>
            <p:cNvPr id="207" name="TextBox 207"/>
            <p:cNvSpPr txBox="1"/>
            <p:nvPr/>
          </p:nvSpPr>
          <p:spPr>
            <a:xfrm>
              <a:off x="7996238" y="4089797"/>
              <a:ext cx="1172021"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Portal habits look odd</a:t>
              </a:r>
            </a:p>
          </p:txBody>
        </p:sp>
        <p:sp>
          <p:nvSpPr>
            <p:cNvPr id="208" name="Line 208"/>
            <p:cNvSpPr/>
            <p:nvPr/>
          </p:nvSpPr>
          <p:spPr>
            <a:xfrm>
              <a:off x="9629775" y="4238625"/>
              <a:ext cx="209550" cy="1"/>
            </a:xfrm>
            <a:prstGeom prst="line">
              <a:avLst/>
            </a:prstGeom>
            <a:noFill/>
            <a:ln w="15240">
              <a:solidFill>
                <a:srgbClr val="0B3D6E"/>
              </a:solidFill>
              <a:tailEnd type="triangle" w="lg" len="lg"/>
            </a:ln>
          </p:spPr>
        </p:sp>
        <p:sp>
          <p:nvSpPr>
            <p:cNvPr id="209" name="Rectangle 209"/>
            <p:cNvSpPr/>
            <p:nvPr/>
          </p:nvSpPr>
          <p:spPr>
            <a:xfrm>
              <a:off x="9867900" y="3990975"/>
              <a:ext cx="2019300" cy="495300"/>
            </a:xfrm>
            <a:prstGeom prst="roundRect">
              <a:avLst>
                <a:gd name="adj" fmla="val 15385"/>
              </a:avLst>
            </a:prstGeom>
            <a:solidFill>
              <a:srgbClr val="E7F4EC"/>
            </a:solidFill>
            <a:ln>
              <a:noFill/>
            </a:ln>
          </p:spPr>
        </p:sp>
        <p:grpSp>
          <p:nvGrpSpPr>
            <p:cNvPr id="212" name="Group 212"/>
            <p:cNvGrpSpPr/>
            <p:nvPr/>
          </p:nvGrpSpPr>
          <p:grpSpPr>
            <a:xfrm>
              <a:off x="9986367" y="4153495"/>
              <a:ext cx="201215" cy="170259"/>
              <a:chOff x="9986367" y="4153495"/>
              <a:chExt cx="201215" cy="170259"/>
            </a:xfrm>
          </p:grpSpPr>
          <p:sp>
            <p:nvSpPr>
              <p:cNvPr id="210" name="Freeform 210"/>
              <p:cNvSpPr/>
              <p:nvPr/>
            </p:nvSpPr>
            <p:spPr>
              <a:xfrm>
                <a:off x="9994106" y="4161234"/>
                <a:ext cx="185737" cy="154780"/>
              </a:xfrm>
              <a:custGeom>
                <a:avLst/>
                <a:gdLst/>
                <a:ahLst/>
                <a:cxnLst/>
                <a:rect l="l" t="t" r="r" b="b"/>
                <a:pathLst>
                  <a:path w="185737" h="154780">
                    <a:moveTo>
                      <a:pt x="185737" y="15478"/>
                    </a:moveTo>
                    <a:lnTo>
                      <a:pt x="185737" y="154780"/>
                    </a:lnTo>
                    <a:lnTo>
                      <a:pt x="0" y="154780"/>
                    </a:lnTo>
                    <a:lnTo>
                      <a:pt x="0" y="0"/>
                    </a:lnTo>
                    <a:lnTo>
                      <a:pt x="170259" y="0"/>
                    </a:lnTo>
                    <a:cubicBezTo>
                      <a:pt x="178807" y="0"/>
                      <a:pt x="185737" y="6930"/>
                      <a:pt x="185737" y="15478"/>
                    </a:cubicBezTo>
                    <a:close/>
                  </a:path>
                </a:pathLst>
              </a:custGeom>
              <a:solidFill>
                <a:srgbClr val="1E7B45">
                  <a:alpha val="20000"/>
                </a:srgbClr>
              </a:solidFill>
              <a:ln>
                <a:noFill/>
              </a:ln>
            </p:spPr>
          </p:sp>
          <p:sp>
            <p:nvSpPr>
              <p:cNvPr id="211" name="Freeform 211"/>
              <p:cNvSpPr/>
              <p:nvPr/>
            </p:nvSpPr>
            <p:spPr>
              <a:xfrm>
                <a:off x="9986367" y="4153495"/>
                <a:ext cx="201215" cy="170259"/>
              </a:xfrm>
              <a:custGeom>
                <a:avLst/>
                <a:gdLst/>
                <a:ahLst/>
                <a:cxnLst/>
                <a:rect l="l" t="t" r="r" b="b"/>
                <a:pathLst>
                  <a:path w="201215" h="170259">
                    <a:moveTo>
                      <a:pt x="201215" y="162520"/>
                    </a:moveTo>
                    <a:cubicBezTo>
                      <a:pt x="201215" y="166794"/>
                      <a:pt x="197750" y="170259"/>
                      <a:pt x="193476" y="170259"/>
                    </a:cubicBezTo>
                    <a:lnTo>
                      <a:pt x="7739" y="170259"/>
                    </a:lnTo>
                    <a:cubicBezTo>
                      <a:pt x="3465" y="170259"/>
                      <a:pt x="0" y="166794"/>
                      <a:pt x="0" y="162520"/>
                    </a:cubicBezTo>
                    <a:lnTo>
                      <a:pt x="0" y="7739"/>
                    </a:lnTo>
                    <a:cubicBezTo>
                      <a:pt x="0" y="3465"/>
                      <a:pt x="3465" y="0"/>
                      <a:pt x="7739" y="0"/>
                    </a:cubicBezTo>
                    <a:cubicBezTo>
                      <a:pt x="12013" y="0"/>
                      <a:pt x="15478" y="3465"/>
                      <a:pt x="15478" y="7739"/>
                    </a:cubicBezTo>
                    <a:lnTo>
                      <a:pt x="15478" y="112883"/>
                    </a:lnTo>
                    <a:lnTo>
                      <a:pt x="64176" y="64176"/>
                    </a:lnTo>
                    <a:cubicBezTo>
                      <a:pt x="65627" y="62723"/>
                      <a:pt x="67597" y="61906"/>
                      <a:pt x="69651" y="61906"/>
                    </a:cubicBezTo>
                    <a:cubicBezTo>
                      <a:pt x="71705" y="61906"/>
                      <a:pt x="73675" y="62723"/>
                      <a:pt x="75127" y="64176"/>
                    </a:cubicBezTo>
                    <a:lnTo>
                      <a:pt x="100607" y="89666"/>
                    </a:lnTo>
                    <a:lnTo>
                      <a:pt x="151578" y="38695"/>
                    </a:lnTo>
                    <a:lnTo>
                      <a:pt x="131563" y="38695"/>
                    </a:lnTo>
                    <a:cubicBezTo>
                      <a:pt x="127289" y="38695"/>
                      <a:pt x="123824" y="35230"/>
                      <a:pt x="123824" y="30956"/>
                    </a:cubicBezTo>
                    <a:cubicBezTo>
                      <a:pt x="123824" y="26682"/>
                      <a:pt x="127289" y="23217"/>
                      <a:pt x="131563" y="23217"/>
                    </a:cubicBezTo>
                    <a:lnTo>
                      <a:pt x="170259" y="23217"/>
                    </a:lnTo>
                    <a:cubicBezTo>
                      <a:pt x="174533" y="23217"/>
                      <a:pt x="177998" y="26682"/>
                      <a:pt x="177998" y="30956"/>
                    </a:cubicBezTo>
                    <a:lnTo>
                      <a:pt x="177998" y="69651"/>
                    </a:lnTo>
                    <a:cubicBezTo>
                      <a:pt x="177998" y="73925"/>
                      <a:pt x="174533" y="77390"/>
                      <a:pt x="170259" y="77390"/>
                    </a:cubicBezTo>
                    <a:cubicBezTo>
                      <a:pt x="165984" y="77390"/>
                      <a:pt x="162520" y="73925"/>
                      <a:pt x="162520" y="69651"/>
                    </a:cubicBezTo>
                    <a:lnTo>
                      <a:pt x="162520" y="49636"/>
                    </a:lnTo>
                    <a:lnTo>
                      <a:pt x="106083" y="106083"/>
                    </a:lnTo>
                    <a:cubicBezTo>
                      <a:pt x="104631" y="107536"/>
                      <a:pt x="102661" y="108352"/>
                      <a:pt x="100607" y="108352"/>
                    </a:cubicBezTo>
                    <a:cubicBezTo>
                      <a:pt x="98553" y="108352"/>
                      <a:pt x="96584" y="107536"/>
                      <a:pt x="95132" y="106083"/>
                    </a:cubicBezTo>
                    <a:lnTo>
                      <a:pt x="69651" y="80592"/>
                    </a:lnTo>
                    <a:lnTo>
                      <a:pt x="15478" y="134765"/>
                    </a:lnTo>
                    <a:lnTo>
                      <a:pt x="15478" y="154780"/>
                    </a:lnTo>
                    <a:lnTo>
                      <a:pt x="193476" y="154780"/>
                    </a:lnTo>
                    <a:cubicBezTo>
                      <a:pt x="197750" y="154780"/>
                      <a:pt x="201215" y="158245"/>
                      <a:pt x="201215" y="162520"/>
                    </a:cubicBezTo>
                    <a:close/>
                  </a:path>
                </a:pathLst>
              </a:custGeom>
              <a:solidFill>
                <a:srgbClr val="1E7B45"/>
              </a:solidFill>
              <a:ln>
                <a:noFill/>
              </a:ln>
            </p:spPr>
          </p:sp>
        </p:grpSp>
        <p:sp>
          <p:nvSpPr>
            <p:cNvPr id="213" name="TextBox 213"/>
            <p:cNvSpPr txBox="1"/>
            <p:nvPr/>
          </p:nvSpPr>
          <p:spPr>
            <a:xfrm>
              <a:off x="10282238" y="4097893"/>
              <a:ext cx="1319029" cy="302419"/>
            </a:xfrm>
            <a:prstGeom prst="rect">
              <a:avLst/>
            </a:prstGeom>
            <a:noFill/>
            <a:ln>
              <a:noFill/>
            </a:ln>
          </p:spPr>
          <p:txBody>
            <a:bodyPr wrap="none" lIns="0" tIns="0" rIns="0" bIns="0" anchor="t" anchorCtr="0">
              <a:spAutoFit/>
            </a:bodyPr>
            <a:lstStyle/>
            <a:p>
              <a:pPr algn="l">
                <a:lnSpc>
                  <a:spcPts val="1050"/>
                </a:lnSpc>
              </a:pPr>
              <a:r>
                <a:rPr lang="en-IN" sz="860" dirty="0">
                  <a:solidFill>
                    <a:srgbClr val="344054"/>
                  </a:solidFill>
                  <a:latin typeface="Calibri"/>
                  <a:ea typeface="Calibri"/>
                  <a:cs typeface="Calibri"/>
                </a:rPr>
                <a:t>Compare each office with the</a:t>
              </a:r>
              <a:br/>
              <a:r>
                <a:rPr lang="en-IN" sz="860" dirty="0">
                  <a:solidFill>
                    <a:srgbClr val="344054"/>
                  </a:solidFill>
                  <a:latin typeface="Calibri"/>
                  <a:ea typeface="Calibri"/>
                  <a:cs typeface="Calibri"/>
                </a:rPr>
                <a:t>same period</a:t>
              </a:r>
            </a:p>
          </p:txBody>
        </p:sp>
      </p:grpSp>
      <p:grpSp>
        <p:nvGrpSpPr>
          <p:cNvPr id="239" name="proof-gate"/>
          <p:cNvGrpSpPr/>
          <p:nvPr/>
        </p:nvGrpSpPr>
        <p:grpSpPr>
          <a:xfrm>
            <a:off x="7581900" y="4619625"/>
            <a:ext cx="4305300" cy="1666875"/>
            <a:chOff x="7581900" y="4619625"/>
            <a:chExt cx="4305300" cy="1666875"/>
          </a:xfrm>
        </p:grpSpPr>
        <p:sp>
          <p:nvSpPr>
            <p:cNvPr id="215" name="Rectangle 215"/>
            <p:cNvSpPr/>
            <p:nvPr/>
          </p:nvSpPr>
          <p:spPr>
            <a:xfrm>
              <a:off x="7581900" y="4619625"/>
              <a:ext cx="4305300" cy="1666875"/>
            </a:xfrm>
            <a:prstGeom prst="roundRect">
              <a:avLst>
                <a:gd name="adj" fmla="val 4571"/>
              </a:avLst>
            </a:prstGeom>
            <a:solidFill>
              <a:srgbClr val="0B3D6E"/>
            </a:solidFill>
            <a:ln>
              <a:noFill/>
            </a:ln>
          </p:spPr>
        </p:sp>
        <p:sp>
          <p:nvSpPr>
            <p:cNvPr id="216" name="TextBox 216"/>
            <p:cNvSpPr txBox="1"/>
            <p:nvPr/>
          </p:nvSpPr>
          <p:spPr>
            <a:xfrm>
              <a:off x="7710488" y="4717018"/>
              <a:ext cx="1244288" cy="169069"/>
            </a:xfrm>
            <a:prstGeom prst="rect">
              <a:avLst/>
            </a:prstGeom>
            <a:noFill/>
            <a:ln>
              <a:noFill/>
            </a:ln>
          </p:spPr>
          <p:txBody>
            <a:bodyPr wrap="none" lIns="0" tIns="0" rIns="0" bIns="0" anchor="t" anchorCtr="0">
              <a:spAutoFit/>
            </a:bodyPr>
            <a:lstStyle/>
            <a:p>
              <a:pPr algn="l"/>
              <a:r>
                <a:rPr lang="en-IN" sz="860" b="1" dirty="0">
                  <a:solidFill>
                    <a:srgbClr val="E8871E"/>
                  </a:solidFill>
                  <a:latin typeface="Calibri"/>
                  <a:ea typeface="Calibri"/>
                  <a:cs typeface="Calibri"/>
                </a:rPr>
                <a:t>PROOF BEFORE LAUNCH</a:t>
              </a:r>
            </a:p>
          </p:txBody>
        </p:sp>
        <p:sp>
          <p:nvSpPr>
            <p:cNvPr id="217" name="Rectangle 217"/>
            <p:cNvSpPr/>
            <p:nvPr/>
          </p:nvSpPr>
          <p:spPr>
            <a:xfrm>
              <a:off x="7715250" y="5376862"/>
              <a:ext cx="1123950" cy="342900"/>
            </a:xfrm>
            <a:prstGeom prst="roundRect">
              <a:avLst>
                <a:gd name="adj" fmla="val 16667"/>
              </a:avLst>
            </a:prstGeom>
            <a:solidFill>
              <a:srgbClr val="FFFFFF"/>
            </a:solidFill>
            <a:ln>
              <a:noFill/>
            </a:ln>
          </p:spPr>
        </p:sp>
        <p:grpSp>
          <p:nvGrpSpPr>
            <p:cNvPr id="220" name="Group 220"/>
            <p:cNvGrpSpPr/>
            <p:nvPr/>
          </p:nvGrpSpPr>
          <p:grpSpPr>
            <a:xfrm>
              <a:off x="7797995" y="5463183"/>
              <a:ext cx="158385" cy="163711"/>
              <a:chOff x="7797995" y="5463183"/>
              <a:chExt cx="158385" cy="163711"/>
            </a:xfrm>
          </p:grpSpPr>
          <p:sp>
            <p:nvSpPr>
              <p:cNvPr id="218" name="Freeform 218"/>
              <p:cNvSpPr/>
              <p:nvPr/>
            </p:nvSpPr>
            <p:spPr>
              <a:xfrm>
                <a:off x="7804827" y="5566812"/>
                <a:ext cx="144671" cy="53534"/>
              </a:xfrm>
              <a:custGeom>
                <a:avLst/>
                <a:gdLst/>
                <a:ahLst/>
                <a:cxnLst/>
                <a:rect l="l" t="t" r="r" b="b"/>
                <a:pathLst>
                  <a:path w="144671" h="53534">
                    <a:moveTo>
                      <a:pt x="137832" y="53533"/>
                    </a:moveTo>
                    <a:lnTo>
                      <a:pt x="6864" y="53533"/>
                    </a:lnTo>
                    <a:cubicBezTo>
                      <a:pt x="4503" y="53534"/>
                      <a:pt x="2325" y="52265"/>
                      <a:pt x="1163" y="50211"/>
                    </a:cubicBezTo>
                    <a:cubicBezTo>
                      <a:pt x="0" y="48157"/>
                      <a:pt x="33" y="45636"/>
                      <a:pt x="1248" y="43613"/>
                    </a:cubicBezTo>
                    <a:lnTo>
                      <a:pt x="26198" y="2030"/>
                    </a:lnTo>
                    <a:lnTo>
                      <a:pt x="26198" y="2030"/>
                    </a:lnTo>
                    <a:cubicBezTo>
                      <a:pt x="37027" y="0"/>
                      <a:pt x="52392" y="876"/>
                      <a:pt x="72340" y="10969"/>
                    </a:cubicBezTo>
                    <a:cubicBezTo>
                      <a:pt x="98738" y="24336"/>
                      <a:pt x="117156" y="21536"/>
                      <a:pt x="127592" y="17231"/>
                    </a:cubicBezTo>
                    <a:lnTo>
                      <a:pt x="127592" y="17231"/>
                    </a:lnTo>
                    <a:lnTo>
                      <a:pt x="143423" y="43613"/>
                    </a:lnTo>
                    <a:cubicBezTo>
                      <a:pt x="144636" y="45632"/>
                      <a:pt x="144671" y="48148"/>
                      <a:pt x="143515" y="50200"/>
                    </a:cubicBezTo>
                    <a:cubicBezTo>
                      <a:pt x="142358" y="52252"/>
                      <a:pt x="140188" y="53525"/>
                      <a:pt x="137832" y="53533"/>
                    </a:cubicBezTo>
                    <a:close/>
                  </a:path>
                </a:pathLst>
              </a:custGeom>
              <a:solidFill>
                <a:srgbClr val="0B3D6E">
                  <a:alpha val="20000"/>
                </a:srgbClr>
              </a:solidFill>
              <a:ln>
                <a:noFill/>
              </a:ln>
            </p:spPr>
          </p:sp>
          <p:sp>
            <p:nvSpPr>
              <p:cNvPr id="219" name="Freeform 219"/>
              <p:cNvSpPr/>
              <p:nvPr/>
            </p:nvSpPr>
            <p:spPr>
              <a:xfrm>
                <a:off x="7797995" y="5463183"/>
                <a:ext cx="158385" cy="163711"/>
              </a:xfrm>
              <a:custGeom>
                <a:avLst/>
                <a:gdLst/>
                <a:ahLst/>
                <a:cxnLst/>
                <a:rect l="l" t="t" r="r" b="b"/>
                <a:pathLst>
                  <a:path w="158385" h="163711">
                    <a:moveTo>
                      <a:pt x="155871" y="143877"/>
                    </a:moveTo>
                    <a:lnTo>
                      <a:pt x="105374" y="59689"/>
                    </a:lnTo>
                    <a:lnTo>
                      <a:pt x="105374" y="13097"/>
                    </a:lnTo>
                    <a:lnTo>
                      <a:pt x="111923" y="13097"/>
                    </a:lnTo>
                    <a:cubicBezTo>
                      <a:pt x="115539" y="13097"/>
                      <a:pt x="118471" y="10165"/>
                      <a:pt x="118471" y="6548"/>
                    </a:cubicBezTo>
                    <a:cubicBezTo>
                      <a:pt x="118471" y="2932"/>
                      <a:pt x="115539" y="0"/>
                      <a:pt x="111923" y="0"/>
                    </a:cubicBezTo>
                    <a:lnTo>
                      <a:pt x="46438" y="0"/>
                    </a:lnTo>
                    <a:cubicBezTo>
                      <a:pt x="42822" y="0"/>
                      <a:pt x="39890" y="2932"/>
                      <a:pt x="39890" y="6548"/>
                    </a:cubicBezTo>
                    <a:cubicBezTo>
                      <a:pt x="39890" y="10165"/>
                      <a:pt x="42822" y="13097"/>
                      <a:pt x="46438" y="13097"/>
                    </a:cubicBezTo>
                    <a:lnTo>
                      <a:pt x="52987" y="13097"/>
                    </a:lnTo>
                    <a:lnTo>
                      <a:pt x="52987" y="59689"/>
                    </a:lnTo>
                    <a:lnTo>
                      <a:pt x="2490" y="143877"/>
                    </a:lnTo>
                    <a:cubicBezTo>
                      <a:pt x="65" y="147920"/>
                      <a:pt x="0" y="152953"/>
                      <a:pt x="2319" y="157057"/>
                    </a:cubicBezTo>
                    <a:cubicBezTo>
                      <a:pt x="4637" y="161160"/>
                      <a:pt x="8982" y="163702"/>
                      <a:pt x="13696" y="163711"/>
                    </a:cubicBezTo>
                    <a:lnTo>
                      <a:pt x="144665" y="163711"/>
                    </a:lnTo>
                    <a:cubicBezTo>
                      <a:pt x="149383" y="163711"/>
                      <a:pt x="153736" y="161173"/>
                      <a:pt x="156061" y="157067"/>
                    </a:cubicBezTo>
                    <a:cubicBezTo>
                      <a:pt x="158385" y="152962"/>
                      <a:pt x="158322" y="147923"/>
                      <a:pt x="155895" y="143877"/>
                    </a:cubicBezTo>
                    <a:close/>
                    <a:moveTo>
                      <a:pt x="65150" y="64870"/>
                    </a:moveTo>
                    <a:cubicBezTo>
                      <a:pt x="65763" y="63855"/>
                      <a:pt x="66086" y="62692"/>
                      <a:pt x="66083" y="61506"/>
                    </a:cubicBezTo>
                    <a:lnTo>
                      <a:pt x="66083" y="13097"/>
                    </a:lnTo>
                    <a:lnTo>
                      <a:pt x="92277" y="13097"/>
                    </a:lnTo>
                    <a:lnTo>
                      <a:pt x="92277" y="61506"/>
                    </a:lnTo>
                    <a:cubicBezTo>
                      <a:pt x="92275" y="62692"/>
                      <a:pt x="92598" y="63855"/>
                      <a:pt x="93210" y="64870"/>
                    </a:cubicBezTo>
                    <a:lnTo>
                      <a:pt x="124496" y="117053"/>
                    </a:lnTo>
                    <a:cubicBezTo>
                      <a:pt x="114673" y="118993"/>
                      <a:pt x="100700" y="118175"/>
                      <a:pt x="82135" y="108778"/>
                    </a:cubicBezTo>
                    <a:cubicBezTo>
                      <a:pt x="69112" y="102188"/>
                      <a:pt x="56719" y="98693"/>
                      <a:pt x="45120" y="98292"/>
                    </a:cubicBezTo>
                    <a:close/>
                    <a:moveTo>
                      <a:pt x="13696" y="150614"/>
                    </a:moveTo>
                    <a:lnTo>
                      <a:pt x="37058" y="111667"/>
                    </a:lnTo>
                    <a:cubicBezTo>
                      <a:pt x="48722" y="110251"/>
                      <a:pt x="61868" y="113182"/>
                      <a:pt x="76201" y="120442"/>
                    </a:cubicBezTo>
                    <a:cubicBezTo>
                      <a:pt x="91753" y="128308"/>
                      <a:pt x="104850" y="130985"/>
                      <a:pt x="115491" y="130985"/>
                    </a:cubicBezTo>
                    <a:cubicBezTo>
                      <a:pt x="120903" y="131009"/>
                      <a:pt x="126291" y="130265"/>
                      <a:pt x="131494" y="128775"/>
                    </a:cubicBezTo>
                    <a:lnTo>
                      <a:pt x="144665" y="150614"/>
                    </a:lnTo>
                    <a:close/>
                  </a:path>
                </a:pathLst>
              </a:custGeom>
              <a:solidFill>
                <a:srgbClr val="0B3D6E"/>
              </a:solidFill>
              <a:ln>
                <a:noFill/>
              </a:ln>
            </p:spPr>
          </p:sp>
        </p:grpSp>
        <p:sp>
          <p:nvSpPr>
            <p:cNvPr id="221" name="TextBox 221"/>
            <p:cNvSpPr txBox="1"/>
            <p:nvPr/>
          </p:nvSpPr>
          <p:spPr>
            <a:xfrm>
              <a:off x="8015288" y="5436156"/>
              <a:ext cx="576381" cy="169069"/>
            </a:xfrm>
            <a:prstGeom prst="rect">
              <a:avLst/>
            </a:prstGeom>
            <a:noFill/>
            <a:ln>
              <a:noFill/>
            </a:ln>
          </p:spPr>
          <p:txBody>
            <a:bodyPr wrap="none" lIns="0" tIns="0" rIns="0" bIns="0" anchor="t" anchorCtr="0">
              <a:spAutoFit/>
            </a:bodyPr>
            <a:lstStyle/>
            <a:p>
              <a:pPr algn="l"/>
              <a:r>
                <a:rPr lang="en-IN" sz="860" b="1" dirty="0">
                  <a:solidFill>
                    <a:srgbClr val="1D2939"/>
                  </a:solidFill>
                  <a:latin typeface="Calibri"/>
                  <a:ea typeface="Calibri"/>
                  <a:cs typeface="Calibri"/>
                </a:rPr>
                <a:t>Test on real</a:t>
              </a:r>
            </a:p>
          </p:txBody>
        </p:sp>
        <p:sp>
          <p:nvSpPr>
            <p:cNvPr id="222" name="TextBox 222"/>
            <p:cNvSpPr txBox="1"/>
            <p:nvPr/>
          </p:nvSpPr>
          <p:spPr>
            <a:xfrm>
              <a:off x="8015288" y="5559981"/>
              <a:ext cx="752681" cy="169069"/>
            </a:xfrm>
            <a:prstGeom prst="rect">
              <a:avLst/>
            </a:prstGeom>
            <a:noFill/>
            <a:ln>
              <a:noFill/>
            </a:ln>
          </p:spPr>
          <p:txBody>
            <a:bodyPr wrap="none" lIns="0" tIns="0" rIns="0" bIns="0" anchor="t" anchorCtr="0">
              <a:spAutoFit/>
            </a:bodyPr>
            <a:lstStyle/>
            <a:p>
              <a:pPr algn="l"/>
              <a:r>
                <a:rPr lang="en-IN" sz="860" b="1" dirty="0">
                  <a:solidFill>
                    <a:srgbClr val="1D2939"/>
                  </a:solidFill>
                  <a:latin typeface="Calibri"/>
                  <a:ea typeface="Calibri"/>
                  <a:cs typeface="Calibri"/>
                </a:rPr>
                <a:t>eSAKSHI works</a:t>
              </a:r>
            </a:p>
          </p:txBody>
        </p:sp>
        <p:sp>
          <p:nvSpPr>
            <p:cNvPr id="223" name="Line 223"/>
            <p:cNvSpPr/>
            <p:nvPr/>
          </p:nvSpPr>
          <p:spPr>
            <a:xfrm>
              <a:off x="8858250" y="5548312"/>
              <a:ext cx="247650" cy="1"/>
            </a:xfrm>
            <a:prstGeom prst="line">
              <a:avLst/>
            </a:prstGeom>
            <a:noFill/>
            <a:ln w="15240">
              <a:solidFill>
                <a:srgbClr val="E8871E"/>
              </a:solidFill>
              <a:tailEnd type="triangle" w="lg" len="lg"/>
            </a:ln>
          </p:spPr>
        </p:sp>
        <p:sp>
          <p:nvSpPr>
            <p:cNvPr id="224" name="Polygon 224"/>
            <p:cNvSpPr/>
            <p:nvPr/>
          </p:nvSpPr>
          <p:spPr>
            <a:xfrm>
              <a:off x="9124950" y="5300662"/>
              <a:ext cx="952500" cy="495300"/>
            </a:xfrm>
            <a:custGeom>
              <a:avLst/>
              <a:gdLst/>
              <a:ahLst/>
              <a:cxnLst/>
              <a:rect l="l" t="t" r="r" b="b"/>
              <a:pathLst>
                <a:path w="952500" h="495300">
                  <a:moveTo>
                    <a:pt x="476250" y="0"/>
                  </a:moveTo>
                  <a:lnTo>
                    <a:pt x="952500" y="247650"/>
                  </a:lnTo>
                  <a:lnTo>
                    <a:pt x="476250" y="495300"/>
                  </a:lnTo>
                  <a:lnTo>
                    <a:pt x="0" y="247650"/>
                  </a:lnTo>
                  <a:close/>
                </a:path>
              </a:pathLst>
            </a:custGeom>
            <a:solidFill>
              <a:srgbClr val="E8871E"/>
            </a:solidFill>
            <a:ln>
              <a:noFill/>
            </a:ln>
          </p:spPr>
        </p:sp>
        <p:sp>
          <p:nvSpPr>
            <p:cNvPr id="225" name="TextBox 225"/>
            <p:cNvSpPr txBox="1"/>
            <p:nvPr/>
          </p:nvSpPr>
          <p:spPr>
            <a:xfrm>
              <a:off x="9382786" y="5440204"/>
              <a:ext cx="436827" cy="161925"/>
            </a:xfrm>
            <a:prstGeom prst="rect">
              <a:avLst/>
            </a:prstGeom>
            <a:noFill/>
            <a:ln>
              <a:noFill/>
            </a:ln>
          </p:spPr>
          <p:txBody>
            <a:bodyPr wrap="none" lIns="0" tIns="0" rIns="0" bIns="0" anchor="t" anchorCtr="0">
              <a:spAutoFit/>
            </a:bodyPr>
            <a:lstStyle/>
            <a:p>
              <a:pPr algn="ctr"/>
              <a:r>
                <a:rPr lang="en-IN" sz="820" b="1" dirty="0">
                  <a:solidFill>
                    <a:srgbClr val="FFFFFF"/>
                  </a:solidFill>
                  <a:latin typeface="Calibri"/>
                  <a:ea typeface="Calibri"/>
                  <a:cs typeface="Calibri"/>
                </a:rPr>
                <a:t>Meets its</a:t>
              </a:r>
            </a:p>
          </p:txBody>
        </p:sp>
        <p:sp>
          <p:nvSpPr>
            <p:cNvPr id="226" name="TextBox 226"/>
            <p:cNvSpPr txBox="1"/>
            <p:nvPr/>
          </p:nvSpPr>
          <p:spPr>
            <a:xfrm>
              <a:off x="9431766" y="5564029"/>
              <a:ext cx="338869" cy="161925"/>
            </a:xfrm>
            <a:prstGeom prst="rect">
              <a:avLst/>
            </a:prstGeom>
            <a:noFill/>
            <a:ln>
              <a:noFill/>
            </a:ln>
          </p:spPr>
          <p:txBody>
            <a:bodyPr wrap="none" lIns="0" tIns="0" rIns="0" bIns="0" anchor="t" anchorCtr="0">
              <a:spAutoFit/>
            </a:bodyPr>
            <a:lstStyle/>
            <a:p>
              <a:pPr algn="ctr"/>
              <a:r>
                <a:rPr lang="en-IN" sz="820" b="1" dirty="0">
                  <a:solidFill>
                    <a:srgbClr val="FFFFFF"/>
                  </a:solidFill>
                  <a:latin typeface="Calibri"/>
                  <a:ea typeface="Calibri"/>
                  <a:cs typeface="Calibri"/>
                </a:rPr>
                <a:t>target?</a:t>
              </a:r>
            </a:p>
          </p:txBody>
        </p:sp>
        <p:sp>
          <p:nvSpPr>
            <p:cNvPr id="227" name="Freeform 227"/>
            <p:cNvSpPr/>
            <p:nvPr/>
          </p:nvSpPr>
          <p:spPr>
            <a:xfrm>
              <a:off x="10077450" y="5357812"/>
              <a:ext cx="333375" cy="190500"/>
            </a:xfrm>
            <a:custGeom>
              <a:avLst/>
              <a:gdLst/>
              <a:ahLst/>
              <a:cxnLst/>
              <a:rect l="l" t="t" r="r" b="b"/>
              <a:pathLst>
                <a:path w="333375" h="190500">
                  <a:moveTo>
                    <a:pt x="0" y="190500"/>
                  </a:moveTo>
                  <a:lnTo>
                    <a:pt x="114300" y="190500"/>
                  </a:lnTo>
                  <a:lnTo>
                    <a:pt x="114300" y="0"/>
                  </a:lnTo>
                  <a:lnTo>
                    <a:pt x="333375" y="0"/>
                  </a:lnTo>
                </a:path>
              </a:pathLst>
            </a:custGeom>
            <a:noFill/>
            <a:ln w="14288">
              <a:solidFill>
                <a:srgbClr val="E8871E"/>
              </a:solidFill>
              <a:tailEnd type="triangle" w="lg" len="lg"/>
            </a:ln>
          </p:spPr>
        </p:sp>
        <p:sp>
          <p:nvSpPr>
            <p:cNvPr id="228" name="Freeform 228"/>
            <p:cNvSpPr/>
            <p:nvPr/>
          </p:nvSpPr>
          <p:spPr>
            <a:xfrm>
              <a:off x="10191750" y="5548312"/>
              <a:ext cx="219075" cy="190500"/>
            </a:xfrm>
            <a:custGeom>
              <a:avLst/>
              <a:gdLst/>
              <a:ahLst/>
              <a:cxnLst/>
              <a:rect l="l" t="t" r="r" b="b"/>
              <a:pathLst>
                <a:path w="219075" h="190500">
                  <a:moveTo>
                    <a:pt x="0" y="0"/>
                  </a:moveTo>
                  <a:lnTo>
                    <a:pt x="0" y="190500"/>
                  </a:lnTo>
                  <a:lnTo>
                    <a:pt x="219075" y="190500"/>
                  </a:lnTo>
                </a:path>
              </a:pathLst>
            </a:custGeom>
            <a:noFill/>
            <a:ln w="14288">
              <a:solidFill>
                <a:srgbClr val="E8871E"/>
              </a:solidFill>
              <a:tailEnd type="triangle" w="lg" len="lg"/>
            </a:ln>
          </p:spPr>
        </p:sp>
        <p:sp>
          <p:nvSpPr>
            <p:cNvPr id="229" name="Rectangle 229"/>
            <p:cNvSpPr/>
            <p:nvPr/>
          </p:nvSpPr>
          <p:spPr>
            <a:xfrm>
              <a:off x="10439400" y="5224462"/>
              <a:ext cx="1314450" cy="266700"/>
            </a:xfrm>
            <a:prstGeom prst="roundRect">
              <a:avLst>
                <a:gd name="adj" fmla="val 21429"/>
              </a:avLst>
            </a:prstGeom>
            <a:solidFill>
              <a:srgbClr val="E7F4EC"/>
            </a:solidFill>
            <a:ln>
              <a:noFill/>
            </a:ln>
          </p:spPr>
        </p:sp>
        <p:grpSp>
          <p:nvGrpSpPr>
            <p:cNvPr id="232" name="Group 232"/>
            <p:cNvGrpSpPr/>
            <p:nvPr/>
          </p:nvGrpSpPr>
          <p:grpSpPr>
            <a:xfrm>
              <a:off x="10514409" y="5280422"/>
              <a:ext cx="154781" cy="154781"/>
              <a:chOff x="10514409" y="5280422"/>
              <a:chExt cx="154781" cy="154781"/>
            </a:xfrm>
          </p:grpSpPr>
          <p:sp>
            <p:nvSpPr>
              <p:cNvPr id="230" name="Freeform 230"/>
              <p:cNvSpPr/>
              <p:nvPr/>
            </p:nvSpPr>
            <p:spPr>
              <a:xfrm>
                <a:off x="10520362" y="5286375"/>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rgbClr val="1E7B45">
                  <a:alpha val="20000"/>
                </a:srgbClr>
              </a:solidFill>
              <a:ln>
                <a:noFill/>
              </a:ln>
            </p:spPr>
          </p:sp>
          <p:sp>
            <p:nvSpPr>
              <p:cNvPr id="231" name="Freeform 231"/>
              <p:cNvSpPr/>
              <p:nvPr/>
            </p:nvSpPr>
            <p:spPr>
              <a:xfrm>
                <a:off x="10514409" y="5280422"/>
                <a:ext cx="154781" cy="154781"/>
              </a:xfrm>
              <a:custGeom>
                <a:avLst/>
                <a:gdLst/>
                <a:ahLst/>
                <a:cxnLst/>
                <a:rect l="l" t="t" r="r" b="b"/>
                <a:pathLst>
                  <a:path w="154781" h="154781">
                    <a:moveTo>
                      <a:pt x="111368" y="55319"/>
                    </a:moveTo>
                    <a:cubicBezTo>
                      <a:pt x="112486" y="56436"/>
                      <a:pt x="113114" y="57951"/>
                      <a:pt x="113114" y="59531"/>
                    </a:cubicBezTo>
                    <a:cubicBezTo>
                      <a:pt x="113114" y="61111"/>
                      <a:pt x="112486" y="62626"/>
                      <a:pt x="111368" y="63743"/>
                    </a:cubicBezTo>
                    <a:lnTo>
                      <a:pt x="69696" y="105415"/>
                    </a:lnTo>
                    <a:cubicBezTo>
                      <a:pt x="68580" y="106533"/>
                      <a:pt x="67064" y="107161"/>
                      <a:pt x="65484" y="107161"/>
                    </a:cubicBezTo>
                    <a:cubicBezTo>
                      <a:pt x="63904" y="107161"/>
                      <a:pt x="62389" y="106533"/>
                      <a:pt x="61273" y="105415"/>
                    </a:cubicBezTo>
                    <a:lnTo>
                      <a:pt x="43413" y="87556"/>
                    </a:lnTo>
                    <a:cubicBezTo>
                      <a:pt x="41087" y="85229"/>
                      <a:pt x="41087" y="81458"/>
                      <a:pt x="43413" y="79132"/>
                    </a:cubicBezTo>
                    <a:cubicBezTo>
                      <a:pt x="45739" y="76806"/>
                      <a:pt x="49511" y="76806"/>
                      <a:pt x="51837" y="79132"/>
                    </a:cubicBezTo>
                    <a:lnTo>
                      <a:pt x="65484" y="92787"/>
                    </a:lnTo>
                    <a:lnTo>
                      <a:pt x="102944" y="55319"/>
                    </a:lnTo>
                    <a:cubicBezTo>
                      <a:pt x="104061" y="54202"/>
                      <a:pt x="105576" y="53573"/>
                      <a:pt x="107156" y="53573"/>
                    </a:cubicBezTo>
                    <a:cubicBezTo>
                      <a:pt x="108736" y="53573"/>
                      <a:pt x="110251" y="54202"/>
                      <a:pt x="111368" y="55319"/>
                    </a:cubicBezTo>
                    <a:close/>
                    <a:moveTo>
                      <a:pt x="154781" y="77391"/>
                    </a:moveTo>
                    <a:cubicBezTo>
                      <a:pt x="154781" y="120132"/>
                      <a:pt x="120132" y="154781"/>
                      <a:pt x="77391" y="154781"/>
                    </a:cubicBezTo>
                    <a:cubicBezTo>
                      <a:pt x="34649" y="154781"/>
                      <a:pt x="0" y="120132"/>
                      <a:pt x="0" y="77391"/>
                    </a:cubicBezTo>
                    <a:cubicBezTo>
                      <a:pt x="0" y="34649"/>
                      <a:pt x="34649" y="0"/>
                      <a:pt x="77391" y="0"/>
                    </a:cubicBezTo>
                    <a:cubicBezTo>
                      <a:pt x="120114" y="45"/>
                      <a:pt x="154736" y="34668"/>
                      <a:pt x="154781" y="77391"/>
                    </a:cubicBezTo>
                    <a:close/>
                    <a:moveTo>
                      <a:pt x="142875" y="77391"/>
                    </a:moveTo>
                    <a:cubicBezTo>
                      <a:pt x="142875" y="41225"/>
                      <a:pt x="113557" y="11906"/>
                      <a:pt x="77391" y="11906"/>
                    </a:cubicBezTo>
                    <a:cubicBezTo>
                      <a:pt x="41225" y="11906"/>
                      <a:pt x="11906" y="41225"/>
                      <a:pt x="11906" y="77391"/>
                    </a:cubicBezTo>
                    <a:cubicBezTo>
                      <a:pt x="11906" y="113557"/>
                      <a:pt x="41225" y="142875"/>
                      <a:pt x="77391" y="142875"/>
                    </a:cubicBezTo>
                    <a:cubicBezTo>
                      <a:pt x="113540" y="142834"/>
                      <a:pt x="142834" y="113540"/>
                      <a:pt x="142875" y="77391"/>
                    </a:cubicBezTo>
                    <a:close/>
                  </a:path>
                </a:pathLst>
              </a:custGeom>
              <a:solidFill>
                <a:srgbClr val="1E7B45"/>
              </a:solidFill>
              <a:ln>
                <a:noFill/>
              </a:ln>
            </p:spPr>
          </p:sp>
        </p:grpSp>
        <p:sp>
          <p:nvSpPr>
            <p:cNvPr id="233" name="TextBox 233"/>
            <p:cNvSpPr txBox="1"/>
            <p:nvPr/>
          </p:nvSpPr>
          <p:spPr>
            <a:xfrm>
              <a:off x="10739438" y="5308282"/>
              <a:ext cx="777812" cy="176212"/>
            </a:xfrm>
            <a:prstGeom prst="rect">
              <a:avLst/>
            </a:prstGeom>
            <a:noFill/>
            <a:ln>
              <a:noFill/>
            </a:ln>
          </p:spPr>
          <p:txBody>
            <a:bodyPr wrap="none" lIns="0" tIns="0" rIns="0" bIns="0" anchor="t" anchorCtr="0">
              <a:spAutoFit/>
            </a:bodyPr>
            <a:lstStyle/>
            <a:p>
              <a:pPr algn="l"/>
              <a:r>
                <a:rPr lang="en-IN" sz="900" b="1" dirty="0">
                  <a:solidFill>
                    <a:srgbClr val="1D2939"/>
                  </a:solidFill>
                  <a:latin typeface="Calibri"/>
                  <a:ea typeface="Calibri"/>
                  <a:cs typeface="Calibri"/>
                </a:rPr>
                <a:t>yes → goes live</a:t>
              </a:r>
            </a:p>
          </p:txBody>
        </p:sp>
        <p:sp>
          <p:nvSpPr>
            <p:cNvPr id="234" name="Rectangle 234"/>
            <p:cNvSpPr/>
            <p:nvPr/>
          </p:nvSpPr>
          <p:spPr>
            <a:xfrm>
              <a:off x="10439400" y="5605462"/>
              <a:ext cx="1314450" cy="266700"/>
            </a:xfrm>
            <a:prstGeom prst="roundRect">
              <a:avLst>
                <a:gd name="adj" fmla="val 21429"/>
              </a:avLst>
            </a:prstGeom>
            <a:solidFill>
              <a:srgbClr val="EEF1F5"/>
            </a:solidFill>
            <a:ln>
              <a:noFill/>
            </a:ln>
          </p:spPr>
        </p:sp>
        <p:grpSp>
          <p:nvGrpSpPr>
            <p:cNvPr id="237" name="Group 237"/>
            <p:cNvGrpSpPr/>
            <p:nvPr/>
          </p:nvGrpSpPr>
          <p:grpSpPr>
            <a:xfrm>
              <a:off x="10514409" y="5661422"/>
              <a:ext cx="154781" cy="154781"/>
              <a:chOff x="10514409" y="5661422"/>
              <a:chExt cx="154781" cy="154781"/>
            </a:xfrm>
          </p:grpSpPr>
          <p:sp>
            <p:nvSpPr>
              <p:cNvPr id="235" name="Freeform 235"/>
              <p:cNvSpPr/>
              <p:nvPr/>
            </p:nvSpPr>
            <p:spPr>
              <a:xfrm>
                <a:off x="10520362" y="5667375"/>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rgbClr val="667085">
                  <a:alpha val="20000"/>
                </a:srgbClr>
              </a:solidFill>
              <a:ln>
                <a:noFill/>
              </a:ln>
            </p:spPr>
          </p:sp>
          <p:sp>
            <p:nvSpPr>
              <p:cNvPr id="236" name="Freeform 236"/>
              <p:cNvSpPr/>
              <p:nvPr/>
            </p:nvSpPr>
            <p:spPr>
              <a:xfrm>
                <a:off x="10514409" y="5661422"/>
                <a:ext cx="154781" cy="154781"/>
              </a:xfrm>
              <a:custGeom>
                <a:avLst/>
                <a:gdLst/>
                <a:ahLst/>
                <a:cxnLst/>
                <a:rect l="l" t="t" r="r" b="b"/>
                <a:pathLst>
                  <a:path w="154781" h="154781">
                    <a:moveTo>
                      <a:pt x="105415" y="57790"/>
                    </a:moveTo>
                    <a:lnTo>
                      <a:pt x="85807" y="77391"/>
                    </a:lnTo>
                    <a:lnTo>
                      <a:pt x="105415" y="96991"/>
                    </a:lnTo>
                    <a:cubicBezTo>
                      <a:pt x="107741" y="99317"/>
                      <a:pt x="107741" y="103089"/>
                      <a:pt x="105415" y="105415"/>
                    </a:cubicBezTo>
                    <a:cubicBezTo>
                      <a:pt x="103089" y="107741"/>
                      <a:pt x="99317" y="107741"/>
                      <a:pt x="96991" y="105415"/>
                    </a:cubicBezTo>
                    <a:lnTo>
                      <a:pt x="77391" y="85807"/>
                    </a:lnTo>
                    <a:lnTo>
                      <a:pt x="57790" y="105415"/>
                    </a:lnTo>
                    <a:cubicBezTo>
                      <a:pt x="55464" y="107741"/>
                      <a:pt x="51692" y="107741"/>
                      <a:pt x="49366" y="105415"/>
                    </a:cubicBezTo>
                    <a:cubicBezTo>
                      <a:pt x="47040" y="103089"/>
                      <a:pt x="47040" y="99317"/>
                      <a:pt x="49366" y="96991"/>
                    </a:cubicBezTo>
                    <a:lnTo>
                      <a:pt x="68974" y="77391"/>
                    </a:lnTo>
                    <a:lnTo>
                      <a:pt x="49366" y="57790"/>
                    </a:lnTo>
                    <a:cubicBezTo>
                      <a:pt x="47040" y="55464"/>
                      <a:pt x="47040" y="51692"/>
                      <a:pt x="49366" y="49366"/>
                    </a:cubicBezTo>
                    <a:cubicBezTo>
                      <a:pt x="51692" y="47040"/>
                      <a:pt x="55464" y="47040"/>
                      <a:pt x="57790" y="49366"/>
                    </a:cubicBezTo>
                    <a:lnTo>
                      <a:pt x="77391" y="68974"/>
                    </a:lnTo>
                    <a:lnTo>
                      <a:pt x="96991" y="49366"/>
                    </a:lnTo>
                    <a:cubicBezTo>
                      <a:pt x="99317" y="47040"/>
                      <a:pt x="103089" y="47040"/>
                      <a:pt x="105415" y="49366"/>
                    </a:cubicBezTo>
                    <a:cubicBezTo>
                      <a:pt x="107741" y="51692"/>
                      <a:pt x="107741" y="55464"/>
                      <a:pt x="105415" y="57790"/>
                    </a:cubicBezTo>
                    <a:close/>
                    <a:moveTo>
                      <a:pt x="154781" y="77391"/>
                    </a:moveTo>
                    <a:cubicBezTo>
                      <a:pt x="154781" y="120132"/>
                      <a:pt x="120132" y="154781"/>
                      <a:pt x="77391" y="154781"/>
                    </a:cubicBezTo>
                    <a:cubicBezTo>
                      <a:pt x="34649" y="154781"/>
                      <a:pt x="0" y="120132"/>
                      <a:pt x="0" y="77391"/>
                    </a:cubicBezTo>
                    <a:cubicBezTo>
                      <a:pt x="0" y="34649"/>
                      <a:pt x="34649" y="0"/>
                      <a:pt x="77391" y="0"/>
                    </a:cubicBezTo>
                    <a:cubicBezTo>
                      <a:pt x="120114" y="45"/>
                      <a:pt x="154736" y="34668"/>
                      <a:pt x="154781" y="77391"/>
                    </a:cubicBezTo>
                    <a:close/>
                    <a:moveTo>
                      <a:pt x="142875" y="77391"/>
                    </a:moveTo>
                    <a:cubicBezTo>
                      <a:pt x="142875" y="41225"/>
                      <a:pt x="113557" y="11906"/>
                      <a:pt x="77391" y="11906"/>
                    </a:cubicBezTo>
                    <a:cubicBezTo>
                      <a:pt x="41225" y="11906"/>
                      <a:pt x="11906" y="41225"/>
                      <a:pt x="11906" y="77391"/>
                    </a:cubicBezTo>
                    <a:cubicBezTo>
                      <a:pt x="11906" y="113557"/>
                      <a:pt x="41225" y="142875"/>
                      <a:pt x="77391" y="142875"/>
                    </a:cubicBezTo>
                    <a:cubicBezTo>
                      <a:pt x="113540" y="142834"/>
                      <a:pt x="142834" y="113540"/>
                      <a:pt x="142875" y="77391"/>
                    </a:cubicBezTo>
                    <a:close/>
                  </a:path>
                </a:pathLst>
              </a:custGeom>
              <a:solidFill>
                <a:srgbClr val="667085"/>
              </a:solidFill>
              <a:ln>
                <a:noFill/>
              </a:ln>
            </p:spPr>
          </p:sp>
        </p:grpSp>
        <p:sp>
          <p:nvSpPr>
            <p:cNvPr id="238" name="TextBox 238"/>
            <p:cNvSpPr txBox="1"/>
            <p:nvPr/>
          </p:nvSpPr>
          <p:spPr>
            <a:xfrm>
              <a:off x="10739438" y="5689282"/>
              <a:ext cx="729204" cy="176212"/>
            </a:xfrm>
            <a:prstGeom prst="rect">
              <a:avLst/>
            </a:prstGeom>
            <a:noFill/>
            <a:ln>
              <a:noFill/>
            </a:ln>
          </p:spPr>
          <p:txBody>
            <a:bodyPr wrap="none" lIns="0" tIns="0" rIns="0" bIns="0" anchor="t" anchorCtr="0">
              <a:spAutoFit/>
            </a:bodyPr>
            <a:lstStyle/>
            <a:p>
              <a:pPr algn="l"/>
              <a:r>
                <a:rPr lang="en-IN" sz="900" b="1" dirty="0">
                  <a:solidFill>
                    <a:srgbClr val="1D2939"/>
                  </a:solidFill>
                  <a:latin typeface="Calibri"/>
                  <a:ea typeface="Calibri"/>
                  <a:cs typeface="Calibri"/>
                </a:rPr>
                <a:t>no → stays off</a:t>
              </a:r>
            </a:p>
          </p:txBody>
        </p:sp>
      </p:grpSp>
    </p:spTree>
    <p:extLst>
      <p:ext uri="{BB962C8B-B14F-4D97-AF65-F5344CB8AC3E}">
        <p14:creationId val="3753387913"/>
      </p:ext>
    </p:extLst>
  </p:cSld>
  <p:clrMapOvr>
    <a:masterClrMapping/>
  </p:clrMapOvr>
</p:sld>
</file>

<file path=ppt/slides/slide5.xml><?xml version="1.0" encoding="utf-8"?>
<p:sld xmlns:a="http://schemas.openxmlformats.org/drawingml/2006/main" xmlns:a14="http://schemas.microsoft.com/office/drawing/2010/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0" name="Rectangle 9">
            <a:extLst>
              <a:ext uri="{FF2B5EF4-FFF2-40B4-BE49-F238E27FC236}">
                <ns2:creationId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p:cNvSpPr/>
          <p:nvPr/>
        </p:nvSpPr>
        <p:spPr>
          <a:xfrm>
            <a:off x="329756" y="252222"/>
            <a:ext cx="1251871" cy="807339"/>
          </a:xfrm>
          <a:prstGeom prst="ellipse">
            <a:avLst/>
          </a:prstGeom>
          <a:solidFill>
            <a:srgbClr val="FFFFFF"/>
          </a:solidFill>
          <a:ln w="9525">
            <a:solidFill>
              <a:srgbClr val="8064A2"/>
            </a:solidFill>
          </a:ln>
        </p:spPr>
        <p:txBody>
          <a:bodyPr wrap="none" lIns="95" tIns="290798" rIns="0" bIns="0" anchor="t" anchorCtr="0">
            <a:noAutofit/>
          </a:bodyPr>
          <a:lstStyle/>
          <a:p>
            <a:pPr algn="ctr"/>
            <a:r>
              <a:rPr lang="en-IN" sz="1580" b="1" dirty="0">
                <a:solidFill>
                  <a:srgbClr val="0B3D6E"/>
                </a:solidFill>
                <a:latin typeface="Calibri"/>
                <a:ea typeface="Calibri"/>
                <a:cs typeface="Calibri"/>
              </a:rPr>
              <a:t>NeuralNexus</a:t>
            </a:r>
          </a:p>
        </p:txBody>
      </p:sp>
      <p:pic>
        <p:nvPicPr>
          <p:cNvPr id="11" name="Picture 10"/>
          <p:cNvPicPr>
            <a:picLocks noChangeAspect="1"/>
          </p:cNvPicPr>
          <p:nvPr/>
        </p:nvPicPr>
        <p:blipFill>
          <a:blip r:embed="rId3">
            <a:extLst>
              <a:ext uri="{28A0092B-C50C-407E-A947-70E740481C1C}">
                <a14:useLocalDpi val="0"/>
              </a:ext>
            </a:extLst>
          </a:blip>
          <a:stretch>
            <a:fillRect/>
          </a:stretch>
        </p:blipFill>
        <p:spPr>
          <a:xfrm>
            <a:off x="9780086" y="1500"/>
            <a:ext cx="2249850" cy="1062337"/>
          </a:xfrm>
          <a:prstGeom prst="rect">
            <a:avLst/>
          </a:prstGeom>
        </p:spPr>
      </p:pic>
      <p:grpSp>
        <p:nvGrpSpPr>
          <p:cNvPr id="44" name="stakeholders"/>
          <p:cNvGrpSpPr/>
          <p:nvPr/>
        </p:nvGrpSpPr>
        <p:grpSpPr>
          <a:xfrm>
            <a:off x="304800" y="1231106"/>
            <a:ext cx="7429500" cy="1940719"/>
            <a:chOff x="304800" y="1231106"/>
            <a:chExt cx="7429500" cy="1940719"/>
          </a:xfrm>
        </p:grpSpPr>
        <p:sp>
          <p:nvSpPr>
            <p:cNvPr id="13" name="Polygon 13"/>
            <p:cNvSpPr/>
            <p:nvPr/>
          </p:nvSpPr>
          <p:spPr>
            <a:xfrm>
              <a:off x="304800" y="1257776"/>
              <a:ext cx="95250" cy="95250"/>
            </a:xfrm>
            <a:custGeom>
              <a:avLst/>
              <a:gdLst/>
              <a:ahLst/>
              <a:cxnLst/>
              <a:rect l="l" t="t" r="r" b="b"/>
              <a:pathLst>
                <a:path w="95250" h="95250">
                  <a:moveTo>
                    <a:pt x="47625" y="0"/>
                  </a:moveTo>
                  <a:lnTo>
                    <a:pt x="95250" y="47625"/>
                  </a:lnTo>
                  <a:lnTo>
                    <a:pt x="47625" y="95250"/>
                  </a:lnTo>
                  <a:lnTo>
                    <a:pt x="0" y="47625"/>
                  </a:lnTo>
                  <a:close/>
                </a:path>
              </a:pathLst>
            </a:custGeom>
            <a:solidFill>
              <a:srgbClr val="E8871E"/>
            </a:solidFill>
            <a:ln>
              <a:noFill/>
            </a:ln>
          </p:spPr>
        </p:sp>
        <p:sp>
          <p:nvSpPr>
            <p:cNvPr id="14" name="TextBox 14"/>
            <p:cNvSpPr txBox="1"/>
            <p:nvPr/>
          </p:nvSpPr>
          <p:spPr>
            <a:xfrm>
              <a:off x="451485" y="1231106"/>
              <a:ext cx="2507669" cy="220028"/>
            </a:xfrm>
            <a:prstGeom prst="rect">
              <a:avLst/>
            </a:prstGeom>
            <a:noFill/>
            <a:ln>
              <a:noFill/>
            </a:ln>
          </p:spPr>
          <p:txBody>
            <a:bodyPr wrap="none" lIns="0" tIns="0" rIns="0" bIns="0" anchor="t" anchorCtr="0">
              <a:spAutoFit/>
            </a:bodyPr>
            <a:lstStyle/>
            <a:p>
              <a:pPr algn="l"/>
              <a:r>
                <a:rPr lang="en-IN" sz="1120" b="1" dirty="0">
                  <a:solidFill>
                    <a:srgbClr val="0B3D6E"/>
                  </a:solidFill>
                  <a:latin typeface="Calibri"/>
                  <a:ea typeface="Calibri"/>
                  <a:cs typeface="Calibri"/>
                </a:rPr>
                <a:t>Potential impact on the target audience</a:t>
              </a:r>
            </a:p>
          </p:txBody>
        </p:sp>
        <p:sp>
          <p:nvSpPr>
            <p:cNvPr id="15" name="Line 15"/>
            <p:cNvSpPr/>
            <p:nvPr/>
          </p:nvSpPr>
          <p:spPr>
            <a:xfrm>
              <a:off x="304800" y="1419225"/>
              <a:ext cx="7429500" cy="9525"/>
            </a:xfrm>
            <a:custGeom>
              <a:avLst/>
              <a:gdLst/>
              <a:ahLst/>
              <a:cxnLst/>
              <a:rect l="l" t="t" r="r" b="b"/>
              <a:pathLst>
                <a:path w="7429500" h="9525">
                  <a:moveTo>
                    <a:pt x="0" y="0"/>
                  </a:moveTo>
                  <a:lnTo>
                    <a:pt x="7429500" y="0"/>
                  </a:lnTo>
                </a:path>
              </a:pathLst>
            </a:custGeom>
            <a:noFill/>
            <a:ln w="9525">
              <a:solidFill>
                <a:srgbClr val="D0D5DD"/>
              </a:solidFill>
            </a:ln>
          </p:spPr>
        </p:sp>
        <p:sp>
          <p:nvSpPr>
            <p:cNvPr id="16" name="Rectangle 16"/>
            <p:cNvSpPr/>
            <p:nvPr/>
          </p:nvSpPr>
          <p:spPr>
            <a:xfrm>
              <a:off x="304800" y="1533525"/>
              <a:ext cx="1771650" cy="1638300"/>
            </a:xfrm>
            <a:prstGeom prst="roundRect">
              <a:avLst>
                <a:gd name="adj" fmla="val 4651"/>
              </a:avLst>
            </a:prstGeom>
            <a:solidFill>
              <a:srgbClr val="F2F5F9"/>
            </a:solidFill>
            <a:ln>
              <a:noFill/>
            </a:ln>
          </p:spPr>
        </p:sp>
        <p:sp>
          <p:nvSpPr>
            <p:cNvPr id="17" name="Ellipse 17"/>
            <p:cNvSpPr/>
            <p:nvPr/>
          </p:nvSpPr>
          <p:spPr>
            <a:xfrm>
              <a:off x="904875" y="1666875"/>
              <a:ext cx="571500" cy="571500"/>
            </a:xfrm>
            <a:prstGeom prst="ellipse">
              <a:avLst/>
            </a:prstGeom>
            <a:solidFill>
              <a:srgbClr val="FFFFFF"/>
            </a:solidFill>
            <a:ln>
              <a:noFill/>
            </a:ln>
          </p:spPr>
        </p:sp>
        <p:grpSp>
          <p:nvGrpSpPr>
            <p:cNvPr id="20" name="Group 20"/>
            <p:cNvGrpSpPr/>
            <p:nvPr/>
          </p:nvGrpSpPr>
          <p:grpSpPr>
            <a:xfrm>
              <a:off x="1036588" y="1818626"/>
              <a:ext cx="308075" cy="246961"/>
              <a:chOff x="1036588" y="1818626"/>
              <a:chExt cx="308075" cy="246961"/>
            </a:xfrm>
          </p:grpSpPr>
          <p:sp>
            <p:nvSpPr>
              <p:cNvPr id="18" name="Freeform 18"/>
              <p:cNvSpPr/>
              <p:nvPr/>
            </p:nvSpPr>
            <p:spPr>
              <a:xfrm>
                <a:off x="1057126" y="1829395"/>
                <a:ext cx="266998" cy="82153"/>
              </a:xfrm>
              <a:custGeom>
                <a:avLst/>
                <a:gdLst/>
                <a:ahLst/>
                <a:cxnLst/>
                <a:rect l="l" t="t" r="r" b="b"/>
                <a:pathLst>
                  <a:path w="266998" h="82153">
                    <a:moveTo>
                      <a:pt x="266998" y="82153"/>
                    </a:moveTo>
                    <a:lnTo>
                      <a:pt x="0" y="82153"/>
                    </a:lnTo>
                    <a:lnTo>
                      <a:pt x="133499" y="0"/>
                    </a:lnTo>
                    <a:close/>
                  </a:path>
                </a:pathLst>
              </a:custGeom>
              <a:solidFill>
                <a:srgbClr val="0B3D6E">
                  <a:alpha val="20000"/>
                </a:srgbClr>
              </a:solidFill>
              <a:ln>
                <a:noFill/>
              </a:ln>
            </p:spPr>
          </p:sp>
          <p:sp>
            <p:nvSpPr>
              <p:cNvPr id="19" name="Freeform 19"/>
              <p:cNvSpPr/>
              <p:nvPr/>
            </p:nvSpPr>
            <p:spPr>
              <a:xfrm>
                <a:off x="1036588" y="1818626"/>
                <a:ext cx="308075" cy="246961"/>
              </a:xfrm>
              <a:custGeom>
                <a:avLst/>
                <a:gdLst/>
                <a:ahLst/>
                <a:cxnLst/>
                <a:rect l="l" t="t" r="r" b="b"/>
                <a:pathLst>
                  <a:path w="308075" h="246961">
                    <a:moveTo>
                      <a:pt x="20538" y="103192"/>
                    </a:moveTo>
                    <a:lnTo>
                      <a:pt x="51346" y="103192"/>
                    </a:lnTo>
                    <a:lnTo>
                      <a:pt x="51346" y="185346"/>
                    </a:lnTo>
                    <a:lnTo>
                      <a:pt x="30808" y="185346"/>
                    </a:lnTo>
                    <a:cubicBezTo>
                      <a:pt x="25136" y="185346"/>
                      <a:pt x="20538" y="189943"/>
                      <a:pt x="20538" y="195615"/>
                    </a:cubicBezTo>
                    <a:cubicBezTo>
                      <a:pt x="20538" y="201286"/>
                      <a:pt x="25136" y="205884"/>
                      <a:pt x="30808" y="205884"/>
                    </a:cubicBezTo>
                    <a:lnTo>
                      <a:pt x="277268" y="205884"/>
                    </a:lnTo>
                    <a:cubicBezTo>
                      <a:pt x="282939" y="205884"/>
                      <a:pt x="287537" y="201286"/>
                      <a:pt x="287537" y="195615"/>
                    </a:cubicBezTo>
                    <a:cubicBezTo>
                      <a:pt x="287537" y="189943"/>
                      <a:pt x="282939" y="185346"/>
                      <a:pt x="277268" y="185346"/>
                    </a:cubicBezTo>
                    <a:lnTo>
                      <a:pt x="256729" y="185346"/>
                    </a:lnTo>
                    <a:lnTo>
                      <a:pt x="256729" y="103192"/>
                    </a:lnTo>
                    <a:lnTo>
                      <a:pt x="287537" y="103192"/>
                    </a:lnTo>
                    <a:cubicBezTo>
                      <a:pt x="292128" y="103188"/>
                      <a:pt x="296158" y="100136"/>
                      <a:pt x="297408" y="95719"/>
                    </a:cubicBezTo>
                    <a:cubicBezTo>
                      <a:pt x="298658" y="91301"/>
                      <a:pt x="296823" y="86591"/>
                      <a:pt x="292915" y="84182"/>
                    </a:cubicBezTo>
                    <a:lnTo>
                      <a:pt x="159416" y="2028"/>
                    </a:lnTo>
                    <a:cubicBezTo>
                      <a:pt x="156117" y="0"/>
                      <a:pt x="151958" y="0"/>
                      <a:pt x="148659" y="2028"/>
                    </a:cubicBezTo>
                    <a:lnTo>
                      <a:pt x="15160" y="84182"/>
                    </a:lnTo>
                    <a:cubicBezTo>
                      <a:pt x="11252" y="86591"/>
                      <a:pt x="9418" y="91301"/>
                      <a:pt x="10667" y="95719"/>
                    </a:cubicBezTo>
                    <a:cubicBezTo>
                      <a:pt x="11917" y="100136"/>
                      <a:pt x="15947" y="103188"/>
                      <a:pt x="20538" y="103192"/>
                    </a:cubicBezTo>
                    <a:close/>
                    <a:moveTo>
                      <a:pt x="71884" y="103192"/>
                    </a:moveTo>
                    <a:lnTo>
                      <a:pt x="112961" y="103192"/>
                    </a:lnTo>
                    <a:lnTo>
                      <a:pt x="112961" y="185346"/>
                    </a:lnTo>
                    <a:lnTo>
                      <a:pt x="71884" y="185346"/>
                    </a:lnTo>
                    <a:close/>
                    <a:moveTo>
                      <a:pt x="174576" y="103192"/>
                    </a:moveTo>
                    <a:lnTo>
                      <a:pt x="174576" y="185346"/>
                    </a:lnTo>
                    <a:lnTo>
                      <a:pt x="133499" y="185346"/>
                    </a:lnTo>
                    <a:lnTo>
                      <a:pt x="133499" y="103192"/>
                    </a:lnTo>
                    <a:close/>
                    <a:moveTo>
                      <a:pt x="236191" y="185346"/>
                    </a:moveTo>
                    <a:lnTo>
                      <a:pt x="195114" y="185346"/>
                    </a:lnTo>
                    <a:lnTo>
                      <a:pt x="195114" y="103192"/>
                    </a:lnTo>
                    <a:lnTo>
                      <a:pt x="236191" y="103192"/>
                    </a:lnTo>
                    <a:close/>
                    <a:moveTo>
                      <a:pt x="154038" y="22823"/>
                    </a:moveTo>
                    <a:lnTo>
                      <a:pt x="251261" y="82654"/>
                    </a:lnTo>
                    <a:lnTo>
                      <a:pt x="56814" y="82654"/>
                    </a:lnTo>
                    <a:close/>
                    <a:moveTo>
                      <a:pt x="308075" y="236692"/>
                    </a:moveTo>
                    <a:cubicBezTo>
                      <a:pt x="308075" y="242363"/>
                      <a:pt x="303477" y="246961"/>
                      <a:pt x="297806" y="246961"/>
                    </a:cubicBezTo>
                    <a:lnTo>
                      <a:pt x="10269" y="246961"/>
                    </a:lnTo>
                    <a:cubicBezTo>
                      <a:pt x="4598" y="246961"/>
                      <a:pt x="0" y="242363"/>
                      <a:pt x="0" y="236692"/>
                    </a:cubicBezTo>
                    <a:cubicBezTo>
                      <a:pt x="0" y="231020"/>
                      <a:pt x="4598" y="226422"/>
                      <a:pt x="10269" y="226422"/>
                    </a:cubicBezTo>
                    <a:lnTo>
                      <a:pt x="297806" y="226422"/>
                    </a:lnTo>
                    <a:cubicBezTo>
                      <a:pt x="303477" y="226422"/>
                      <a:pt x="308075" y="231020"/>
                      <a:pt x="308075" y="236692"/>
                    </a:cubicBezTo>
                    <a:close/>
                  </a:path>
                </a:pathLst>
              </a:custGeom>
              <a:solidFill>
                <a:srgbClr val="0B3D6E"/>
              </a:solidFill>
              <a:ln>
                <a:noFill/>
              </a:ln>
            </p:spPr>
          </p:sp>
        </p:grpSp>
        <p:sp>
          <p:nvSpPr>
            <p:cNvPr id="21" name="TextBox 21"/>
            <p:cNvSpPr txBox="1"/>
            <p:nvPr/>
          </p:nvSpPr>
          <p:spPr>
            <a:xfrm>
              <a:off x="901738" y="2356485"/>
              <a:ext cx="577773" cy="234696"/>
            </a:xfrm>
            <a:prstGeom prst="rect">
              <a:avLst/>
            </a:prstGeom>
            <a:noFill/>
            <a:ln>
              <a:noFill/>
            </a:ln>
          </p:spPr>
          <p:txBody>
            <a:bodyPr wrap="none" lIns="0" tIns="0" rIns="0" bIns="0" anchor="t" anchorCtr="0">
              <a:spAutoFit/>
            </a:bodyPr>
            <a:lstStyle/>
            <a:p>
              <a:pPr algn="ctr"/>
              <a:r>
                <a:rPr lang="en-IN" sz="1200" b="1" dirty="0">
                  <a:solidFill>
                    <a:srgbClr val="1D2939"/>
                  </a:solidFill>
                  <a:latin typeface="Calibri"/>
                  <a:ea typeface="Calibri"/>
                  <a:cs typeface="Calibri"/>
                </a:rPr>
                <a:t>Ministry</a:t>
              </a:r>
            </a:p>
          </p:txBody>
        </p:sp>
        <p:sp>
          <p:nvSpPr>
            <p:cNvPr id="22" name="TextBox 22"/>
            <p:cNvSpPr txBox="1"/>
            <p:nvPr/>
          </p:nvSpPr>
          <p:spPr>
            <a:xfrm>
              <a:off x="767477" y="2613422"/>
              <a:ext cx="846295" cy="354806"/>
            </a:xfrm>
            <a:prstGeom prst="rect">
              <a:avLst/>
            </a:prstGeom>
            <a:noFill/>
            <a:ln>
              <a:noFill/>
            </a:ln>
          </p:spPr>
          <p:txBody>
            <a:bodyPr wrap="none" lIns="0" tIns="0" rIns="0" bIns="0" anchor="t" anchorCtr="0">
              <a:spAutoFit/>
            </a:bodyPr>
            <a:lstStyle/>
            <a:p>
              <a:pPr algn="ctr">
                <a:lnSpc>
                  <a:spcPts val="1350"/>
                </a:lnSpc>
              </a:pPr>
              <a:r>
                <a:rPr lang="en-IN" sz="940" dirty="0">
                  <a:solidFill>
                    <a:srgbClr val="344054"/>
                  </a:solidFill>
                  <a:latin typeface="Calibri"/>
                  <a:ea typeface="Calibri"/>
                  <a:cs typeface="Calibri"/>
                </a:rPr>
                <a:t>national risk map</a:t>
              </a:r>
              <a:br/>
              <a:r>
                <a:rPr lang="en-IN" sz="940" dirty="0">
                  <a:solidFill>
                    <a:srgbClr val="344054"/>
                  </a:solidFill>
                  <a:latin typeface="Calibri"/>
                  <a:ea typeface="Calibri"/>
                  <a:cs typeface="Calibri"/>
                </a:rPr>
                <a:t>sanction backlog</a:t>
              </a:r>
            </a:p>
          </p:txBody>
        </p:sp>
        <p:sp>
          <p:nvSpPr>
            <p:cNvPr id="23" name="Rectangle 23"/>
            <p:cNvSpPr/>
            <p:nvPr/>
          </p:nvSpPr>
          <p:spPr>
            <a:xfrm>
              <a:off x="2190750" y="1533525"/>
              <a:ext cx="1771650" cy="1638300"/>
            </a:xfrm>
            <a:prstGeom prst="roundRect">
              <a:avLst>
                <a:gd name="adj" fmla="val 4651"/>
              </a:avLst>
            </a:prstGeom>
            <a:solidFill>
              <a:srgbClr val="F2F5F9"/>
            </a:solidFill>
            <a:ln>
              <a:noFill/>
            </a:ln>
          </p:spPr>
        </p:sp>
        <p:sp>
          <p:nvSpPr>
            <p:cNvPr id="24" name="Ellipse 24"/>
            <p:cNvSpPr/>
            <p:nvPr/>
          </p:nvSpPr>
          <p:spPr>
            <a:xfrm>
              <a:off x="2790825" y="1666875"/>
              <a:ext cx="571500" cy="571500"/>
            </a:xfrm>
            <a:prstGeom prst="ellipse">
              <a:avLst/>
            </a:prstGeom>
            <a:solidFill>
              <a:srgbClr val="FFFFFF"/>
            </a:solidFill>
            <a:ln>
              <a:noFill/>
            </a:ln>
          </p:spPr>
        </p:sp>
        <p:grpSp>
          <p:nvGrpSpPr>
            <p:cNvPr id="27" name="Group 27"/>
            <p:cNvGrpSpPr/>
            <p:nvPr/>
          </p:nvGrpSpPr>
          <p:grpSpPr>
            <a:xfrm>
              <a:off x="2922538" y="1807699"/>
              <a:ext cx="308075" cy="268157"/>
              <a:chOff x="2922538" y="1807699"/>
              <a:chExt cx="308075" cy="268157"/>
            </a:xfrm>
          </p:grpSpPr>
          <p:sp>
            <p:nvSpPr>
              <p:cNvPr id="25" name="Freeform 25"/>
              <p:cNvSpPr/>
              <p:nvPr/>
            </p:nvSpPr>
            <p:spPr>
              <a:xfrm>
                <a:off x="2963612" y="1818573"/>
                <a:ext cx="123232" cy="247013"/>
              </a:xfrm>
              <a:custGeom>
                <a:avLst/>
                <a:gdLst/>
                <a:ahLst/>
                <a:cxnLst/>
                <a:rect l="l" t="t" r="r" b="b"/>
                <a:pathLst>
                  <a:path w="123232" h="247013">
                    <a:moveTo>
                      <a:pt x="123232" y="10822"/>
                    </a:moveTo>
                    <a:lnTo>
                      <a:pt x="123232" y="247013"/>
                    </a:lnTo>
                    <a:lnTo>
                      <a:pt x="2" y="247013"/>
                    </a:lnTo>
                    <a:lnTo>
                      <a:pt x="2" y="79305"/>
                    </a:lnTo>
                    <a:cubicBezTo>
                      <a:pt x="0" y="75870"/>
                      <a:pt x="1715" y="72662"/>
                      <a:pt x="4572" y="70756"/>
                    </a:cubicBezTo>
                    <a:lnTo>
                      <a:pt x="107264" y="2299"/>
                    </a:lnTo>
                    <a:cubicBezTo>
                      <a:pt x="110412" y="199"/>
                      <a:pt x="114460" y="0"/>
                      <a:pt x="117799" y="1782"/>
                    </a:cubicBezTo>
                    <a:cubicBezTo>
                      <a:pt x="121137" y="3564"/>
                      <a:pt x="123225" y="7038"/>
                      <a:pt x="123232" y="10822"/>
                    </a:cubicBezTo>
                    <a:close/>
                  </a:path>
                </a:pathLst>
              </a:custGeom>
              <a:solidFill>
                <a:srgbClr val="0B3D6E">
                  <a:alpha val="20000"/>
                </a:srgbClr>
              </a:solidFill>
              <a:ln>
                <a:noFill/>
              </a:ln>
            </p:spPr>
          </p:sp>
          <p:sp>
            <p:nvSpPr>
              <p:cNvPr id="26" name="Freeform 26"/>
              <p:cNvSpPr/>
              <p:nvPr/>
            </p:nvSpPr>
            <p:spPr>
              <a:xfrm>
                <a:off x="2922538" y="1807699"/>
                <a:ext cx="308075" cy="268157"/>
              </a:xfrm>
              <a:custGeom>
                <a:avLst/>
                <a:gdLst/>
                <a:ahLst/>
                <a:cxnLst/>
                <a:rect l="l" t="t" r="r" b="b"/>
                <a:pathLst>
                  <a:path w="308075" h="268157">
                    <a:moveTo>
                      <a:pt x="297806" y="247619"/>
                    </a:moveTo>
                    <a:lnTo>
                      <a:pt x="277268" y="247619"/>
                    </a:lnTo>
                    <a:lnTo>
                      <a:pt x="277268" y="103850"/>
                    </a:lnTo>
                    <a:cubicBezTo>
                      <a:pt x="277268" y="92507"/>
                      <a:pt x="268072" y="83312"/>
                      <a:pt x="256729" y="83312"/>
                    </a:cubicBezTo>
                    <a:lnTo>
                      <a:pt x="174576" y="83312"/>
                    </a:lnTo>
                    <a:lnTo>
                      <a:pt x="174576" y="21697"/>
                    </a:lnTo>
                    <a:cubicBezTo>
                      <a:pt x="174581" y="14119"/>
                      <a:pt x="170412" y="7154"/>
                      <a:pt x="163731" y="3577"/>
                    </a:cubicBezTo>
                    <a:cubicBezTo>
                      <a:pt x="157050" y="0"/>
                      <a:pt x="148943" y="393"/>
                      <a:pt x="142639" y="4599"/>
                    </a:cubicBezTo>
                    <a:lnTo>
                      <a:pt x="39947" y="73043"/>
                    </a:lnTo>
                    <a:cubicBezTo>
                      <a:pt x="34225" y="76860"/>
                      <a:pt x="30794" y="83288"/>
                      <a:pt x="30808" y="90167"/>
                    </a:cubicBezTo>
                    <a:lnTo>
                      <a:pt x="30808" y="247619"/>
                    </a:lnTo>
                    <a:lnTo>
                      <a:pt x="10269" y="247619"/>
                    </a:lnTo>
                    <a:cubicBezTo>
                      <a:pt x="4598" y="247619"/>
                      <a:pt x="0" y="252216"/>
                      <a:pt x="0" y="257888"/>
                    </a:cubicBezTo>
                    <a:cubicBezTo>
                      <a:pt x="0" y="263559"/>
                      <a:pt x="4598" y="268157"/>
                      <a:pt x="10269" y="268157"/>
                    </a:cubicBezTo>
                    <a:lnTo>
                      <a:pt x="297806" y="268157"/>
                    </a:lnTo>
                    <a:cubicBezTo>
                      <a:pt x="303477" y="268157"/>
                      <a:pt x="308075" y="263559"/>
                      <a:pt x="308075" y="257888"/>
                    </a:cubicBezTo>
                    <a:cubicBezTo>
                      <a:pt x="308075" y="252216"/>
                      <a:pt x="303477" y="247619"/>
                      <a:pt x="297806" y="247619"/>
                    </a:cubicBezTo>
                    <a:close/>
                    <a:moveTo>
                      <a:pt x="256729" y="103850"/>
                    </a:moveTo>
                    <a:lnTo>
                      <a:pt x="256729" y="247619"/>
                    </a:lnTo>
                    <a:lnTo>
                      <a:pt x="174576" y="247619"/>
                    </a:lnTo>
                    <a:lnTo>
                      <a:pt x="174576" y="103850"/>
                    </a:lnTo>
                    <a:close/>
                    <a:moveTo>
                      <a:pt x="51346" y="90167"/>
                    </a:moveTo>
                    <a:lnTo>
                      <a:pt x="154038" y="21697"/>
                    </a:lnTo>
                    <a:lnTo>
                      <a:pt x="154038" y="247619"/>
                    </a:lnTo>
                    <a:lnTo>
                      <a:pt x="51346" y="247619"/>
                    </a:lnTo>
                    <a:close/>
                    <a:moveTo>
                      <a:pt x="133499" y="124389"/>
                    </a:moveTo>
                    <a:lnTo>
                      <a:pt x="133499" y="144927"/>
                    </a:lnTo>
                    <a:cubicBezTo>
                      <a:pt x="133499" y="150598"/>
                      <a:pt x="128902" y="155196"/>
                      <a:pt x="123230" y="155196"/>
                    </a:cubicBezTo>
                    <a:cubicBezTo>
                      <a:pt x="117559" y="155196"/>
                      <a:pt x="112961" y="150598"/>
                      <a:pt x="112961" y="144927"/>
                    </a:cubicBezTo>
                    <a:lnTo>
                      <a:pt x="112961" y="124389"/>
                    </a:lnTo>
                    <a:cubicBezTo>
                      <a:pt x="112961" y="118717"/>
                      <a:pt x="117559" y="114119"/>
                      <a:pt x="123230" y="114119"/>
                    </a:cubicBezTo>
                    <a:cubicBezTo>
                      <a:pt x="128902" y="114119"/>
                      <a:pt x="133499" y="118717"/>
                      <a:pt x="133499" y="124389"/>
                    </a:cubicBezTo>
                    <a:close/>
                    <a:moveTo>
                      <a:pt x="92423" y="124389"/>
                    </a:moveTo>
                    <a:lnTo>
                      <a:pt x="92423" y="144927"/>
                    </a:lnTo>
                    <a:cubicBezTo>
                      <a:pt x="92423" y="150598"/>
                      <a:pt x="87825" y="155196"/>
                      <a:pt x="82153" y="155196"/>
                    </a:cubicBezTo>
                    <a:cubicBezTo>
                      <a:pt x="76482" y="155196"/>
                      <a:pt x="71884" y="150598"/>
                      <a:pt x="71884" y="144927"/>
                    </a:cubicBezTo>
                    <a:lnTo>
                      <a:pt x="71884" y="124389"/>
                    </a:lnTo>
                    <a:cubicBezTo>
                      <a:pt x="71884" y="118717"/>
                      <a:pt x="76482" y="114119"/>
                      <a:pt x="82153" y="114119"/>
                    </a:cubicBezTo>
                    <a:cubicBezTo>
                      <a:pt x="87825" y="114119"/>
                      <a:pt x="92423" y="118717"/>
                      <a:pt x="92423" y="124389"/>
                    </a:cubicBezTo>
                    <a:close/>
                    <a:moveTo>
                      <a:pt x="92423" y="196273"/>
                    </a:moveTo>
                    <a:lnTo>
                      <a:pt x="92423" y="216811"/>
                    </a:lnTo>
                    <a:cubicBezTo>
                      <a:pt x="92423" y="222483"/>
                      <a:pt x="87825" y="227080"/>
                      <a:pt x="82153" y="227080"/>
                    </a:cubicBezTo>
                    <a:cubicBezTo>
                      <a:pt x="76482" y="227080"/>
                      <a:pt x="71884" y="222483"/>
                      <a:pt x="71884" y="216811"/>
                    </a:cubicBezTo>
                    <a:lnTo>
                      <a:pt x="71884" y="196273"/>
                    </a:lnTo>
                    <a:cubicBezTo>
                      <a:pt x="71884" y="190601"/>
                      <a:pt x="76482" y="186004"/>
                      <a:pt x="82153" y="186004"/>
                    </a:cubicBezTo>
                    <a:cubicBezTo>
                      <a:pt x="87825" y="186004"/>
                      <a:pt x="92423" y="190601"/>
                      <a:pt x="92423" y="196273"/>
                    </a:cubicBezTo>
                    <a:close/>
                    <a:moveTo>
                      <a:pt x="133499" y="196273"/>
                    </a:moveTo>
                    <a:lnTo>
                      <a:pt x="133499" y="216811"/>
                    </a:lnTo>
                    <a:cubicBezTo>
                      <a:pt x="133499" y="222483"/>
                      <a:pt x="128902" y="227080"/>
                      <a:pt x="123230" y="227080"/>
                    </a:cubicBezTo>
                    <a:cubicBezTo>
                      <a:pt x="117559" y="227080"/>
                      <a:pt x="112961" y="222483"/>
                      <a:pt x="112961" y="216811"/>
                    </a:cubicBezTo>
                    <a:lnTo>
                      <a:pt x="112961" y="196273"/>
                    </a:lnTo>
                    <a:cubicBezTo>
                      <a:pt x="112961" y="190601"/>
                      <a:pt x="117559" y="186004"/>
                      <a:pt x="123230" y="186004"/>
                    </a:cubicBezTo>
                    <a:cubicBezTo>
                      <a:pt x="128902" y="186004"/>
                      <a:pt x="133499" y="190601"/>
                      <a:pt x="133499" y="196273"/>
                    </a:cubicBezTo>
                    <a:close/>
                  </a:path>
                </a:pathLst>
              </a:custGeom>
              <a:solidFill>
                <a:srgbClr val="0B3D6E"/>
              </a:solidFill>
              <a:ln>
                <a:noFill/>
              </a:ln>
            </p:spPr>
          </p:sp>
        </p:grpSp>
        <p:sp>
          <p:nvSpPr>
            <p:cNvPr id="28" name="TextBox 28"/>
            <p:cNvSpPr txBox="1"/>
            <p:nvPr/>
          </p:nvSpPr>
          <p:spPr>
            <a:xfrm>
              <a:off x="2685501" y="2356485"/>
              <a:ext cx="782147" cy="234696"/>
            </a:xfrm>
            <a:prstGeom prst="rect">
              <a:avLst/>
            </a:prstGeom>
            <a:noFill/>
            <a:ln>
              <a:noFill/>
            </a:ln>
          </p:spPr>
          <p:txBody>
            <a:bodyPr wrap="none" lIns="0" tIns="0" rIns="0" bIns="0" anchor="t" anchorCtr="0">
              <a:spAutoFit/>
            </a:bodyPr>
            <a:lstStyle/>
            <a:p>
              <a:pPr algn="ctr"/>
              <a:r>
                <a:rPr lang="en-IN" sz="1200" b="1" dirty="0">
                  <a:solidFill>
                    <a:srgbClr val="1D2939"/>
                  </a:solidFill>
                  <a:latin typeface="Calibri"/>
                  <a:ea typeface="Calibri"/>
                  <a:cs typeface="Calibri"/>
                </a:rPr>
                <a:t>State nodal</a:t>
              </a:r>
            </a:p>
          </p:txBody>
        </p:sp>
        <p:sp>
          <p:nvSpPr>
            <p:cNvPr id="29" name="TextBox 29"/>
            <p:cNvSpPr txBox="1"/>
            <p:nvPr/>
          </p:nvSpPr>
          <p:spPr>
            <a:xfrm>
              <a:off x="2572159" y="2613422"/>
              <a:ext cx="1008831" cy="354806"/>
            </a:xfrm>
            <a:prstGeom prst="rect">
              <a:avLst/>
            </a:prstGeom>
            <a:noFill/>
            <a:ln>
              <a:noFill/>
            </a:ln>
          </p:spPr>
          <p:txBody>
            <a:bodyPr wrap="none" lIns="0" tIns="0" rIns="0" bIns="0" anchor="t" anchorCtr="0">
              <a:spAutoFit/>
            </a:bodyPr>
            <a:lstStyle/>
            <a:p>
              <a:pPr algn="ctr">
                <a:lnSpc>
                  <a:spcPts val="1350"/>
                </a:lnSpc>
              </a:pPr>
              <a:r>
                <a:rPr lang="en-IN" sz="940" dirty="0">
                  <a:solidFill>
                    <a:srgbClr val="344054"/>
                  </a:solidFill>
                  <a:latin typeface="Calibri"/>
                  <a:ea typeface="Calibri"/>
                  <a:cs typeface="Calibri"/>
                </a:rPr>
                <a:t>district track records</a:t>
              </a:r>
              <a:br/>
              <a:r>
                <a:rPr lang="en-IN" sz="940" dirty="0">
                  <a:solidFill>
                    <a:srgbClr val="344054"/>
                  </a:solidFill>
                  <a:latin typeface="Calibri"/>
                  <a:ea typeface="Calibri"/>
                  <a:cs typeface="Calibri"/>
                </a:rPr>
                <a:t>what to escalate</a:t>
              </a:r>
            </a:p>
          </p:txBody>
        </p:sp>
        <p:sp>
          <p:nvSpPr>
            <p:cNvPr id="30" name="Rectangle 30"/>
            <p:cNvSpPr/>
            <p:nvPr/>
          </p:nvSpPr>
          <p:spPr>
            <a:xfrm>
              <a:off x="4076700" y="1533525"/>
              <a:ext cx="1771650" cy="1638300"/>
            </a:xfrm>
            <a:prstGeom prst="roundRect">
              <a:avLst>
                <a:gd name="adj" fmla="val 4651"/>
              </a:avLst>
            </a:prstGeom>
            <a:solidFill>
              <a:srgbClr val="F2F5F9"/>
            </a:solidFill>
            <a:ln>
              <a:noFill/>
            </a:ln>
          </p:spPr>
        </p:sp>
        <p:sp>
          <p:nvSpPr>
            <p:cNvPr id="31" name="Ellipse 31"/>
            <p:cNvSpPr/>
            <p:nvPr/>
          </p:nvSpPr>
          <p:spPr>
            <a:xfrm>
              <a:off x="4676775" y="1666875"/>
              <a:ext cx="571500" cy="571500"/>
            </a:xfrm>
            <a:prstGeom prst="ellipse">
              <a:avLst/>
            </a:prstGeom>
            <a:solidFill>
              <a:srgbClr val="FFFFFF"/>
            </a:solidFill>
            <a:ln>
              <a:noFill/>
            </a:ln>
          </p:spPr>
        </p:sp>
        <p:grpSp>
          <p:nvGrpSpPr>
            <p:cNvPr id="34" name="Group 34"/>
            <p:cNvGrpSpPr/>
            <p:nvPr/>
          </p:nvGrpSpPr>
          <p:grpSpPr>
            <a:xfrm>
              <a:off x="4829026" y="1829106"/>
              <a:ext cx="266999" cy="246749"/>
              <a:chOff x="4829026" y="1829106"/>
              <a:chExt cx="266999" cy="246749"/>
            </a:xfrm>
          </p:grpSpPr>
          <p:sp>
            <p:nvSpPr>
              <p:cNvPr id="32" name="Freeform 32"/>
              <p:cNvSpPr/>
              <p:nvPr/>
            </p:nvSpPr>
            <p:spPr>
              <a:xfrm>
                <a:off x="4921449" y="1839665"/>
                <a:ext cx="82153" cy="225922"/>
              </a:xfrm>
              <a:custGeom>
                <a:avLst/>
                <a:gdLst/>
                <a:ahLst/>
                <a:cxnLst/>
                <a:rect l="l" t="t" r="r" b="b"/>
                <a:pathLst>
                  <a:path w="82153" h="225922">
                    <a:moveTo>
                      <a:pt x="82153" y="41077"/>
                    </a:moveTo>
                    <a:lnTo>
                      <a:pt x="82153" y="225922"/>
                    </a:lnTo>
                    <a:lnTo>
                      <a:pt x="0" y="184845"/>
                    </a:lnTo>
                    <a:lnTo>
                      <a:pt x="0" y="0"/>
                    </a:lnTo>
                    <a:close/>
                  </a:path>
                </a:pathLst>
              </a:custGeom>
              <a:solidFill>
                <a:srgbClr val="0B3D6E">
                  <a:alpha val="20000"/>
                </a:srgbClr>
              </a:solidFill>
              <a:ln>
                <a:noFill/>
              </a:ln>
            </p:spPr>
          </p:sp>
          <p:sp>
            <p:nvSpPr>
              <p:cNvPr id="33" name="Freeform 33"/>
              <p:cNvSpPr/>
              <p:nvPr/>
            </p:nvSpPr>
            <p:spPr>
              <a:xfrm>
                <a:off x="4829026" y="1829106"/>
                <a:ext cx="266999" cy="246749"/>
              </a:xfrm>
              <a:custGeom>
                <a:avLst/>
                <a:gdLst/>
                <a:ahLst/>
                <a:cxnLst/>
                <a:rect l="l" t="t" r="r" b="b"/>
                <a:pathLst>
                  <a:path w="266999" h="246749">
                    <a:moveTo>
                      <a:pt x="263045" y="22997"/>
                    </a:moveTo>
                    <a:cubicBezTo>
                      <a:pt x="260552" y="21055"/>
                      <a:pt x="257304" y="20368"/>
                      <a:pt x="254239" y="21136"/>
                    </a:cubicBezTo>
                    <a:lnTo>
                      <a:pt x="175770" y="40750"/>
                    </a:lnTo>
                    <a:lnTo>
                      <a:pt x="97018" y="1368"/>
                    </a:lnTo>
                    <a:cubicBezTo>
                      <a:pt x="94824" y="273"/>
                      <a:pt x="92310" y="0"/>
                      <a:pt x="89932" y="597"/>
                    </a:cubicBezTo>
                    <a:lnTo>
                      <a:pt x="7779" y="21136"/>
                    </a:lnTo>
                    <a:cubicBezTo>
                      <a:pt x="3208" y="22278"/>
                      <a:pt x="1" y="26385"/>
                      <a:pt x="0" y="31097"/>
                    </a:cubicBezTo>
                    <a:lnTo>
                      <a:pt x="0" y="215942"/>
                    </a:lnTo>
                    <a:cubicBezTo>
                      <a:pt x="0" y="219104"/>
                      <a:pt x="1458" y="222089"/>
                      <a:pt x="3950" y="224035"/>
                    </a:cubicBezTo>
                    <a:cubicBezTo>
                      <a:pt x="6442" y="225981"/>
                      <a:pt x="9692" y="226670"/>
                      <a:pt x="12759" y="225903"/>
                    </a:cubicBezTo>
                    <a:lnTo>
                      <a:pt x="91229" y="206289"/>
                    </a:lnTo>
                    <a:lnTo>
                      <a:pt x="169980" y="245671"/>
                    </a:lnTo>
                    <a:cubicBezTo>
                      <a:pt x="171410" y="246376"/>
                      <a:pt x="172982" y="246745"/>
                      <a:pt x="174576" y="246749"/>
                    </a:cubicBezTo>
                    <a:cubicBezTo>
                      <a:pt x="175415" y="246749"/>
                      <a:pt x="176252" y="246645"/>
                      <a:pt x="177066" y="246441"/>
                    </a:cubicBezTo>
                    <a:lnTo>
                      <a:pt x="259220" y="225903"/>
                    </a:lnTo>
                    <a:cubicBezTo>
                      <a:pt x="263791" y="224760"/>
                      <a:pt x="266998" y="220654"/>
                      <a:pt x="266998" y="215942"/>
                    </a:cubicBezTo>
                    <a:lnTo>
                      <a:pt x="266998" y="31097"/>
                    </a:lnTo>
                    <a:cubicBezTo>
                      <a:pt x="266999" y="27932"/>
                      <a:pt x="265540" y="24944"/>
                      <a:pt x="263045" y="22997"/>
                    </a:cubicBezTo>
                    <a:close/>
                    <a:moveTo>
                      <a:pt x="102692" y="27169"/>
                    </a:moveTo>
                    <a:lnTo>
                      <a:pt x="164307" y="57976"/>
                    </a:lnTo>
                    <a:lnTo>
                      <a:pt x="164307" y="219870"/>
                    </a:lnTo>
                    <a:lnTo>
                      <a:pt x="102692" y="189062"/>
                    </a:lnTo>
                    <a:close/>
                    <a:moveTo>
                      <a:pt x="20538" y="39120"/>
                    </a:moveTo>
                    <a:lnTo>
                      <a:pt x="82153" y="23716"/>
                    </a:lnTo>
                    <a:lnTo>
                      <a:pt x="82153" y="187381"/>
                    </a:lnTo>
                    <a:lnTo>
                      <a:pt x="20538" y="202785"/>
                    </a:lnTo>
                    <a:close/>
                    <a:moveTo>
                      <a:pt x="246460" y="207919"/>
                    </a:moveTo>
                    <a:lnTo>
                      <a:pt x="184845" y="223323"/>
                    </a:lnTo>
                    <a:lnTo>
                      <a:pt x="184845" y="59658"/>
                    </a:lnTo>
                    <a:lnTo>
                      <a:pt x="246460" y="44254"/>
                    </a:lnTo>
                    <a:close/>
                  </a:path>
                </a:pathLst>
              </a:custGeom>
              <a:solidFill>
                <a:srgbClr val="0B3D6E"/>
              </a:solidFill>
              <a:ln>
                <a:noFill/>
              </a:ln>
            </p:spPr>
          </p:sp>
        </p:grpSp>
        <p:sp>
          <p:nvSpPr>
            <p:cNvPr id="35" name="TextBox 35"/>
            <p:cNvSpPr txBox="1"/>
            <p:nvPr/>
          </p:nvSpPr>
          <p:spPr>
            <a:xfrm>
              <a:off x="4713383" y="2356485"/>
              <a:ext cx="498284" cy="234696"/>
            </a:xfrm>
            <a:prstGeom prst="rect">
              <a:avLst/>
            </a:prstGeom>
            <a:noFill/>
            <a:ln>
              <a:noFill/>
            </a:ln>
          </p:spPr>
          <p:txBody>
            <a:bodyPr wrap="none" lIns="0" tIns="0" rIns="0" bIns="0" anchor="t" anchorCtr="0">
              <a:spAutoFit/>
            </a:bodyPr>
            <a:lstStyle/>
            <a:p>
              <a:pPr algn="ctr"/>
              <a:r>
                <a:rPr lang="en-IN" sz="1200" b="1" dirty="0">
                  <a:solidFill>
                    <a:srgbClr val="1D2939"/>
                  </a:solidFill>
                  <a:latin typeface="Calibri"/>
                  <a:ea typeface="Calibri"/>
                  <a:cs typeface="Calibri"/>
                </a:rPr>
                <a:t>District</a:t>
              </a:r>
            </a:p>
          </p:txBody>
        </p:sp>
        <p:sp>
          <p:nvSpPr>
            <p:cNvPr id="36" name="TextBox 36"/>
            <p:cNvSpPr txBox="1"/>
            <p:nvPr/>
          </p:nvSpPr>
          <p:spPr>
            <a:xfrm>
              <a:off x="4466084" y="2613422"/>
              <a:ext cx="992882" cy="354806"/>
            </a:xfrm>
            <a:prstGeom prst="rect">
              <a:avLst/>
            </a:prstGeom>
            <a:noFill/>
            <a:ln>
              <a:noFill/>
            </a:ln>
          </p:spPr>
          <p:txBody>
            <a:bodyPr wrap="none" lIns="0" tIns="0" rIns="0" bIns="0" anchor="t" anchorCtr="0">
              <a:spAutoFit/>
            </a:bodyPr>
            <a:lstStyle/>
            <a:p>
              <a:pPr algn="ctr">
                <a:lnSpc>
                  <a:spcPts val="1350"/>
                </a:lnSpc>
              </a:pPr>
              <a:r>
                <a:rPr lang="en-IN" sz="940" dirty="0">
                  <a:solidFill>
                    <a:srgbClr val="344054"/>
                  </a:solidFill>
                  <a:latin typeface="Calibri"/>
                  <a:ea typeface="Calibri"/>
                  <a:cs typeface="Calibri"/>
                </a:rPr>
                <a:t>276 works to review</a:t>
              </a:r>
              <a:br/>
              <a:r>
                <a:rPr lang="en-IN" sz="940" dirty="0">
                  <a:solidFill>
                    <a:srgbClr val="344054"/>
                  </a:solidFill>
                  <a:latin typeface="Calibri"/>
                  <a:ea typeface="Calibri"/>
                  <a:cs typeface="Calibri"/>
                </a:rPr>
                <a:t>10% inspection plan</a:t>
              </a:r>
            </a:p>
          </p:txBody>
        </p:sp>
        <p:sp>
          <p:nvSpPr>
            <p:cNvPr id="37" name="Rectangle 37"/>
            <p:cNvSpPr/>
            <p:nvPr/>
          </p:nvSpPr>
          <p:spPr>
            <a:xfrm>
              <a:off x="5962650" y="1533525"/>
              <a:ext cx="1771650" cy="1638300"/>
            </a:xfrm>
            <a:prstGeom prst="roundRect">
              <a:avLst>
                <a:gd name="adj" fmla="val 4651"/>
              </a:avLst>
            </a:prstGeom>
            <a:solidFill>
              <a:srgbClr val="F2F5F9"/>
            </a:solidFill>
            <a:ln>
              <a:noFill/>
            </a:ln>
          </p:spPr>
        </p:sp>
        <p:sp>
          <p:nvSpPr>
            <p:cNvPr id="38" name="Ellipse 38"/>
            <p:cNvSpPr/>
            <p:nvPr/>
          </p:nvSpPr>
          <p:spPr>
            <a:xfrm>
              <a:off x="6562725" y="1666875"/>
              <a:ext cx="571500" cy="571500"/>
            </a:xfrm>
            <a:prstGeom prst="ellipse">
              <a:avLst/>
            </a:prstGeom>
            <a:solidFill>
              <a:srgbClr val="FFFFFF"/>
            </a:solidFill>
            <a:ln>
              <a:noFill/>
            </a:ln>
          </p:spPr>
        </p:sp>
        <p:grpSp>
          <p:nvGrpSpPr>
            <p:cNvPr id="41" name="Group 41"/>
            <p:cNvGrpSpPr/>
            <p:nvPr/>
          </p:nvGrpSpPr>
          <p:grpSpPr>
            <a:xfrm>
              <a:off x="6693085" y="1848384"/>
              <a:ext cx="309744" cy="227896"/>
              <a:chOff x="6693085" y="1848384"/>
              <a:chExt cx="309744" cy="227896"/>
            </a:xfrm>
          </p:grpSpPr>
          <p:sp>
            <p:nvSpPr>
              <p:cNvPr id="39" name="Freeform 39"/>
              <p:cNvSpPr/>
              <p:nvPr/>
            </p:nvSpPr>
            <p:spPr>
              <a:xfrm>
                <a:off x="6725245" y="1860203"/>
                <a:ext cx="246460" cy="164307"/>
              </a:xfrm>
              <a:custGeom>
                <a:avLst/>
                <a:gdLst/>
                <a:ahLst/>
                <a:cxnLst/>
                <a:rect l="l" t="t" r="r" b="b"/>
                <a:pathLst>
                  <a:path w="246460" h="164307">
                    <a:moveTo>
                      <a:pt x="174576" y="112961"/>
                    </a:moveTo>
                    <a:cubicBezTo>
                      <a:pt x="174576" y="141318"/>
                      <a:pt x="151588" y="164307"/>
                      <a:pt x="123230" y="164307"/>
                    </a:cubicBezTo>
                    <a:cubicBezTo>
                      <a:pt x="94873" y="164307"/>
                      <a:pt x="71884" y="141318"/>
                      <a:pt x="71884" y="112961"/>
                    </a:cubicBezTo>
                    <a:cubicBezTo>
                      <a:pt x="71884" y="84603"/>
                      <a:pt x="94873" y="61615"/>
                      <a:pt x="123230" y="61615"/>
                    </a:cubicBezTo>
                    <a:cubicBezTo>
                      <a:pt x="151588" y="61615"/>
                      <a:pt x="174576" y="84603"/>
                      <a:pt x="174576" y="112961"/>
                    </a:cubicBezTo>
                    <a:close/>
                    <a:moveTo>
                      <a:pt x="41077" y="0"/>
                    </a:moveTo>
                    <a:cubicBezTo>
                      <a:pt x="18391" y="0"/>
                      <a:pt x="0" y="18391"/>
                      <a:pt x="0" y="41077"/>
                    </a:cubicBezTo>
                    <a:cubicBezTo>
                      <a:pt x="0" y="63763"/>
                      <a:pt x="18391" y="82153"/>
                      <a:pt x="41077" y="82153"/>
                    </a:cubicBezTo>
                    <a:cubicBezTo>
                      <a:pt x="63763" y="82153"/>
                      <a:pt x="82153" y="63763"/>
                      <a:pt x="82153" y="41077"/>
                    </a:cubicBezTo>
                    <a:cubicBezTo>
                      <a:pt x="82153" y="18391"/>
                      <a:pt x="63763" y="0"/>
                      <a:pt x="41077" y="0"/>
                    </a:cubicBezTo>
                    <a:close/>
                    <a:moveTo>
                      <a:pt x="205383" y="0"/>
                    </a:moveTo>
                    <a:cubicBezTo>
                      <a:pt x="182697" y="0"/>
                      <a:pt x="164307" y="18391"/>
                      <a:pt x="164307" y="41077"/>
                    </a:cubicBezTo>
                    <a:cubicBezTo>
                      <a:pt x="164307" y="63763"/>
                      <a:pt x="182697" y="82153"/>
                      <a:pt x="205383" y="82153"/>
                    </a:cubicBezTo>
                    <a:cubicBezTo>
                      <a:pt x="228069" y="82153"/>
                      <a:pt x="246460" y="63763"/>
                      <a:pt x="246460" y="41077"/>
                    </a:cubicBezTo>
                    <a:cubicBezTo>
                      <a:pt x="246460" y="18391"/>
                      <a:pt x="228069" y="0"/>
                      <a:pt x="205383" y="0"/>
                    </a:cubicBezTo>
                    <a:close/>
                  </a:path>
                </a:pathLst>
              </a:custGeom>
              <a:solidFill>
                <a:srgbClr val="0B3D6E">
                  <a:alpha val="20000"/>
                </a:srgbClr>
              </a:solidFill>
              <a:ln>
                <a:noFill/>
              </a:ln>
            </p:spPr>
          </p:sp>
          <p:sp>
            <p:nvSpPr>
              <p:cNvPr id="40" name="Freeform 40"/>
              <p:cNvSpPr/>
              <p:nvPr/>
            </p:nvSpPr>
            <p:spPr>
              <a:xfrm>
                <a:off x="6693085" y="1848384"/>
                <a:ext cx="309744" cy="227896"/>
              </a:xfrm>
              <a:custGeom>
                <a:avLst/>
                <a:gdLst/>
                <a:ahLst/>
                <a:cxnLst/>
                <a:rect l="l" t="t" r="r" b="b"/>
                <a:pathLst>
                  <a:path w="309744" h="227896">
                    <a:moveTo>
                      <a:pt x="305320" y="132995"/>
                    </a:moveTo>
                    <a:cubicBezTo>
                      <a:pt x="300783" y="136398"/>
                      <a:pt x="294346" y="135479"/>
                      <a:pt x="290943" y="130942"/>
                    </a:cubicBezTo>
                    <a:cubicBezTo>
                      <a:pt x="278391" y="114069"/>
                      <a:pt x="258573" y="104160"/>
                      <a:pt x="237544" y="104242"/>
                    </a:cubicBezTo>
                    <a:cubicBezTo>
                      <a:pt x="231872" y="104242"/>
                      <a:pt x="227274" y="99644"/>
                      <a:pt x="227274" y="93973"/>
                    </a:cubicBezTo>
                    <a:cubicBezTo>
                      <a:pt x="227274" y="88301"/>
                      <a:pt x="231872" y="83703"/>
                      <a:pt x="237544" y="83703"/>
                    </a:cubicBezTo>
                    <a:cubicBezTo>
                      <a:pt x="253553" y="83702"/>
                      <a:pt x="266893" y="71439"/>
                      <a:pt x="268239" y="55486"/>
                    </a:cubicBezTo>
                    <a:cubicBezTo>
                      <a:pt x="269585" y="39533"/>
                      <a:pt x="258488" y="25208"/>
                      <a:pt x="242705" y="22524"/>
                    </a:cubicBezTo>
                    <a:cubicBezTo>
                      <a:pt x="226922" y="19841"/>
                      <a:pt x="211714" y="29693"/>
                      <a:pt x="207712" y="45194"/>
                    </a:cubicBezTo>
                    <a:cubicBezTo>
                      <a:pt x="206294" y="50688"/>
                      <a:pt x="200690" y="53993"/>
                      <a:pt x="195196" y="52575"/>
                    </a:cubicBezTo>
                    <a:cubicBezTo>
                      <a:pt x="189702" y="51157"/>
                      <a:pt x="186397" y="45554"/>
                      <a:pt x="187815" y="40059"/>
                    </a:cubicBezTo>
                    <a:cubicBezTo>
                      <a:pt x="193299" y="18839"/>
                      <a:pt x="211649" y="3439"/>
                      <a:pt x="233500" y="1719"/>
                    </a:cubicBezTo>
                    <a:cubicBezTo>
                      <a:pt x="255350" y="0"/>
                      <a:pt x="275883" y="12340"/>
                      <a:pt x="284619" y="32442"/>
                    </a:cubicBezTo>
                    <a:cubicBezTo>
                      <a:pt x="293355" y="52544"/>
                      <a:pt x="288367" y="75975"/>
                      <a:pt x="272202" y="90776"/>
                    </a:cubicBezTo>
                    <a:cubicBezTo>
                      <a:pt x="286166" y="96822"/>
                      <a:pt x="298304" y="106416"/>
                      <a:pt x="307412" y="118606"/>
                    </a:cubicBezTo>
                    <a:cubicBezTo>
                      <a:pt x="309046" y="120790"/>
                      <a:pt x="309744" y="123535"/>
                      <a:pt x="309352" y="126235"/>
                    </a:cubicBezTo>
                    <a:cubicBezTo>
                      <a:pt x="308959" y="128934"/>
                      <a:pt x="307509" y="131367"/>
                      <a:pt x="305320" y="132995"/>
                    </a:cubicBezTo>
                    <a:close/>
                    <a:moveTo>
                      <a:pt x="236157" y="212068"/>
                    </a:moveTo>
                    <a:cubicBezTo>
                      <a:pt x="238109" y="215250"/>
                      <a:pt x="238180" y="219242"/>
                      <a:pt x="236342" y="222491"/>
                    </a:cubicBezTo>
                    <a:cubicBezTo>
                      <a:pt x="234505" y="225741"/>
                      <a:pt x="231048" y="227738"/>
                      <a:pt x="227315" y="227706"/>
                    </a:cubicBezTo>
                    <a:cubicBezTo>
                      <a:pt x="223582" y="227674"/>
                      <a:pt x="220160" y="225618"/>
                      <a:pt x="218379" y="222337"/>
                    </a:cubicBezTo>
                    <a:cubicBezTo>
                      <a:pt x="205215" y="200057"/>
                      <a:pt x="181262" y="186387"/>
                      <a:pt x="155384" y="186387"/>
                    </a:cubicBezTo>
                    <a:cubicBezTo>
                      <a:pt x="129506" y="186387"/>
                      <a:pt x="105552" y="200057"/>
                      <a:pt x="92389" y="222337"/>
                    </a:cubicBezTo>
                    <a:cubicBezTo>
                      <a:pt x="90640" y="225680"/>
                      <a:pt x="87200" y="227794"/>
                      <a:pt x="83428" y="227845"/>
                    </a:cubicBezTo>
                    <a:cubicBezTo>
                      <a:pt x="79657" y="227896"/>
                      <a:pt x="76161" y="225876"/>
                      <a:pt x="74322" y="222582"/>
                    </a:cubicBezTo>
                    <a:cubicBezTo>
                      <a:pt x="72484" y="219288"/>
                      <a:pt x="72600" y="215251"/>
                      <a:pt x="74623" y="212068"/>
                    </a:cubicBezTo>
                    <a:cubicBezTo>
                      <a:pt x="84579" y="194962"/>
                      <a:pt x="99759" y="181500"/>
                      <a:pt x="117933" y="173661"/>
                    </a:cubicBezTo>
                    <a:cubicBezTo>
                      <a:pt x="96965" y="157607"/>
                      <a:pt x="88559" y="129976"/>
                      <a:pt x="97035" y="104965"/>
                    </a:cubicBezTo>
                    <a:cubicBezTo>
                      <a:pt x="105510" y="79953"/>
                      <a:pt x="128982" y="63124"/>
                      <a:pt x="155390" y="63124"/>
                    </a:cubicBezTo>
                    <a:cubicBezTo>
                      <a:pt x="181799" y="63124"/>
                      <a:pt x="205270" y="79953"/>
                      <a:pt x="213746" y="104965"/>
                    </a:cubicBezTo>
                    <a:cubicBezTo>
                      <a:pt x="222221" y="129976"/>
                      <a:pt x="213815" y="157607"/>
                      <a:pt x="192847" y="173661"/>
                    </a:cubicBezTo>
                    <a:cubicBezTo>
                      <a:pt x="211021" y="181500"/>
                      <a:pt x="226201" y="194962"/>
                      <a:pt x="236157" y="212068"/>
                    </a:cubicBezTo>
                    <a:close/>
                    <a:moveTo>
                      <a:pt x="155390" y="165857"/>
                    </a:moveTo>
                    <a:cubicBezTo>
                      <a:pt x="178076" y="165857"/>
                      <a:pt x="196467" y="147466"/>
                      <a:pt x="196467" y="124780"/>
                    </a:cubicBezTo>
                    <a:cubicBezTo>
                      <a:pt x="196467" y="102094"/>
                      <a:pt x="178076" y="83703"/>
                      <a:pt x="155390" y="83703"/>
                    </a:cubicBezTo>
                    <a:cubicBezTo>
                      <a:pt x="132704" y="83703"/>
                      <a:pt x="114313" y="102094"/>
                      <a:pt x="114313" y="124780"/>
                    </a:cubicBezTo>
                    <a:cubicBezTo>
                      <a:pt x="114313" y="147466"/>
                      <a:pt x="132704" y="165857"/>
                      <a:pt x="155390" y="165857"/>
                    </a:cubicBezTo>
                    <a:close/>
                    <a:moveTo>
                      <a:pt x="83506" y="93973"/>
                    </a:moveTo>
                    <a:cubicBezTo>
                      <a:pt x="83506" y="88301"/>
                      <a:pt x="78908" y="83703"/>
                      <a:pt x="73237" y="83703"/>
                    </a:cubicBezTo>
                    <a:cubicBezTo>
                      <a:pt x="57227" y="83702"/>
                      <a:pt x="43887" y="71439"/>
                      <a:pt x="42541" y="55486"/>
                    </a:cubicBezTo>
                    <a:cubicBezTo>
                      <a:pt x="41195" y="39533"/>
                      <a:pt x="52292" y="25208"/>
                      <a:pt x="68075" y="22524"/>
                    </a:cubicBezTo>
                    <a:cubicBezTo>
                      <a:pt x="83858" y="19841"/>
                      <a:pt x="99066" y="29693"/>
                      <a:pt x="103069" y="45194"/>
                    </a:cubicBezTo>
                    <a:cubicBezTo>
                      <a:pt x="104487" y="50688"/>
                      <a:pt x="110090" y="53993"/>
                      <a:pt x="115584" y="52575"/>
                    </a:cubicBezTo>
                    <a:cubicBezTo>
                      <a:pt x="121079" y="51157"/>
                      <a:pt x="124383" y="45554"/>
                      <a:pt x="122965" y="40059"/>
                    </a:cubicBezTo>
                    <a:cubicBezTo>
                      <a:pt x="117481" y="18839"/>
                      <a:pt x="99131" y="3439"/>
                      <a:pt x="77281" y="1719"/>
                    </a:cubicBezTo>
                    <a:cubicBezTo>
                      <a:pt x="55430" y="0"/>
                      <a:pt x="34897" y="12340"/>
                      <a:pt x="26161" y="32442"/>
                    </a:cubicBezTo>
                    <a:cubicBezTo>
                      <a:pt x="17426" y="52544"/>
                      <a:pt x="22413" y="75975"/>
                      <a:pt x="38578" y="90776"/>
                    </a:cubicBezTo>
                    <a:cubicBezTo>
                      <a:pt x="24629" y="96828"/>
                      <a:pt x="12504" y="106422"/>
                      <a:pt x="3406" y="118606"/>
                    </a:cubicBezTo>
                    <a:cubicBezTo>
                      <a:pt x="0" y="123143"/>
                      <a:pt x="917" y="129583"/>
                      <a:pt x="5454" y="132989"/>
                    </a:cubicBezTo>
                    <a:cubicBezTo>
                      <a:pt x="9991" y="136395"/>
                      <a:pt x="16431" y="135479"/>
                      <a:pt x="19837" y="130942"/>
                    </a:cubicBezTo>
                    <a:cubicBezTo>
                      <a:pt x="32389" y="114069"/>
                      <a:pt x="52208" y="104160"/>
                      <a:pt x="73237" y="104242"/>
                    </a:cubicBezTo>
                    <a:cubicBezTo>
                      <a:pt x="78908" y="104242"/>
                      <a:pt x="83506" y="99644"/>
                      <a:pt x="83506" y="93973"/>
                    </a:cubicBezTo>
                    <a:close/>
                  </a:path>
                </a:pathLst>
              </a:custGeom>
              <a:solidFill>
                <a:srgbClr val="0B3D6E"/>
              </a:solidFill>
              <a:ln>
                <a:noFill/>
              </a:ln>
            </p:spPr>
          </p:sp>
        </p:grpSp>
        <p:sp>
          <p:nvSpPr>
            <p:cNvPr id="42" name="TextBox 42"/>
            <p:cNvSpPr txBox="1"/>
            <p:nvPr/>
          </p:nvSpPr>
          <p:spPr>
            <a:xfrm>
              <a:off x="6348296" y="2356485"/>
              <a:ext cx="1000359" cy="234696"/>
            </a:xfrm>
            <a:prstGeom prst="rect">
              <a:avLst/>
            </a:prstGeom>
            <a:noFill/>
            <a:ln>
              <a:noFill/>
            </a:ln>
          </p:spPr>
          <p:txBody>
            <a:bodyPr wrap="none" lIns="0" tIns="0" rIns="0" bIns="0" anchor="t" anchorCtr="0">
              <a:spAutoFit/>
            </a:bodyPr>
            <a:lstStyle/>
            <a:p>
              <a:pPr algn="ctr"/>
              <a:r>
                <a:rPr lang="en-IN" sz="1200" b="1" dirty="0">
                  <a:solidFill>
                    <a:srgbClr val="1D2939"/>
                  </a:solidFill>
                  <a:latin typeface="Calibri"/>
                  <a:ea typeface="Calibri"/>
                  <a:cs typeface="Calibri"/>
                </a:rPr>
                <a:t>MPs &amp; citizens</a:t>
              </a:r>
            </a:p>
          </p:txBody>
        </p:sp>
        <p:sp>
          <p:nvSpPr>
            <p:cNvPr id="43" name="TextBox 43"/>
            <p:cNvSpPr txBox="1"/>
            <p:nvPr/>
          </p:nvSpPr>
          <p:spPr>
            <a:xfrm>
              <a:off x="6342848" y="2613422"/>
              <a:ext cx="1011255" cy="354806"/>
            </a:xfrm>
            <a:prstGeom prst="rect">
              <a:avLst/>
            </a:prstGeom>
            <a:noFill/>
            <a:ln>
              <a:noFill/>
            </a:ln>
          </p:spPr>
          <p:txBody>
            <a:bodyPr wrap="none" lIns="0" tIns="0" rIns="0" bIns="0" anchor="t" anchorCtr="0">
              <a:spAutoFit/>
            </a:bodyPr>
            <a:lstStyle/>
            <a:p>
              <a:pPr algn="ctr">
                <a:lnSpc>
                  <a:spcPts val="1350"/>
                </a:lnSpc>
              </a:pPr>
              <a:r>
                <a:rPr lang="en-IN" sz="940" dirty="0">
                  <a:solidFill>
                    <a:srgbClr val="344054"/>
                  </a:solidFill>
                  <a:latin typeface="Calibri"/>
                  <a:ea typeface="Calibri"/>
                  <a:cs typeface="Calibri"/>
                </a:rPr>
                <a:t>live work status</a:t>
              </a:r>
              <a:br/>
              <a:r>
                <a:rPr lang="en-IN" sz="940" dirty="0">
                  <a:solidFill>
                    <a:srgbClr val="344054"/>
                  </a:solidFill>
                  <a:latin typeface="Calibri"/>
                  <a:ea typeface="Calibri"/>
                  <a:cs typeface="Calibri"/>
                </a:rPr>
                <a:t>stuck-work warnings</a:t>
              </a:r>
            </a:p>
          </p:txBody>
        </p:sp>
      </p:grpSp>
      <p:grpSp>
        <p:nvGrpSpPr>
          <p:cNvPr id="54" name="funnel"/>
          <p:cNvGrpSpPr/>
          <p:nvPr/>
        </p:nvGrpSpPr>
        <p:grpSpPr>
          <a:xfrm>
            <a:off x="7958138" y="1259443"/>
            <a:ext cx="3929062" cy="2099310"/>
            <a:chOff x="7958138" y="1259443"/>
            <a:chExt cx="3929062" cy="2099310"/>
          </a:xfrm>
        </p:grpSpPr>
        <p:sp>
          <p:nvSpPr>
            <p:cNvPr id="45" name="TextBox 45"/>
            <p:cNvSpPr txBox="1"/>
            <p:nvPr/>
          </p:nvSpPr>
          <p:spPr>
            <a:xfrm>
              <a:off x="7958138" y="1259443"/>
              <a:ext cx="2441753" cy="169069"/>
            </a:xfrm>
            <a:prstGeom prst="rect">
              <a:avLst/>
            </a:prstGeom>
            <a:noFill/>
            <a:ln>
              <a:noFill/>
            </a:ln>
          </p:spPr>
          <p:txBody>
            <a:bodyPr wrap="none" lIns="0" tIns="0" rIns="0" bIns="0" anchor="t" anchorCtr="0">
              <a:spAutoFit/>
            </a:bodyPr>
            <a:lstStyle/>
            <a:p>
              <a:pPr algn="l"/>
              <a:r>
                <a:rPr lang="en-IN" sz="860" b="1" dirty="0">
                  <a:solidFill>
                    <a:srgbClr val="0B3D6E"/>
                  </a:solidFill>
                  <a:latin typeface="Calibri"/>
                  <a:ea typeface="Calibri"/>
                  <a:cs typeface="Calibri"/>
                </a:rPr>
                <a:t>FROM EVERY WORK TO THE FEW THAT MATTER</a:t>
              </a:r>
            </a:p>
          </p:txBody>
        </p:sp>
        <p:sp>
          <p:nvSpPr>
            <p:cNvPr id="46" name="Polygon 46"/>
            <p:cNvSpPr/>
            <p:nvPr/>
          </p:nvSpPr>
          <p:spPr>
            <a:xfrm>
              <a:off x="7962900" y="1466850"/>
              <a:ext cx="3924300" cy="476250"/>
            </a:xfrm>
            <a:custGeom>
              <a:avLst/>
              <a:gdLst/>
              <a:ahLst/>
              <a:cxnLst/>
              <a:rect l="l" t="t" r="r" b="b"/>
              <a:pathLst>
                <a:path w="3924300" h="476250">
                  <a:moveTo>
                    <a:pt x="0" y="0"/>
                  </a:moveTo>
                  <a:lnTo>
                    <a:pt x="3924300" y="0"/>
                  </a:lnTo>
                  <a:lnTo>
                    <a:pt x="3533775" y="476250"/>
                  </a:lnTo>
                  <a:lnTo>
                    <a:pt x="390525" y="476250"/>
                  </a:lnTo>
                  <a:close/>
                </a:path>
              </a:pathLst>
            </a:custGeom>
            <a:solidFill>
              <a:srgbClr val="0B3D6E"/>
            </a:solidFill>
            <a:ln>
              <a:noFill/>
            </a:ln>
          </p:spPr>
        </p:sp>
        <p:sp>
          <p:nvSpPr>
            <p:cNvPr id="47" name="TextBox 47"/>
            <p:cNvSpPr txBox="1"/>
            <p:nvPr/>
          </p:nvSpPr>
          <p:spPr>
            <a:xfrm>
              <a:off x="9118686" y="1597342"/>
              <a:ext cx="1612727" cy="264033"/>
            </a:xfrm>
            <a:prstGeom prst="rect">
              <a:avLst/>
            </a:prstGeom>
            <a:noFill/>
            <a:ln>
              <a:noFill/>
            </a:ln>
          </p:spPr>
          <p:txBody>
            <a:bodyPr wrap="none" lIns="0" tIns="0" rIns="0" bIns="0" anchor="t" anchorCtr="0">
              <a:spAutoFit/>
            </a:bodyPr>
            <a:lstStyle/>
            <a:p>
              <a:pPr algn="ctr"/>
              <a:r>
                <a:rPr lang="en-IN" sz="1350" b="1" dirty="0">
                  <a:solidFill>
                    <a:srgbClr val="FFFFFF"/>
                  </a:solidFill>
                  <a:latin typeface="Calibri"/>
                  <a:ea typeface="Calibri"/>
                  <a:cs typeface="Calibri"/>
                </a:rPr>
                <a:t xml:space="preserve">2,09,993 </a:t>
              </a:r>
              <a:r>
                <a:rPr lang="en-IN" sz="940" dirty="0">
                  <a:solidFill>
                    <a:srgbClr val="FFFFFF"/>
                  </a:solidFill>
                  <a:latin typeface="Calibri"/>
                  <a:ea typeface="Calibri"/>
                  <a:cs typeface="Calibri"/>
                </a:rPr>
                <a:t>works in eSAKSHI</a:t>
              </a:r>
            </a:p>
          </p:txBody>
        </p:sp>
        <p:sp>
          <p:nvSpPr>
            <p:cNvPr id="48" name="Polygon 48"/>
            <p:cNvSpPr/>
            <p:nvPr/>
          </p:nvSpPr>
          <p:spPr>
            <a:xfrm>
              <a:off x="8353425" y="1981200"/>
              <a:ext cx="3143250" cy="476250"/>
            </a:xfrm>
            <a:custGeom>
              <a:avLst/>
              <a:gdLst/>
              <a:ahLst/>
              <a:cxnLst/>
              <a:rect l="l" t="t" r="r" b="b"/>
              <a:pathLst>
                <a:path w="3143250" h="476250">
                  <a:moveTo>
                    <a:pt x="0" y="0"/>
                  </a:moveTo>
                  <a:lnTo>
                    <a:pt x="3143250" y="0"/>
                  </a:lnTo>
                  <a:lnTo>
                    <a:pt x="2752725" y="476250"/>
                  </a:lnTo>
                  <a:lnTo>
                    <a:pt x="390525" y="476250"/>
                  </a:lnTo>
                  <a:close/>
                </a:path>
              </a:pathLst>
            </a:custGeom>
            <a:solidFill>
              <a:srgbClr val="1B5A94"/>
            </a:solidFill>
            <a:ln>
              <a:noFill/>
            </a:ln>
          </p:spPr>
        </p:sp>
        <p:sp>
          <p:nvSpPr>
            <p:cNvPr id="49" name="TextBox 49"/>
            <p:cNvSpPr txBox="1"/>
            <p:nvPr/>
          </p:nvSpPr>
          <p:spPr>
            <a:xfrm>
              <a:off x="9118853" y="2111692"/>
              <a:ext cx="1612393" cy="264033"/>
            </a:xfrm>
            <a:prstGeom prst="rect">
              <a:avLst/>
            </a:prstGeom>
            <a:noFill/>
            <a:ln>
              <a:noFill/>
            </a:ln>
          </p:spPr>
          <p:txBody>
            <a:bodyPr wrap="none" lIns="0" tIns="0" rIns="0" bIns="0" anchor="t" anchorCtr="0">
              <a:spAutoFit/>
            </a:bodyPr>
            <a:lstStyle/>
            <a:p>
              <a:pPr algn="ctr"/>
              <a:r>
                <a:rPr lang="en-IN" sz="1350" b="1" dirty="0">
                  <a:solidFill>
                    <a:srgbClr val="FFFFFF"/>
                  </a:solidFill>
                  <a:latin typeface="Calibri"/>
                  <a:ea typeface="Calibri"/>
                  <a:cs typeface="Calibri"/>
                </a:rPr>
                <a:t xml:space="preserve">12 agents </a:t>
              </a:r>
              <a:r>
                <a:rPr lang="en-IN" sz="940" dirty="0">
                  <a:solidFill>
                    <a:srgbClr val="FFFFFF"/>
                  </a:solidFill>
                  <a:latin typeface="Calibri"/>
                  <a:ea typeface="Calibri"/>
                  <a:cs typeface="Calibri"/>
                </a:rPr>
                <a:t>check every one</a:t>
              </a:r>
            </a:p>
          </p:txBody>
        </p:sp>
        <p:sp>
          <p:nvSpPr>
            <p:cNvPr id="50" name="Polygon 50"/>
            <p:cNvSpPr/>
            <p:nvPr/>
          </p:nvSpPr>
          <p:spPr>
            <a:xfrm>
              <a:off x="8743950" y="2495550"/>
              <a:ext cx="2362200" cy="476250"/>
            </a:xfrm>
            <a:custGeom>
              <a:avLst/>
              <a:gdLst/>
              <a:ahLst/>
              <a:cxnLst/>
              <a:rect l="l" t="t" r="r" b="b"/>
              <a:pathLst>
                <a:path w="2362200" h="476250">
                  <a:moveTo>
                    <a:pt x="0" y="0"/>
                  </a:moveTo>
                  <a:lnTo>
                    <a:pt x="2362200" y="0"/>
                  </a:lnTo>
                  <a:lnTo>
                    <a:pt x="2171700" y="476250"/>
                  </a:lnTo>
                  <a:lnTo>
                    <a:pt x="190500" y="476250"/>
                  </a:lnTo>
                  <a:close/>
                </a:path>
              </a:pathLst>
            </a:custGeom>
            <a:solidFill>
              <a:srgbClr val="E8871E"/>
            </a:solidFill>
            <a:ln>
              <a:noFill/>
            </a:ln>
          </p:spPr>
        </p:sp>
        <p:sp>
          <p:nvSpPr>
            <p:cNvPr id="51" name="TextBox 51"/>
            <p:cNvSpPr txBox="1"/>
            <p:nvPr/>
          </p:nvSpPr>
          <p:spPr>
            <a:xfrm>
              <a:off x="9199165" y="2626042"/>
              <a:ext cx="1451770" cy="264033"/>
            </a:xfrm>
            <a:prstGeom prst="rect">
              <a:avLst/>
            </a:prstGeom>
            <a:noFill/>
            <a:ln>
              <a:noFill/>
            </a:ln>
          </p:spPr>
          <p:txBody>
            <a:bodyPr wrap="none" lIns="0" tIns="0" rIns="0" bIns="0" anchor="t" anchorCtr="0">
              <a:spAutoFit/>
            </a:bodyPr>
            <a:lstStyle/>
            <a:p>
              <a:pPr algn="ctr"/>
              <a:r>
                <a:rPr lang="en-IN" sz="1350" b="1" dirty="0">
                  <a:solidFill>
                    <a:srgbClr val="FFFFFF"/>
                  </a:solidFill>
                  <a:latin typeface="Calibri"/>
                  <a:ea typeface="Calibri"/>
                  <a:cs typeface="Calibri"/>
                </a:rPr>
                <a:t xml:space="preserve">276 </a:t>
              </a:r>
              <a:r>
                <a:rPr lang="en-IN" sz="940" dirty="0">
                  <a:solidFill>
                    <a:srgbClr val="FFFFFF"/>
                  </a:solidFill>
                  <a:latin typeface="Calibri"/>
                  <a:ea typeface="Calibri"/>
                  <a:cs typeface="Calibri"/>
                </a:rPr>
                <a:t>to review first · 0.13%</a:t>
              </a:r>
            </a:p>
          </p:txBody>
        </p:sp>
        <p:sp>
          <p:nvSpPr>
            <p:cNvPr id="52" name="Line 52"/>
            <p:cNvSpPr/>
            <p:nvPr/>
          </p:nvSpPr>
          <p:spPr>
            <a:xfrm>
              <a:off x="9925050" y="3009900"/>
              <a:ext cx="1" cy="114300"/>
            </a:xfrm>
            <a:prstGeom prst="line">
              <a:avLst/>
            </a:prstGeom>
            <a:noFill/>
            <a:ln w="15240">
              <a:solidFill>
                <a:srgbClr val="E8871E"/>
              </a:solidFill>
              <a:tailEnd type="triangle" w="lg" len="lg"/>
            </a:ln>
          </p:spPr>
        </p:sp>
        <p:sp>
          <p:nvSpPr>
            <p:cNvPr id="53" name="TextBox 53"/>
            <p:cNvSpPr txBox="1"/>
            <p:nvPr/>
          </p:nvSpPr>
          <p:spPr>
            <a:xfrm>
              <a:off x="8983232" y="3175397"/>
              <a:ext cx="1883637" cy="183356"/>
            </a:xfrm>
            <a:prstGeom prst="rect">
              <a:avLst/>
            </a:prstGeom>
            <a:noFill/>
            <a:ln>
              <a:noFill/>
            </a:ln>
          </p:spPr>
          <p:txBody>
            <a:bodyPr wrap="none" lIns="0" tIns="0" rIns="0" bIns="0" anchor="t" anchorCtr="0">
              <a:spAutoFit/>
            </a:bodyPr>
            <a:lstStyle/>
            <a:p>
              <a:pPr algn="ctr"/>
              <a:r>
                <a:rPr lang="en-IN" sz="940" b="1" dirty="0">
                  <a:solidFill>
                    <a:srgbClr val="B35900"/>
                  </a:solidFill>
                  <a:latin typeface="Calibri"/>
                  <a:ea typeface="Calibri"/>
                  <a:cs typeface="Calibri"/>
                </a:rPr>
                <a:t>→ the district's 10% inspection plan</a:t>
              </a:r>
            </a:p>
          </p:txBody>
        </p:sp>
      </p:grpSp>
      <p:grpSp>
        <p:nvGrpSpPr>
          <p:cNvPr id="91" name="already-found"/>
          <p:cNvGrpSpPr/>
          <p:nvPr/>
        </p:nvGrpSpPr>
        <p:grpSpPr>
          <a:xfrm>
            <a:off x="300038" y="3383518"/>
            <a:ext cx="11587162" cy="988457"/>
            <a:chOff x="300038" y="3383518"/>
            <a:chExt cx="11587162" cy="988457"/>
          </a:xfrm>
        </p:grpSpPr>
        <p:sp>
          <p:nvSpPr>
            <p:cNvPr id="55" name="TextBox 55"/>
            <p:cNvSpPr txBox="1"/>
            <p:nvPr/>
          </p:nvSpPr>
          <p:spPr>
            <a:xfrm>
              <a:off x="300038" y="3383518"/>
              <a:ext cx="4153268" cy="169069"/>
            </a:xfrm>
            <a:prstGeom prst="rect">
              <a:avLst/>
            </a:prstGeom>
            <a:noFill/>
            <a:ln>
              <a:noFill/>
            </a:ln>
          </p:spPr>
          <p:txBody>
            <a:bodyPr wrap="none" lIns="0" tIns="0" rIns="0" bIns="0" anchor="t" anchorCtr="0">
              <a:spAutoFit/>
            </a:bodyPr>
            <a:lstStyle/>
            <a:p>
              <a:pPr algn="l"/>
              <a:r>
                <a:rPr lang="en-IN" sz="860" b="1" dirty="0">
                  <a:solidFill>
                    <a:srgbClr val="0B3D6E"/>
                  </a:solidFill>
                  <a:latin typeface="Calibri"/>
                  <a:ea typeface="Calibri"/>
                  <a:cs typeface="Calibri"/>
                </a:rPr>
                <a:t>ALREADY FOUND IN REAL eSAKSHI DATA</a:t>
              </a:r>
              <a:r>
                <a:rPr lang="en-IN" sz="860" dirty="0">
                  <a:solidFill>
                    <a:srgbClr val="667085"/>
                  </a:solidFill>
                  <a:latin typeface="Calibri"/>
                  <a:ea typeface="Calibri"/>
                  <a:cs typeface="Calibri"/>
                </a:rPr>
                <a:t xml:space="preserve"> · each one needs checking, none is a verdict</a:t>
              </a:r>
            </a:p>
          </p:txBody>
        </p:sp>
        <p:sp>
          <p:nvSpPr>
            <p:cNvPr id="56" name="Rectangle 56"/>
            <p:cNvSpPr/>
            <p:nvPr/>
          </p:nvSpPr>
          <p:spPr>
            <a:xfrm>
              <a:off x="304800" y="3571875"/>
              <a:ext cx="2240280" cy="800100"/>
            </a:xfrm>
            <a:prstGeom prst="roundRect">
              <a:avLst>
                <a:gd name="adj" fmla="val 9524"/>
              </a:avLst>
            </a:prstGeom>
            <a:solidFill>
              <a:srgbClr val="FFFFFF"/>
            </a:solidFill>
            <a:ln w="9525">
              <a:solidFill>
                <a:srgbClr val="D0D5DD"/>
              </a:solidFill>
            </a:ln>
          </p:spPr>
        </p:sp>
        <p:sp>
          <p:nvSpPr>
            <p:cNvPr id="57" name="Rectangle 57"/>
            <p:cNvSpPr/>
            <p:nvPr/>
          </p:nvSpPr>
          <p:spPr>
            <a:xfrm>
              <a:off x="304800" y="3667125"/>
              <a:ext cx="38100" cy="609600"/>
            </a:xfrm>
            <a:prstGeom prst="rect">
              <a:avLst/>
            </a:prstGeom>
            <a:solidFill>
              <a:srgbClr val="E8871E"/>
            </a:solidFill>
            <a:ln>
              <a:noFill/>
            </a:ln>
          </p:spPr>
        </p:sp>
        <p:grpSp>
          <p:nvGrpSpPr>
            <p:cNvPr id="60" name="Group 60"/>
            <p:cNvGrpSpPr/>
            <p:nvPr/>
          </p:nvGrpSpPr>
          <p:grpSpPr>
            <a:xfrm>
              <a:off x="492323" y="3709392"/>
              <a:ext cx="139302" cy="201215"/>
              <a:chOff x="492323" y="3709392"/>
              <a:chExt cx="139302" cy="201215"/>
            </a:xfrm>
          </p:grpSpPr>
          <p:sp>
            <p:nvSpPr>
              <p:cNvPr id="58" name="Freeform 58"/>
              <p:cNvSpPr/>
              <p:nvPr/>
            </p:nvSpPr>
            <p:spPr>
              <a:xfrm>
                <a:off x="510384" y="3771304"/>
                <a:ext cx="102784" cy="38695"/>
              </a:xfrm>
              <a:custGeom>
                <a:avLst/>
                <a:gdLst/>
                <a:ahLst/>
                <a:cxnLst/>
                <a:rect l="l" t="t" r="r" b="b"/>
                <a:pathLst>
                  <a:path w="102784" h="38695">
                    <a:moveTo>
                      <a:pt x="102784" y="0"/>
                    </a:moveTo>
                    <a:lnTo>
                      <a:pt x="51590" y="38695"/>
                    </a:lnTo>
                    <a:lnTo>
                      <a:pt x="0" y="0"/>
                    </a:lnTo>
                    <a:close/>
                  </a:path>
                </a:pathLst>
              </a:custGeom>
              <a:solidFill>
                <a:srgbClr val="B35900">
                  <a:alpha val="20000"/>
                </a:srgbClr>
              </a:solidFill>
              <a:ln>
                <a:noFill/>
              </a:ln>
            </p:spPr>
          </p:sp>
          <p:sp>
            <p:nvSpPr>
              <p:cNvPr id="59" name="Freeform 59"/>
              <p:cNvSpPr/>
              <p:nvPr/>
            </p:nvSpPr>
            <p:spPr>
              <a:xfrm>
                <a:off x="492323" y="3709392"/>
                <a:ext cx="139302" cy="201215"/>
              </a:xfrm>
              <a:custGeom>
                <a:avLst/>
                <a:gdLst/>
                <a:ahLst/>
                <a:cxnLst/>
                <a:rect l="l" t="t" r="r" b="b"/>
                <a:pathLst>
                  <a:path w="139302" h="201215">
                    <a:moveTo>
                      <a:pt x="139302" y="49955"/>
                    </a:moveTo>
                    <a:lnTo>
                      <a:pt x="139302" y="15478"/>
                    </a:lnTo>
                    <a:cubicBezTo>
                      <a:pt x="139302" y="6930"/>
                      <a:pt x="132373" y="0"/>
                      <a:pt x="123824" y="0"/>
                    </a:cubicBezTo>
                    <a:lnTo>
                      <a:pt x="15478" y="0"/>
                    </a:lnTo>
                    <a:cubicBezTo>
                      <a:pt x="6930" y="0"/>
                      <a:pt x="0" y="6930"/>
                      <a:pt x="0" y="15478"/>
                    </a:cubicBezTo>
                    <a:lnTo>
                      <a:pt x="0" y="50304"/>
                    </a:lnTo>
                    <a:cubicBezTo>
                      <a:pt x="11" y="55173"/>
                      <a:pt x="2302" y="59756"/>
                      <a:pt x="6191" y="62686"/>
                    </a:cubicBezTo>
                    <a:lnTo>
                      <a:pt x="56756" y="100607"/>
                    </a:lnTo>
                    <a:lnTo>
                      <a:pt x="6191" y="138529"/>
                    </a:lnTo>
                    <a:cubicBezTo>
                      <a:pt x="2302" y="141459"/>
                      <a:pt x="11" y="146042"/>
                      <a:pt x="0" y="150911"/>
                    </a:cubicBezTo>
                    <a:lnTo>
                      <a:pt x="0" y="185737"/>
                    </a:lnTo>
                    <a:cubicBezTo>
                      <a:pt x="0" y="194285"/>
                      <a:pt x="6930" y="201215"/>
                      <a:pt x="15478" y="201215"/>
                    </a:cubicBezTo>
                    <a:lnTo>
                      <a:pt x="123824" y="201215"/>
                    </a:lnTo>
                    <a:cubicBezTo>
                      <a:pt x="132373" y="201215"/>
                      <a:pt x="139302" y="194285"/>
                      <a:pt x="139302" y="185737"/>
                    </a:cubicBezTo>
                    <a:lnTo>
                      <a:pt x="139302" y="151259"/>
                    </a:lnTo>
                    <a:cubicBezTo>
                      <a:pt x="139291" y="146409"/>
                      <a:pt x="137020" y="141842"/>
                      <a:pt x="133160" y="138906"/>
                    </a:cubicBezTo>
                    <a:lnTo>
                      <a:pt x="82488" y="100607"/>
                    </a:lnTo>
                    <a:lnTo>
                      <a:pt x="133160" y="62309"/>
                    </a:lnTo>
                    <a:cubicBezTo>
                      <a:pt x="137020" y="59373"/>
                      <a:pt x="139291" y="54805"/>
                      <a:pt x="139302" y="49955"/>
                    </a:cubicBezTo>
                    <a:close/>
                    <a:moveTo>
                      <a:pt x="15478" y="15478"/>
                    </a:moveTo>
                    <a:lnTo>
                      <a:pt x="123824" y="15478"/>
                    </a:lnTo>
                    <a:lnTo>
                      <a:pt x="123824" y="49955"/>
                    </a:lnTo>
                    <a:lnTo>
                      <a:pt x="118243" y="54173"/>
                    </a:lnTo>
                    <a:lnTo>
                      <a:pt x="20634" y="54173"/>
                    </a:lnTo>
                    <a:lnTo>
                      <a:pt x="15478" y="50304"/>
                    </a:lnTo>
                    <a:close/>
                    <a:moveTo>
                      <a:pt x="69651" y="90934"/>
                    </a:moveTo>
                    <a:lnTo>
                      <a:pt x="41278" y="69651"/>
                    </a:lnTo>
                    <a:lnTo>
                      <a:pt x="97773" y="69651"/>
                    </a:lnTo>
                    <a:close/>
                    <a:moveTo>
                      <a:pt x="123824" y="185737"/>
                    </a:moveTo>
                    <a:lnTo>
                      <a:pt x="15478" y="185737"/>
                    </a:lnTo>
                    <a:lnTo>
                      <a:pt x="15478" y="150911"/>
                    </a:lnTo>
                    <a:lnTo>
                      <a:pt x="61912" y="116085"/>
                    </a:lnTo>
                    <a:lnTo>
                      <a:pt x="61912" y="139302"/>
                    </a:lnTo>
                    <a:cubicBezTo>
                      <a:pt x="61912" y="143577"/>
                      <a:pt x="65377" y="147041"/>
                      <a:pt x="69651" y="147041"/>
                    </a:cubicBezTo>
                    <a:cubicBezTo>
                      <a:pt x="73925" y="147041"/>
                      <a:pt x="77390" y="143577"/>
                      <a:pt x="77390" y="139302"/>
                    </a:cubicBezTo>
                    <a:lnTo>
                      <a:pt x="77390" y="116163"/>
                    </a:lnTo>
                    <a:lnTo>
                      <a:pt x="123824" y="151259"/>
                    </a:lnTo>
                    <a:close/>
                  </a:path>
                </a:pathLst>
              </a:custGeom>
              <a:solidFill>
                <a:srgbClr val="B35900"/>
              </a:solidFill>
              <a:ln>
                <a:noFill/>
              </a:ln>
            </p:spPr>
          </p:sp>
        </p:grpSp>
        <p:sp>
          <p:nvSpPr>
            <p:cNvPr id="61" name="TextBox 61"/>
            <p:cNvSpPr txBox="1"/>
            <p:nvPr/>
          </p:nvSpPr>
          <p:spPr>
            <a:xfrm>
              <a:off x="752856" y="3701415"/>
              <a:ext cx="694786" cy="352044"/>
            </a:xfrm>
            <a:prstGeom prst="rect">
              <a:avLst/>
            </a:prstGeom>
            <a:noFill/>
            <a:ln>
              <a:noFill/>
            </a:ln>
          </p:spPr>
          <p:txBody>
            <a:bodyPr wrap="none" lIns="0" tIns="0" rIns="0" bIns="0" anchor="t" anchorCtr="0">
              <a:spAutoFit/>
            </a:bodyPr>
            <a:lstStyle/>
            <a:p>
              <a:pPr algn="l"/>
              <a:r>
                <a:rPr lang="en-IN" sz="1800" b="1" dirty="0">
                  <a:solidFill>
                    <a:srgbClr val="B35900"/>
                  </a:solidFill>
                  <a:latin typeface="Calibri"/>
                  <a:ea typeface="Calibri"/>
                  <a:cs typeface="Calibri"/>
                </a:rPr>
                <a:t>21,323</a:t>
              </a:r>
            </a:p>
          </p:txBody>
        </p:sp>
        <p:sp>
          <p:nvSpPr>
            <p:cNvPr id="62" name="TextBox 62"/>
            <p:cNvSpPr txBox="1"/>
            <p:nvPr/>
          </p:nvSpPr>
          <p:spPr>
            <a:xfrm>
              <a:off x="433388" y="4031218"/>
              <a:ext cx="1860252" cy="169069"/>
            </a:xfrm>
            <a:prstGeom prst="rect">
              <a:avLst/>
            </a:prstGeom>
            <a:noFill/>
            <a:ln>
              <a:noFill/>
            </a:ln>
          </p:spPr>
          <p:txBody>
            <a:bodyPr wrap="none" lIns="0" tIns="0" rIns="0" bIns="0" anchor="t" anchorCtr="0">
              <a:spAutoFit/>
            </a:bodyPr>
            <a:lstStyle/>
            <a:p>
              <a:pPr algn="l"/>
              <a:r>
                <a:rPr lang="en-IN" sz="860" dirty="0">
                  <a:solidFill>
                    <a:srgbClr val="344054"/>
                  </a:solidFill>
                  <a:latin typeface="Calibri"/>
                  <a:ea typeface="Calibri"/>
                  <a:cs typeface="Calibri"/>
                </a:rPr>
                <a:t>works waiting for sanction past 75 days</a:t>
              </a:r>
            </a:p>
          </p:txBody>
        </p:sp>
        <p:sp>
          <p:nvSpPr>
            <p:cNvPr id="63" name="Rectangle 63"/>
            <p:cNvSpPr/>
            <p:nvPr/>
          </p:nvSpPr>
          <p:spPr>
            <a:xfrm>
              <a:off x="2640330" y="3571875"/>
              <a:ext cx="2240280" cy="800100"/>
            </a:xfrm>
            <a:prstGeom prst="roundRect">
              <a:avLst>
                <a:gd name="adj" fmla="val 9524"/>
              </a:avLst>
            </a:prstGeom>
            <a:solidFill>
              <a:srgbClr val="FFFFFF"/>
            </a:solidFill>
            <a:ln w="9525">
              <a:solidFill>
                <a:srgbClr val="D0D5DD"/>
              </a:solidFill>
            </a:ln>
          </p:spPr>
        </p:sp>
        <p:sp>
          <p:nvSpPr>
            <p:cNvPr id="64" name="Rectangle 64"/>
            <p:cNvSpPr/>
            <p:nvPr/>
          </p:nvSpPr>
          <p:spPr>
            <a:xfrm>
              <a:off x="2640330" y="3667125"/>
              <a:ext cx="38100" cy="609600"/>
            </a:xfrm>
            <a:prstGeom prst="rect">
              <a:avLst/>
            </a:prstGeom>
            <a:solidFill>
              <a:srgbClr val="E8871E"/>
            </a:solidFill>
            <a:ln>
              <a:noFill/>
            </a:ln>
          </p:spPr>
        </p:sp>
        <p:grpSp>
          <p:nvGrpSpPr>
            <p:cNvPr id="67" name="Group 67"/>
            <p:cNvGrpSpPr/>
            <p:nvPr/>
          </p:nvGrpSpPr>
          <p:grpSpPr>
            <a:xfrm>
              <a:off x="2804636" y="3701653"/>
              <a:ext cx="185737" cy="201215"/>
              <a:chOff x="2804636" y="3701653"/>
              <a:chExt cx="185737" cy="201215"/>
            </a:xfrm>
          </p:grpSpPr>
          <p:sp>
            <p:nvSpPr>
              <p:cNvPr id="65" name="Freeform 65"/>
              <p:cNvSpPr/>
              <p:nvPr/>
            </p:nvSpPr>
            <p:spPr>
              <a:xfrm>
                <a:off x="2812375" y="3724870"/>
                <a:ext cx="170259" cy="46434"/>
              </a:xfrm>
              <a:custGeom>
                <a:avLst/>
                <a:gdLst/>
                <a:ahLst/>
                <a:cxnLst/>
                <a:rect l="l" t="t" r="r" b="b"/>
                <a:pathLst>
                  <a:path w="170259" h="46434">
                    <a:moveTo>
                      <a:pt x="170259" y="7739"/>
                    </a:moveTo>
                    <a:lnTo>
                      <a:pt x="170259" y="46434"/>
                    </a:lnTo>
                    <a:lnTo>
                      <a:pt x="0" y="46434"/>
                    </a:lnTo>
                    <a:lnTo>
                      <a:pt x="0" y="7739"/>
                    </a:lnTo>
                    <a:cubicBezTo>
                      <a:pt x="0" y="3465"/>
                      <a:pt x="3465" y="0"/>
                      <a:pt x="7739" y="0"/>
                    </a:cubicBezTo>
                    <a:lnTo>
                      <a:pt x="162520" y="0"/>
                    </a:lnTo>
                    <a:cubicBezTo>
                      <a:pt x="166794" y="0"/>
                      <a:pt x="170259" y="3465"/>
                      <a:pt x="170259" y="7739"/>
                    </a:cubicBezTo>
                    <a:close/>
                  </a:path>
                </a:pathLst>
              </a:custGeom>
              <a:solidFill>
                <a:srgbClr val="B35900">
                  <a:alpha val="20000"/>
                </a:srgbClr>
              </a:solidFill>
              <a:ln>
                <a:noFill/>
              </a:ln>
            </p:spPr>
          </p:sp>
          <p:sp>
            <p:nvSpPr>
              <p:cNvPr id="66" name="Freeform 66"/>
              <p:cNvSpPr/>
              <p:nvPr/>
            </p:nvSpPr>
            <p:spPr>
              <a:xfrm>
                <a:off x="2804636" y="3701653"/>
                <a:ext cx="185737" cy="201215"/>
              </a:xfrm>
              <a:custGeom>
                <a:avLst/>
                <a:gdLst/>
                <a:ahLst/>
                <a:cxnLst/>
                <a:rect l="l" t="t" r="r" b="b"/>
                <a:pathLst>
                  <a:path w="185737" h="201215">
                    <a:moveTo>
                      <a:pt x="170259" y="15478"/>
                    </a:moveTo>
                    <a:lnTo>
                      <a:pt x="147041" y="15478"/>
                    </a:lnTo>
                    <a:lnTo>
                      <a:pt x="147041" y="7739"/>
                    </a:lnTo>
                    <a:cubicBezTo>
                      <a:pt x="147041" y="3465"/>
                      <a:pt x="143577" y="0"/>
                      <a:pt x="139302" y="0"/>
                    </a:cubicBezTo>
                    <a:cubicBezTo>
                      <a:pt x="135028" y="0"/>
                      <a:pt x="131563" y="3465"/>
                      <a:pt x="131563" y="7739"/>
                    </a:cubicBezTo>
                    <a:lnTo>
                      <a:pt x="131563" y="15478"/>
                    </a:lnTo>
                    <a:lnTo>
                      <a:pt x="54173" y="15478"/>
                    </a:lnTo>
                    <a:lnTo>
                      <a:pt x="54173" y="7739"/>
                    </a:lnTo>
                    <a:cubicBezTo>
                      <a:pt x="54173" y="3465"/>
                      <a:pt x="50708" y="0"/>
                      <a:pt x="46434" y="0"/>
                    </a:cubicBezTo>
                    <a:cubicBezTo>
                      <a:pt x="42160" y="0"/>
                      <a:pt x="38695" y="3465"/>
                      <a:pt x="38695" y="7739"/>
                    </a:cubicBezTo>
                    <a:lnTo>
                      <a:pt x="38695" y="15478"/>
                    </a:lnTo>
                    <a:lnTo>
                      <a:pt x="15478" y="15478"/>
                    </a:lnTo>
                    <a:cubicBezTo>
                      <a:pt x="6930" y="15478"/>
                      <a:pt x="0" y="22408"/>
                      <a:pt x="0" y="30956"/>
                    </a:cubicBezTo>
                    <a:lnTo>
                      <a:pt x="0" y="185737"/>
                    </a:lnTo>
                    <a:cubicBezTo>
                      <a:pt x="0" y="194285"/>
                      <a:pt x="6930" y="201215"/>
                      <a:pt x="15478" y="201215"/>
                    </a:cubicBezTo>
                    <a:lnTo>
                      <a:pt x="170259" y="201215"/>
                    </a:lnTo>
                    <a:cubicBezTo>
                      <a:pt x="178807" y="201215"/>
                      <a:pt x="185737" y="194285"/>
                      <a:pt x="185737" y="185737"/>
                    </a:cubicBezTo>
                    <a:lnTo>
                      <a:pt x="185737" y="30956"/>
                    </a:lnTo>
                    <a:cubicBezTo>
                      <a:pt x="185737" y="22408"/>
                      <a:pt x="178807" y="15478"/>
                      <a:pt x="170259" y="15478"/>
                    </a:cubicBezTo>
                    <a:close/>
                    <a:moveTo>
                      <a:pt x="38695" y="30956"/>
                    </a:moveTo>
                    <a:lnTo>
                      <a:pt x="38695" y="38695"/>
                    </a:lnTo>
                    <a:cubicBezTo>
                      <a:pt x="38695" y="42969"/>
                      <a:pt x="42160" y="46434"/>
                      <a:pt x="46434" y="46434"/>
                    </a:cubicBezTo>
                    <a:cubicBezTo>
                      <a:pt x="50708" y="46434"/>
                      <a:pt x="54173" y="42969"/>
                      <a:pt x="54173" y="38695"/>
                    </a:cubicBezTo>
                    <a:lnTo>
                      <a:pt x="54173" y="30956"/>
                    </a:lnTo>
                    <a:lnTo>
                      <a:pt x="131563" y="30956"/>
                    </a:lnTo>
                    <a:lnTo>
                      <a:pt x="131563" y="38695"/>
                    </a:lnTo>
                    <a:cubicBezTo>
                      <a:pt x="131563" y="42969"/>
                      <a:pt x="135028" y="46434"/>
                      <a:pt x="139302" y="46434"/>
                    </a:cubicBezTo>
                    <a:cubicBezTo>
                      <a:pt x="143577" y="46434"/>
                      <a:pt x="147041" y="42969"/>
                      <a:pt x="147041" y="38695"/>
                    </a:cubicBezTo>
                    <a:lnTo>
                      <a:pt x="147041" y="30956"/>
                    </a:lnTo>
                    <a:lnTo>
                      <a:pt x="170259" y="30956"/>
                    </a:lnTo>
                    <a:lnTo>
                      <a:pt x="170259" y="61912"/>
                    </a:lnTo>
                    <a:lnTo>
                      <a:pt x="15478" y="61912"/>
                    </a:lnTo>
                    <a:lnTo>
                      <a:pt x="15478" y="30956"/>
                    </a:lnTo>
                    <a:close/>
                    <a:moveTo>
                      <a:pt x="170259" y="185737"/>
                    </a:moveTo>
                    <a:lnTo>
                      <a:pt x="15478" y="185737"/>
                    </a:lnTo>
                    <a:lnTo>
                      <a:pt x="15478" y="77390"/>
                    </a:lnTo>
                    <a:lnTo>
                      <a:pt x="170259" y="77390"/>
                    </a:lnTo>
                    <a:lnTo>
                      <a:pt x="170259" y="185737"/>
                    </a:lnTo>
                    <a:close/>
                    <a:moveTo>
                      <a:pt x="121561" y="113822"/>
                    </a:moveTo>
                    <a:lnTo>
                      <a:pt x="103809" y="131563"/>
                    </a:lnTo>
                    <a:lnTo>
                      <a:pt x="121561" y="149305"/>
                    </a:lnTo>
                    <a:cubicBezTo>
                      <a:pt x="124585" y="152329"/>
                      <a:pt x="124585" y="157232"/>
                      <a:pt x="121561" y="160256"/>
                    </a:cubicBezTo>
                    <a:cubicBezTo>
                      <a:pt x="118537" y="163280"/>
                      <a:pt x="113634" y="163280"/>
                      <a:pt x="110610" y="160256"/>
                    </a:cubicBezTo>
                    <a:lnTo>
                      <a:pt x="92868" y="142504"/>
                    </a:lnTo>
                    <a:lnTo>
                      <a:pt x="75127" y="160256"/>
                    </a:lnTo>
                    <a:cubicBezTo>
                      <a:pt x="72103" y="163280"/>
                      <a:pt x="67200" y="163280"/>
                      <a:pt x="64176" y="160256"/>
                    </a:cubicBezTo>
                    <a:cubicBezTo>
                      <a:pt x="61152" y="157232"/>
                      <a:pt x="61152" y="152329"/>
                      <a:pt x="64176" y="149305"/>
                    </a:cubicBezTo>
                    <a:lnTo>
                      <a:pt x="81927" y="131563"/>
                    </a:lnTo>
                    <a:lnTo>
                      <a:pt x="64176" y="113822"/>
                    </a:lnTo>
                    <a:cubicBezTo>
                      <a:pt x="61152" y="110798"/>
                      <a:pt x="61152" y="105895"/>
                      <a:pt x="64176" y="102871"/>
                    </a:cubicBezTo>
                    <a:cubicBezTo>
                      <a:pt x="67200" y="99847"/>
                      <a:pt x="72103" y="99847"/>
                      <a:pt x="75127" y="102871"/>
                    </a:cubicBezTo>
                    <a:lnTo>
                      <a:pt x="92868" y="120622"/>
                    </a:lnTo>
                    <a:lnTo>
                      <a:pt x="110610" y="102871"/>
                    </a:lnTo>
                    <a:cubicBezTo>
                      <a:pt x="113634" y="99847"/>
                      <a:pt x="118537" y="99847"/>
                      <a:pt x="121561" y="102871"/>
                    </a:cubicBezTo>
                    <a:cubicBezTo>
                      <a:pt x="124585" y="105895"/>
                      <a:pt x="124585" y="110798"/>
                      <a:pt x="121561" y="113822"/>
                    </a:cubicBezTo>
                    <a:close/>
                  </a:path>
                </a:pathLst>
              </a:custGeom>
              <a:solidFill>
                <a:srgbClr val="B35900"/>
              </a:solidFill>
              <a:ln>
                <a:noFill/>
              </a:ln>
            </p:spPr>
          </p:sp>
        </p:grpSp>
        <p:sp>
          <p:nvSpPr>
            <p:cNvPr id="68" name="TextBox 68"/>
            <p:cNvSpPr txBox="1"/>
            <p:nvPr/>
          </p:nvSpPr>
          <p:spPr>
            <a:xfrm>
              <a:off x="3088386" y="3701415"/>
              <a:ext cx="694786" cy="352044"/>
            </a:xfrm>
            <a:prstGeom prst="rect">
              <a:avLst/>
            </a:prstGeom>
            <a:noFill/>
            <a:ln>
              <a:noFill/>
            </a:ln>
          </p:spPr>
          <p:txBody>
            <a:bodyPr wrap="none" lIns="0" tIns="0" rIns="0" bIns="0" anchor="t" anchorCtr="0">
              <a:spAutoFit/>
            </a:bodyPr>
            <a:lstStyle/>
            <a:p>
              <a:pPr algn="l"/>
              <a:r>
                <a:rPr lang="en-IN" sz="1800" b="1" dirty="0">
                  <a:solidFill>
                    <a:srgbClr val="B35900"/>
                  </a:solidFill>
                  <a:latin typeface="Calibri"/>
                  <a:ea typeface="Calibri"/>
                  <a:cs typeface="Calibri"/>
                </a:rPr>
                <a:t>40,489</a:t>
              </a:r>
            </a:p>
          </p:txBody>
        </p:sp>
        <p:sp>
          <p:nvSpPr>
            <p:cNvPr id="69" name="TextBox 69"/>
            <p:cNvSpPr txBox="1"/>
            <p:nvPr/>
          </p:nvSpPr>
          <p:spPr>
            <a:xfrm>
              <a:off x="2768918" y="4031218"/>
              <a:ext cx="1778759" cy="169069"/>
            </a:xfrm>
            <a:prstGeom prst="rect">
              <a:avLst/>
            </a:prstGeom>
            <a:noFill/>
            <a:ln>
              <a:noFill/>
            </a:ln>
          </p:spPr>
          <p:txBody>
            <a:bodyPr wrap="none" lIns="0" tIns="0" rIns="0" bIns="0" anchor="t" anchorCtr="0">
              <a:spAutoFit/>
            </a:bodyPr>
            <a:lstStyle/>
            <a:p>
              <a:pPr algn="l"/>
              <a:r>
                <a:rPr lang="en-IN" sz="860" dirty="0">
                  <a:solidFill>
                    <a:srgbClr val="344054"/>
                  </a:solidFill>
                  <a:latin typeface="Calibri"/>
                  <a:ea typeface="Calibri"/>
                  <a:cs typeface="Calibri"/>
                </a:rPr>
                <a:t>works still incomplete after two years</a:t>
              </a:r>
            </a:p>
          </p:txBody>
        </p:sp>
        <p:sp>
          <p:nvSpPr>
            <p:cNvPr id="70" name="Rectangle 70"/>
            <p:cNvSpPr/>
            <p:nvPr/>
          </p:nvSpPr>
          <p:spPr>
            <a:xfrm>
              <a:off x="4975860" y="3571875"/>
              <a:ext cx="2240280" cy="800100"/>
            </a:xfrm>
            <a:prstGeom prst="roundRect">
              <a:avLst>
                <a:gd name="adj" fmla="val 9524"/>
              </a:avLst>
            </a:prstGeom>
            <a:solidFill>
              <a:srgbClr val="FFFFFF"/>
            </a:solidFill>
            <a:ln w="9525">
              <a:solidFill>
                <a:srgbClr val="D0D5DD"/>
              </a:solidFill>
            </a:ln>
          </p:spPr>
        </p:sp>
        <p:sp>
          <p:nvSpPr>
            <p:cNvPr id="71" name="Rectangle 71"/>
            <p:cNvSpPr/>
            <p:nvPr/>
          </p:nvSpPr>
          <p:spPr>
            <a:xfrm>
              <a:off x="4975860" y="3667125"/>
              <a:ext cx="38100" cy="609600"/>
            </a:xfrm>
            <a:prstGeom prst="rect">
              <a:avLst/>
            </a:prstGeom>
            <a:solidFill>
              <a:srgbClr val="E8871E"/>
            </a:solidFill>
            <a:ln>
              <a:noFill/>
            </a:ln>
          </p:spPr>
        </p:sp>
        <p:grpSp>
          <p:nvGrpSpPr>
            <p:cNvPr id="74" name="Group 74"/>
            <p:cNvGrpSpPr/>
            <p:nvPr/>
          </p:nvGrpSpPr>
          <p:grpSpPr>
            <a:xfrm>
              <a:off x="5128486" y="3720883"/>
              <a:ext cx="213582" cy="178465"/>
              <a:chOff x="5128486" y="3720883"/>
              <a:chExt cx="213582" cy="178465"/>
            </a:xfrm>
          </p:grpSpPr>
          <p:sp>
            <p:nvSpPr>
              <p:cNvPr id="72" name="Freeform 72"/>
              <p:cNvSpPr/>
              <p:nvPr/>
            </p:nvSpPr>
            <p:spPr>
              <a:xfrm>
                <a:off x="5137521" y="3729967"/>
                <a:ext cx="59463" cy="160065"/>
              </a:xfrm>
              <a:custGeom>
                <a:avLst/>
                <a:gdLst/>
                <a:ahLst/>
                <a:cxnLst/>
                <a:rect l="l" t="t" r="r" b="b"/>
                <a:pathLst>
                  <a:path w="59463" h="160065">
                    <a:moveTo>
                      <a:pt x="10577" y="48883"/>
                    </a:moveTo>
                    <a:cubicBezTo>
                      <a:pt x="0" y="38305"/>
                      <a:pt x="1" y="21155"/>
                      <a:pt x="10578" y="10578"/>
                    </a:cubicBezTo>
                    <a:cubicBezTo>
                      <a:pt x="21156" y="0"/>
                      <a:pt x="38306" y="0"/>
                      <a:pt x="48884" y="10578"/>
                    </a:cubicBezTo>
                    <a:cubicBezTo>
                      <a:pt x="59462" y="21155"/>
                      <a:pt x="59463" y="38305"/>
                      <a:pt x="48885" y="48883"/>
                    </a:cubicBezTo>
                    <a:cubicBezTo>
                      <a:pt x="43806" y="53963"/>
                      <a:pt x="36916" y="56818"/>
                      <a:pt x="29731" y="56818"/>
                    </a:cubicBezTo>
                    <a:cubicBezTo>
                      <a:pt x="22547" y="56818"/>
                      <a:pt x="15657" y="53963"/>
                      <a:pt x="10577" y="48883"/>
                    </a:cubicBezTo>
                    <a:close/>
                    <a:moveTo>
                      <a:pt x="10577" y="111182"/>
                    </a:moveTo>
                    <a:cubicBezTo>
                      <a:pt x="0" y="121761"/>
                      <a:pt x="1" y="138910"/>
                      <a:pt x="10578" y="149488"/>
                    </a:cubicBezTo>
                    <a:cubicBezTo>
                      <a:pt x="21156" y="160065"/>
                      <a:pt x="38306" y="160065"/>
                      <a:pt x="48884" y="149488"/>
                    </a:cubicBezTo>
                    <a:cubicBezTo>
                      <a:pt x="59462" y="138910"/>
                      <a:pt x="59463" y="121761"/>
                      <a:pt x="48885" y="111182"/>
                    </a:cubicBezTo>
                    <a:cubicBezTo>
                      <a:pt x="43806" y="106102"/>
                      <a:pt x="36916" y="103248"/>
                      <a:pt x="29731" y="103248"/>
                    </a:cubicBezTo>
                    <a:cubicBezTo>
                      <a:pt x="22547" y="103248"/>
                      <a:pt x="15657" y="106102"/>
                      <a:pt x="10577" y="111182"/>
                    </a:cubicBezTo>
                    <a:close/>
                  </a:path>
                </a:pathLst>
              </a:custGeom>
              <a:solidFill>
                <a:srgbClr val="B35900">
                  <a:alpha val="20000"/>
                </a:srgbClr>
              </a:solidFill>
              <a:ln>
                <a:noFill/>
              </a:ln>
            </p:spPr>
          </p:sp>
          <p:sp>
            <p:nvSpPr>
              <p:cNvPr id="73" name="Freeform 73"/>
              <p:cNvSpPr/>
              <p:nvPr/>
            </p:nvSpPr>
            <p:spPr>
              <a:xfrm>
                <a:off x="5128486" y="3720883"/>
                <a:ext cx="213582" cy="178465"/>
              </a:xfrm>
              <a:custGeom>
                <a:avLst/>
                <a:gdLst/>
                <a:ahLst/>
                <a:cxnLst/>
                <a:rect l="l" t="t" r="r" b="b"/>
                <a:pathLst>
                  <a:path w="213582" h="178465">
                    <a:moveTo>
                      <a:pt x="133308" y="74731"/>
                    </a:moveTo>
                    <a:cubicBezTo>
                      <a:pt x="132147" y="73036"/>
                      <a:pt x="131707" y="70948"/>
                      <a:pt x="132086" y="68929"/>
                    </a:cubicBezTo>
                    <a:cubicBezTo>
                      <a:pt x="132465" y="66909"/>
                      <a:pt x="133632" y="65123"/>
                      <a:pt x="135330" y="63964"/>
                    </a:cubicBezTo>
                    <a:lnTo>
                      <a:pt x="200783" y="19175"/>
                    </a:lnTo>
                    <a:cubicBezTo>
                      <a:pt x="204305" y="16996"/>
                      <a:pt x="208918" y="17976"/>
                      <a:pt x="211250" y="21399"/>
                    </a:cubicBezTo>
                    <a:cubicBezTo>
                      <a:pt x="213582" y="24822"/>
                      <a:pt x="212806" y="29474"/>
                      <a:pt x="209489" y="31954"/>
                    </a:cubicBezTo>
                    <a:lnTo>
                      <a:pt x="144027" y="76743"/>
                    </a:lnTo>
                    <a:cubicBezTo>
                      <a:pt x="142744" y="77628"/>
                      <a:pt x="141222" y="78101"/>
                      <a:pt x="139664" y="78098"/>
                    </a:cubicBezTo>
                    <a:cubicBezTo>
                      <a:pt x="137121" y="78088"/>
                      <a:pt x="134745" y="76830"/>
                      <a:pt x="133308" y="74731"/>
                    </a:cubicBezTo>
                    <a:close/>
                    <a:moveTo>
                      <a:pt x="211540" y="157046"/>
                    </a:moveTo>
                    <a:cubicBezTo>
                      <a:pt x="209125" y="160571"/>
                      <a:pt x="204309" y="161472"/>
                      <a:pt x="200783" y="159058"/>
                    </a:cubicBezTo>
                    <a:lnTo>
                      <a:pt x="112287" y="98500"/>
                    </a:lnTo>
                    <a:lnTo>
                      <a:pt x="71164" y="126631"/>
                    </a:lnTo>
                    <a:cubicBezTo>
                      <a:pt x="77660" y="143128"/>
                      <a:pt x="70725" y="161872"/>
                      <a:pt x="55056" y="170169"/>
                    </a:cubicBezTo>
                    <a:cubicBezTo>
                      <a:pt x="39387" y="178465"/>
                      <a:pt x="19986" y="173665"/>
                      <a:pt x="9993" y="159020"/>
                    </a:cubicBezTo>
                    <a:cubicBezTo>
                      <a:pt x="0" y="144374"/>
                      <a:pt x="2605" y="124559"/>
                      <a:pt x="16044" y="112994"/>
                    </a:cubicBezTo>
                    <a:cubicBezTo>
                      <a:pt x="29483" y="101429"/>
                      <a:pt x="49465" y="101807"/>
                      <a:pt x="62457" y="113871"/>
                    </a:cubicBezTo>
                    <a:lnTo>
                      <a:pt x="98579" y="89116"/>
                    </a:lnTo>
                    <a:lnTo>
                      <a:pt x="62409" y="64361"/>
                    </a:lnTo>
                    <a:cubicBezTo>
                      <a:pt x="49461" y="76363"/>
                      <a:pt x="29564" y="76726"/>
                      <a:pt x="16187" y="65204"/>
                    </a:cubicBezTo>
                    <a:cubicBezTo>
                      <a:pt x="2810" y="53682"/>
                      <a:pt x="220" y="33951"/>
                      <a:pt x="10171" y="19367"/>
                    </a:cubicBezTo>
                    <a:cubicBezTo>
                      <a:pt x="20122" y="4784"/>
                      <a:pt x="39439" y="0"/>
                      <a:pt x="55046" y="8255"/>
                    </a:cubicBezTo>
                    <a:cubicBezTo>
                      <a:pt x="70652" y="16509"/>
                      <a:pt x="77570" y="35168"/>
                      <a:pt x="71115" y="51601"/>
                    </a:cubicBezTo>
                    <a:lnTo>
                      <a:pt x="209450" y="146279"/>
                    </a:lnTo>
                    <a:cubicBezTo>
                      <a:pt x="211159" y="147426"/>
                      <a:pt x="212340" y="149208"/>
                      <a:pt x="212732" y="151228"/>
                    </a:cubicBezTo>
                    <a:cubicBezTo>
                      <a:pt x="213124" y="153249"/>
                      <a:pt x="212695" y="155342"/>
                      <a:pt x="211540" y="157046"/>
                    </a:cubicBezTo>
                    <a:close/>
                    <a:moveTo>
                      <a:pt x="58114" y="139420"/>
                    </a:moveTo>
                    <a:cubicBezTo>
                      <a:pt x="58116" y="130190"/>
                      <a:pt x="51597" y="122243"/>
                      <a:pt x="42545" y="120441"/>
                    </a:cubicBezTo>
                    <a:cubicBezTo>
                      <a:pt x="33492" y="118638"/>
                      <a:pt x="24427" y="123481"/>
                      <a:pt x="20893" y="132009"/>
                    </a:cubicBezTo>
                    <a:cubicBezTo>
                      <a:pt x="17359" y="140536"/>
                      <a:pt x="20341" y="150372"/>
                      <a:pt x="28015" y="155501"/>
                    </a:cubicBezTo>
                    <a:cubicBezTo>
                      <a:pt x="35689" y="160630"/>
                      <a:pt x="45917" y="159624"/>
                      <a:pt x="52445" y="153099"/>
                    </a:cubicBezTo>
                    <a:cubicBezTo>
                      <a:pt x="56087" y="149480"/>
                      <a:pt x="58129" y="144554"/>
                      <a:pt x="58114" y="139420"/>
                    </a:cubicBezTo>
                    <a:close/>
                    <a:moveTo>
                      <a:pt x="52445" y="52482"/>
                    </a:moveTo>
                    <a:cubicBezTo>
                      <a:pt x="57980" y="46949"/>
                      <a:pt x="59636" y="38627"/>
                      <a:pt x="56642" y="31396"/>
                    </a:cubicBezTo>
                    <a:cubicBezTo>
                      <a:pt x="53647" y="24166"/>
                      <a:pt x="46592" y="19451"/>
                      <a:pt x="38766" y="19451"/>
                    </a:cubicBezTo>
                    <a:cubicBezTo>
                      <a:pt x="30940" y="19451"/>
                      <a:pt x="23885" y="24166"/>
                      <a:pt x="20891" y="31396"/>
                    </a:cubicBezTo>
                    <a:cubicBezTo>
                      <a:pt x="17897" y="38627"/>
                      <a:pt x="19553" y="46949"/>
                      <a:pt x="25088" y="52482"/>
                    </a:cubicBezTo>
                    <a:cubicBezTo>
                      <a:pt x="28697" y="56145"/>
                      <a:pt x="33624" y="58207"/>
                      <a:pt x="38766" y="58207"/>
                    </a:cubicBezTo>
                    <a:cubicBezTo>
                      <a:pt x="43909" y="58207"/>
                      <a:pt x="48836" y="56145"/>
                      <a:pt x="52445" y="52482"/>
                    </a:cubicBezTo>
                    <a:close/>
                  </a:path>
                </a:pathLst>
              </a:custGeom>
              <a:solidFill>
                <a:srgbClr val="B35900"/>
              </a:solidFill>
              <a:ln>
                <a:noFill/>
              </a:ln>
            </p:spPr>
          </p:sp>
        </p:grpSp>
        <p:sp>
          <p:nvSpPr>
            <p:cNvPr id="75" name="TextBox 75"/>
            <p:cNvSpPr txBox="1"/>
            <p:nvPr/>
          </p:nvSpPr>
          <p:spPr>
            <a:xfrm>
              <a:off x="5423916" y="3701415"/>
              <a:ext cx="386705" cy="352044"/>
            </a:xfrm>
            <a:prstGeom prst="rect">
              <a:avLst/>
            </a:prstGeom>
            <a:noFill/>
            <a:ln>
              <a:noFill/>
            </a:ln>
          </p:spPr>
          <p:txBody>
            <a:bodyPr wrap="none" lIns="0" tIns="0" rIns="0" bIns="0" anchor="t" anchorCtr="0">
              <a:spAutoFit/>
            </a:bodyPr>
            <a:lstStyle/>
            <a:p>
              <a:pPr algn="l"/>
              <a:r>
                <a:rPr lang="en-IN" sz="1800" b="1" dirty="0">
                  <a:solidFill>
                    <a:srgbClr val="B35900"/>
                  </a:solidFill>
                  <a:latin typeface="Calibri"/>
                  <a:ea typeface="Calibri"/>
                  <a:cs typeface="Calibri"/>
                </a:rPr>
                <a:t>136</a:t>
              </a:r>
            </a:p>
          </p:txBody>
        </p:sp>
        <p:sp>
          <p:nvSpPr>
            <p:cNvPr id="76" name="TextBox 76"/>
            <p:cNvSpPr txBox="1"/>
            <p:nvPr/>
          </p:nvSpPr>
          <p:spPr>
            <a:xfrm>
              <a:off x="5104448" y="4031218"/>
              <a:ext cx="1653643" cy="169069"/>
            </a:xfrm>
            <a:prstGeom prst="rect">
              <a:avLst/>
            </a:prstGeom>
            <a:noFill/>
            <a:ln>
              <a:noFill/>
            </a:ln>
          </p:spPr>
          <p:txBody>
            <a:bodyPr wrap="none" lIns="0" tIns="0" rIns="0" bIns="0" anchor="t" anchorCtr="0">
              <a:spAutoFit/>
            </a:bodyPr>
            <a:lstStyle/>
            <a:p>
              <a:pPr algn="l"/>
              <a:r>
                <a:rPr lang="en-IN" sz="860" dirty="0">
                  <a:solidFill>
                    <a:srgbClr val="344054"/>
                  </a:solidFill>
                  <a:latin typeface="Calibri"/>
                  <a:ea typeface="Calibri"/>
                  <a:cs typeface="Calibri"/>
                </a:rPr>
                <a:t>bulk orders kept just under ₹5 lakh</a:t>
              </a:r>
            </a:p>
          </p:txBody>
        </p:sp>
        <p:sp>
          <p:nvSpPr>
            <p:cNvPr id="77" name="Rectangle 77"/>
            <p:cNvSpPr/>
            <p:nvPr/>
          </p:nvSpPr>
          <p:spPr>
            <a:xfrm>
              <a:off x="7311390" y="3571875"/>
              <a:ext cx="2240280" cy="800100"/>
            </a:xfrm>
            <a:prstGeom prst="roundRect">
              <a:avLst>
                <a:gd name="adj" fmla="val 9524"/>
              </a:avLst>
            </a:prstGeom>
            <a:solidFill>
              <a:srgbClr val="FFFFFF"/>
            </a:solidFill>
            <a:ln w="9525">
              <a:solidFill>
                <a:srgbClr val="D0D5DD"/>
              </a:solidFill>
            </a:ln>
          </p:spPr>
        </p:sp>
        <p:sp>
          <p:nvSpPr>
            <p:cNvPr id="78" name="Rectangle 78"/>
            <p:cNvSpPr/>
            <p:nvPr/>
          </p:nvSpPr>
          <p:spPr>
            <a:xfrm>
              <a:off x="7311390" y="3667125"/>
              <a:ext cx="38100" cy="609600"/>
            </a:xfrm>
            <a:prstGeom prst="rect">
              <a:avLst/>
            </a:prstGeom>
            <a:solidFill>
              <a:srgbClr val="E8871E"/>
            </a:solidFill>
            <a:ln>
              <a:noFill/>
            </a:ln>
          </p:spPr>
        </p:sp>
        <p:grpSp>
          <p:nvGrpSpPr>
            <p:cNvPr id="81" name="Group 81"/>
            <p:cNvGrpSpPr/>
            <p:nvPr/>
          </p:nvGrpSpPr>
          <p:grpSpPr>
            <a:xfrm>
              <a:off x="7483435" y="3709390"/>
              <a:ext cx="170260" cy="201216"/>
              <a:chOff x="7483435" y="3709390"/>
              <a:chExt cx="170260" cy="201216"/>
            </a:xfrm>
          </p:grpSpPr>
          <p:sp>
            <p:nvSpPr>
              <p:cNvPr id="79" name="Freeform 79"/>
              <p:cNvSpPr/>
              <p:nvPr/>
            </p:nvSpPr>
            <p:spPr>
              <a:xfrm>
                <a:off x="7591781" y="3717131"/>
                <a:ext cx="54173" cy="54173"/>
              </a:xfrm>
              <a:custGeom>
                <a:avLst/>
                <a:gdLst/>
                <a:ahLst/>
                <a:cxnLst/>
                <a:rect l="l" t="t" r="r" b="b"/>
                <a:pathLst>
                  <a:path w="54173" h="54173">
                    <a:moveTo>
                      <a:pt x="54173" y="54173"/>
                    </a:moveTo>
                    <a:lnTo>
                      <a:pt x="0" y="54173"/>
                    </a:lnTo>
                    <a:lnTo>
                      <a:pt x="0" y="0"/>
                    </a:lnTo>
                    <a:close/>
                  </a:path>
                </a:pathLst>
              </a:custGeom>
              <a:solidFill>
                <a:srgbClr val="B35900">
                  <a:alpha val="20000"/>
                </a:srgbClr>
              </a:solidFill>
              <a:ln>
                <a:noFill/>
              </a:ln>
            </p:spPr>
          </p:sp>
          <p:sp>
            <p:nvSpPr>
              <p:cNvPr id="80" name="Freeform 80"/>
              <p:cNvSpPr/>
              <p:nvPr/>
            </p:nvSpPr>
            <p:spPr>
              <a:xfrm>
                <a:off x="7483435" y="3709390"/>
                <a:ext cx="170260" cy="201216"/>
              </a:xfrm>
              <a:custGeom>
                <a:avLst/>
                <a:gdLst/>
                <a:ahLst/>
                <a:cxnLst/>
                <a:rect l="l" t="t" r="r" b="b"/>
                <a:pathLst>
                  <a:path w="170260" h="201216">
                    <a:moveTo>
                      <a:pt x="167995" y="56438"/>
                    </a:moveTo>
                    <a:lnTo>
                      <a:pt x="113822" y="2265"/>
                    </a:lnTo>
                    <a:cubicBezTo>
                      <a:pt x="112369" y="814"/>
                      <a:pt x="110399" y="0"/>
                      <a:pt x="108346" y="2"/>
                    </a:cubicBezTo>
                    <a:lnTo>
                      <a:pt x="15478" y="2"/>
                    </a:lnTo>
                    <a:cubicBezTo>
                      <a:pt x="6930" y="2"/>
                      <a:pt x="0" y="6931"/>
                      <a:pt x="0" y="15480"/>
                    </a:cubicBezTo>
                    <a:lnTo>
                      <a:pt x="0" y="185738"/>
                    </a:lnTo>
                    <a:cubicBezTo>
                      <a:pt x="0" y="194286"/>
                      <a:pt x="6930" y="201216"/>
                      <a:pt x="15478" y="201216"/>
                    </a:cubicBezTo>
                    <a:lnTo>
                      <a:pt x="154780" y="201216"/>
                    </a:lnTo>
                    <a:cubicBezTo>
                      <a:pt x="163329" y="201216"/>
                      <a:pt x="170259" y="194286"/>
                      <a:pt x="170259" y="185738"/>
                    </a:cubicBezTo>
                    <a:lnTo>
                      <a:pt x="170259" y="61914"/>
                    </a:lnTo>
                    <a:cubicBezTo>
                      <a:pt x="170260" y="59861"/>
                      <a:pt x="169446" y="57891"/>
                      <a:pt x="167995" y="56438"/>
                    </a:cubicBezTo>
                    <a:close/>
                    <a:moveTo>
                      <a:pt x="116085" y="26421"/>
                    </a:moveTo>
                    <a:lnTo>
                      <a:pt x="143839" y="54175"/>
                    </a:lnTo>
                    <a:lnTo>
                      <a:pt x="116085" y="54175"/>
                    </a:lnTo>
                    <a:close/>
                    <a:moveTo>
                      <a:pt x="154780" y="185738"/>
                    </a:moveTo>
                    <a:lnTo>
                      <a:pt x="15478" y="185738"/>
                    </a:lnTo>
                    <a:lnTo>
                      <a:pt x="15478" y="15480"/>
                    </a:lnTo>
                    <a:lnTo>
                      <a:pt x="100607" y="15480"/>
                    </a:lnTo>
                    <a:lnTo>
                      <a:pt x="100607" y="61914"/>
                    </a:lnTo>
                    <a:cubicBezTo>
                      <a:pt x="100607" y="66188"/>
                      <a:pt x="104072" y="69653"/>
                      <a:pt x="108346" y="69653"/>
                    </a:cubicBezTo>
                    <a:lnTo>
                      <a:pt x="154780" y="69653"/>
                    </a:lnTo>
                    <a:lnTo>
                      <a:pt x="154780" y="185738"/>
                    </a:lnTo>
                    <a:close/>
                    <a:moveTo>
                      <a:pt x="123824" y="108348"/>
                    </a:moveTo>
                    <a:cubicBezTo>
                      <a:pt x="123824" y="112622"/>
                      <a:pt x="120360" y="116087"/>
                      <a:pt x="116085" y="116087"/>
                    </a:cubicBezTo>
                    <a:lnTo>
                      <a:pt x="54173" y="116087"/>
                    </a:lnTo>
                    <a:cubicBezTo>
                      <a:pt x="49899" y="116087"/>
                      <a:pt x="46434" y="112622"/>
                      <a:pt x="46434" y="108348"/>
                    </a:cubicBezTo>
                    <a:cubicBezTo>
                      <a:pt x="46434" y="104074"/>
                      <a:pt x="49899" y="100609"/>
                      <a:pt x="54173" y="100609"/>
                    </a:cubicBezTo>
                    <a:lnTo>
                      <a:pt x="116085" y="100609"/>
                    </a:lnTo>
                    <a:cubicBezTo>
                      <a:pt x="120360" y="100609"/>
                      <a:pt x="123824" y="104074"/>
                      <a:pt x="123824" y="108348"/>
                    </a:cubicBezTo>
                    <a:close/>
                    <a:moveTo>
                      <a:pt x="123824" y="139304"/>
                    </a:moveTo>
                    <a:cubicBezTo>
                      <a:pt x="123824" y="143578"/>
                      <a:pt x="120360" y="147043"/>
                      <a:pt x="116085" y="147043"/>
                    </a:cubicBezTo>
                    <a:lnTo>
                      <a:pt x="54173" y="147043"/>
                    </a:lnTo>
                    <a:cubicBezTo>
                      <a:pt x="49899" y="147043"/>
                      <a:pt x="46434" y="143578"/>
                      <a:pt x="46434" y="139304"/>
                    </a:cubicBezTo>
                    <a:cubicBezTo>
                      <a:pt x="46434" y="135030"/>
                      <a:pt x="49899" y="131565"/>
                      <a:pt x="54173" y="131565"/>
                    </a:cubicBezTo>
                    <a:lnTo>
                      <a:pt x="116085" y="131565"/>
                    </a:lnTo>
                    <a:cubicBezTo>
                      <a:pt x="120360" y="131565"/>
                      <a:pt x="123824" y="135030"/>
                      <a:pt x="123824" y="139304"/>
                    </a:cubicBezTo>
                    <a:close/>
                  </a:path>
                </a:pathLst>
              </a:custGeom>
              <a:solidFill>
                <a:srgbClr val="B35900"/>
              </a:solidFill>
              <a:ln>
                <a:noFill/>
              </a:ln>
            </p:spPr>
          </p:sp>
        </p:grpSp>
        <p:sp>
          <p:nvSpPr>
            <p:cNvPr id="82" name="TextBox 82"/>
            <p:cNvSpPr txBox="1"/>
            <p:nvPr/>
          </p:nvSpPr>
          <p:spPr>
            <a:xfrm>
              <a:off x="7759446" y="3701415"/>
              <a:ext cx="968821" cy="352044"/>
            </a:xfrm>
            <a:prstGeom prst="rect">
              <a:avLst/>
            </a:prstGeom>
            <a:noFill/>
            <a:ln>
              <a:noFill/>
            </a:ln>
          </p:spPr>
          <p:txBody>
            <a:bodyPr wrap="none" lIns="0" tIns="0" rIns="0" bIns="0" anchor="t" anchorCtr="0">
              <a:spAutoFit/>
            </a:bodyPr>
            <a:lstStyle/>
            <a:p>
              <a:pPr algn="l"/>
              <a:r>
                <a:rPr lang="en-IN" sz="1800" b="1" dirty="0">
                  <a:solidFill>
                    <a:srgbClr val="B35900"/>
                  </a:solidFill>
                  <a:latin typeface="Calibri"/>
                  <a:ea typeface="Calibri"/>
                  <a:cs typeface="Calibri"/>
                </a:rPr>
                <a:t>282 / 285</a:t>
              </a:r>
            </a:p>
          </p:txBody>
        </p:sp>
        <p:sp>
          <p:nvSpPr>
            <p:cNvPr id="83" name="TextBox 83"/>
            <p:cNvSpPr txBox="1"/>
            <p:nvPr/>
          </p:nvSpPr>
          <p:spPr>
            <a:xfrm>
              <a:off x="7439978" y="4031218"/>
              <a:ext cx="1582184" cy="302419"/>
            </a:xfrm>
            <a:prstGeom prst="rect">
              <a:avLst/>
            </a:prstGeom>
            <a:noFill/>
            <a:ln>
              <a:noFill/>
            </a:ln>
          </p:spPr>
          <p:txBody>
            <a:bodyPr wrap="none" lIns="0" tIns="0" rIns="0" bIns="0" anchor="t" anchorCtr="0">
              <a:spAutoFit/>
            </a:bodyPr>
            <a:lstStyle/>
            <a:p>
              <a:pPr algn="l">
                <a:lnSpc>
                  <a:spcPts val="1050"/>
                </a:lnSpc>
              </a:pPr>
              <a:r>
                <a:rPr lang="en-IN" sz="860" dirty="0">
                  <a:solidFill>
                    <a:srgbClr val="344054"/>
                  </a:solidFill>
                  <a:latin typeface="Calibri"/>
                  <a:ea typeface="Calibri"/>
                  <a:cs typeface="Calibri"/>
                </a:rPr>
                <a:t>“done” works whose papers say “in</a:t>
              </a:r>
              <a:br/>
              <a:r>
                <a:rPr lang="en-IN" sz="860" dirty="0">
                  <a:solidFill>
                    <a:srgbClr val="344054"/>
                  </a:solidFill>
                  <a:latin typeface="Calibri"/>
                  <a:ea typeface="Calibri"/>
                  <a:cs typeface="Calibri"/>
                </a:rPr>
                <a:t>progress”</a:t>
              </a:r>
            </a:p>
          </p:txBody>
        </p:sp>
        <p:sp>
          <p:nvSpPr>
            <p:cNvPr id="84" name="Rectangle 84"/>
            <p:cNvSpPr/>
            <p:nvPr/>
          </p:nvSpPr>
          <p:spPr>
            <a:xfrm>
              <a:off x="9646920" y="3571875"/>
              <a:ext cx="2240280" cy="800100"/>
            </a:xfrm>
            <a:prstGeom prst="roundRect">
              <a:avLst>
                <a:gd name="adj" fmla="val 9524"/>
              </a:avLst>
            </a:prstGeom>
            <a:solidFill>
              <a:srgbClr val="FFFFFF"/>
            </a:solidFill>
            <a:ln w="9525">
              <a:solidFill>
                <a:srgbClr val="D0D5DD"/>
              </a:solidFill>
            </a:ln>
          </p:spPr>
        </p:sp>
        <p:sp>
          <p:nvSpPr>
            <p:cNvPr id="85" name="Rectangle 85"/>
            <p:cNvSpPr/>
            <p:nvPr/>
          </p:nvSpPr>
          <p:spPr>
            <a:xfrm>
              <a:off x="9646920" y="3667125"/>
              <a:ext cx="38100" cy="609600"/>
            </a:xfrm>
            <a:prstGeom prst="rect">
              <a:avLst/>
            </a:prstGeom>
            <a:solidFill>
              <a:srgbClr val="E8871E"/>
            </a:solidFill>
            <a:ln>
              <a:noFill/>
            </a:ln>
          </p:spPr>
        </p:sp>
        <p:grpSp>
          <p:nvGrpSpPr>
            <p:cNvPr id="88" name="Group 88"/>
            <p:cNvGrpSpPr/>
            <p:nvPr/>
          </p:nvGrpSpPr>
          <p:grpSpPr>
            <a:xfrm>
              <a:off x="9818965" y="3701653"/>
              <a:ext cx="170259" cy="217157"/>
              <a:chOff x="9818965" y="3701653"/>
              <a:chExt cx="170259" cy="217157"/>
            </a:xfrm>
          </p:grpSpPr>
          <p:sp>
            <p:nvSpPr>
              <p:cNvPr id="86" name="Freeform 86"/>
              <p:cNvSpPr/>
              <p:nvPr/>
            </p:nvSpPr>
            <p:spPr>
              <a:xfrm>
                <a:off x="9826704" y="3709392"/>
                <a:ext cx="154780" cy="201215"/>
              </a:xfrm>
              <a:custGeom>
                <a:avLst/>
                <a:gdLst/>
                <a:ahLst/>
                <a:cxnLst/>
                <a:rect l="l" t="t" r="r" b="b"/>
                <a:pathLst>
                  <a:path w="154780" h="201215">
                    <a:moveTo>
                      <a:pt x="77390" y="0"/>
                    </a:moveTo>
                    <a:cubicBezTo>
                      <a:pt x="34649" y="0"/>
                      <a:pt x="0" y="34649"/>
                      <a:pt x="0" y="77390"/>
                    </a:cubicBezTo>
                    <a:cubicBezTo>
                      <a:pt x="0" y="147041"/>
                      <a:pt x="77390" y="201215"/>
                      <a:pt x="77390" y="201215"/>
                    </a:cubicBezTo>
                    <a:cubicBezTo>
                      <a:pt x="77390" y="201215"/>
                      <a:pt x="154780" y="147041"/>
                      <a:pt x="154780" y="77390"/>
                    </a:cubicBezTo>
                    <a:cubicBezTo>
                      <a:pt x="154780" y="34649"/>
                      <a:pt x="120132" y="0"/>
                      <a:pt x="77390" y="0"/>
                    </a:cubicBezTo>
                    <a:close/>
                    <a:moveTo>
                      <a:pt x="77390" y="108346"/>
                    </a:moveTo>
                    <a:cubicBezTo>
                      <a:pt x="60294" y="108346"/>
                      <a:pt x="46434" y="94487"/>
                      <a:pt x="46434" y="77390"/>
                    </a:cubicBezTo>
                    <a:cubicBezTo>
                      <a:pt x="46434" y="60294"/>
                      <a:pt x="60294" y="46434"/>
                      <a:pt x="77390" y="46434"/>
                    </a:cubicBezTo>
                    <a:cubicBezTo>
                      <a:pt x="94487" y="46434"/>
                      <a:pt x="108346" y="60294"/>
                      <a:pt x="108346" y="77390"/>
                    </a:cubicBezTo>
                    <a:cubicBezTo>
                      <a:pt x="108346" y="94487"/>
                      <a:pt x="94487" y="108346"/>
                      <a:pt x="77390" y="108346"/>
                    </a:cubicBezTo>
                    <a:close/>
                  </a:path>
                </a:pathLst>
              </a:custGeom>
              <a:solidFill>
                <a:srgbClr val="B35900">
                  <a:alpha val="20000"/>
                </a:srgbClr>
              </a:solidFill>
              <a:ln>
                <a:noFill/>
              </a:ln>
            </p:spPr>
          </p:sp>
          <p:sp>
            <p:nvSpPr>
              <p:cNvPr id="87" name="Freeform 87"/>
              <p:cNvSpPr/>
              <p:nvPr/>
            </p:nvSpPr>
            <p:spPr>
              <a:xfrm>
                <a:off x="9818965" y="3701653"/>
                <a:ext cx="170259" cy="217157"/>
              </a:xfrm>
              <a:custGeom>
                <a:avLst/>
                <a:gdLst/>
                <a:ahLst/>
                <a:cxnLst/>
                <a:rect l="l" t="t" r="r" b="b"/>
                <a:pathLst>
                  <a:path w="170259" h="217157">
                    <a:moveTo>
                      <a:pt x="85129" y="46434"/>
                    </a:moveTo>
                    <a:cubicBezTo>
                      <a:pt x="63759" y="46434"/>
                      <a:pt x="46434" y="63759"/>
                      <a:pt x="46434" y="85129"/>
                    </a:cubicBezTo>
                    <a:cubicBezTo>
                      <a:pt x="46434" y="106500"/>
                      <a:pt x="63759" y="123824"/>
                      <a:pt x="85129" y="123824"/>
                    </a:cubicBezTo>
                    <a:cubicBezTo>
                      <a:pt x="106500" y="123824"/>
                      <a:pt x="123824" y="106500"/>
                      <a:pt x="123824" y="85129"/>
                    </a:cubicBezTo>
                    <a:cubicBezTo>
                      <a:pt x="123824" y="63759"/>
                      <a:pt x="106500" y="46434"/>
                      <a:pt x="85129" y="46434"/>
                    </a:cubicBezTo>
                    <a:close/>
                    <a:moveTo>
                      <a:pt x="85129" y="108346"/>
                    </a:moveTo>
                    <a:cubicBezTo>
                      <a:pt x="72307" y="108346"/>
                      <a:pt x="61912" y="97952"/>
                      <a:pt x="61912" y="85129"/>
                    </a:cubicBezTo>
                    <a:cubicBezTo>
                      <a:pt x="61912" y="72307"/>
                      <a:pt x="72307" y="61912"/>
                      <a:pt x="85129" y="61912"/>
                    </a:cubicBezTo>
                    <a:cubicBezTo>
                      <a:pt x="97952" y="61912"/>
                      <a:pt x="108346" y="72307"/>
                      <a:pt x="108346" y="85129"/>
                    </a:cubicBezTo>
                    <a:cubicBezTo>
                      <a:pt x="108346" y="97952"/>
                      <a:pt x="97952" y="108346"/>
                      <a:pt x="85129" y="108346"/>
                    </a:cubicBezTo>
                    <a:close/>
                    <a:moveTo>
                      <a:pt x="85129" y="0"/>
                    </a:moveTo>
                    <a:cubicBezTo>
                      <a:pt x="38136" y="53"/>
                      <a:pt x="53" y="38136"/>
                      <a:pt x="0" y="85129"/>
                    </a:cubicBezTo>
                    <a:cubicBezTo>
                      <a:pt x="0" y="115505"/>
                      <a:pt x="14037" y="147699"/>
                      <a:pt x="40630" y="178239"/>
                    </a:cubicBezTo>
                    <a:cubicBezTo>
                      <a:pt x="52579" y="192040"/>
                      <a:pt x="66028" y="204466"/>
                      <a:pt x="80728" y="215290"/>
                    </a:cubicBezTo>
                    <a:cubicBezTo>
                      <a:pt x="83393" y="217157"/>
                      <a:pt x="86943" y="217157"/>
                      <a:pt x="89608" y="215290"/>
                    </a:cubicBezTo>
                    <a:cubicBezTo>
                      <a:pt x="104281" y="204462"/>
                      <a:pt x="117704" y="192035"/>
                      <a:pt x="129629" y="178239"/>
                    </a:cubicBezTo>
                    <a:cubicBezTo>
                      <a:pt x="156183" y="147699"/>
                      <a:pt x="170259" y="115505"/>
                      <a:pt x="170259" y="85129"/>
                    </a:cubicBezTo>
                    <a:cubicBezTo>
                      <a:pt x="170205" y="38136"/>
                      <a:pt x="132123" y="53"/>
                      <a:pt x="85129" y="0"/>
                    </a:cubicBezTo>
                    <a:close/>
                    <a:moveTo>
                      <a:pt x="85129" y="199280"/>
                    </a:moveTo>
                    <a:cubicBezTo>
                      <a:pt x="69139" y="186704"/>
                      <a:pt x="15478" y="140512"/>
                      <a:pt x="15478" y="85129"/>
                    </a:cubicBezTo>
                    <a:cubicBezTo>
                      <a:pt x="15478" y="46662"/>
                      <a:pt x="46662" y="15478"/>
                      <a:pt x="85129" y="15478"/>
                    </a:cubicBezTo>
                    <a:cubicBezTo>
                      <a:pt x="123597" y="15478"/>
                      <a:pt x="154780" y="46662"/>
                      <a:pt x="154780" y="85129"/>
                    </a:cubicBezTo>
                    <a:cubicBezTo>
                      <a:pt x="154780" y="140492"/>
                      <a:pt x="101120" y="186704"/>
                      <a:pt x="85129" y="199280"/>
                    </a:cubicBezTo>
                    <a:close/>
                  </a:path>
                </a:pathLst>
              </a:custGeom>
              <a:solidFill>
                <a:srgbClr val="B35900"/>
              </a:solidFill>
              <a:ln>
                <a:noFill/>
              </a:ln>
            </p:spPr>
          </p:sp>
        </p:grpSp>
        <p:sp>
          <p:nvSpPr>
            <p:cNvPr id="89" name="TextBox 89"/>
            <p:cNvSpPr txBox="1"/>
            <p:nvPr/>
          </p:nvSpPr>
          <p:spPr>
            <a:xfrm>
              <a:off x="10094976" y="3701415"/>
              <a:ext cx="141094" cy="352044"/>
            </a:xfrm>
            <a:prstGeom prst="rect">
              <a:avLst/>
            </a:prstGeom>
            <a:noFill/>
            <a:ln>
              <a:noFill/>
            </a:ln>
          </p:spPr>
          <p:txBody>
            <a:bodyPr wrap="none" lIns="0" tIns="0" rIns="0" bIns="0" anchor="t" anchorCtr="0">
              <a:spAutoFit/>
            </a:bodyPr>
            <a:lstStyle/>
            <a:p>
              <a:pPr algn="l"/>
              <a:r>
                <a:rPr lang="en-IN" sz="1800" b="1" dirty="0">
                  <a:solidFill>
                    <a:srgbClr val="B35900"/>
                  </a:solidFill>
                  <a:latin typeface="Calibri"/>
                  <a:ea typeface="Calibri"/>
                  <a:cs typeface="Calibri"/>
                </a:rPr>
                <a:t>3</a:t>
              </a:r>
            </a:p>
          </p:txBody>
        </p:sp>
        <p:sp>
          <p:nvSpPr>
            <p:cNvPr id="90" name="TextBox 90"/>
            <p:cNvSpPr txBox="1"/>
            <p:nvPr/>
          </p:nvSpPr>
          <p:spPr>
            <a:xfrm>
              <a:off x="9775508" y="4031218"/>
              <a:ext cx="1632316" cy="302419"/>
            </a:xfrm>
            <a:prstGeom prst="rect">
              <a:avLst/>
            </a:prstGeom>
            <a:noFill/>
            <a:ln>
              <a:noFill/>
            </a:ln>
          </p:spPr>
          <p:txBody>
            <a:bodyPr wrap="none" lIns="0" tIns="0" rIns="0" bIns="0" anchor="t" anchorCtr="0">
              <a:spAutoFit/>
            </a:bodyPr>
            <a:lstStyle/>
            <a:p>
              <a:pPr algn="l">
                <a:lnSpc>
                  <a:spcPts val="1050"/>
                </a:lnSpc>
              </a:pPr>
              <a:r>
                <a:rPr lang="en-IN" sz="860" dirty="0">
                  <a:solidFill>
                    <a:srgbClr val="344054"/>
                  </a:solidFill>
                  <a:latin typeface="Calibri"/>
                  <a:ea typeface="Calibri"/>
                  <a:cs typeface="Calibri"/>
                </a:rPr>
                <a:t>works photographed finished before</a:t>
              </a:r>
              <a:br/>
              <a:r>
                <a:rPr lang="en-IN" sz="860" dirty="0">
                  <a:solidFill>
                    <a:srgbClr val="344054"/>
                  </a:solidFill>
                  <a:latin typeface="Calibri"/>
                  <a:ea typeface="Calibri"/>
                  <a:cs typeface="Calibri"/>
                </a:rPr>
                <a:t>recommended</a:t>
              </a:r>
            </a:p>
          </p:txBody>
        </p:sp>
      </p:grpSp>
      <p:grpSp>
        <p:nvGrpSpPr>
          <p:cNvPr id="113" name="benefits"/>
          <p:cNvGrpSpPr/>
          <p:nvPr/>
        </p:nvGrpSpPr>
        <p:grpSpPr>
          <a:xfrm>
            <a:off x="304800" y="4669631"/>
            <a:ext cx="6096000" cy="1273684"/>
            <a:chOff x="304800" y="4669631"/>
            <a:chExt cx="6096000" cy="1273684"/>
          </a:xfrm>
        </p:grpSpPr>
        <p:sp>
          <p:nvSpPr>
            <p:cNvPr id="92" name="Polygon 92"/>
            <p:cNvSpPr/>
            <p:nvPr/>
          </p:nvSpPr>
          <p:spPr>
            <a:xfrm>
              <a:off x="304800" y="4696301"/>
              <a:ext cx="95250" cy="95250"/>
            </a:xfrm>
            <a:custGeom>
              <a:avLst/>
              <a:gdLst/>
              <a:ahLst/>
              <a:cxnLst/>
              <a:rect l="l" t="t" r="r" b="b"/>
              <a:pathLst>
                <a:path w="95250" h="95250">
                  <a:moveTo>
                    <a:pt x="47625" y="0"/>
                  </a:moveTo>
                  <a:lnTo>
                    <a:pt x="95250" y="47625"/>
                  </a:lnTo>
                  <a:lnTo>
                    <a:pt x="47625" y="95250"/>
                  </a:lnTo>
                  <a:lnTo>
                    <a:pt x="0" y="47625"/>
                  </a:lnTo>
                  <a:close/>
                </a:path>
              </a:pathLst>
            </a:custGeom>
            <a:solidFill>
              <a:srgbClr val="E8871E"/>
            </a:solidFill>
            <a:ln>
              <a:noFill/>
            </a:ln>
          </p:spPr>
        </p:sp>
        <p:sp>
          <p:nvSpPr>
            <p:cNvPr id="93" name="TextBox 93"/>
            <p:cNvSpPr txBox="1"/>
            <p:nvPr/>
          </p:nvSpPr>
          <p:spPr>
            <a:xfrm>
              <a:off x="451485" y="4669631"/>
              <a:ext cx="3940640" cy="220028"/>
            </a:xfrm>
            <a:prstGeom prst="rect">
              <a:avLst/>
            </a:prstGeom>
            <a:noFill/>
            <a:ln>
              <a:noFill/>
            </a:ln>
          </p:spPr>
          <p:txBody>
            <a:bodyPr wrap="none" lIns="0" tIns="0" rIns="0" bIns="0" anchor="t" anchorCtr="0">
              <a:spAutoFit/>
            </a:bodyPr>
            <a:lstStyle/>
            <a:p>
              <a:pPr algn="l"/>
              <a:r>
                <a:rPr lang="en-IN" sz="1120" b="1" dirty="0">
                  <a:solidFill>
                    <a:srgbClr val="0B3D6E"/>
                  </a:solidFill>
                  <a:latin typeface="Calibri"/>
                  <a:ea typeface="Calibri"/>
                  <a:cs typeface="Calibri"/>
                </a:rPr>
                <a:t>Benefits of the solution (social, economic, environmental, etc.)</a:t>
              </a:r>
            </a:p>
          </p:txBody>
        </p:sp>
        <p:sp>
          <p:nvSpPr>
            <p:cNvPr id="94" name="Line 94"/>
            <p:cNvSpPr/>
            <p:nvPr/>
          </p:nvSpPr>
          <p:spPr>
            <a:xfrm>
              <a:off x="304800" y="4857750"/>
              <a:ext cx="6096000" cy="9525"/>
            </a:xfrm>
            <a:custGeom>
              <a:avLst/>
              <a:gdLst/>
              <a:ahLst/>
              <a:cxnLst/>
              <a:rect l="l" t="t" r="r" b="b"/>
              <a:pathLst>
                <a:path w="6096000" h="9525">
                  <a:moveTo>
                    <a:pt x="0" y="0"/>
                  </a:moveTo>
                  <a:lnTo>
                    <a:pt x="6096000" y="0"/>
                  </a:lnTo>
                </a:path>
              </a:pathLst>
            </a:custGeom>
            <a:noFill/>
            <a:ln w="9525">
              <a:solidFill>
                <a:srgbClr val="D0D5DD"/>
              </a:solidFill>
            </a:ln>
          </p:spPr>
        </p:sp>
        <p:sp>
          <p:nvSpPr>
            <p:cNvPr id="95" name="Ellipse 95"/>
            <p:cNvSpPr/>
            <p:nvPr/>
          </p:nvSpPr>
          <p:spPr>
            <a:xfrm>
              <a:off x="323850" y="4991100"/>
              <a:ext cx="457200" cy="457200"/>
            </a:xfrm>
            <a:prstGeom prst="ellipse">
              <a:avLst/>
            </a:prstGeom>
            <a:solidFill>
              <a:srgbClr val="F2F5F9"/>
            </a:solidFill>
            <a:ln>
              <a:noFill/>
            </a:ln>
          </p:spPr>
        </p:sp>
        <p:grpSp>
          <p:nvGrpSpPr>
            <p:cNvPr id="98" name="Group 98"/>
            <p:cNvGrpSpPr/>
            <p:nvPr/>
          </p:nvGrpSpPr>
          <p:grpSpPr>
            <a:xfrm>
              <a:off x="422774" y="5130258"/>
              <a:ext cx="259975" cy="172739"/>
              <a:chOff x="422774" y="5130258"/>
              <a:chExt cx="259975" cy="172739"/>
            </a:xfrm>
          </p:grpSpPr>
          <p:sp>
            <p:nvSpPr>
              <p:cNvPr id="96" name="Freeform 96"/>
              <p:cNvSpPr/>
              <p:nvPr/>
            </p:nvSpPr>
            <p:spPr>
              <a:xfrm>
                <a:off x="453866" y="5145762"/>
                <a:ext cx="106800" cy="106800"/>
              </a:xfrm>
              <a:custGeom>
                <a:avLst/>
                <a:gdLst/>
                <a:ahLst/>
                <a:cxnLst/>
                <a:rect l="l" t="t" r="r" b="b"/>
                <a:pathLst>
                  <a:path w="106800" h="106800">
                    <a:moveTo>
                      <a:pt x="106800" y="53400"/>
                    </a:moveTo>
                    <a:cubicBezTo>
                      <a:pt x="106800" y="82892"/>
                      <a:pt x="82892" y="106800"/>
                      <a:pt x="53400" y="106800"/>
                    </a:cubicBezTo>
                    <a:cubicBezTo>
                      <a:pt x="23908" y="106800"/>
                      <a:pt x="0" y="82892"/>
                      <a:pt x="0" y="53400"/>
                    </a:cubicBezTo>
                    <a:cubicBezTo>
                      <a:pt x="0" y="23908"/>
                      <a:pt x="23908" y="0"/>
                      <a:pt x="53400" y="0"/>
                    </a:cubicBezTo>
                    <a:cubicBezTo>
                      <a:pt x="82892" y="0"/>
                      <a:pt x="106800" y="23908"/>
                      <a:pt x="106800" y="53400"/>
                    </a:cubicBezTo>
                    <a:close/>
                  </a:path>
                </a:pathLst>
              </a:custGeom>
              <a:solidFill>
                <a:srgbClr val="0B3D6E">
                  <a:alpha val="20000"/>
                </a:srgbClr>
              </a:solidFill>
              <a:ln>
                <a:noFill/>
              </a:ln>
            </p:spPr>
          </p:sp>
          <p:sp>
            <p:nvSpPr>
              <p:cNvPr id="97" name="Freeform 97"/>
              <p:cNvSpPr/>
              <p:nvPr/>
            </p:nvSpPr>
            <p:spPr>
              <a:xfrm>
                <a:off x="422774" y="5130258"/>
                <a:ext cx="259975" cy="172739"/>
              </a:xfrm>
              <a:custGeom>
                <a:avLst/>
                <a:gdLst/>
                <a:ahLst/>
                <a:cxnLst/>
                <a:rect l="l" t="t" r="r" b="b"/>
                <a:pathLst>
                  <a:path w="259975" h="172739">
                    <a:moveTo>
                      <a:pt x="118637" y="120168"/>
                    </a:moveTo>
                    <a:cubicBezTo>
                      <a:pt x="141245" y="105117"/>
                      <a:pt x="151331" y="77039"/>
                      <a:pt x="143469" y="51043"/>
                    </a:cubicBezTo>
                    <a:cubicBezTo>
                      <a:pt x="135607" y="25047"/>
                      <a:pt x="111651" y="7264"/>
                      <a:pt x="84492" y="7264"/>
                    </a:cubicBezTo>
                    <a:cubicBezTo>
                      <a:pt x="57333" y="7264"/>
                      <a:pt x="33377" y="25047"/>
                      <a:pt x="25515" y="51043"/>
                    </a:cubicBezTo>
                    <a:cubicBezTo>
                      <a:pt x="17653" y="77039"/>
                      <a:pt x="27740" y="105117"/>
                      <a:pt x="50347" y="120168"/>
                    </a:cubicBezTo>
                    <a:cubicBezTo>
                      <a:pt x="30430" y="127509"/>
                      <a:pt x="13420" y="141093"/>
                      <a:pt x="1856" y="158893"/>
                    </a:cubicBezTo>
                    <a:cubicBezTo>
                      <a:pt x="202" y="161351"/>
                      <a:pt x="0" y="164510"/>
                      <a:pt x="1327" y="167159"/>
                    </a:cubicBezTo>
                    <a:cubicBezTo>
                      <a:pt x="2655" y="169808"/>
                      <a:pt x="5306" y="171538"/>
                      <a:pt x="8265" y="171684"/>
                    </a:cubicBezTo>
                    <a:cubicBezTo>
                      <a:pt x="11225" y="171831"/>
                      <a:pt x="14034" y="170373"/>
                      <a:pt x="15617" y="167868"/>
                    </a:cubicBezTo>
                    <a:cubicBezTo>
                      <a:pt x="30772" y="144559"/>
                      <a:pt x="56689" y="130496"/>
                      <a:pt x="84492" y="130496"/>
                    </a:cubicBezTo>
                    <a:cubicBezTo>
                      <a:pt x="112296" y="130496"/>
                      <a:pt x="138212" y="144559"/>
                      <a:pt x="153368" y="167868"/>
                    </a:cubicBezTo>
                    <a:cubicBezTo>
                      <a:pt x="155875" y="171595"/>
                      <a:pt x="160910" y="172617"/>
                      <a:pt x="164672" y="170163"/>
                    </a:cubicBezTo>
                    <a:cubicBezTo>
                      <a:pt x="168434" y="167710"/>
                      <a:pt x="169528" y="162690"/>
                      <a:pt x="167128" y="158893"/>
                    </a:cubicBezTo>
                    <a:cubicBezTo>
                      <a:pt x="155564" y="141093"/>
                      <a:pt x="138555" y="127509"/>
                      <a:pt x="118637" y="120168"/>
                    </a:cubicBezTo>
                    <a:close/>
                    <a:moveTo>
                      <a:pt x="39308" y="68904"/>
                    </a:moveTo>
                    <a:cubicBezTo>
                      <a:pt x="39308" y="43949"/>
                      <a:pt x="59538" y="23720"/>
                      <a:pt x="84492" y="23720"/>
                    </a:cubicBezTo>
                    <a:cubicBezTo>
                      <a:pt x="109447" y="23720"/>
                      <a:pt x="129677" y="43949"/>
                      <a:pt x="129677" y="68904"/>
                    </a:cubicBezTo>
                    <a:cubicBezTo>
                      <a:pt x="129677" y="93859"/>
                      <a:pt x="109447" y="114089"/>
                      <a:pt x="84492" y="114089"/>
                    </a:cubicBezTo>
                    <a:cubicBezTo>
                      <a:pt x="59549" y="114060"/>
                      <a:pt x="39336" y="93847"/>
                      <a:pt x="39308" y="68904"/>
                    </a:cubicBezTo>
                    <a:close/>
                    <a:moveTo>
                      <a:pt x="255105" y="170261"/>
                    </a:moveTo>
                    <a:cubicBezTo>
                      <a:pt x="251305" y="172739"/>
                      <a:pt x="246215" y="171668"/>
                      <a:pt x="243737" y="167868"/>
                    </a:cubicBezTo>
                    <a:cubicBezTo>
                      <a:pt x="228598" y="144543"/>
                      <a:pt x="202668" y="130482"/>
                      <a:pt x="174861" y="130519"/>
                    </a:cubicBezTo>
                    <a:cubicBezTo>
                      <a:pt x="170324" y="130519"/>
                      <a:pt x="166646" y="126841"/>
                      <a:pt x="166646" y="122304"/>
                    </a:cubicBezTo>
                    <a:cubicBezTo>
                      <a:pt x="166646" y="117767"/>
                      <a:pt x="170324" y="114089"/>
                      <a:pt x="174861" y="114089"/>
                    </a:cubicBezTo>
                    <a:cubicBezTo>
                      <a:pt x="193059" y="114071"/>
                      <a:pt x="209470" y="103139"/>
                      <a:pt x="216498" y="86353"/>
                    </a:cubicBezTo>
                    <a:cubicBezTo>
                      <a:pt x="223525" y="69567"/>
                      <a:pt x="219797" y="50204"/>
                      <a:pt x="207040" y="37227"/>
                    </a:cubicBezTo>
                    <a:cubicBezTo>
                      <a:pt x="194282" y="24250"/>
                      <a:pt x="174984" y="20193"/>
                      <a:pt x="158081" y="26934"/>
                    </a:cubicBezTo>
                    <a:cubicBezTo>
                      <a:pt x="155338" y="28120"/>
                      <a:pt x="152166" y="27722"/>
                      <a:pt x="149801" y="25896"/>
                    </a:cubicBezTo>
                    <a:cubicBezTo>
                      <a:pt x="147435" y="24069"/>
                      <a:pt x="146248" y="21101"/>
                      <a:pt x="146701" y="18147"/>
                    </a:cubicBezTo>
                    <a:cubicBezTo>
                      <a:pt x="147155" y="15193"/>
                      <a:pt x="149177" y="12718"/>
                      <a:pt x="151981" y="11684"/>
                    </a:cubicBezTo>
                    <a:cubicBezTo>
                      <a:pt x="181279" y="0"/>
                      <a:pt x="214670" y="12328"/>
                      <a:pt x="229345" y="40247"/>
                    </a:cubicBezTo>
                    <a:cubicBezTo>
                      <a:pt x="244021" y="68166"/>
                      <a:pt x="235243" y="102661"/>
                      <a:pt x="209006" y="120168"/>
                    </a:cubicBezTo>
                    <a:cubicBezTo>
                      <a:pt x="228923" y="127509"/>
                      <a:pt x="245933" y="141093"/>
                      <a:pt x="257497" y="158893"/>
                    </a:cubicBezTo>
                    <a:cubicBezTo>
                      <a:pt x="259975" y="162693"/>
                      <a:pt x="258904" y="167782"/>
                      <a:pt x="255105" y="170261"/>
                    </a:cubicBezTo>
                    <a:close/>
                  </a:path>
                </a:pathLst>
              </a:custGeom>
              <a:solidFill>
                <a:srgbClr val="0B3D6E"/>
              </a:solidFill>
              <a:ln>
                <a:noFill/>
              </a:ln>
            </p:spPr>
          </p:sp>
        </p:grpSp>
        <p:sp>
          <p:nvSpPr>
            <p:cNvPr id="99" name="TextBox 99"/>
            <p:cNvSpPr txBox="1"/>
            <p:nvPr/>
          </p:nvSpPr>
          <p:spPr>
            <a:xfrm>
              <a:off x="870585" y="5155406"/>
              <a:ext cx="378787" cy="220028"/>
            </a:xfrm>
            <a:prstGeom prst="rect">
              <a:avLst/>
            </a:prstGeom>
            <a:noFill/>
            <a:ln>
              <a:noFill/>
            </a:ln>
          </p:spPr>
          <p:txBody>
            <a:bodyPr wrap="none" lIns="0" tIns="0" rIns="0" bIns="0" anchor="t" anchorCtr="0">
              <a:spAutoFit/>
            </a:bodyPr>
            <a:lstStyle/>
            <a:p>
              <a:pPr algn="l"/>
              <a:r>
                <a:rPr lang="en-IN" sz="1120" b="1" dirty="0">
                  <a:solidFill>
                    <a:srgbClr val="0B3D6E"/>
                  </a:solidFill>
                  <a:latin typeface="Calibri"/>
                  <a:ea typeface="Calibri"/>
                  <a:cs typeface="Calibri"/>
                </a:rPr>
                <a:t>Social</a:t>
              </a:r>
            </a:p>
          </p:txBody>
        </p:sp>
        <p:sp>
          <p:nvSpPr>
            <p:cNvPr id="100" name="TextBox 100"/>
            <p:cNvSpPr txBox="1"/>
            <p:nvPr/>
          </p:nvSpPr>
          <p:spPr>
            <a:xfrm>
              <a:off x="337947" y="5571649"/>
              <a:ext cx="1380011" cy="371666"/>
            </a:xfrm>
            <a:prstGeom prst="rect">
              <a:avLst/>
            </a:prstGeom>
            <a:noFill/>
            <a:ln>
              <a:noFill/>
            </a:ln>
          </p:spPr>
          <p:txBody>
            <a:bodyPr wrap="none" lIns="0" tIns="0" rIns="0" bIns="0" anchor="t" anchorCtr="0">
              <a:spAutoFit/>
            </a:bodyPr>
            <a:lstStyle/>
            <a:p>
              <a:pPr algn="l">
                <a:lnSpc>
                  <a:spcPts val="1425"/>
                </a:lnSpc>
              </a:pPr>
              <a:r>
                <a:rPr lang="en-IN" sz="980" dirty="0">
                  <a:solidFill>
                    <a:srgbClr val="344054"/>
                  </a:solidFill>
                  <a:latin typeface="Calibri"/>
                  <a:ea typeface="Calibri"/>
                  <a:cs typeface="Calibri"/>
                </a:rPr>
                <a:t>assets exist where claimed</a:t>
              </a:r>
              <a:br/>
              <a:r>
                <a:rPr lang="en-IN" sz="980" dirty="0">
                  <a:solidFill>
                    <a:srgbClr val="344054"/>
                  </a:solidFill>
                  <a:latin typeface="Calibri"/>
                  <a:ea typeface="Calibri"/>
                  <a:cs typeface="Calibri"/>
                </a:rPr>
                <a:t>trust through open records</a:t>
              </a:r>
            </a:p>
          </p:txBody>
        </p:sp>
        <p:sp>
          <p:nvSpPr>
            <p:cNvPr id="101" name="Ellipse 101"/>
            <p:cNvSpPr/>
            <p:nvPr/>
          </p:nvSpPr>
          <p:spPr>
            <a:xfrm>
              <a:off x="2393918" y="4991100"/>
              <a:ext cx="457200" cy="457200"/>
            </a:xfrm>
            <a:prstGeom prst="ellipse">
              <a:avLst/>
            </a:prstGeom>
            <a:solidFill>
              <a:srgbClr val="F2F5F9"/>
            </a:solidFill>
            <a:ln>
              <a:noFill/>
            </a:ln>
          </p:spPr>
        </p:sp>
        <p:grpSp>
          <p:nvGrpSpPr>
            <p:cNvPr id="104" name="Group 104"/>
            <p:cNvGrpSpPr/>
            <p:nvPr/>
          </p:nvGrpSpPr>
          <p:grpSpPr>
            <a:xfrm>
              <a:off x="2556126" y="5121116"/>
              <a:ext cx="148547" cy="205959"/>
              <a:chOff x="2556126" y="5121116"/>
              <a:chExt cx="148547" cy="205959"/>
            </a:xfrm>
          </p:grpSpPr>
          <p:sp>
            <p:nvSpPr>
              <p:cNvPr id="102" name="Freeform 102"/>
              <p:cNvSpPr/>
              <p:nvPr/>
            </p:nvSpPr>
            <p:spPr>
              <a:xfrm>
                <a:off x="2565011" y="5129332"/>
                <a:ext cx="90369" cy="106800"/>
              </a:xfrm>
              <a:custGeom>
                <a:avLst/>
                <a:gdLst/>
                <a:ahLst/>
                <a:cxnLst/>
                <a:rect l="l" t="t" r="r" b="b"/>
                <a:pathLst>
                  <a:path w="90369" h="106800">
                    <a:moveTo>
                      <a:pt x="90369" y="53400"/>
                    </a:moveTo>
                    <a:cubicBezTo>
                      <a:pt x="90369" y="82892"/>
                      <a:pt x="66461" y="106800"/>
                      <a:pt x="36969" y="106800"/>
                    </a:cubicBezTo>
                    <a:lnTo>
                      <a:pt x="0" y="106800"/>
                    </a:lnTo>
                    <a:lnTo>
                      <a:pt x="0" y="0"/>
                    </a:lnTo>
                    <a:lnTo>
                      <a:pt x="36969" y="0"/>
                    </a:lnTo>
                    <a:cubicBezTo>
                      <a:pt x="66461" y="0"/>
                      <a:pt x="90369" y="23908"/>
                      <a:pt x="90369" y="53400"/>
                    </a:cubicBezTo>
                    <a:close/>
                  </a:path>
                </a:pathLst>
              </a:custGeom>
              <a:solidFill>
                <a:srgbClr val="B35900">
                  <a:alpha val="20000"/>
                </a:srgbClr>
              </a:solidFill>
              <a:ln>
                <a:noFill/>
              </a:ln>
            </p:spPr>
          </p:sp>
          <p:sp>
            <p:nvSpPr>
              <p:cNvPr id="103" name="Freeform 103"/>
              <p:cNvSpPr/>
              <p:nvPr/>
            </p:nvSpPr>
            <p:spPr>
              <a:xfrm>
                <a:off x="2556126" y="5121116"/>
                <a:ext cx="148547" cy="205959"/>
              </a:xfrm>
              <a:custGeom>
                <a:avLst/>
                <a:gdLst/>
                <a:ahLst/>
                <a:cxnLst/>
                <a:rect l="l" t="t" r="r" b="b"/>
                <a:pathLst>
                  <a:path w="148547" h="205959">
                    <a:moveTo>
                      <a:pt x="148547" y="49292"/>
                    </a:moveTo>
                    <a:cubicBezTo>
                      <a:pt x="148547" y="53829"/>
                      <a:pt x="144868" y="57507"/>
                      <a:pt x="140331" y="57507"/>
                    </a:cubicBezTo>
                    <a:lnTo>
                      <a:pt x="107316" y="57507"/>
                    </a:lnTo>
                    <a:cubicBezTo>
                      <a:pt x="107408" y="58863"/>
                      <a:pt x="107470" y="60229"/>
                      <a:pt x="107470" y="61615"/>
                    </a:cubicBezTo>
                    <a:cubicBezTo>
                      <a:pt x="107430" y="95628"/>
                      <a:pt x="79867" y="123191"/>
                      <a:pt x="45855" y="123230"/>
                    </a:cubicBezTo>
                    <a:lnTo>
                      <a:pt x="30133" y="123230"/>
                    </a:lnTo>
                    <a:lnTo>
                      <a:pt x="104779" y="191089"/>
                    </a:lnTo>
                    <a:cubicBezTo>
                      <a:pt x="106992" y="193052"/>
                      <a:pt x="107979" y="196054"/>
                      <a:pt x="107362" y="198948"/>
                    </a:cubicBezTo>
                    <a:cubicBezTo>
                      <a:pt x="106745" y="201841"/>
                      <a:pt x="104620" y="204179"/>
                      <a:pt x="101799" y="205069"/>
                    </a:cubicBezTo>
                    <a:cubicBezTo>
                      <a:pt x="98977" y="205959"/>
                      <a:pt x="95895" y="205264"/>
                      <a:pt x="93730" y="203248"/>
                    </a:cubicBezTo>
                    <a:lnTo>
                      <a:pt x="3361" y="121094"/>
                    </a:lnTo>
                    <a:cubicBezTo>
                      <a:pt x="849" y="118811"/>
                      <a:pt x="0" y="115219"/>
                      <a:pt x="1224" y="112053"/>
                    </a:cubicBezTo>
                    <a:cubicBezTo>
                      <a:pt x="2447" y="108887"/>
                      <a:pt x="5492" y="106800"/>
                      <a:pt x="8886" y="106800"/>
                    </a:cubicBezTo>
                    <a:lnTo>
                      <a:pt x="45855" y="106800"/>
                    </a:lnTo>
                    <a:cubicBezTo>
                      <a:pt x="70798" y="106771"/>
                      <a:pt x="91011" y="86558"/>
                      <a:pt x="91039" y="61615"/>
                    </a:cubicBezTo>
                    <a:cubicBezTo>
                      <a:pt x="91039" y="60229"/>
                      <a:pt x="90967" y="58863"/>
                      <a:pt x="90844" y="57507"/>
                    </a:cubicBezTo>
                    <a:lnTo>
                      <a:pt x="8886" y="57507"/>
                    </a:lnTo>
                    <a:cubicBezTo>
                      <a:pt x="4348" y="57507"/>
                      <a:pt x="670" y="53829"/>
                      <a:pt x="670" y="49292"/>
                    </a:cubicBezTo>
                    <a:cubicBezTo>
                      <a:pt x="670" y="44755"/>
                      <a:pt x="4348" y="41077"/>
                      <a:pt x="8886" y="41077"/>
                    </a:cubicBezTo>
                    <a:lnTo>
                      <a:pt x="86079" y="41077"/>
                    </a:lnTo>
                    <a:cubicBezTo>
                      <a:pt x="78364" y="25959"/>
                      <a:pt x="62828" y="16439"/>
                      <a:pt x="45855" y="16431"/>
                    </a:cubicBezTo>
                    <a:lnTo>
                      <a:pt x="8886" y="16431"/>
                    </a:lnTo>
                    <a:cubicBezTo>
                      <a:pt x="4348" y="16431"/>
                      <a:pt x="670" y="12753"/>
                      <a:pt x="670" y="8215"/>
                    </a:cubicBezTo>
                    <a:cubicBezTo>
                      <a:pt x="670" y="3678"/>
                      <a:pt x="4348" y="0"/>
                      <a:pt x="8886" y="0"/>
                    </a:cubicBezTo>
                    <a:lnTo>
                      <a:pt x="140331" y="0"/>
                    </a:lnTo>
                    <a:cubicBezTo>
                      <a:pt x="144868" y="0"/>
                      <a:pt x="148547" y="3678"/>
                      <a:pt x="148547" y="8215"/>
                    </a:cubicBezTo>
                    <a:cubicBezTo>
                      <a:pt x="148547" y="12753"/>
                      <a:pt x="144868" y="16431"/>
                      <a:pt x="140331" y="16431"/>
                    </a:cubicBezTo>
                    <a:lnTo>
                      <a:pt x="87691" y="16431"/>
                    </a:lnTo>
                    <a:cubicBezTo>
                      <a:pt x="95020" y="23212"/>
                      <a:pt x="100594" y="31669"/>
                      <a:pt x="103937" y="41077"/>
                    </a:cubicBezTo>
                    <a:lnTo>
                      <a:pt x="140331" y="41077"/>
                    </a:lnTo>
                    <a:cubicBezTo>
                      <a:pt x="144868" y="41077"/>
                      <a:pt x="148547" y="44755"/>
                      <a:pt x="148547" y="49292"/>
                    </a:cubicBezTo>
                    <a:close/>
                  </a:path>
                </a:pathLst>
              </a:custGeom>
              <a:solidFill>
                <a:srgbClr val="B35900"/>
              </a:solidFill>
              <a:ln>
                <a:noFill/>
              </a:ln>
            </p:spPr>
          </p:sp>
        </p:grpSp>
        <p:sp>
          <p:nvSpPr>
            <p:cNvPr id="105" name="TextBox 105"/>
            <p:cNvSpPr txBox="1"/>
            <p:nvPr/>
          </p:nvSpPr>
          <p:spPr>
            <a:xfrm>
              <a:off x="2940653" y="5155406"/>
              <a:ext cx="618142" cy="220028"/>
            </a:xfrm>
            <a:prstGeom prst="rect">
              <a:avLst/>
            </a:prstGeom>
            <a:noFill/>
            <a:ln>
              <a:noFill/>
            </a:ln>
          </p:spPr>
          <p:txBody>
            <a:bodyPr wrap="none" lIns="0" tIns="0" rIns="0" bIns="0" anchor="t" anchorCtr="0">
              <a:spAutoFit/>
            </a:bodyPr>
            <a:lstStyle/>
            <a:p>
              <a:pPr algn="l"/>
              <a:r>
                <a:rPr lang="en-IN" sz="1120" b="1" dirty="0">
                  <a:solidFill>
                    <a:srgbClr val="B35900"/>
                  </a:solidFill>
                  <a:latin typeface="Calibri"/>
                  <a:ea typeface="Calibri"/>
                  <a:cs typeface="Calibri"/>
                </a:rPr>
                <a:t>Economic</a:t>
              </a:r>
            </a:p>
          </p:txBody>
        </p:sp>
        <p:sp>
          <p:nvSpPr>
            <p:cNvPr id="106" name="TextBox 106"/>
            <p:cNvSpPr txBox="1"/>
            <p:nvPr/>
          </p:nvSpPr>
          <p:spPr>
            <a:xfrm>
              <a:off x="2408015" y="5571649"/>
              <a:ext cx="1659810" cy="371666"/>
            </a:xfrm>
            <a:prstGeom prst="rect">
              <a:avLst/>
            </a:prstGeom>
            <a:noFill/>
            <a:ln>
              <a:noFill/>
            </a:ln>
          </p:spPr>
          <p:txBody>
            <a:bodyPr wrap="none" lIns="0" tIns="0" rIns="0" bIns="0" anchor="t" anchorCtr="0">
              <a:spAutoFit/>
            </a:bodyPr>
            <a:lstStyle/>
            <a:p>
              <a:pPr algn="l">
                <a:lnSpc>
                  <a:spcPts val="1425"/>
                </a:lnSpc>
              </a:pPr>
              <a:r>
                <a:rPr lang="en-IN" sz="980" dirty="0">
                  <a:solidFill>
                    <a:srgbClr val="344054"/>
                  </a:solidFill>
                  <a:latin typeface="Calibri"/>
                  <a:ea typeface="Calibri"/>
                  <a:cs typeface="Calibri"/>
                </a:rPr>
                <a:t>risk caught before money moves</a:t>
              </a:r>
              <a:br/>
              <a:r>
                <a:rPr lang="en-IN" sz="980" dirty="0">
                  <a:solidFill>
                    <a:srgbClr val="344054"/>
                  </a:solidFill>
                  <a:latin typeface="Calibri"/>
                  <a:ea typeface="Calibri"/>
                  <a:cs typeface="Calibri"/>
                </a:rPr>
                <a:t>visits go where risk is</a:t>
              </a:r>
            </a:p>
          </p:txBody>
        </p:sp>
        <p:sp>
          <p:nvSpPr>
            <p:cNvPr id="107" name="Ellipse 107"/>
            <p:cNvSpPr/>
            <p:nvPr/>
          </p:nvSpPr>
          <p:spPr>
            <a:xfrm>
              <a:off x="4464082" y="4991100"/>
              <a:ext cx="457200" cy="457200"/>
            </a:xfrm>
            <a:prstGeom prst="ellipse">
              <a:avLst/>
            </a:prstGeom>
            <a:solidFill>
              <a:srgbClr val="F2F5F9"/>
            </a:solidFill>
            <a:ln>
              <a:noFill/>
            </a:ln>
          </p:spPr>
        </p:sp>
        <p:grpSp>
          <p:nvGrpSpPr>
            <p:cNvPr id="110" name="Group 110"/>
            <p:cNvGrpSpPr/>
            <p:nvPr/>
          </p:nvGrpSpPr>
          <p:grpSpPr>
            <a:xfrm>
              <a:off x="4577585" y="5117091"/>
              <a:ext cx="217717" cy="217707"/>
              <a:chOff x="4577585" y="5117091"/>
              <a:chExt cx="217717" cy="217707"/>
            </a:xfrm>
          </p:grpSpPr>
          <p:sp>
            <p:nvSpPr>
              <p:cNvPr id="108" name="Freeform 108"/>
              <p:cNvSpPr/>
              <p:nvPr/>
            </p:nvSpPr>
            <p:spPr>
              <a:xfrm>
                <a:off x="4577585" y="5121702"/>
                <a:ext cx="213096" cy="213096"/>
              </a:xfrm>
              <a:custGeom>
                <a:avLst/>
                <a:gdLst/>
                <a:ahLst/>
                <a:cxnLst/>
                <a:rect l="l" t="t" r="r" b="b"/>
                <a:pathLst>
                  <a:path w="213096" h="213096">
                    <a:moveTo>
                      <a:pt x="49179" y="163917"/>
                    </a:moveTo>
                    <a:cubicBezTo>
                      <a:pt x="0" y="81958"/>
                      <a:pt x="65610" y="0"/>
                      <a:pt x="204901" y="8195"/>
                    </a:cubicBezTo>
                    <a:cubicBezTo>
                      <a:pt x="213096" y="147527"/>
                      <a:pt x="131138" y="213096"/>
                      <a:pt x="49179" y="163917"/>
                    </a:cubicBezTo>
                    <a:close/>
                  </a:path>
                </a:pathLst>
              </a:custGeom>
              <a:solidFill>
                <a:srgbClr val="1E7B45">
                  <a:alpha val="20000"/>
                </a:srgbClr>
              </a:solidFill>
              <a:ln>
                <a:noFill/>
              </a:ln>
            </p:spPr>
          </p:sp>
          <p:sp>
            <p:nvSpPr>
              <p:cNvPr id="109" name="Freeform 109"/>
              <p:cNvSpPr/>
              <p:nvPr/>
            </p:nvSpPr>
            <p:spPr>
              <a:xfrm>
                <a:off x="4593291" y="5117091"/>
                <a:ext cx="202011" cy="202011"/>
              </a:xfrm>
              <a:custGeom>
                <a:avLst/>
                <a:gdLst/>
                <a:ahLst/>
                <a:cxnLst/>
                <a:rect l="l" t="t" r="r" b="b"/>
                <a:pathLst>
                  <a:path w="202011" h="202011">
                    <a:moveTo>
                      <a:pt x="197411" y="12313"/>
                    </a:moveTo>
                    <a:cubicBezTo>
                      <a:pt x="197168" y="8153"/>
                      <a:pt x="193848" y="4833"/>
                      <a:pt x="189688" y="4590"/>
                    </a:cubicBezTo>
                    <a:cubicBezTo>
                      <a:pt x="111509" y="0"/>
                      <a:pt x="48887" y="23537"/>
                      <a:pt x="22188" y="67694"/>
                    </a:cubicBezTo>
                    <a:cubicBezTo>
                      <a:pt x="12933" y="82800"/>
                      <a:pt x="8372" y="100313"/>
                      <a:pt x="9084" y="118014"/>
                    </a:cubicBezTo>
                    <a:cubicBezTo>
                      <a:pt x="9669" y="134362"/>
                      <a:pt x="14434" y="150875"/>
                      <a:pt x="23245" y="167152"/>
                    </a:cubicBezTo>
                    <a:lnTo>
                      <a:pt x="3210" y="187176"/>
                    </a:lnTo>
                    <a:cubicBezTo>
                      <a:pt x="0" y="190387"/>
                      <a:pt x="0" y="195591"/>
                      <a:pt x="3210" y="198801"/>
                    </a:cubicBezTo>
                    <a:cubicBezTo>
                      <a:pt x="6420" y="202011"/>
                      <a:pt x="11625" y="202011"/>
                      <a:pt x="14835" y="198801"/>
                    </a:cubicBezTo>
                    <a:lnTo>
                      <a:pt x="34860" y="178766"/>
                    </a:lnTo>
                    <a:cubicBezTo>
                      <a:pt x="51126" y="187567"/>
                      <a:pt x="67649" y="192332"/>
                      <a:pt x="83988" y="192917"/>
                    </a:cubicBezTo>
                    <a:cubicBezTo>
                      <a:pt x="85131" y="192958"/>
                      <a:pt x="86271" y="192979"/>
                      <a:pt x="87407" y="192979"/>
                    </a:cubicBezTo>
                    <a:cubicBezTo>
                      <a:pt x="103958" y="193023"/>
                      <a:pt x="120196" y="188465"/>
                      <a:pt x="134307" y="179813"/>
                    </a:cubicBezTo>
                    <a:cubicBezTo>
                      <a:pt x="178464" y="153114"/>
                      <a:pt x="202011" y="90502"/>
                      <a:pt x="197411" y="12313"/>
                    </a:cubicBezTo>
                    <a:close/>
                    <a:moveTo>
                      <a:pt x="125834" y="165765"/>
                    </a:moveTo>
                    <a:cubicBezTo>
                      <a:pt x="102472" y="179916"/>
                      <a:pt x="74817" y="180142"/>
                      <a:pt x="47060" y="166556"/>
                    </a:cubicBezTo>
                    <a:lnTo>
                      <a:pt x="138075" y="75550"/>
                    </a:lnTo>
                    <a:cubicBezTo>
                      <a:pt x="141285" y="72340"/>
                      <a:pt x="141285" y="67136"/>
                      <a:pt x="138075" y="63926"/>
                    </a:cubicBezTo>
                    <a:cubicBezTo>
                      <a:pt x="134865" y="60716"/>
                      <a:pt x="129661" y="60716"/>
                      <a:pt x="126451" y="63926"/>
                    </a:cubicBezTo>
                    <a:lnTo>
                      <a:pt x="35445" y="154983"/>
                    </a:lnTo>
                    <a:cubicBezTo>
                      <a:pt x="21900" y="127256"/>
                      <a:pt x="22095" y="99529"/>
                      <a:pt x="36236" y="76208"/>
                    </a:cubicBezTo>
                    <a:cubicBezTo>
                      <a:pt x="58920" y="38756"/>
                      <a:pt x="112844" y="18248"/>
                      <a:pt x="181350" y="20692"/>
                    </a:cubicBezTo>
                    <a:cubicBezTo>
                      <a:pt x="183804" y="89147"/>
                      <a:pt x="163286" y="143081"/>
                      <a:pt x="125834" y="165765"/>
                    </a:cubicBezTo>
                    <a:close/>
                  </a:path>
                </a:pathLst>
              </a:custGeom>
              <a:solidFill>
                <a:srgbClr val="1E7B45"/>
              </a:solidFill>
              <a:ln>
                <a:noFill/>
              </a:ln>
            </p:spPr>
          </p:sp>
        </p:grpSp>
        <p:sp>
          <p:nvSpPr>
            <p:cNvPr id="111" name="TextBox 111"/>
            <p:cNvSpPr txBox="1"/>
            <p:nvPr/>
          </p:nvSpPr>
          <p:spPr>
            <a:xfrm>
              <a:off x="5010817" y="5155406"/>
              <a:ext cx="937021" cy="220028"/>
            </a:xfrm>
            <a:prstGeom prst="rect">
              <a:avLst/>
            </a:prstGeom>
            <a:noFill/>
            <a:ln>
              <a:noFill/>
            </a:ln>
          </p:spPr>
          <p:txBody>
            <a:bodyPr wrap="none" lIns="0" tIns="0" rIns="0" bIns="0" anchor="t" anchorCtr="0">
              <a:spAutoFit/>
            </a:bodyPr>
            <a:lstStyle/>
            <a:p>
              <a:pPr algn="l"/>
              <a:r>
                <a:rPr lang="en-IN" sz="1120" b="1" dirty="0">
                  <a:solidFill>
                    <a:srgbClr val="1E7B45"/>
                  </a:solidFill>
                  <a:latin typeface="Calibri"/>
                  <a:ea typeface="Calibri"/>
                  <a:cs typeface="Calibri"/>
                </a:rPr>
                <a:t>Environmental</a:t>
              </a:r>
            </a:p>
          </p:txBody>
        </p:sp>
        <p:sp>
          <p:nvSpPr>
            <p:cNvPr id="112" name="TextBox 112"/>
            <p:cNvSpPr txBox="1"/>
            <p:nvPr/>
          </p:nvSpPr>
          <p:spPr>
            <a:xfrm>
              <a:off x="4478179" y="5571649"/>
              <a:ext cx="1404991" cy="371666"/>
            </a:xfrm>
            <a:prstGeom prst="rect">
              <a:avLst/>
            </a:prstGeom>
            <a:noFill/>
            <a:ln>
              <a:noFill/>
            </a:ln>
          </p:spPr>
          <p:txBody>
            <a:bodyPr wrap="none" lIns="0" tIns="0" rIns="0" bIns="0" anchor="t" anchorCtr="0">
              <a:spAutoFit/>
            </a:bodyPr>
            <a:lstStyle/>
            <a:p>
              <a:pPr algn="l">
                <a:lnSpc>
                  <a:spcPts val="1425"/>
                </a:lnSpc>
              </a:pPr>
              <a:r>
                <a:rPr lang="en-IN" sz="980" dirty="0">
                  <a:solidFill>
                    <a:srgbClr val="344054"/>
                  </a:solidFill>
                  <a:latin typeface="Calibri"/>
                  <a:ea typeface="Calibri"/>
                  <a:cs typeface="Calibri"/>
                </a:rPr>
                <a:t>remote checks from photos</a:t>
              </a:r>
              <a:br/>
              <a:r>
                <a:rPr lang="en-IN" sz="980" dirty="0">
                  <a:solidFill>
                    <a:srgbClr val="344054"/>
                  </a:solidFill>
                  <a:latin typeface="Calibri"/>
                  <a:ea typeface="Calibri"/>
                  <a:cs typeface="Calibri"/>
                </a:rPr>
                <a:t>fewer wasted site trips</a:t>
              </a:r>
            </a:p>
          </p:txBody>
        </p:sp>
      </p:grpSp>
      <p:grpSp>
        <p:nvGrpSpPr>
          <p:cNvPr id="139" name="next-steps"/>
          <p:cNvGrpSpPr/>
          <p:nvPr/>
        </p:nvGrpSpPr>
        <p:grpSpPr>
          <a:xfrm>
            <a:off x="6615285" y="4669631"/>
            <a:ext cx="5271915" cy="1210151"/>
            <a:chOff x="6615285" y="4669631"/>
            <a:chExt cx="5271915" cy="1210151"/>
          </a:xfrm>
        </p:grpSpPr>
        <p:sp>
          <p:nvSpPr>
            <p:cNvPr id="114" name="Polygon 114"/>
            <p:cNvSpPr/>
            <p:nvPr/>
          </p:nvSpPr>
          <p:spPr>
            <a:xfrm>
              <a:off x="6629400" y="4696301"/>
              <a:ext cx="95250" cy="95250"/>
            </a:xfrm>
            <a:custGeom>
              <a:avLst/>
              <a:gdLst/>
              <a:ahLst/>
              <a:cxnLst/>
              <a:rect l="l" t="t" r="r" b="b"/>
              <a:pathLst>
                <a:path w="95250" h="95250">
                  <a:moveTo>
                    <a:pt x="47625" y="0"/>
                  </a:moveTo>
                  <a:lnTo>
                    <a:pt x="95250" y="47625"/>
                  </a:lnTo>
                  <a:lnTo>
                    <a:pt x="47625" y="95250"/>
                  </a:lnTo>
                  <a:lnTo>
                    <a:pt x="0" y="47625"/>
                  </a:lnTo>
                  <a:close/>
                </a:path>
              </a:pathLst>
            </a:custGeom>
            <a:solidFill>
              <a:srgbClr val="E8871E"/>
            </a:solidFill>
            <a:ln>
              <a:noFill/>
            </a:ln>
          </p:spPr>
        </p:sp>
        <p:sp>
          <p:nvSpPr>
            <p:cNvPr id="115" name="TextBox 115"/>
            <p:cNvSpPr txBox="1"/>
            <p:nvPr/>
          </p:nvSpPr>
          <p:spPr>
            <a:xfrm>
              <a:off x="6776085" y="4669631"/>
              <a:ext cx="675808" cy="220028"/>
            </a:xfrm>
            <a:prstGeom prst="rect">
              <a:avLst/>
            </a:prstGeom>
            <a:noFill/>
            <a:ln>
              <a:noFill/>
            </a:ln>
          </p:spPr>
          <p:txBody>
            <a:bodyPr wrap="none" lIns="0" tIns="0" rIns="0" bIns="0" anchor="t" anchorCtr="0">
              <a:spAutoFit/>
            </a:bodyPr>
            <a:lstStyle/>
            <a:p>
              <a:pPr algn="l"/>
              <a:r>
                <a:rPr lang="en-IN" sz="1120" b="1" dirty="0">
                  <a:solidFill>
                    <a:srgbClr val="0B3D6E"/>
                  </a:solidFill>
                  <a:latin typeface="Calibri"/>
                  <a:ea typeface="Calibri"/>
                  <a:cs typeface="Calibri"/>
                </a:rPr>
                <a:t>Next steps</a:t>
              </a:r>
            </a:p>
          </p:txBody>
        </p:sp>
        <p:sp>
          <p:nvSpPr>
            <p:cNvPr id="116" name="Line 116"/>
            <p:cNvSpPr/>
            <p:nvPr/>
          </p:nvSpPr>
          <p:spPr>
            <a:xfrm>
              <a:off x="6629400" y="4857750"/>
              <a:ext cx="5257800" cy="9525"/>
            </a:xfrm>
            <a:custGeom>
              <a:avLst/>
              <a:gdLst/>
              <a:ahLst/>
              <a:cxnLst/>
              <a:rect l="l" t="t" r="r" b="b"/>
              <a:pathLst>
                <a:path w="5257800" h="9525">
                  <a:moveTo>
                    <a:pt x="0" y="0"/>
                  </a:moveTo>
                  <a:lnTo>
                    <a:pt x="5257800" y="0"/>
                  </a:lnTo>
                </a:path>
              </a:pathLst>
            </a:custGeom>
            <a:noFill/>
            <a:ln w="9525">
              <a:solidFill>
                <a:srgbClr val="D0D5DD"/>
              </a:solidFill>
            </a:ln>
          </p:spPr>
        </p:sp>
        <p:sp>
          <p:nvSpPr>
            <p:cNvPr id="117" name="Line 117"/>
            <p:cNvSpPr/>
            <p:nvPr/>
          </p:nvSpPr>
          <p:spPr>
            <a:xfrm>
              <a:off x="7010400" y="5238750"/>
              <a:ext cx="4495800" cy="9525"/>
            </a:xfrm>
            <a:custGeom>
              <a:avLst/>
              <a:gdLst/>
              <a:ahLst/>
              <a:cxnLst/>
              <a:rect l="l" t="t" r="r" b="b"/>
              <a:pathLst>
                <a:path w="4495800" h="9525">
                  <a:moveTo>
                    <a:pt x="0" y="0"/>
                  </a:moveTo>
                  <a:lnTo>
                    <a:pt x="4495800" y="0"/>
                  </a:lnTo>
                </a:path>
              </a:pathLst>
            </a:custGeom>
            <a:noFill/>
            <a:ln w="28575">
              <a:solidFill>
                <a:srgbClr val="D0D5DD"/>
              </a:solidFill>
            </a:ln>
          </p:spPr>
        </p:sp>
        <p:sp>
          <p:nvSpPr>
            <p:cNvPr id="118" name="Line 118"/>
            <p:cNvSpPr/>
            <p:nvPr/>
          </p:nvSpPr>
          <p:spPr>
            <a:xfrm>
              <a:off x="7010400" y="5238750"/>
              <a:ext cx="561975" cy="9525"/>
            </a:xfrm>
            <a:custGeom>
              <a:avLst/>
              <a:gdLst/>
              <a:ahLst/>
              <a:cxnLst/>
              <a:rect l="l" t="t" r="r" b="b"/>
              <a:pathLst>
                <a:path w="561975" h="9525">
                  <a:moveTo>
                    <a:pt x="0" y="0"/>
                  </a:moveTo>
                  <a:lnTo>
                    <a:pt x="561975" y="0"/>
                  </a:lnTo>
                </a:path>
              </a:pathLst>
            </a:custGeom>
            <a:noFill/>
            <a:ln w="28575">
              <a:solidFill>
                <a:srgbClr val="1E7B45"/>
              </a:solidFill>
            </a:ln>
          </p:spPr>
        </p:sp>
        <p:sp>
          <p:nvSpPr>
            <p:cNvPr id="119" name="Ellipse 119"/>
            <p:cNvSpPr/>
            <p:nvPr/>
          </p:nvSpPr>
          <p:spPr>
            <a:xfrm>
              <a:off x="6848475" y="5076825"/>
              <a:ext cx="323850" cy="323850"/>
            </a:xfrm>
            <a:prstGeom prst="ellipse">
              <a:avLst/>
            </a:prstGeom>
            <a:solidFill>
              <a:srgbClr val="1E7B45"/>
            </a:solidFill>
            <a:ln>
              <a:noFill/>
            </a:ln>
          </p:spPr>
        </p:sp>
        <p:sp>
          <p:nvSpPr>
            <p:cNvPr id="120" name="TextBox 120"/>
            <p:cNvSpPr txBox="1"/>
            <p:nvPr/>
          </p:nvSpPr>
          <p:spPr>
            <a:xfrm>
              <a:off x="6936185" y="5176361"/>
              <a:ext cx="148430" cy="190690"/>
            </a:xfrm>
            <a:prstGeom prst="rect">
              <a:avLst/>
            </a:prstGeom>
            <a:noFill/>
            <a:ln>
              <a:noFill/>
            </a:ln>
          </p:spPr>
          <p:txBody>
            <a:bodyPr wrap="none" lIns="0" tIns="0" rIns="0" bIns="0" anchor="t" anchorCtr="0">
              <a:spAutoFit/>
            </a:bodyPr>
            <a:lstStyle/>
            <a:p>
              <a:pPr algn="ctr"/>
              <a:r>
                <a:rPr lang="en-IN" sz="980" b="1" dirty="0">
                  <a:solidFill>
                    <a:srgbClr val="FFFFFF"/>
                  </a:solidFill>
                  <a:latin typeface="Calibri"/>
                  <a:ea typeface="Calibri"/>
                  <a:cs typeface="Calibri"/>
                </a:rPr>
                <a:t>✓</a:t>
              </a:r>
            </a:p>
          </p:txBody>
        </p:sp>
        <p:sp>
          <p:nvSpPr>
            <p:cNvPr id="121" name="TextBox 121"/>
            <p:cNvSpPr txBox="1"/>
            <p:nvPr/>
          </p:nvSpPr>
          <p:spPr>
            <a:xfrm>
              <a:off x="6633018" y="5537597"/>
              <a:ext cx="754765" cy="183356"/>
            </a:xfrm>
            <a:prstGeom prst="rect">
              <a:avLst/>
            </a:prstGeom>
            <a:noFill/>
            <a:ln>
              <a:noFill/>
            </a:ln>
          </p:spPr>
          <p:txBody>
            <a:bodyPr wrap="none" lIns="0" tIns="0" rIns="0" bIns="0" anchor="t" anchorCtr="0">
              <a:spAutoFit/>
            </a:bodyPr>
            <a:lstStyle/>
            <a:p>
              <a:pPr algn="ctr"/>
              <a:r>
                <a:rPr lang="en-IN" sz="940" b="1" dirty="0">
                  <a:solidFill>
                    <a:srgbClr val="1D2939"/>
                  </a:solidFill>
                  <a:latin typeface="Calibri"/>
                  <a:ea typeface="Calibri"/>
                  <a:cs typeface="Calibri"/>
                </a:rPr>
                <a:t>Prototype live</a:t>
              </a:r>
            </a:p>
          </p:txBody>
        </p:sp>
        <p:sp>
          <p:nvSpPr>
            <p:cNvPr id="122" name="TextBox 122"/>
            <p:cNvSpPr txBox="1"/>
            <p:nvPr/>
          </p:nvSpPr>
          <p:spPr>
            <a:xfrm>
              <a:off x="6615285" y="5703570"/>
              <a:ext cx="790231" cy="176212"/>
            </a:xfrm>
            <a:prstGeom prst="rect">
              <a:avLst/>
            </a:prstGeom>
            <a:noFill/>
            <a:ln>
              <a:noFill/>
            </a:ln>
          </p:spPr>
          <p:txBody>
            <a:bodyPr wrap="none" lIns="0" tIns="0" rIns="0" bIns="0" anchor="t" anchorCtr="0">
              <a:spAutoFit/>
            </a:bodyPr>
            <a:lstStyle/>
            <a:p>
              <a:pPr algn="ctr"/>
              <a:r>
                <a:rPr lang="en-IN" sz="900" dirty="0">
                  <a:solidFill>
                    <a:srgbClr val="667085"/>
                  </a:solidFill>
                  <a:latin typeface="Calibri"/>
                  <a:ea typeface="Calibri"/>
                  <a:cs typeface="Calibri"/>
                </a:rPr>
                <a:t>+ 837-work trial</a:t>
              </a:r>
            </a:p>
          </p:txBody>
        </p:sp>
        <p:sp>
          <p:nvSpPr>
            <p:cNvPr id="123" name="Ellipse 123"/>
            <p:cNvSpPr/>
            <p:nvPr/>
          </p:nvSpPr>
          <p:spPr>
            <a:xfrm>
              <a:off x="7972425" y="5076825"/>
              <a:ext cx="323850" cy="323850"/>
            </a:xfrm>
            <a:prstGeom prst="ellipse">
              <a:avLst/>
            </a:prstGeom>
            <a:solidFill>
              <a:srgbClr val="0B3D6E"/>
            </a:solidFill>
            <a:ln>
              <a:noFill/>
            </a:ln>
          </p:spPr>
        </p:sp>
        <p:sp>
          <p:nvSpPr>
            <p:cNvPr id="124" name="TextBox 124"/>
            <p:cNvSpPr txBox="1"/>
            <p:nvPr/>
          </p:nvSpPr>
          <p:spPr>
            <a:xfrm>
              <a:off x="8033159" y="5176361"/>
              <a:ext cx="202383" cy="190690"/>
            </a:xfrm>
            <a:prstGeom prst="rect">
              <a:avLst/>
            </a:prstGeom>
            <a:noFill/>
            <a:ln>
              <a:noFill/>
            </a:ln>
          </p:spPr>
          <p:txBody>
            <a:bodyPr wrap="none" lIns="0" tIns="0" rIns="0" bIns="0" anchor="t" anchorCtr="0">
              <a:spAutoFit/>
            </a:bodyPr>
            <a:lstStyle/>
            <a:p>
              <a:pPr algn="ctr"/>
              <a:r>
                <a:rPr lang="en-IN" sz="980" b="1" dirty="0">
                  <a:solidFill>
                    <a:srgbClr val="FFFFFF"/>
                  </a:solidFill>
                  <a:latin typeface="Calibri"/>
                  <a:ea typeface="Calibri"/>
                  <a:cs typeface="Calibri"/>
                </a:rPr>
                <a:t>M1</a:t>
              </a:r>
            </a:p>
          </p:txBody>
        </p:sp>
        <p:sp>
          <p:nvSpPr>
            <p:cNvPr id="125" name="TextBox 125"/>
            <p:cNvSpPr txBox="1"/>
            <p:nvPr/>
          </p:nvSpPr>
          <p:spPr>
            <a:xfrm>
              <a:off x="7807972" y="5537597"/>
              <a:ext cx="652756" cy="183356"/>
            </a:xfrm>
            <a:prstGeom prst="rect">
              <a:avLst/>
            </a:prstGeom>
            <a:noFill/>
            <a:ln>
              <a:noFill/>
            </a:ln>
          </p:spPr>
          <p:txBody>
            <a:bodyPr wrap="none" lIns="0" tIns="0" rIns="0" bIns="0" anchor="t" anchorCtr="0">
              <a:spAutoFit/>
            </a:bodyPr>
            <a:lstStyle/>
            <a:p>
              <a:pPr algn="ctr"/>
              <a:r>
                <a:rPr lang="en-IN" sz="940" b="1" dirty="0">
                  <a:solidFill>
                    <a:srgbClr val="1D2939"/>
                  </a:solidFill>
                  <a:latin typeface="Calibri"/>
                  <a:ea typeface="Calibri"/>
                  <a:cs typeface="Calibri"/>
                </a:rPr>
                <a:t>Document +</a:t>
              </a:r>
            </a:p>
          </p:txBody>
        </p:sp>
        <p:sp>
          <p:nvSpPr>
            <p:cNvPr id="126" name="TextBox 126"/>
            <p:cNvSpPr txBox="1"/>
            <p:nvPr/>
          </p:nvSpPr>
          <p:spPr>
            <a:xfrm>
              <a:off x="7862609" y="5703570"/>
              <a:ext cx="543481" cy="176212"/>
            </a:xfrm>
            <a:prstGeom prst="rect">
              <a:avLst/>
            </a:prstGeom>
            <a:noFill/>
            <a:ln>
              <a:noFill/>
            </a:ln>
          </p:spPr>
          <p:txBody>
            <a:bodyPr wrap="none" lIns="0" tIns="0" rIns="0" bIns="0" anchor="t" anchorCtr="0">
              <a:spAutoFit/>
            </a:bodyPr>
            <a:lstStyle/>
            <a:p>
              <a:pPr algn="ctr"/>
              <a:r>
                <a:rPr lang="en-IN" sz="900" dirty="0">
                  <a:solidFill>
                    <a:srgbClr val="667085"/>
                  </a:solidFill>
                  <a:latin typeface="Calibri"/>
                  <a:ea typeface="Calibri"/>
                  <a:cs typeface="Calibri"/>
                </a:rPr>
                <a:t>Contractor</a:t>
              </a:r>
            </a:p>
          </p:txBody>
        </p:sp>
        <p:sp>
          <p:nvSpPr>
            <p:cNvPr id="127" name="Ellipse 127"/>
            <p:cNvSpPr/>
            <p:nvPr/>
          </p:nvSpPr>
          <p:spPr>
            <a:xfrm>
              <a:off x="9096375" y="5076825"/>
              <a:ext cx="323850" cy="323850"/>
            </a:xfrm>
            <a:prstGeom prst="ellipse">
              <a:avLst/>
            </a:prstGeom>
            <a:solidFill>
              <a:srgbClr val="0B3D6E"/>
            </a:solidFill>
            <a:ln>
              <a:noFill/>
            </a:ln>
          </p:spPr>
        </p:sp>
        <p:sp>
          <p:nvSpPr>
            <p:cNvPr id="128" name="TextBox 128"/>
            <p:cNvSpPr txBox="1"/>
            <p:nvPr/>
          </p:nvSpPr>
          <p:spPr>
            <a:xfrm>
              <a:off x="9157109" y="5176361"/>
              <a:ext cx="202383" cy="190690"/>
            </a:xfrm>
            <a:prstGeom prst="rect">
              <a:avLst/>
            </a:prstGeom>
            <a:noFill/>
            <a:ln>
              <a:noFill/>
            </a:ln>
          </p:spPr>
          <p:txBody>
            <a:bodyPr wrap="none" lIns="0" tIns="0" rIns="0" bIns="0" anchor="t" anchorCtr="0">
              <a:spAutoFit/>
            </a:bodyPr>
            <a:lstStyle/>
            <a:p>
              <a:pPr algn="ctr"/>
              <a:r>
                <a:rPr lang="en-IN" sz="980" b="1" dirty="0">
                  <a:solidFill>
                    <a:srgbClr val="FFFFFF"/>
                  </a:solidFill>
                  <a:latin typeface="Calibri"/>
                  <a:ea typeface="Calibri"/>
                  <a:cs typeface="Calibri"/>
                </a:rPr>
                <a:t>M2</a:t>
              </a:r>
            </a:p>
          </p:txBody>
        </p:sp>
        <p:sp>
          <p:nvSpPr>
            <p:cNvPr id="129" name="TextBox 129"/>
            <p:cNvSpPr txBox="1"/>
            <p:nvPr/>
          </p:nvSpPr>
          <p:spPr>
            <a:xfrm>
              <a:off x="8995957" y="5537597"/>
              <a:ext cx="524686" cy="183356"/>
            </a:xfrm>
            <a:prstGeom prst="rect">
              <a:avLst/>
            </a:prstGeom>
            <a:noFill/>
            <a:ln>
              <a:noFill/>
            </a:ln>
          </p:spPr>
          <p:txBody>
            <a:bodyPr wrap="none" lIns="0" tIns="0" rIns="0" bIns="0" anchor="t" anchorCtr="0">
              <a:spAutoFit/>
            </a:bodyPr>
            <a:lstStyle/>
            <a:p>
              <a:pPr algn="ctr"/>
              <a:r>
                <a:rPr lang="en-IN" sz="940" b="1" dirty="0">
                  <a:solidFill>
                    <a:srgbClr val="1D2939"/>
                  </a:solidFill>
                  <a:latin typeface="Calibri"/>
                  <a:ea typeface="Calibri"/>
                  <a:cs typeface="Calibri"/>
                </a:rPr>
                <a:t>Eligibility,</a:t>
              </a:r>
            </a:p>
          </p:txBody>
        </p:sp>
        <p:sp>
          <p:nvSpPr>
            <p:cNvPr id="130" name="TextBox 130"/>
            <p:cNvSpPr txBox="1"/>
            <p:nvPr/>
          </p:nvSpPr>
          <p:spPr>
            <a:xfrm>
              <a:off x="8911175" y="5703570"/>
              <a:ext cx="694249" cy="176212"/>
            </a:xfrm>
            <a:prstGeom prst="rect">
              <a:avLst/>
            </a:prstGeom>
            <a:noFill/>
            <a:ln>
              <a:noFill/>
            </a:ln>
          </p:spPr>
          <p:txBody>
            <a:bodyPr wrap="none" lIns="0" tIns="0" rIns="0" bIns="0" anchor="t" anchorCtr="0">
              <a:spAutoFit/>
            </a:bodyPr>
            <a:lstStyle/>
            <a:p>
              <a:pPr algn="ctr"/>
              <a:r>
                <a:rPr lang="en-IN" sz="900" dirty="0">
                  <a:solidFill>
                    <a:srgbClr val="667085"/>
                  </a:solidFill>
                  <a:latin typeface="Calibri"/>
                  <a:ea typeface="Calibri"/>
                  <a:cs typeface="Calibri"/>
                </a:rPr>
                <a:t>splits, repeats</a:t>
              </a:r>
            </a:p>
          </p:txBody>
        </p:sp>
        <p:sp>
          <p:nvSpPr>
            <p:cNvPr id="131" name="Ellipse 131"/>
            <p:cNvSpPr/>
            <p:nvPr/>
          </p:nvSpPr>
          <p:spPr>
            <a:xfrm>
              <a:off x="10220325" y="5076825"/>
              <a:ext cx="323850" cy="323850"/>
            </a:xfrm>
            <a:prstGeom prst="ellipse">
              <a:avLst/>
            </a:prstGeom>
            <a:solidFill>
              <a:srgbClr val="0B3D6E"/>
            </a:solidFill>
            <a:ln>
              <a:noFill/>
            </a:ln>
          </p:spPr>
        </p:sp>
        <p:sp>
          <p:nvSpPr>
            <p:cNvPr id="132" name="TextBox 132"/>
            <p:cNvSpPr txBox="1"/>
            <p:nvPr/>
          </p:nvSpPr>
          <p:spPr>
            <a:xfrm>
              <a:off x="10281059" y="5176361"/>
              <a:ext cx="202383" cy="190690"/>
            </a:xfrm>
            <a:prstGeom prst="rect">
              <a:avLst/>
            </a:prstGeom>
            <a:noFill/>
            <a:ln>
              <a:noFill/>
            </a:ln>
          </p:spPr>
          <p:txBody>
            <a:bodyPr wrap="none" lIns="0" tIns="0" rIns="0" bIns="0" anchor="t" anchorCtr="0">
              <a:spAutoFit/>
            </a:bodyPr>
            <a:lstStyle/>
            <a:p>
              <a:pPr algn="ctr"/>
              <a:r>
                <a:rPr lang="en-IN" sz="980" b="1" dirty="0">
                  <a:solidFill>
                    <a:srgbClr val="FFFFFF"/>
                  </a:solidFill>
                  <a:latin typeface="Calibri"/>
                  <a:ea typeface="Calibri"/>
                  <a:cs typeface="Calibri"/>
                </a:rPr>
                <a:t>M3</a:t>
              </a:r>
            </a:p>
          </p:txBody>
        </p:sp>
        <p:sp>
          <p:nvSpPr>
            <p:cNvPr id="133" name="TextBox 133"/>
            <p:cNvSpPr txBox="1"/>
            <p:nvPr/>
          </p:nvSpPr>
          <p:spPr>
            <a:xfrm>
              <a:off x="10171780" y="5537597"/>
              <a:ext cx="420940" cy="183356"/>
            </a:xfrm>
            <a:prstGeom prst="rect">
              <a:avLst/>
            </a:prstGeom>
            <a:noFill/>
            <a:ln>
              <a:noFill/>
            </a:ln>
          </p:spPr>
          <p:txBody>
            <a:bodyPr wrap="none" lIns="0" tIns="0" rIns="0" bIns="0" anchor="t" anchorCtr="0">
              <a:spAutoFit/>
            </a:bodyPr>
            <a:lstStyle/>
            <a:p>
              <a:pPr algn="ctr"/>
              <a:r>
                <a:rPr lang="en-IN" sz="940" b="1" dirty="0">
                  <a:solidFill>
                    <a:srgbClr val="1D2939"/>
                  </a:solidFill>
                  <a:latin typeface="Calibri"/>
                  <a:ea typeface="Calibri"/>
                  <a:cs typeface="Calibri"/>
                </a:rPr>
                <a:t>Photo +</a:t>
              </a:r>
            </a:p>
          </p:txBody>
        </p:sp>
        <p:sp>
          <p:nvSpPr>
            <p:cNvPr id="134" name="TextBox 134"/>
            <p:cNvSpPr txBox="1"/>
            <p:nvPr/>
          </p:nvSpPr>
          <p:spPr>
            <a:xfrm>
              <a:off x="10097291" y="5703570"/>
              <a:ext cx="569918" cy="176212"/>
            </a:xfrm>
            <a:prstGeom prst="rect">
              <a:avLst/>
            </a:prstGeom>
            <a:noFill/>
            <a:ln>
              <a:noFill/>
            </a:ln>
          </p:spPr>
          <p:txBody>
            <a:bodyPr wrap="none" lIns="0" tIns="0" rIns="0" bIns="0" anchor="t" anchorCtr="0">
              <a:spAutoFit/>
            </a:bodyPr>
            <a:lstStyle/>
            <a:p>
              <a:pPr algn="ctr"/>
              <a:r>
                <a:rPr lang="en-IN" sz="900" dirty="0">
                  <a:solidFill>
                    <a:srgbClr val="667085"/>
                  </a:solidFill>
                  <a:latin typeface="Calibri"/>
                  <a:ea typeface="Calibri"/>
                  <a:cs typeface="Calibri"/>
                </a:rPr>
                <a:t>Geo checks</a:t>
              </a:r>
            </a:p>
          </p:txBody>
        </p:sp>
        <p:sp>
          <p:nvSpPr>
            <p:cNvPr id="135" name="Ellipse 135"/>
            <p:cNvSpPr/>
            <p:nvPr/>
          </p:nvSpPr>
          <p:spPr>
            <a:xfrm>
              <a:off x="11344275" y="5076825"/>
              <a:ext cx="323850" cy="323850"/>
            </a:xfrm>
            <a:prstGeom prst="ellipse">
              <a:avLst/>
            </a:prstGeom>
            <a:solidFill>
              <a:srgbClr val="0B3D6E"/>
            </a:solidFill>
            <a:ln>
              <a:noFill/>
            </a:ln>
          </p:spPr>
        </p:sp>
        <p:sp>
          <p:nvSpPr>
            <p:cNvPr id="136" name="TextBox 136"/>
            <p:cNvSpPr txBox="1"/>
            <p:nvPr/>
          </p:nvSpPr>
          <p:spPr>
            <a:xfrm>
              <a:off x="11362313" y="5192554"/>
              <a:ext cx="287774" cy="161925"/>
            </a:xfrm>
            <a:prstGeom prst="rect">
              <a:avLst/>
            </a:prstGeom>
            <a:noFill/>
            <a:ln>
              <a:noFill/>
            </a:ln>
          </p:spPr>
          <p:txBody>
            <a:bodyPr wrap="none" lIns="0" tIns="0" rIns="0" bIns="0" anchor="t" anchorCtr="0">
              <a:spAutoFit/>
            </a:bodyPr>
            <a:lstStyle/>
            <a:p>
              <a:pPr algn="ctr"/>
              <a:r>
                <a:rPr lang="en-IN" sz="820" b="1" dirty="0">
                  <a:solidFill>
                    <a:srgbClr val="FFFFFF"/>
                  </a:solidFill>
                  <a:latin typeface="Calibri"/>
                  <a:ea typeface="Calibri"/>
                  <a:cs typeface="Calibri"/>
                </a:rPr>
                <a:t>M4–6</a:t>
              </a:r>
            </a:p>
          </p:txBody>
        </p:sp>
        <p:sp>
          <p:nvSpPr>
            <p:cNvPr id="137" name="TextBox 137"/>
            <p:cNvSpPr txBox="1"/>
            <p:nvPr/>
          </p:nvSpPr>
          <p:spPr>
            <a:xfrm>
              <a:off x="11238059" y="5537597"/>
              <a:ext cx="536283" cy="183356"/>
            </a:xfrm>
            <a:prstGeom prst="rect">
              <a:avLst/>
            </a:prstGeom>
            <a:noFill/>
            <a:ln>
              <a:noFill/>
            </a:ln>
          </p:spPr>
          <p:txBody>
            <a:bodyPr wrap="none" lIns="0" tIns="0" rIns="0" bIns="0" anchor="t" anchorCtr="0">
              <a:spAutoFit/>
            </a:bodyPr>
            <a:lstStyle/>
            <a:p>
              <a:pPr algn="ctr"/>
              <a:r>
                <a:rPr lang="en-IN" sz="940" b="1" dirty="0">
                  <a:solidFill>
                    <a:srgbClr val="1D2939"/>
                  </a:solidFill>
                  <a:latin typeface="Calibri"/>
                  <a:ea typeface="Calibri"/>
                  <a:cs typeface="Calibri"/>
                </a:rPr>
                <a:t>AI reader,</a:t>
              </a:r>
            </a:p>
          </p:txBody>
        </p:sp>
        <p:sp>
          <p:nvSpPr>
            <p:cNvPr id="138" name="TextBox 138"/>
            <p:cNvSpPr txBox="1"/>
            <p:nvPr/>
          </p:nvSpPr>
          <p:spPr>
            <a:xfrm>
              <a:off x="11286800" y="5703570"/>
              <a:ext cx="438800" cy="176212"/>
            </a:xfrm>
            <a:prstGeom prst="rect">
              <a:avLst/>
            </a:prstGeom>
            <a:noFill/>
            <a:ln>
              <a:noFill/>
            </a:ln>
          </p:spPr>
          <p:txBody>
            <a:bodyPr wrap="none" lIns="0" tIns="0" rIns="0" bIns="0" anchor="t" anchorCtr="0">
              <a:spAutoFit/>
            </a:bodyPr>
            <a:lstStyle/>
            <a:p>
              <a:pPr algn="ctr"/>
              <a:r>
                <a:rPr lang="en-IN" sz="900" dirty="0">
                  <a:solidFill>
                    <a:srgbClr val="667085"/>
                  </a:solidFill>
                  <a:latin typeface="Calibri"/>
                  <a:ea typeface="Calibri"/>
                  <a:cs typeface="Calibri"/>
                </a:rPr>
                <a:t>field app</a:t>
              </a:r>
            </a:p>
          </p:txBody>
        </p:sp>
      </p:grpSp>
    </p:spTree>
    <p:extLst>
      <p:ext uri="{BB962C8B-B14F-4D97-AF65-F5344CB8AC3E}">
        <p14:creationId val="2997144140"/>
      </p:ext>
    </p:extLst>
  </p:cSld>
  <p:clrMapOvr>
    <a:masterClrMapping/>
  </p:clrMapOvr>
</p:sld>
</file>

<file path=ppt/slides/slide6.xml><?xml version="1.0" encoding="utf-8"?>
<p:sld xmlns:a="http://schemas.openxmlformats.org/drawingml/2006/main" xmlns:a14="http://schemas.microsoft.com/office/drawing/2010/main" xmlns:ns2="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10" name="Rectangle 9">
            <a:extLst>
              <a:ext uri="{FF2B5EF4-FFF2-40B4-BE49-F238E27FC236}">
                <ns2:creationId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p:cNvSpPr/>
          <p:nvPr/>
        </p:nvSpPr>
        <p:spPr>
          <a:xfrm>
            <a:off x="329756" y="252222"/>
            <a:ext cx="1251871" cy="807339"/>
          </a:xfrm>
          <a:prstGeom prst="ellipse">
            <a:avLst/>
          </a:prstGeom>
          <a:solidFill>
            <a:srgbClr val="FFFFFF"/>
          </a:solidFill>
          <a:ln w="9525">
            <a:solidFill>
              <a:srgbClr val="8064A2"/>
            </a:solidFill>
          </a:ln>
        </p:spPr>
        <p:txBody>
          <a:bodyPr wrap="none" lIns="95" tIns="290798" rIns="0" bIns="0" anchor="t" anchorCtr="0">
            <a:noAutofit/>
          </a:bodyPr>
          <a:lstStyle/>
          <a:p>
            <a:pPr algn="ctr"/>
            <a:r>
              <a:rPr lang="en-IN" sz="1580" b="1" dirty="0">
                <a:solidFill>
                  <a:srgbClr val="0B3D6E"/>
                </a:solidFill>
                <a:latin typeface="Calibri"/>
                <a:ea typeface="Calibri"/>
                <a:cs typeface="Calibri"/>
              </a:rPr>
              <a:t>NeuralNexus</a:t>
            </a:r>
          </a:p>
        </p:txBody>
      </p:sp>
      <p:pic>
        <p:nvPicPr>
          <p:cNvPr id="12" name="Picture 11"/>
          <p:cNvPicPr>
            <a:picLocks noChangeAspect="1"/>
          </p:cNvPicPr>
          <p:nvPr/>
        </p:nvPicPr>
        <p:blipFill>
          <a:blip r:embed="rId3">
            <a:extLst>
              <a:ext uri="{28A0092B-C50C-407E-A947-70E740481C1C}">
                <a14:useLocalDpi val="0"/>
              </a:ext>
            </a:extLst>
          </a:blip>
          <a:stretch>
            <a:fillRect/>
          </a:stretch>
        </p:blipFill>
        <p:spPr>
          <a:xfrm>
            <a:off x="9780086" y="1500"/>
            <a:ext cx="2249850" cy="1062337"/>
          </a:xfrm>
          <a:prstGeom prst="rect">
            <a:avLst/>
          </a:prstGeom>
        </p:spPr>
      </p:pic>
      <p:grpSp>
        <p:nvGrpSpPr>
          <p:cNvPr id="52" name="references"/>
          <p:cNvGrpSpPr/>
          <p:nvPr/>
        </p:nvGrpSpPr>
        <p:grpSpPr>
          <a:xfrm>
            <a:off x="300038" y="1231106"/>
            <a:ext cx="5224462" cy="3572351"/>
            <a:chOff x="300038" y="1231106"/>
            <a:chExt cx="5224462" cy="3572351"/>
          </a:xfrm>
        </p:grpSpPr>
        <p:sp>
          <p:nvSpPr>
            <p:cNvPr id="13" name="Polygon 13"/>
            <p:cNvSpPr/>
            <p:nvPr/>
          </p:nvSpPr>
          <p:spPr>
            <a:xfrm>
              <a:off x="304800" y="1257776"/>
              <a:ext cx="95250" cy="95250"/>
            </a:xfrm>
            <a:custGeom>
              <a:avLst/>
              <a:gdLst/>
              <a:ahLst/>
              <a:cxnLst/>
              <a:rect l="l" t="t" r="r" b="b"/>
              <a:pathLst>
                <a:path w="95250" h="95250">
                  <a:moveTo>
                    <a:pt x="47625" y="0"/>
                  </a:moveTo>
                  <a:lnTo>
                    <a:pt x="95250" y="47625"/>
                  </a:lnTo>
                  <a:lnTo>
                    <a:pt x="47625" y="95250"/>
                  </a:lnTo>
                  <a:lnTo>
                    <a:pt x="0" y="47625"/>
                  </a:lnTo>
                  <a:close/>
                </a:path>
              </a:pathLst>
            </a:custGeom>
            <a:solidFill>
              <a:srgbClr val="E8871E"/>
            </a:solidFill>
            <a:ln>
              <a:noFill/>
            </a:ln>
          </p:spPr>
        </p:sp>
        <p:sp>
          <p:nvSpPr>
            <p:cNvPr id="14" name="TextBox 14"/>
            <p:cNvSpPr txBox="1"/>
            <p:nvPr/>
          </p:nvSpPr>
          <p:spPr>
            <a:xfrm>
              <a:off x="451485" y="1231106"/>
              <a:ext cx="3137177" cy="220028"/>
            </a:xfrm>
            <a:prstGeom prst="rect">
              <a:avLst/>
            </a:prstGeom>
            <a:noFill/>
            <a:ln>
              <a:noFill/>
            </a:ln>
          </p:spPr>
          <p:txBody>
            <a:bodyPr wrap="none" lIns="0" tIns="0" rIns="0" bIns="0" anchor="t" anchorCtr="0">
              <a:spAutoFit/>
            </a:bodyPr>
            <a:lstStyle/>
            <a:p>
              <a:pPr algn="l"/>
              <a:r>
                <a:rPr lang="en-IN" sz="1120" b="1" dirty="0">
                  <a:solidFill>
                    <a:srgbClr val="0B3D6E"/>
                  </a:solidFill>
                  <a:latin typeface="Calibri"/>
                  <a:ea typeface="Calibri"/>
                  <a:cs typeface="Calibri"/>
                </a:rPr>
                <a:t>Details / Links of the reference and research work</a:t>
              </a:r>
            </a:p>
          </p:txBody>
        </p:sp>
        <p:sp>
          <p:nvSpPr>
            <p:cNvPr id="15" name="Line 15"/>
            <p:cNvSpPr/>
            <p:nvPr/>
          </p:nvSpPr>
          <p:spPr>
            <a:xfrm>
              <a:off x="304800" y="1419225"/>
              <a:ext cx="5219700" cy="9525"/>
            </a:xfrm>
            <a:custGeom>
              <a:avLst/>
              <a:gdLst/>
              <a:ahLst/>
              <a:cxnLst/>
              <a:rect l="l" t="t" r="r" b="b"/>
              <a:pathLst>
                <a:path w="5219700" h="9525">
                  <a:moveTo>
                    <a:pt x="0" y="0"/>
                  </a:moveTo>
                  <a:lnTo>
                    <a:pt x="5219700" y="0"/>
                  </a:lnTo>
                </a:path>
              </a:pathLst>
            </a:custGeom>
            <a:noFill/>
            <a:ln w="9525">
              <a:solidFill>
                <a:srgbClr val="D0D5DD"/>
              </a:solidFill>
            </a:ln>
          </p:spPr>
        </p:sp>
        <p:grpSp>
          <p:nvGrpSpPr>
            <p:cNvPr id="18" name="Group 18"/>
            <p:cNvGrpSpPr/>
            <p:nvPr/>
          </p:nvGrpSpPr>
          <p:grpSpPr>
            <a:xfrm>
              <a:off x="309562" y="1519005"/>
              <a:ext cx="142875" cy="114532"/>
              <a:chOff x="309562" y="1519005"/>
              <a:chExt cx="142875" cy="114532"/>
            </a:xfrm>
          </p:grpSpPr>
          <p:sp>
            <p:nvSpPr>
              <p:cNvPr id="16" name="Freeform 16"/>
              <p:cNvSpPr/>
              <p:nvPr/>
            </p:nvSpPr>
            <p:spPr>
              <a:xfrm>
                <a:off x="319088" y="1524000"/>
                <a:ext cx="123825" cy="38100"/>
              </a:xfrm>
              <a:custGeom>
                <a:avLst/>
                <a:gdLst/>
                <a:ahLst/>
                <a:cxnLst/>
                <a:rect l="l" t="t" r="r" b="b"/>
                <a:pathLst>
                  <a:path w="123825" h="38100">
                    <a:moveTo>
                      <a:pt x="123825" y="38100"/>
                    </a:moveTo>
                    <a:lnTo>
                      <a:pt x="0" y="38100"/>
                    </a:lnTo>
                    <a:lnTo>
                      <a:pt x="61912" y="0"/>
                    </a:lnTo>
                    <a:close/>
                  </a:path>
                </a:pathLst>
              </a:custGeom>
              <a:solidFill>
                <a:srgbClr val="1E7B45">
                  <a:alpha val="20000"/>
                </a:srgbClr>
              </a:solidFill>
              <a:ln>
                <a:noFill/>
              </a:ln>
            </p:spPr>
          </p:sp>
          <p:sp>
            <p:nvSpPr>
              <p:cNvPr id="17" name="Freeform 17"/>
              <p:cNvSpPr/>
              <p:nvPr/>
            </p:nvSpPr>
            <p:spPr>
              <a:xfrm>
                <a:off x="309562" y="1519005"/>
                <a:ext cx="142875" cy="114532"/>
              </a:xfrm>
              <a:custGeom>
                <a:avLst/>
                <a:gdLst/>
                <a:ahLst/>
                <a:cxnLst/>
                <a:rect l="l" t="t" r="r" b="b"/>
                <a:pathLst>
                  <a:path w="142875" h="114532">
                    <a:moveTo>
                      <a:pt x="9525" y="47857"/>
                    </a:moveTo>
                    <a:lnTo>
                      <a:pt x="23812" y="47857"/>
                    </a:lnTo>
                    <a:lnTo>
                      <a:pt x="23812" y="85957"/>
                    </a:lnTo>
                    <a:lnTo>
                      <a:pt x="14288" y="85957"/>
                    </a:lnTo>
                    <a:cubicBezTo>
                      <a:pt x="11657" y="85957"/>
                      <a:pt x="9525" y="88089"/>
                      <a:pt x="9525" y="90720"/>
                    </a:cubicBezTo>
                    <a:cubicBezTo>
                      <a:pt x="9525" y="93350"/>
                      <a:pt x="11657" y="95482"/>
                      <a:pt x="14288" y="95482"/>
                    </a:cubicBezTo>
                    <a:lnTo>
                      <a:pt x="128588" y="95482"/>
                    </a:lnTo>
                    <a:cubicBezTo>
                      <a:pt x="131218" y="95482"/>
                      <a:pt x="133350" y="93350"/>
                      <a:pt x="133350" y="90720"/>
                    </a:cubicBezTo>
                    <a:cubicBezTo>
                      <a:pt x="133350" y="88089"/>
                      <a:pt x="131218" y="85957"/>
                      <a:pt x="128588" y="85957"/>
                    </a:cubicBezTo>
                    <a:lnTo>
                      <a:pt x="119062" y="85957"/>
                    </a:lnTo>
                    <a:lnTo>
                      <a:pt x="119062" y="47857"/>
                    </a:lnTo>
                    <a:lnTo>
                      <a:pt x="133350" y="47857"/>
                    </a:lnTo>
                    <a:cubicBezTo>
                      <a:pt x="135479" y="47855"/>
                      <a:pt x="137348" y="46440"/>
                      <a:pt x="137928" y="44391"/>
                    </a:cubicBezTo>
                    <a:cubicBezTo>
                      <a:pt x="138507" y="42342"/>
                      <a:pt x="137657" y="40158"/>
                      <a:pt x="135844" y="39041"/>
                    </a:cubicBezTo>
                    <a:lnTo>
                      <a:pt x="73932" y="941"/>
                    </a:lnTo>
                    <a:cubicBezTo>
                      <a:pt x="72402" y="0"/>
                      <a:pt x="70473" y="0"/>
                      <a:pt x="68943" y="941"/>
                    </a:cubicBezTo>
                    <a:lnTo>
                      <a:pt x="7031" y="39041"/>
                    </a:lnTo>
                    <a:cubicBezTo>
                      <a:pt x="5218" y="40158"/>
                      <a:pt x="4368" y="42342"/>
                      <a:pt x="4947" y="44391"/>
                    </a:cubicBezTo>
                    <a:cubicBezTo>
                      <a:pt x="5527" y="46440"/>
                      <a:pt x="7396" y="47855"/>
                      <a:pt x="9525" y="47857"/>
                    </a:cubicBezTo>
                    <a:close/>
                    <a:moveTo>
                      <a:pt x="33338" y="47857"/>
                    </a:moveTo>
                    <a:lnTo>
                      <a:pt x="52388" y="47857"/>
                    </a:lnTo>
                    <a:lnTo>
                      <a:pt x="52388" y="85957"/>
                    </a:lnTo>
                    <a:lnTo>
                      <a:pt x="33338" y="85957"/>
                    </a:lnTo>
                    <a:close/>
                    <a:moveTo>
                      <a:pt x="80962" y="47857"/>
                    </a:moveTo>
                    <a:lnTo>
                      <a:pt x="80962" y="85957"/>
                    </a:lnTo>
                    <a:lnTo>
                      <a:pt x="61912" y="85957"/>
                    </a:lnTo>
                    <a:lnTo>
                      <a:pt x="61912" y="47857"/>
                    </a:lnTo>
                    <a:close/>
                    <a:moveTo>
                      <a:pt x="109538" y="85957"/>
                    </a:moveTo>
                    <a:lnTo>
                      <a:pt x="90488" y="85957"/>
                    </a:lnTo>
                    <a:lnTo>
                      <a:pt x="90488" y="47857"/>
                    </a:lnTo>
                    <a:lnTo>
                      <a:pt x="109538" y="47857"/>
                    </a:lnTo>
                    <a:close/>
                    <a:moveTo>
                      <a:pt x="71438" y="10585"/>
                    </a:moveTo>
                    <a:lnTo>
                      <a:pt x="116526" y="38332"/>
                    </a:lnTo>
                    <a:lnTo>
                      <a:pt x="26349" y="38332"/>
                    </a:lnTo>
                    <a:close/>
                    <a:moveTo>
                      <a:pt x="142875" y="109770"/>
                    </a:moveTo>
                    <a:cubicBezTo>
                      <a:pt x="142875" y="112400"/>
                      <a:pt x="140743" y="114532"/>
                      <a:pt x="138112" y="114532"/>
                    </a:cubicBezTo>
                    <a:lnTo>
                      <a:pt x="4762" y="114532"/>
                    </a:lnTo>
                    <a:cubicBezTo>
                      <a:pt x="2132" y="114532"/>
                      <a:pt x="0" y="112400"/>
                      <a:pt x="0" y="109770"/>
                    </a:cubicBezTo>
                    <a:cubicBezTo>
                      <a:pt x="0" y="107139"/>
                      <a:pt x="2132" y="105007"/>
                      <a:pt x="4762" y="105007"/>
                    </a:cubicBezTo>
                    <a:lnTo>
                      <a:pt x="138112" y="105007"/>
                    </a:lnTo>
                    <a:cubicBezTo>
                      <a:pt x="140743" y="105007"/>
                      <a:pt x="142875" y="107139"/>
                      <a:pt x="142875" y="109770"/>
                    </a:cubicBezTo>
                    <a:close/>
                  </a:path>
                </a:pathLst>
              </a:custGeom>
              <a:solidFill>
                <a:srgbClr val="1E7B45"/>
              </a:solidFill>
              <a:ln>
                <a:noFill/>
              </a:ln>
            </p:spPr>
          </p:sp>
        </p:grpSp>
        <p:sp>
          <p:nvSpPr>
            <p:cNvPr id="19" name="TextBox 19"/>
            <p:cNvSpPr txBox="1"/>
            <p:nvPr/>
          </p:nvSpPr>
          <p:spPr>
            <a:xfrm>
              <a:off x="509588" y="1535668"/>
              <a:ext cx="1826060" cy="169069"/>
            </a:xfrm>
            <a:prstGeom prst="rect">
              <a:avLst/>
            </a:prstGeom>
            <a:noFill/>
            <a:ln>
              <a:noFill/>
            </a:ln>
          </p:spPr>
          <p:txBody>
            <a:bodyPr wrap="none" lIns="0" tIns="0" rIns="0" bIns="0" anchor="t" anchorCtr="0">
              <a:spAutoFit/>
            </a:bodyPr>
            <a:lstStyle/>
            <a:p>
              <a:pPr algn="l"/>
              <a:r>
                <a:rPr lang="en-IN" sz="860" b="1" dirty="0">
                  <a:solidFill>
                    <a:srgbClr val="1E7B45"/>
                  </a:solidFill>
                  <a:latin typeface="Calibri"/>
                  <a:ea typeface="Calibri"/>
                  <a:cs typeface="Calibri"/>
                </a:rPr>
                <a:t>GOVERNMENT &amp; SCHEME SOURCES</a:t>
              </a:r>
            </a:p>
          </p:txBody>
        </p:sp>
        <p:sp>
          <p:nvSpPr>
            <p:cNvPr id="20" name="TextBox 20"/>
            <p:cNvSpPr txBox="1"/>
            <p:nvPr/>
          </p:nvSpPr>
          <p:spPr>
            <a:xfrm>
              <a:off x="300038" y="1703070"/>
              <a:ext cx="70928" cy="176212"/>
            </a:xfrm>
            <a:prstGeom prst="rect">
              <a:avLst/>
            </a:prstGeom>
            <a:noFill/>
            <a:ln>
              <a:noFill/>
            </a:ln>
          </p:spPr>
          <p:txBody>
            <a:bodyPr wrap="none" lIns="0" tIns="0" rIns="0" bIns="0" anchor="t" anchorCtr="0">
              <a:spAutoFit/>
            </a:bodyPr>
            <a:lstStyle/>
            <a:p>
              <a:pPr algn="l"/>
              <a:r>
                <a:rPr lang="en-IN" sz="900" b="1" dirty="0">
                  <a:solidFill>
                    <a:srgbClr val="0B3D6E"/>
                  </a:solidFill>
                  <a:latin typeface="Calibri"/>
                  <a:ea typeface="Calibri"/>
                  <a:cs typeface="Calibri"/>
                </a:rPr>
                <a:t>1</a:t>
              </a:r>
            </a:p>
          </p:txBody>
        </p:sp>
        <p:sp>
          <p:nvSpPr>
            <p:cNvPr id="21" name="TextBox 21"/>
            <p:cNvSpPr txBox="1"/>
            <p:nvPr/>
          </p:nvSpPr>
          <p:spPr>
            <a:xfrm>
              <a:off x="471488" y="1703070"/>
              <a:ext cx="4039675" cy="176212"/>
            </a:xfrm>
            <a:prstGeom prst="rect">
              <a:avLst/>
            </a:prstGeom>
            <a:noFill/>
            <a:ln>
              <a:noFill/>
            </a:ln>
          </p:spPr>
          <p:txBody>
            <a:bodyPr wrap="none" lIns="0" tIns="0" rIns="0" bIns="0" anchor="t" anchorCtr="0">
              <a:spAutoFit/>
            </a:bodyPr>
            <a:lstStyle/>
            <a:p>
              <a:pPr algn="l"/>
              <a:r>
                <a:rPr lang="en-IN" sz="900" dirty="0">
                  <a:solidFill>
                    <a:srgbClr val="1D2939"/>
                  </a:solidFill>
                  <a:latin typeface="Calibri"/>
                  <a:ea typeface="Calibri"/>
                  <a:cs typeface="Calibri"/>
                </a:rPr>
                <a:t>MoSPI — Guidelines on MPLADS (June 2016), paras 2.1, 3.12, 3.13, 3.22, 4.4, 6.4</a:t>
              </a:r>
            </a:p>
          </p:txBody>
        </p:sp>
        <p:sp>
          <p:nvSpPr>
            <p:cNvPr id="22" name="TextBox 22"/>
            <p:cNvSpPr txBox="1"/>
            <p:nvPr/>
          </p:nvSpPr>
          <p:spPr>
            <a:xfrm>
              <a:off x="471488" y="1853327"/>
              <a:ext cx="4325604" cy="154781"/>
            </a:xfrm>
            <a:prstGeom prst="rect">
              <a:avLst/>
            </a:prstGeom>
            <a:noFill/>
            <a:ln>
              <a:noFill/>
            </a:ln>
          </p:spPr>
          <p:txBody>
            <a:bodyPr wrap="none" lIns="0" tIns="0" rIns="0" bIns="0" anchor="t" anchorCtr="0">
              <a:spAutoFit/>
            </a:bodyPr>
            <a:lstStyle/>
            <a:p>
              <a:pPr algn="l"/>
              <a:r>
                <a:rPr lang="en-IN" sz="790" dirty="0">
                  <a:solidFill>
                    <a:srgbClr val="0070C0"/>
                  </a:solidFill>
                  <a:latin typeface="Calibri"/>
                  <a:ea typeface="Calibri"/>
                  <a:cs typeface="Calibri"/>
                </a:rPr>
                <a:t>cdnbbsr.s3waas.gov.in/s3c3614206a443012045cfd75d2600af2d/uploads/2023/02/2023020891.pdf</a:t>
              </a:r>
            </a:p>
          </p:txBody>
        </p:sp>
        <p:sp>
          <p:nvSpPr>
            <p:cNvPr id="23" name="TextBox 23"/>
            <p:cNvSpPr txBox="1"/>
            <p:nvPr/>
          </p:nvSpPr>
          <p:spPr>
            <a:xfrm>
              <a:off x="300038" y="2012632"/>
              <a:ext cx="70928" cy="176212"/>
            </a:xfrm>
            <a:prstGeom prst="rect">
              <a:avLst/>
            </a:prstGeom>
            <a:noFill/>
            <a:ln>
              <a:noFill/>
            </a:ln>
          </p:spPr>
          <p:txBody>
            <a:bodyPr wrap="none" lIns="0" tIns="0" rIns="0" bIns="0" anchor="t" anchorCtr="0">
              <a:spAutoFit/>
            </a:bodyPr>
            <a:lstStyle/>
            <a:p>
              <a:pPr algn="l"/>
              <a:r>
                <a:rPr lang="en-IN" sz="900" b="1" dirty="0">
                  <a:solidFill>
                    <a:srgbClr val="0B3D6E"/>
                  </a:solidFill>
                  <a:latin typeface="Calibri"/>
                  <a:ea typeface="Calibri"/>
                  <a:cs typeface="Calibri"/>
                </a:rPr>
                <a:t>2</a:t>
              </a:r>
            </a:p>
          </p:txBody>
        </p:sp>
        <p:sp>
          <p:nvSpPr>
            <p:cNvPr id="24" name="TextBox 24"/>
            <p:cNvSpPr txBox="1"/>
            <p:nvPr/>
          </p:nvSpPr>
          <p:spPr>
            <a:xfrm>
              <a:off x="471488" y="2012632"/>
              <a:ext cx="3630039" cy="176212"/>
            </a:xfrm>
            <a:prstGeom prst="rect">
              <a:avLst/>
            </a:prstGeom>
            <a:noFill/>
            <a:ln>
              <a:noFill/>
            </a:ln>
          </p:spPr>
          <p:txBody>
            <a:bodyPr wrap="none" lIns="0" tIns="0" rIns="0" bIns="0" anchor="t" anchorCtr="0">
              <a:spAutoFit/>
            </a:bodyPr>
            <a:lstStyle/>
            <a:p>
              <a:pPr algn="l"/>
              <a:r>
                <a:rPr lang="en-IN" sz="900" dirty="0">
                  <a:solidFill>
                    <a:srgbClr val="1D2939"/>
                  </a:solidFill>
                  <a:latin typeface="Calibri"/>
                  <a:ea typeface="Calibri"/>
                  <a:cs typeface="Calibri"/>
                </a:rPr>
                <a:t>PIB — Revised MPLADS Guidelines 2023 (release 2155040, 11 Aug 2025)</a:t>
              </a:r>
            </a:p>
          </p:txBody>
        </p:sp>
        <p:sp>
          <p:nvSpPr>
            <p:cNvPr id="25" name="TextBox 25"/>
            <p:cNvSpPr txBox="1"/>
            <p:nvPr/>
          </p:nvSpPr>
          <p:spPr>
            <a:xfrm>
              <a:off x="471488" y="2162889"/>
              <a:ext cx="2177608" cy="154781"/>
            </a:xfrm>
            <a:prstGeom prst="rect">
              <a:avLst/>
            </a:prstGeom>
            <a:noFill/>
            <a:ln>
              <a:noFill/>
            </a:ln>
          </p:spPr>
          <p:txBody>
            <a:bodyPr wrap="none" lIns="0" tIns="0" rIns="0" bIns="0" anchor="t" anchorCtr="0">
              <a:spAutoFit/>
            </a:bodyPr>
            <a:lstStyle/>
            <a:p>
              <a:pPr algn="l"/>
              <a:r>
                <a:rPr lang="en-IN" sz="790" dirty="0">
                  <a:solidFill>
                    <a:srgbClr val="0070C0"/>
                  </a:solidFill>
                  <a:latin typeface="Calibri"/>
                  <a:ea typeface="Calibri"/>
                  <a:cs typeface="Calibri"/>
                </a:rPr>
                <a:t>pib.gov.in/PressReleasePage.aspx?PRID=2155040</a:t>
              </a:r>
            </a:p>
          </p:txBody>
        </p:sp>
        <p:sp>
          <p:nvSpPr>
            <p:cNvPr id="26" name="TextBox 26"/>
            <p:cNvSpPr txBox="1"/>
            <p:nvPr/>
          </p:nvSpPr>
          <p:spPr>
            <a:xfrm>
              <a:off x="300038" y="2322195"/>
              <a:ext cx="70928" cy="176212"/>
            </a:xfrm>
            <a:prstGeom prst="rect">
              <a:avLst/>
            </a:prstGeom>
            <a:noFill/>
            <a:ln>
              <a:noFill/>
            </a:ln>
          </p:spPr>
          <p:txBody>
            <a:bodyPr wrap="none" lIns="0" tIns="0" rIns="0" bIns="0" anchor="t" anchorCtr="0">
              <a:spAutoFit/>
            </a:bodyPr>
            <a:lstStyle/>
            <a:p>
              <a:pPr algn="l"/>
              <a:r>
                <a:rPr lang="en-IN" sz="900" b="1" dirty="0">
                  <a:solidFill>
                    <a:srgbClr val="0B3D6E"/>
                  </a:solidFill>
                  <a:latin typeface="Calibri"/>
                  <a:ea typeface="Calibri"/>
                  <a:cs typeface="Calibri"/>
                </a:rPr>
                <a:t>3</a:t>
              </a:r>
            </a:p>
          </p:txBody>
        </p:sp>
        <p:sp>
          <p:nvSpPr>
            <p:cNvPr id="27" name="TextBox 27"/>
            <p:cNvSpPr txBox="1"/>
            <p:nvPr/>
          </p:nvSpPr>
          <p:spPr>
            <a:xfrm>
              <a:off x="471488" y="2322195"/>
              <a:ext cx="4073215" cy="176212"/>
            </a:xfrm>
            <a:prstGeom prst="rect">
              <a:avLst/>
            </a:prstGeom>
            <a:noFill/>
            <a:ln>
              <a:noFill/>
            </a:ln>
          </p:spPr>
          <p:txBody>
            <a:bodyPr wrap="none" lIns="0" tIns="0" rIns="0" bIns="0" anchor="t" anchorCtr="0">
              <a:spAutoFit/>
            </a:bodyPr>
            <a:lstStyle/>
            <a:p>
              <a:pPr algn="l"/>
              <a:r>
                <a:rPr lang="en-IN" sz="900" dirty="0">
                  <a:solidFill>
                    <a:srgbClr val="1D2939"/>
                  </a:solidFill>
                  <a:latin typeface="Calibri"/>
                  <a:ea typeface="Calibri"/>
                  <a:cs typeface="Calibri"/>
                </a:rPr>
                <a:t>CAG — Report No. 31 of 2010-11, Performance Audit of MPLADS (Annex 4.7, 7.2)</a:t>
              </a:r>
            </a:p>
          </p:txBody>
        </p:sp>
        <p:sp>
          <p:nvSpPr>
            <p:cNvPr id="28" name="TextBox 28"/>
            <p:cNvSpPr txBox="1"/>
            <p:nvPr/>
          </p:nvSpPr>
          <p:spPr>
            <a:xfrm>
              <a:off x="471488" y="2472452"/>
              <a:ext cx="3336408" cy="278606"/>
            </a:xfrm>
            <a:prstGeom prst="rect">
              <a:avLst/>
            </a:prstGeom>
            <a:noFill/>
            <a:ln>
              <a:noFill/>
            </a:ln>
          </p:spPr>
          <p:txBody>
            <a:bodyPr wrap="none" lIns="0" tIns="0" rIns="0" bIns="0" anchor="t" anchorCtr="0">
              <a:spAutoFit/>
            </a:bodyPr>
            <a:lstStyle/>
            <a:p>
              <a:pPr algn="l">
                <a:lnSpc>
                  <a:spcPts val="975"/>
                </a:lnSpc>
              </a:pPr>
              <a:r>
                <a:rPr lang="en-IN" sz="790" dirty="0">
                  <a:solidFill>
                    <a:srgbClr val="0070C0"/>
                  </a:solidFill>
                  <a:latin typeface="Calibri"/>
                  <a:ea typeface="Calibri"/>
                  <a:cs typeface="Calibri"/>
                </a:rPr>
                <a:t>cag.gov.in/uploads/download_audit_report/2010/</a:t>
              </a:r>
              <a:br/>
              <a:r>
                <a:rPr lang="en-IN" sz="790" dirty="0">
                  <a:solidFill>
                    <a:srgbClr val="0070C0"/>
                  </a:solidFill>
                  <a:latin typeface="Calibri"/>
                  <a:ea typeface="Calibri"/>
                  <a:cs typeface="Calibri"/>
                </a:rPr>
                <a:t>Union_Performance_Local_area_Development_Scheme_31_2010_annexures.pdf</a:t>
              </a:r>
            </a:p>
          </p:txBody>
        </p:sp>
        <p:sp>
          <p:nvSpPr>
            <p:cNvPr id="29" name="TextBox 29"/>
            <p:cNvSpPr txBox="1"/>
            <p:nvPr/>
          </p:nvSpPr>
          <p:spPr>
            <a:xfrm>
              <a:off x="300038" y="2755582"/>
              <a:ext cx="70928" cy="176212"/>
            </a:xfrm>
            <a:prstGeom prst="rect">
              <a:avLst/>
            </a:prstGeom>
            <a:noFill/>
            <a:ln>
              <a:noFill/>
            </a:ln>
          </p:spPr>
          <p:txBody>
            <a:bodyPr wrap="none" lIns="0" tIns="0" rIns="0" bIns="0" anchor="t" anchorCtr="0">
              <a:spAutoFit/>
            </a:bodyPr>
            <a:lstStyle/>
            <a:p>
              <a:pPr algn="l"/>
              <a:r>
                <a:rPr lang="en-IN" sz="900" b="1" dirty="0">
                  <a:solidFill>
                    <a:srgbClr val="0B3D6E"/>
                  </a:solidFill>
                  <a:latin typeface="Calibri"/>
                  <a:ea typeface="Calibri"/>
                  <a:cs typeface="Calibri"/>
                </a:rPr>
                <a:t>4</a:t>
              </a:r>
            </a:p>
          </p:txBody>
        </p:sp>
        <p:sp>
          <p:nvSpPr>
            <p:cNvPr id="30" name="TextBox 30"/>
            <p:cNvSpPr txBox="1"/>
            <p:nvPr/>
          </p:nvSpPr>
          <p:spPr>
            <a:xfrm>
              <a:off x="471488" y="2755582"/>
              <a:ext cx="3876053" cy="176212"/>
            </a:xfrm>
            <a:prstGeom prst="rect">
              <a:avLst/>
            </a:prstGeom>
            <a:noFill/>
            <a:ln>
              <a:noFill/>
            </a:ln>
          </p:spPr>
          <p:txBody>
            <a:bodyPr wrap="none" lIns="0" tIns="0" rIns="0" bIns="0" anchor="t" anchorCtr="0">
              <a:spAutoFit/>
            </a:bodyPr>
            <a:lstStyle/>
            <a:p>
              <a:pPr algn="l"/>
              <a:r>
                <a:rPr lang="en-IN" sz="900" dirty="0">
                  <a:solidFill>
                    <a:srgbClr val="1D2939"/>
                  </a:solidFill>
                  <a:latin typeface="Calibri"/>
                  <a:ea typeface="Calibri"/>
                  <a:cs typeface="Calibri"/>
                </a:rPr>
                <a:t>MoSPI — eSAKSHI public dashboard and uploaded files (data to 26 May 2026)</a:t>
              </a:r>
            </a:p>
          </p:txBody>
        </p:sp>
        <p:sp>
          <p:nvSpPr>
            <p:cNvPr id="31" name="TextBox 31"/>
            <p:cNvSpPr txBox="1"/>
            <p:nvPr/>
          </p:nvSpPr>
          <p:spPr>
            <a:xfrm>
              <a:off x="471488" y="2905839"/>
              <a:ext cx="901066" cy="154781"/>
            </a:xfrm>
            <a:prstGeom prst="rect">
              <a:avLst/>
            </a:prstGeom>
            <a:noFill/>
            <a:ln>
              <a:noFill/>
            </a:ln>
          </p:spPr>
          <p:txBody>
            <a:bodyPr wrap="none" lIns="0" tIns="0" rIns="0" bIns="0" anchor="t" anchorCtr="0">
              <a:spAutoFit/>
            </a:bodyPr>
            <a:lstStyle/>
            <a:p>
              <a:pPr algn="l"/>
              <a:r>
                <a:rPr lang="en-IN" sz="790" dirty="0">
                  <a:solidFill>
                    <a:srgbClr val="0070C0"/>
                  </a:solidFill>
                  <a:latin typeface="Calibri"/>
                  <a:ea typeface="Calibri"/>
                  <a:cs typeface="Calibri"/>
                </a:rPr>
                <a:t>mplads.mospi.gov.in</a:t>
              </a:r>
            </a:p>
          </p:txBody>
        </p:sp>
        <p:grpSp>
          <p:nvGrpSpPr>
            <p:cNvPr id="34" name="Group 34"/>
            <p:cNvGrpSpPr/>
            <p:nvPr/>
          </p:nvGrpSpPr>
          <p:grpSpPr>
            <a:xfrm>
              <a:off x="323414" y="3128962"/>
              <a:ext cx="115189" cy="119062"/>
              <a:chOff x="323414" y="3128962"/>
              <a:chExt cx="115189" cy="119062"/>
            </a:xfrm>
          </p:grpSpPr>
          <p:sp>
            <p:nvSpPr>
              <p:cNvPr id="32" name="Freeform 32"/>
              <p:cNvSpPr/>
              <p:nvPr/>
            </p:nvSpPr>
            <p:spPr>
              <a:xfrm>
                <a:off x="328383" y="3204329"/>
                <a:ext cx="105216" cy="38934"/>
              </a:xfrm>
              <a:custGeom>
                <a:avLst/>
                <a:gdLst/>
                <a:ahLst/>
                <a:cxnLst/>
                <a:rect l="l" t="t" r="r" b="b"/>
                <a:pathLst>
                  <a:path w="105216" h="38934">
                    <a:moveTo>
                      <a:pt x="100242" y="38933"/>
                    </a:moveTo>
                    <a:lnTo>
                      <a:pt x="4992" y="38933"/>
                    </a:lnTo>
                    <a:cubicBezTo>
                      <a:pt x="3275" y="38934"/>
                      <a:pt x="1691" y="38011"/>
                      <a:pt x="846" y="36517"/>
                    </a:cubicBezTo>
                    <a:cubicBezTo>
                      <a:pt x="0" y="35023"/>
                      <a:pt x="24" y="33190"/>
                      <a:pt x="908" y="31718"/>
                    </a:cubicBezTo>
                    <a:lnTo>
                      <a:pt x="19053" y="1476"/>
                    </a:lnTo>
                    <a:lnTo>
                      <a:pt x="19053" y="1476"/>
                    </a:lnTo>
                    <a:cubicBezTo>
                      <a:pt x="26929" y="0"/>
                      <a:pt x="38103" y="637"/>
                      <a:pt x="52611" y="7977"/>
                    </a:cubicBezTo>
                    <a:cubicBezTo>
                      <a:pt x="71810" y="17699"/>
                      <a:pt x="85204" y="15663"/>
                      <a:pt x="92794" y="12531"/>
                    </a:cubicBezTo>
                    <a:lnTo>
                      <a:pt x="92794" y="12531"/>
                    </a:lnTo>
                    <a:lnTo>
                      <a:pt x="104308" y="31718"/>
                    </a:lnTo>
                    <a:cubicBezTo>
                      <a:pt x="105190" y="33187"/>
                      <a:pt x="105216" y="35016"/>
                      <a:pt x="104374" y="36509"/>
                    </a:cubicBezTo>
                    <a:cubicBezTo>
                      <a:pt x="103533" y="38002"/>
                      <a:pt x="101955" y="38928"/>
                      <a:pt x="100242" y="38933"/>
                    </a:cubicBezTo>
                    <a:close/>
                  </a:path>
                </a:pathLst>
              </a:custGeom>
              <a:solidFill>
                <a:srgbClr val="1E7B45">
                  <a:alpha val="20000"/>
                </a:srgbClr>
              </a:solidFill>
              <a:ln>
                <a:noFill/>
              </a:ln>
            </p:spPr>
          </p:sp>
          <p:sp>
            <p:nvSpPr>
              <p:cNvPr id="33" name="Freeform 33"/>
              <p:cNvSpPr/>
              <p:nvPr/>
            </p:nvSpPr>
            <p:spPr>
              <a:xfrm>
                <a:off x="323414" y="3128962"/>
                <a:ext cx="115189" cy="119062"/>
              </a:xfrm>
              <a:custGeom>
                <a:avLst/>
                <a:gdLst/>
                <a:ahLst/>
                <a:cxnLst/>
                <a:rect l="l" t="t" r="r" b="b"/>
                <a:pathLst>
                  <a:path w="115189" h="119062">
                    <a:moveTo>
                      <a:pt x="113361" y="104638"/>
                    </a:moveTo>
                    <a:lnTo>
                      <a:pt x="76636" y="43410"/>
                    </a:lnTo>
                    <a:lnTo>
                      <a:pt x="76636" y="9525"/>
                    </a:lnTo>
                    <a:lnTo>
                      <a:pt x="81398" y="9525"/>
                    </a:lnTo>
                    <a:cubicBezTo>
                      <a:pt x="84028" y="9525"/>
                      <a:pt x="86161" y="7393"/>
                      <a:pt x="86161" y="4762"/>
                    </a:cubicBezTo>
                    <a:cubicBezTo>
                      <a:pt x="86161" y="2132"/>
                      <a:pt x="84028" y="0"/>
                      <a:pt x="81398" y="0"/>
                    </a:cubicBezTo>
                    <a:lnTo>
                      <a:pt x="33773" y="0"/>
                    </a:lnTo>
                    <a:cubicBezTo>
                      <a:pt x="31143" y="0"/>
                      <a:pt x="29011" y="2132"/>
                      <a:pt x="29011" y="4762"/>
                    </a:cubicBezTo>
                    <a:cubicBezTo>
                      <a:pt x="29011" y="7393"/>
                      <a:pt x="31143" y="9525"/>
                      <a:pt x="33773" y="9525"/>
                    </a:cubicBezTo>
                    <a:lnTo>
                      <a:pt x="38536" y="9525"/>
                    </a:lnTo>
                    <a:lnTo>
                      <a:pt x="38536" y="43410"/>
                    </a:lnTo>
                    <a:lnTo>
                      <a:pt x="1811" y="104638"/>
                    </a:lnTo>
                    <a:cubicBezTo>
                      <a:pt x="48" y="107578"/>
                      <a:pt x="0" y="111238"/>
                      <a:pt x="1686" y="114223"/>
                    </a:cubicBezTo>
                    <a:cubicBezTo>
                      <a:pt x="3373" y="117208"/>
                      <a:pt x="6533" y="119056"/>
                      <a:pt x="9961" y="119062"/>
                    </a:cubicBezTo>
                    <a:lnTo>
                      <a:pt x="105211" y="119062"/>
                    </a:lnTo>
                    <a:cubicBezTo>
                      <a:pt x="108642" y="119062"/>
                      <a:pt x="111808" y="117217"/>
                      <a:pt x="113499" y="114231"/>
                    </a:cubicBezTo>
                    <a:cubicBezTo>
                      <a:pt x="115189" y="111245"/>
                      <a:pt x="115143" y="107581"/>
                      <a:pt x="113378" y="104638"/>
                    </a:cubicBezTo>
                    <a:close/>
                    <a:moveTo>
                      <a:pt x="47382" y="47179"/>
                    </a:moveTo>
                    <a:cubicBezTo>
                      <a:pt x="47827" y="46440"/>
                      <a:pt x="48062" y="45594"/>
                      <a:pt x="48061" y="44732"/>
                    </a:cubicBezTo>
                    <a:lnTo>
                      <a:pt x="48061" y="9525"/>
                    </a:lnTo>
                    <a:lnTo>
                      <a:pt x="67111" y="9525"/>
                    </a:lnTo>
                    <a:lnTo>
                      <a:pt x="67111" y="44732"/>
                    </a:lnTo>
                    <a:cubicBezTo>
                      <a:pt x="67109" y="45594"/>
                      <a:pt x="67344" y="46440"/>
                      <a:pt x="67789" y="47179"/>
                    </a:cubicBezTo>
                    <a:lnTo>
                      <a:pt x="90542" y="85130"/>
                    </a:lnTo>
                    <a:cubicBezTo>
                      <a:pt x="83398" y="86541"/>
                      <a:pt x="73236" y="85945"/>
                      <a:pt x="59735" y="79111"/>
                    </a:cubicBezTo>
                    <a:cubicBezTo>
                      <a:pt x="50263" y="74319"/>
                      <a:pt x="41250" y="71777"/>
                      <a:pt x="32815" y="71485"/>
                    </a:cubicBezTo>
                    <a:close/>
                    <a:moveTo>
                      <a:pt x="9961" y="109538"/>
                    </a:moveTo>
                    <a:lnTo>
                      <a:pt x="26951" y="81213"/>
                    </a:lnTo>
                    <a:cubicBezTo>
                      <a:pt x="35434" y="80183"/>
                      <a:pt x="44995" y="82314"/>
                      <a:pt x="55419" y="87594"/>
                    </a:cubicBezTo>
                    <a:cubicBezTo>
                      <a:pt x="66730" y="93315"/>
                      <a:pt x="76255" y="95262"/>
                      <a:pt x="83994" y="95262"/>
                    </a:cubicBezTo>
                    <a:cubicBezTo>
                      <a:pt x="87930" y="95279"/>
                      <a:pt x="91848" y="94738"/>
                      <a:pt x="95632" y="93655"/>
                    </a:cubicBezTo>
                    <a:lnTo>
                      <a:pt x="105211" y="109538"/>
                    </a:lnTo>
                    <a:close/>
                  </a:path>
                </a:pathLst>
              </a:custGeom>
              <a:solidFill>
                <a:srgbClr val="1E7B45"/>
              </a:solidFill>
              <a:ln>
                <a:noFill/>
              </a:ln>
            </p:spPr>
          </p:sp>
        </p:grpSp>
        <p:sp>
          <p:nvSpPr>
            <p:cNvPr id="35" name="TextBox 35"/>
            <p:cNvSpPr txBox="1"/>
            <p:nvPr/>
          </p:nvSpPr>
          <p:spPr>
            <a:xfrm>
              <a:off x="509588" y="3145393"/>
              <a:ext cx="954704" cy="169069"/>
            </a:xfrm>
            <a:prstGeom prst="rect">
              <a:avLst/>
            </a:prstGeom>
            <a:noFill/>
            <a:ln>
              <a:noFill/>
            </a:ln>
          </p:spPr>
          <p:txBody>
            <a:bodyPr wrap="none" lIns="0" tIns="0" rIns="0" bIns="0" anchor="t" anchorCtr="0">
              <a:spAutoFit/>
            </a:bodyPr>
            <a:lstStyle/>
            <a:p>
              <a:pPr algn="l"/>
              <a:r>
                <a:rPr lang="en-IN" sz="860" b="1" dirty="0">
                  <a:solidFill>
                    <a:srgbClr val="1E7B45"/>
                  </a:solidFill>
                  <a:latin typeface="Calibri"/>
                  <a:ea typeface="Calibri"/>
                  <a:cs typeface="Calibri"/>
                </a:rPr>
                <a:t>METHODS WE USE</a:t>
              </a:r>
            </a:p>
          </p:txBody>
        </p:sp>
        <p:sp>
          <p:nvSpPr>
            <p:cNvPr id="36" name="TextBox 36"/>
            <p:cNvSpPr txBox="1"/>
            <p:nvPr/>
          </p:nvSpPr>
          <p:spPr>
            <a:xfrm>
              <a:off x="300038" y="3312795"/>
              <a:ext cx="70928" cy="176212"/>
            </a:xfrm>
            <a:prstGeom prst="rect">
              <a:avLst/>
            </a:prstGeom>
            <a:noFill/>
            <a:ln>
              <a:noFill/>
            </a:ln>
          </p:spPr>
          <p:txBody>
            <a:bodyPr wrap="none" lIns="0" tIns="0" rIns="0" bIns="0" anchor="t" anchorCtr="0">
              <a:spAutoFit/>
            </a:bodyPr>
            <a:lstStyle/>
            <a:p>
              <a:pPr algn="l"/>
              <a:r>
                <a:rPr lang="en-IN" sz="900" b="1" dirty="0">
                  <a:solidFill>
                    <a:srgbClr val="0B3D6E"/>
                  </a:solidFill>
                  <a:latin typeface="Calibri"/>
                  <a:ea typeface="Calibri"/>
                  <a:cs typeface="Calibri"/>
                </a:rPr>
                <a:t>5</a:t>
              </a:r>
            </a:p>
          </p:txBody>
        </p:sp>
        <p:sp>
          <p:nvSpPr>
            <p:cNvPr id="37" name="TextBox 37"/>
            <p:cNvSpPr txBox="1"/>
            <p:nvPr/>
          </p:nvSpPr>
          <p:spPr>
            <a:xfrm>
              <a:off x="471488" y="3312795"/>
              <a:ext cx="3573047" cy="176212"/>
            </a:xfrm>
            <a:prstGeom prst="rect">
              <a:avLst/>
            </a:prstGeom>
            <a:noFill/>
            <a:ln>
              <a:noFill/>
            </a:ln>
          </p:spPr>
          <p:txBody>
            <a:bodyPr wrap="none" lIns="0" tIns="0" rIns="0" bIns="0" anchor="t" anchorCtr="0">
              <a:spAutoFit/>
            </a:bodyPr>
            <a:lstStyle/>
            <a:p>
              <a:pPr algn="l"/>
              <a:r>
                <a:rPr lang="en-IN" sz="900" dirty="0">
                  <a:solidFill>
                    <a:srgbClr val="1D2939"/>
                  </a:solidFill>
                  <a:latin typeface="Calibri"/>
                  <a:ea typeface="Calibri"/>
                  <a:cs typeface="Calibri"/>
                </a:rPr>
                <a:t>Rublee et al. — ORB: an efficient alternative to SIFT or SURF. ICCV 2011</a:t>
              </a:r>
            </a:p>
          </p:txBody>
        </p:sp>
        <p:sp>
          <p:nvSpPr>
            <p:cNvPr id="38" name="TextBox 38"/>
            <p:cNvSpPr txBox="1"/>
            <p:nvPr/>
          </p:nvSpPr>
          <p:spPr>
            <a:xfrm>
              <a:off x="300038" y="3498532"/>
              <a:ext cx="70928" cy="176212"/>
            </a:xfrm>
            <a:prstGeom prst="rect">
              <a:avLst/>
            </a:prstGeom>
            <a:noFill/>
            <a:ln>
              <a:noFill/>
            </a:ln>
          </p:spPr>
          <p:txBody>
            <a:bodyPr wrap="none" lIns="0" tIns="0" rIns="0" bIns="0" anchor="t" anchorCtr="0">
              <a:spAutoFit/>
            </a:bodyPr>
            <a:lstStyle/>
            <a:p>
              <a:pPr algn="l"/>
              <a:r>
                <a:rPr lang="en-IN" sz="900" b="1" dirty="0">
                  <a:solidFill>
                    <a:srgbClr val="0B3D6E"/>
                  </a:solidFill>
                  <a:latin typeface="Calibri"/>
                  <a:ea typeface="Calibri"/>
                  <a:cs typeface="Calibri"/>
                </a:rPr>
                <a:t>6</a:t>
              </a:r>
            </a:p>
          </p:txBody>
        </p:sp>
        <p:sp>
          <p:nvSpPr>
            <p:cNvPr id="39" name="TextBox 39"/>
            <p:cNvSpPr txBox="1"/>
            <p:nvPr/>
          </p:nvSpPr>
          <p:spPr>
            <a:xfrm>
              <a:off x="471488" y="3498532"/>
              <a:ext cx="4173638" cy="176212"/>
            </a:xfrm>
            <a:prstGeom prst="rect">
              <a:avLst/>
            </a:prstGeom>
            <a:noFill/>
            <a:ln>
              <a:noFill/>
            </a:ln>
          </p:spPr>
          <p:txBody>
            <a:bodyPr wrap="none" lIns="0" tIns="0" rIns="0" bIns="0" anchor="t" anchorCtr="0">
              <a:spAutoFit/>
            </a:bodyPr>
            <a:lstStyle/>
            <a:p>
              <a:pPr algn="l"/>
              <a:r>
                <a:rPr lang="en-IN" sz="900" dirty="0">
                  <a:solidFill>
                    <a:srgbClr val="1D2939"/>
                  </a:solidFill>
                  <a:latin typeface="Calibri"/>
                  <a:ea typeface="Calibri"/>
                  <a:cs typeface="Calibri"/>
                </a:rPr>
                <a:t>Fischler &amp; Bolles — Random Sample Consensus (RANSAC). Comm. ACM 24(6), 1981</a:t>
              </a:r>
            </a:p>
          </p:txBody>
        </p:sp>
        <p:sp>
          <p:nvSpPr>
            <p:cNvPr id="40" name="TextBox 40"/>
            <p:cNvSpPr txBox="1"/>
            <p:nvPr/>
          </p:nvSpPr>
          <p:spPr>
            <a:xfrm>
              <a:off x="300038" y="3684270"/>
              <a:ext cx="70928" cy="176212"/>
            </a:xfrm>
            <a:prstGeom prst="rect">
              <a:avLst/>
            </a:prstGeom>
            <a:noFill/>
            <a:ln>
              <a:noFill/>
            </a:ln>
          </p:spPr>
          <p:txBody>
            <a:bodyPr wrap="none" lIns="0" tIns="0" rIns="0" bIns="0" anchor="t" anchorCtr="0">
              <a:spAutoFit/>
            </a:bodyPr>
            <a:lstStyle/>
            <a:p>
              <a:pPr algn="l"/>
              <a:r>
                <a:rPr lang="en-IN" sz="900" b="1" dirty="0">
                  <a:solidFill>
                    <a:srgbClr val="0B3D6E"/>
                  </a:solidFill>
                  <a:latin typeface="Calibri"/>
                  <a:ea typeface="Calibri"/>
                  <a:cs typeface="Calibri"/>
                </a:rPr>
                <a:t>7</a:t>
              </a:r>
            </a:p>
          </p:txBody>
        </p:sp>
        <p:sp>
          <p:nvSpPr>
            <p:cNvPr id="41" name="TextBox 41"/>
            <p:cNvSpPr txBox="1"/>
            <p:nvPr/>
          </p:nvSpPr>
          <p:spPr>
            <a:xfrm>
              <a:off x="471488" y="3684270"/>
              <a:ext cx="4971577" cy="176212"/>
            </a:xfrm>
            <a:prstGeom prst="rect">
              <a:avLst/>
            </a:prstGeom>
            <a:noFill/>
            <a:ln>
              <a:noFill/>
            </a:ln>
          </p:spPr>
          <p:txBody>
            <a:bodyPr wrap="none" lIns="0" tIns="0" rIns="0" bIns="0" anchor="t" anchorCtr="0">
              <a:spAutoFit/>
            </a:bodyPr>
            <a:lstStyle/>
            <a:p>
              <a:pPr algn="l"/>
              <a:r>
                <a:rPr lang="en-IN" sz="900" dirty="0">
                  <a:solidFill>
                    <a:srgbClr val="1D2939"/>
                  </a:solidFill>
                  <a:latin typeface="Calibri"/>
                  <a:ea typeface="Calibri"/>
                  <a:cs typeface="Calibri"/>
                </a:rPr>
                <a:t>Zauner — Implementation and Benchmarking of Perceptual Image Hash Functions. MSc thesis, 2010</a:t>
              </a:r>
            </a:p>
          </p:txBody>
        </p:sp>
        <p:sp>
          <p:nvSpPr>
            <p:cNvPr id="42" name="TextBox 42"/>
            <p:cNvSpPr txBox="1"/>
            <p:nvPr/>
          </p:nvSpPr>
          <p:spPr>
            <a:xfrm>
              <a:off x="300038" y="3870008"/>
              <a:ext cx="70928" cy="176212"/>
            </a:xfrm>
            <a:prstGeom prst="rect">
              <a:avLst/>
            </a:prstGeom>
            <a:noFill/>
            <a:ln>
              <a:noFill/>
            </a:ln>
          </p:spPr>
          <p:txBody>
            <a:bodyPr wrap="none" lIns="0" tIns="0" rIns="0" bIns="0" anchor="t" anchorCtr="0">
              <a:spAutoFit/>
            </a:bodyPr>
            <a:lstStyle/>
            <a:p>
              <a:pPr algn="l"/>
              <a:r>
                <a:rPr lang="en-IN" sz="900" b="1" dirty="0">
                  <a:solidFill>
                    <a:srgbClr val="0B3D6E"/>
                  </a:solidFill>
                  <a:latin typeface="Calibri"/>
                  <a:ea typeface="Calibri"/>
                  <a:cs typeface="Calibri"/>
                </a:rPr>
                <a:t>8</a:t>
              </a:r>
            </a:p>
          </p:txBody>
        </p:sp>
        <p:sp>
          <p:nvSpPr>
            <p:cNvPr id="43" name="TextBox 43"/>
            <p:cNvSpPr txBox="1"/>
            <p:nvPr/>
          </p:nvSpPr>
          <p:spPr>
            <a:xfrm>
              <a:off x="471488" y="3870008"/>
              <a:ext cx="4245302" cy="176212"/>
            </a:xfrm>
            <a:prstGeom prst="rect">
              <a:avLst/>
            </a:prstGeom>
            <a:noFill/>
            <a:ln>
              <a:noFill/>
            </a:ln>
          </p:spPr>
          <p:txBody>
            <a:bodyPr wrap="none" lIns="0" tIns="0" rIns="0" bIns="0" anchor="t" anchorCtr="0">
              <a:spAutoFit/>
            </a:bodyPr>
            <a:lstStyle/>
            <a:p>
              <a:pPr algn="l"/>
              <a:r>
                <a:rPr lang="en-IN" sz="900" dirty="0">
                  <a:solidFill>
                    <a:srgbClr val="1D2939"/>
                  </a:solidFill>
                  <a:latin typeface="Calibri"/>
                  <a:ea typeface="Calibri"/>
                  <a:cs typeface="Calibri"/>
                </a:rPr>
                <a:t>Ke et al. — LightGBM: a highly efficient gradient boosting decision tree. NeurIPS 2017</a:t>
              </a:r>
            </a:p>
          </p:txBody>
        </p:sp>
        <p:sp>
          <p:nvSpPr>
            <p:cNvPr id="44" name="TextBox 44"/>
            <p:cNvSpPr txBox="1"/>
            <p:nvPr/>
          </p:nvSpPr>
          <p:spPr>
            <a:xfrm>
              <a:off x="300038" y="4055745"/>
              <a:ext cx="70928" cy="176212"/>
            </a:xfrm>
            <a:prstGeom prst="rect">
              <a:avLst/>
            </a:prstGeom>
            <a:noFill/>
            <a:ln>
              <a:noFill/>
            </a:ln>
          </p:spPr>
          <p:txBody>
            <a:bodyPr wrap="none" lIns="0" tIns="0" rIns="0" bIns="0" anchor="t" anchorCtr="0">
              <a:spAutoFit/>
            </a:bodyPr>
            <a:lstStyle/>
            <a:p>
              <a:pPr algn="l"/>
              <a:r>
                <a:rPr lang="en-IN" sz="900" b="1" dirty="0">
                  <a:solidFill>
                    <a:srgbClr val="0B3D6E"/>
                  </a:solidFill>
                  <a:latin typeface="Calibri"/>
                  <a:ea typeface="Calibri"/>
                  <a:cs typeface="Calibri"/>
                </a:rPr>
                <a:t>9</a:t>
              </a:r>
            </a:p>
          </p:txBody>
        </p:sp>
        <p:sp>
          <p:nvSpPr>
            <p:cNvPr id="45" name="TextBox 45"/>
            <p:cNvSpPr txBox="1"/>
            <p:nvPr/>
          </p:nvSpPr>
          <p:spPr>
            <a:xfrm>
              <a:off x="471488" y="4055745"/>
              <a:ext cx="4808770" cy="176212"/>
            </a:xfrm>
            <a:prstGeom prst="rect">
              <a:avLst/>
            </a:prstGeom>
            <a:noFill/>
            <a:ln>
              <a:noFill/>
            </a:ln>
          </p:spPr>
          <p:txBody>
            <a:bodyPr wrap="none" lIns="0" tIns="0" rIns="0" bIns="0" anchor="t" anchorCtr="0">
              <a:spAutoFit/>
            </a:bodyPr>
            <a:lstStyle/>
            <a:p>
              <a:pPr algn="l"/>
              <a:r>
                <a:rPr lang="en-IN" sz="900" dirty="0">
                  <a:solidFill>
                    <a:srgbClr val="1D2939"/>
                  </a:solidFill>
                  <a:latin typeface="Calibri"/>
                  <a:ea typeface="Calibri"/>
                  <a:cs typeface="Calibri"/>
                </a:rPr>
                <a:t>Wilson — Probable inference, the law of succession, and statistical inference. JASA 22(158), 1927</a:t>
              </a:r>
            </a:p>
          </p:txBody>
        </p:sp>
        <p:grpSp>
          <p:nvGrpSpPr>
            <p:cNvPr id="48" name="Group 48"/>
            <p:cNvGrpSpPr/>
            <p:nvPr/>
          </p:nvGrpSpPr>
          <p:grpSpPr>
            <a:xfrm>
              <a:off x="319088" y="4309928"/>
              <a:ext cx="123825" cy="114434"/>
              <a:chOff x="319088" y="4309928"/>
              <a:chExt cx="123825" cy="114434"/>
            </a:xfrm>
          </p:grpSpPr>
          <p:sp>
            <p:nvSpPr>
              <p:cNvPr id="46" name="Freeform 46"/>
              <p:cNvSpPr/>
              <p:nvPr/>
            </p:nvSpPr>
            <p:spPr>
              <a:xfrm>
                <a:off x="361950" y="4314825"/>
                <a:ext cx="38100" cy="104775"/>
              </a:xfrm>
              <a:custGeom>
                <a:avLst/>
                <a:gdLst/>
                <a:ahLst/>
                <a:cxnLst/>
                <a:rect l="l" t="t" r="r" b="b"/>
                <a:pathLst>
                  <a:path w="38100" h="104775">
                    <a:moveTo>
                      <a:pt x="38100" y="19050"/>
                    </a:moveTo>
                    <a:lnTo>
                      <a:pt x="38100" y="104775"/>
                    </a:lnTo>
                    <a:lnTo>
                      <a:pt x="0" y="85725"/>
                    </a:lnTo>
                    <a:lnTo>
                      <a:pt x="0" y="0"/>
                    </a:lnTo>
                    <a:close/>
                  </a:path>
                </a:pathLst>
              </a:custGeom>
              <a:solidFill>
                <a:srgbClr val="1E7B45">
                  <a:alpha val="20000"/>
                </a:srgbClr>
              </a:solidFill>
              <a:ln>
                <a:noFill/>
              </a:ln>
            </p:spPr>
          </p:sp>
          <p:sp>
            <p:nvSpPr>
              <p:cNvPr id="47" name="Freeform 47"/>
              <p:cNvSpPr/>
              <p:nvPr/>
            </p:nvSpPr>
            <p:spPr>
              <a:xfrm>
                <a:off x="319088" y="4309928"/>
                <a:ext cx="123825" cy="114434"/>
              </a:xfrm>
              <a:custGeom>
                <a:avLst/>
                <a:gdLst/>
                <a:ahLst/>
                <a:cxnLst/>
                <a:rect l="l" t="t" r="r" b="b"/>
                <a:pathLst>
                  <a:path w="123825" h="114434">
                    <a:moveTo>
                      <a:pt x="121991" y="10665"/>
                    </a:moveTo>
                    <a:cubicBezTo>
                      <a:pt x="120835" y="9765"/>
                      <a:pt x="119329" y="9446"/>
                      <a:pt x="117908" y="9802"/>
                    </a:cubicBezTo>
                    <a:lnTo>
                      <a:pt x="81516" y="18898"/>
                    </a:lnTo>
                    <a:lnTo>
                      <a:pt x="44994" y="634"/>
                    </a:lnTo>
                    <a:cubicBezTo>
                      <a:pt x="43976" y="127"/>
                      <a:pt x="42810" y="0"/>
                      <a:pt x="41708" y="277"/>
                    </a:cubicBezTo>
                    <a:lnTo>
                      <a:pt x="3608" y="9802"/>
                    </a:lnTo>
                    <a:cubicBezTo>
                      <a:pt x="1488" y="10332"/>
                      <a:pt x="0" y="12237"/>
                      <a:pt x="0" y="14422"/>
                    </a:cubicBezTo>
                    <a:lnTo>
                      <a:pt x="0" y="100147"/>
                    </a:lnTo>
                    <a:cubicBezTo>
                      <a:pt x="0" y="101613"/>
                      <a:pt x="676" y="102998"/>
                      <a:pt x="1832" y="103900"/>
                    </a:cubicBezTo>
                    <a:cubicBezTo>
                      <a:pt x="2988" y="104802"/>
                      <a:pt x="4495" y="105122"/>
                      <a:pt x="5917" y="104766"/>
                    </a:cubicBezTo>
                    <a:lnTo>
                      <a:pt x="42309" y="95670"/>
                    </a:lnTo>
                    <a:lnTo>
                      <a:pt x="78831" y="113934"/>
                    </a:lnTo>
                    <a:cubicBezTo>
                      <a:pt x="79494" y="114261"/>
                      <a:pt x="80223" y="114432"/>
                      <a:pt x="80962" y="114434"/>
                    </a:cubicBezTo>
                    <a:cubicBezTo>
                      <a:pt x="81352" y="114434"/>
                      <a:pt x="81740" y="114386"/>
                      <a:pt x="82117" y="114291"/>
                    </a:cubicBezTo>
                    <a:lnTo>
                      <a:pt x="120217" y="104766"/>
                    </a:lnTo>
                    <a:cubicBezTo>
                      <a:pt x="122337" y="104236"/>
                      <a:pt x="123825" y="102332"/>
                      <a:pt x="123825" y="100147"/>
                    </a:cubicBezTo>
                    <a:lnTo>
                      <a:pt x="123825" y="14422"/>
                    </a:lnTo>
                    <a:cubicBezTo>
                      <a:pt x="123825" y="12954"/>
                      <a:pt x="123149" y="11568"/>
                      <a:pt x="121991" y="10665"/>
                    </a:cubicBezTo>
                    <a:close/>
                    <a:moveTo>
                      <a:pt x="47625" y="12600"/>
                    </a:moveTo>
                    <a:lnTo>
                      <a:pt x="76200" y="26888"/>
                    </a:lnTo>
                    <a:lnTo>
                      <a:pt x="76200" y="101968"/>
                    </a:lnTo>
                    <a:lnTo>
                      <a:pt x="47625" y="87681"/>
                    </a:lnTo>
                    <a:close/>
                    <a:moveTo>
                      <a:pt x="9525" y="18142"/>
                    </a:moveTo>
                    <a:lnTo>
                      <a:pt x="38100" y="10999"/>
                    </a:lnTo>
                    <a:lnTo>
                      <a:pt x="38100" y="86901"/>
                    </a:lnTo>
                    <a:lnTo>
                      <a:pt x="9525" y="94045"/>
                    </a:lnTo>
                    <a:close/>
                    <a:moveTo>
                      <a:pt x="114300" y="96426"/>
                    </a:moveTo>
                    <a:lnTo>
                      <a:pt x="85725" y="103570"/>
                    </a:lnTo>
                    <a:lnTo>
                      <a:pt x="85725" y="27667"/>
                    </a:lnTo>
                    <a:lnTo>
                      <a:pt x="114300" y="20524"/>
                    </a:lnTo>
                    <a:close/>
                  </a:path>
                </a:pathLst>
              </a:custGeom>
              <a:solidFill>
                <a:srgbClr val="1E7B45"/>
              </a:solidFill>
              <a:ln>
                <a:noFill/>
              </a:ln>
            </p:spPr>
          </p:sp>
        </p:grpSp>
        <p:sp>
          <p:nvSpPr>
            <p:cNvPr id="49" name="TextBox 49"/>
            <p:cNvSpPr txBox="1"/>
            <p:nvPr/>
          </p:nvSpPr>
          <p:spPr>
            <a:xfrm>
              <a:off x="509588" y="4321731"/>
              <a:ext cx="772548" cy="169069"/>
            </a:xfrm>
            <a:prstGeom prst="rect">
              <a:avLst/>
            </a:prstGeom>
            <a:noFill/>
            <a:ln>
              <a:noFill/>
            </a:ln>
          </p:spPr>
          <p:txBody>
            <a:bodyPr wrap="none" lIns="0" tIns="0" rIns="0" bIns="0" anchor="t" anchorCtr="0">
              <a:spAutoFit/>
            </a:bodyPr>
            <a:lstStyle/>
            <a:p>
              <a:pPr algn="l"/>
              <a:r>
                <a:rPr lang="en-IN" sz="860" b="1" dirty="0">
                  <a:solidFill>
                    <a:srgbClr val="1E7B45"/>
                  </a:solidFill>
                  <a:latin typeface="Calibri"/>
                  <a:ea typeface="Calibri"/>
                  <a:cs typeface="Calibri"/>
                </a:rPr>
                <a:t>DATA &amp; TOOLS</a:t>
              </a:r>
            </a:p>
          </p:txBody>
        </p:sp>
        <p:sp>
          <p:nvSpPr>
            <p:cNvPr id="50" name="TextBox 50"/>
            <p:cNvSpPr txBox="1"/>
            <p:nvPr/>
          </p:nvSpPr>
          <p:spPr>
            <a:xfrm>
              <a:off x="300038" y="4489132"/>
              <a:ext cx="69862" cy="176212"/>
            </a:xfrm>
            <a:prstGeom prst="rect">
              <a:avLst/>
            </a:prstGeom>
            <a:noFill/>
            <a:ln>
              <a:noFill/>
            </a:ln>
          </p:spPr>
          <p:txBody>
            <a:bodyPr wrap="none" lIns="0" tIns="0" rIns="0" bIns="0" anchor="t" anchorCtr="0">
              <a:spAutoFit/>
            </a:bodyPr>
            <a:lstStyle/>
            <a:p>
              <a:pPr algn="l"/>
              <a:r>
                <a:rPr lang="en-IN" sz="900" b="1" dirty="0">
                  <a:solidFill>
                    <a:srgbClr val="0B3D6E"/>
                  </a:solidFill>
                  <a:latin typeface="Calibri"/>
                  <a:ea typeface="Calibri"/>
                  <a:cs typeface="Calibri"/>
                </a:rPr>
                <a:t>•</a:t>
              </a:r>
            </a:p>
          </p:txBody>
        </p:sp>
        <p:sp>
          <p:nvSpPr>
            <p:cNvPr id="51" name="TextBox 51"/>
            <p:cNvSpPr txBox="1"/>
            <p:nvPr/>
          </p:nvSpPr>
          <p:spPr>
            <a:xfrm>
              <a:off x="471488" y="4489132"/>
              <a:ext cx="4536068" cy="314325"/>
            </a:xfrm>
            <a:prstGeom prst="rect">
              <a:avLst/>
            </a:prstGeom>
            <a:noFill/>
            <a:ln>
              <a:noFill/>
            </a:ln>
          </p:spPr>
          <p:txBody>
            <a:bodyPr wrap="none" lIns="0" tIns="0" rIns="0" bIns="0" anchor="t" anchorCtr="0">
              <a:spAutoFit/>
            </a:bodyPr>
            <a:lstStyle/>
            <a:p>
              <a:pPr algn="l">
                <a:lnSpc>
                  <a:spcPts val="1088"/>
                </a:lnSpc>
              </a:pPr>
              <a:r>
                <a:rPr lang="en-IN" sz="900" dirty="0">
                  <a:solidFill>
                    <a:srgbClr val="1D2939"/>
                  </a:solidFill>
                  <a:latin typeface="Calibri"/>
                  <a:ea typeface="Calibri"/>
                  <a:cs typeface="Calibri"/>
                </a:rPr>
                <a:t>LGD district outlines (github.com/yashveeeeeeer/india-geodata) · India Post PIN–district mapping</a:t>
              </a:r>
              <a:br/>
              <a:r>
                <a:rPr lang="en-IN" sz="900" dirty="0">
                  <a:solidFill>
                    <a:srgbClr val="1D2939"/>
                  </a:solidFill>
                  <a:latin typeface="Calibri"/>
                  <a:ea typeface="Calibri"/>
                  <a:cs typeface="Calibri"/>
                </a:rPr>
                <a:t>OpenCV · scikit-learn · RapidOCR · PyMuPDF</a:t>
              </a:r>
            </a:p>
          </p:txBody>
        </p:sp>
      </p:grpSp>
      <p:grpSp>
        <p:nvGrpSpPr>
          <p:cNvPr id="63" name="project-links"/>
          <p:cNvGrpSpPr/>
          <p:nvPr/>
        </p:nvGrpSpPr>
        <p:grpSpPr>
          <a:xfrm>
            <a:off x="304800" y="5657850"/>
            <a:ext cx="5219700" cy="628650"/>
            <a:chOff x="304800" y="5657850"/>
            <a:chExt cx="5219700" cy="628650"/>
          </a:xfrm>
        </p:grpSpPr>
        <p:sp>
          <p:nvSpPr>
            <p:cNvPr id="53" name="Rectangle 53"/>
            <p:cNvSpPr/>
            <p:nvPr/>
          </p:nvSpPr>
          <p:spPr>
            <a:xfrm>
              <a:off x="304800" y="5657850"/>
              <a:ext cx="5219700" cy="628650"/>
            </a:xfrm>
            <a:prstGeom prst="roundRect">
              <a:avLst>
                <a:gd name="adj" fmla="val 12121"/>
              </a:avLst>
            </a:prstGeom>
            <a:solidFill>
              <a:srgbClr val="0B3D6E"/>
            </a:solidFill>
            <a:ln>
              <a:noFill/>
            </a:ln>
          </p:spPr>
        </p:sp>
        <p:sp>
          <p:nvSpPr>
            <p:cNvPr id="54" name="Freeform 54"/>
            <p:cNvSpPr/>
            <p:nvPr/>
          </p:nvSpPr>
          <p:spPr>
            <a:xfrm>
              <a:off x="457200" y="5793793"/>
              <a:ext cx="209550" cy="205167"/>
            </a:xfrm>
            <a:custGeom>
              <a:avLst/>
              <a:gdLst/>
              <a:ahLst/>
              <a:cxnLst/>
              <a:rect l="l" t="t" r="r" b="b"/>
              <a:pathLst>
                <a:path w="209550" h="205167">
                  <a:moveTo>
                    <a:pt x="104775" y="0"/>
                  </a:moveTo>
                  <a:cubicBezTo>
                    <a:pt x="46887" y="0"/>
                    <a:pt x="0" y="46913"/>
                    <a:pt x="0" y="104775"/>
                  </a:cubicBezTo>
                  <a:cubicBezTo>
                    <a:pt x="0" y="151077"/>
                    <a:pt x="30018" y="190341"/>
                    <a:pt x="71640" y="204180"/>
                  </a:cubicBezTo>
                  <a:cubicBezTo>
                    <a:pt x="76879" y="205167"/>
                    <a:pt x="78800" y="201928"/>
                    <a:pt x="78800" y="199142"/>
                  </a:cubicBezTo>
                  <a:cubicBezTo>
                    <a:pt x="78800" y="196654"/>
                    <a:pt x="78712" y="190062"/>
                    <a:pt x="78669" y="181331"/>
                  </a:cubicBezTo>
                  <a:cubicBezTo>
                    <a:pt x="49524" y="187652"/>
                    <a:pt x="43377" y="167273"/>
                    <a:pt x="43377" y="167273"/>
                  </a:cubicBezTo>
                  <a:cubicBezTo>
                    <a:pt x="38610" y="155181"/>
                    <a:pt x="31721" y="151950"/>
                    <a:pt x="31721" y="151950"/>
                  </a:cubicBezTo>
                  <a:cubicBezTo>
                    <a:pt x="22230" y="145454"/>
                    <a:pt x="32454" y="145585"/>
                    <a:pt x="32454" y="145585"/>
                  </a:cubicBezTo>
                  <a:cubicBezTo>
                    <a:pt x="42975" y="146318"/>
                    <a:pt x="48502" y="156377"/>
                    <a:pt x="48502" y="156377"/>
                  </a:cubicBezTo>
                  <a:cubicBezTo>
                    <a:pt x="57845" y="172399"/>
                    <a:pt x="73028" y="167771"/>
                    <a:pt x="79018" y="165091"/>
                  </a:cubicBezTo>
                  <a:cubicBezTo>
                    <a:pt x="79961" y="158315"/>
                    <a:pt x="82659" y="153696"/>
                    <a:pt x="85654" y="151077"/>
                  </a:cubicBezTo>
                  <a:cubicBezTo>
                    <a:pt x="62385" y="148457"/>
                    <a:pt x="37929" y="139447"/>
                    <a:pt x="37929" y="99301"/>
                  </a:cubicBezTo>
                  <a:cubicBezTo>
                    <a:pt x="37929" y="87863"/>
                    <a:pt x="41989" y="78520"/>
                    <a:pt x="48712" y="71186"/>
                  </a:cubicBezTo>
                  <a:cubicBezTo>
                    <a:pt x="47533" y="68540"/>
                    <a:pt x="43997" y="57888"/>
                    <a:pt x="49628" y="43455"/>
                  </a:cubicBezTo>
                  <a:cubicBezTo>
                    <a:pt x="49628" y="43455"/>
                    <a:pt x="58403" y="40644"/>
                    <a:pt x="78442" y="54195"/>
                  </a:cubicBezTo>
                  <a:cubicBezTo>
                    <a:pt x="86824" y="51864"/>
                    <a:pt x="95729" y="50711"/>
                    <a:pt x="104635" y="50659"/>
                  </a:cubicBezTo>
                  <a:cubicBezTo>
                    <a:pt x="113541" y="50711"/>
                    <a:pt x="122447" y="51864"/>
                    <a:pt x="130829" y="54195"/>
                  </a:cubicBezTo>
                  <a:cubicBezTo>
                    <a:pt x="150736" y="40644"/>
                    <a:pt x="159511" y="43455"/>
                    <a:pt x="159511" y="43455"/>
                  </a:cubicBezTo>
                  <a:cubicBezTo>
                    <a:pt x="165143" y="57888"/>
                    <a:pt x="161607" y="68540"/>
                    <a:pt x="160559" y="71186"/>
                  </a:cubicBezTo>
                  <a:cubicBezTo>
                    <a:pt x="167238" y="78520"/>
                    <a:pt x="171298" y="87863"/>
                    <a:pt x="171298" y="99301"/>
                  </a:cubicBezTo>
                  <a:cubicBezTo>
                    <a:pt x="171298" y="139552"/>
                    <a:pt x="146807" y="148414"/>
                    <a:pt x="123495" y="150990"/>
                  </a:cubicBezTo>
                  <a:cubicBezTo>
                    <a:pt x="127162" y="154133"/>
                    <a:pt x="130567" y="160559"/>
                    <a:pt x="130567" y="170373"/>
                  </a:cubicBezTo>
                  <a:cubicBezTo>
                    <a:pt x="130567" y="184395"/>
                    <a:pt x="130436" y="195659"/>
                    <a:pt x="130436" y="199064"/>
                  </a:cubicBezTo>
                  <a:cubicBezTo>
                    <a:pt x="130436" y="201814"/>
                    <a:pt x="132270" y="205088"/>
                    <a:pt x="137639" y="204041"/>
                  </a:cubicBezTo>
                  <a:cubicBezTo>
                    <a:pt x="179558" y="190298"/>
                    <a:pt x="209550" y="151007"/>
                    <a:pt x="209550" y="104775"/>
                  </a:cubicBezTo>
                  <a:cubicBezTo>
                    <a:pt x="209550" y="46913"/>
                    <a:pt x="162637" y="0"/>
                    <a:pt x="104775" y="0"/>
                  </a:cubicBezTo>
                </a:path>
              </a:pathLst>
            </a:custGeom>
            <a:solidFill>
              <a:srgbClr val="FFFFFF"/>
            </a:solidFill>
            <a:ln>
              <a:noFill/>
            </a:ln>
          </p:spPr>
        </p:sp>
        <p:sp>
          <p:nvSpPr>
            <p:cNvPr id="55" name="TextBox 55"/>
            <p:cNvSpPr txBox="1"/>
            <p:nvPr/>
          </p:nvSpPr>
          <p:spPr>
            <a:xfrm>
              <a:off x="738188" y="5797391"/>
              <a:ext cx="242774" cy="161925"/>
            </a:xfrm>
            <a:prstGeom prst="rect">
              <a:avLst/>
            </a:prstGeom>
            <a:noFill/>
            <a:ln>
              <a:noFill/>
            </a:ln>
          </p:spPr>
          <p:txBody>
            <a:bodyPr wrap="none" lIns="0" tIns="0" rIns="0" bIns="0" anchor="t" anchorCtr="0">
              <a:spAutoFit/>
            </a:bodyPr>
            <a:lstStyle/>
            <a:p>
              <a:pPr algn="l"/>
              <a:r>
                <a:rPr lang="en-IN" sz="820" dirty="0">
                  <a:solidFill>
                    <a:srgbClr val="B9C7D8"/>
                  </a:solidFill>
                  <a:latin typeface="Calibri"/>
                  <a:ea typeface="Calibri"/>
                  <a:cs typeface="Calibri"/>
                </a:rPr>
                <a:t>Code</a:t>
              </a:r>
            </a:p>
          </p:txBody>
        </p:sp>
        <p:sp>
          <p:nvSpPr>
            <p:cNvPr id="56" name="TextBox 56"/>
            <p:cNvSpPr txBox="1"/>
            <p:nvPr/>
          </p:nvSpPr>
          <p:spPr>
            <a:xfrm>
              <a:off x="737997" y="5933599"/>
              <a:ext cx="1961780" cy="190690"/>
            </a:xfrm>
            <a:prstGeom prst="rect">
              <a:avLst/>
            </a:prstGeom>
            <a:noFill/>
            <a:ln>
              <a:noFill/>
            </a:ln>
          </p:spPr>
          <p:txBody>
            <a:bodyPr wrap="none" lIns="0" tIns="0" rIns="0" bIns="0" anchor="t" anchorCtr="0">
              <a:spAutoFit/>
            </a:bodyPr>
            <a:lstStyle/>
            <a:p>
              <a:pPr algn="l"/>
              <a:r>
                <a:rPr lang="en-IN" sz="980" b="1" dirty="0">
                  <a:solidFill>
                    <a:srgbClr val="FFFFFF"/>
                  </a:solidFill>
                  <a:latin typeface="Calibri"/>
                  <a:ea typeface="Calibri"/>
                  <a:cs typeface="Calibri"/>
                </a:rPr>
                <a:t>github.com/AdityaMore776/drishti</a:t>
              </a:r>
            </a:p>
          </p:txBody>
        </p:sp>
        <p:grpSp>
          <p:nvGrpSpPr>
            <p:cNvPr id="59" name="Group 59"/>
            <p:cNvGrpSpPr/>
            <p:nvPr/>
          </p:nvGrpSpPr>
          <p:grpSpPr>
            <a:xfrm>
              <a:off x="3085553" y="5809568"/>
              <a:ext cx="171401" cy="171536"/>
              <a:chOff x="3085553" y="5809568"/>
              <a:chExt cx="171401" cy="171536"/>
            </a:xfrm>
          </p:grpSpPr>
          <p:sp>
            <p:nvSpPr>
              <p:cNvPr id="57" name="Freeform 57"/>
              <p:cNvSpPr/>
              <p:nvPr/>
            </p:nvSpPr>
            <p:spPr>
              <a:xfrm>
                <a:off x="3085553" y="5809568"/>
                <a:ext cx="157486" cy="150017"/>
              </a:xfrm>
              <a:custGeom>
                <a:avLst/>
                <a:gdLst/>
                <a:ahLst/>
                <a:cxnLst/>
                <a:rect l="l" t="t" r="r" b="b"/>
                <a:pathLst>
                  <a:path w="157486" h="150017">
                    <a:moveTo>
                      <a:pt x="157486" y="119730"/>
                    </a:moveTo>
                    <a:cubicBezTo>
                      <a:pt x="151838" y="131771"/>
                      <a:pt x="143239" y="142189"/>
                      <a:pt x="132487" y="150017"/>
                    </a:cubicBezTo>
                    <a:lnTo>
                      <a:pt x="124826" y="142347"/>
                    </a:lnTo>
                    <a:cubicBezTo>
                      <a:pt x="124005" y="141523"/>
                      <a:pt x="122979" y="140933"/>
                      <a:pt x="121854" y="140636"/>
                    </a:cubicBezTo>
                    <a:lnTo>
                      <a:pt x="104280" y="136003"/>
                    </a:lnTo>
                    <a:cubicBezTo>
                      <a:pt x="101055" y="135155"/>
                      <a:pt x="98982" y="132018"/>
                      <a:pt x="99467" y="128718"/>
                    </a:cubicBezTo>
                    <a:lnTo>
                      <a:pt x="101415" y="115458"/>
                    </a:lnTo>
                    <a:cubicBezTo>
                      <a:pt x="101750" y="113183"/>
                      <a:pt x="103254" y="111250"/>
                      <a:pt x="105377" y="110366"/>
                    </a:cubicBezTo>
                    <a:lnTo>
                      <a:pt x="130310" y="100003"/>
                    </a:lnTo>
                    <a:cubicBezTo>
                      <a:pt x="132662" y="99027"/>
                      <a:pt x="135366" y="99503"/>
                      <a:pt x="137243" y="101223"/>
                    </a:cubicBezTo>
                    <a:close/>
                    <a:moveTo>
                      <a:pt x="112376" y="67580"/>
                    </a:moveTo>
                    <a:lnTo>
                      <a:pt x="130523" y="46462"/>
                    </a:lnTo>
                    <a:cubicBezTo>
                      <a:pt x="131543" y="45278"/>
                      <a:pt x="132106" y="43768"/>
                      <a:pt x="132111" y="42205"/>
                    </a:cubicBezTo>
                    <a:lnTo>
                      <a:pt x="132111" y="22560"/>
                    </a:lnTo>
                    <a:cubicBezTo>
                      <a:pt x="100744" y="0"/>
                      <a:pt x="57631" y="3590"/>
                      <a:pt x="30427" y="31026"/>
                    </a:cubicBezTo>
                    <a:cubicBezTo>
                      <a:pt x="3223" y="58462"/>
                      <a:pt x="0" y="101604"/>
                      <a:pt x="22826" y="132778"/>
                    </a:cubicBezTo>
                    <a:lnTo>
                      <a:pt x="30946" y="127441"/>
                    </a:lnTo>
                    <a:cubicBezTo>
                      <a:pt x="32772" y="126235"/>
                      <a:pt x="33875" y="124195"/>
                      <a:pt x="33884" y="122006"/>
                    </a:cubicBezTo>
                    <a:lnTo>
                      <a:pt x="34056" y="92350"/>
                    </a:lnTo>
                    <a:cubicBezTo>
                      <a:pt x="34065" y="91065"/>
                      <a:pt x="34449" y="89810"/>
                      <a:pt x="35161" y="88740"/>
                    </a:cubicBezTo>
                    <a:lnTo>
                      <a:pt x="52302" y="63119"/>
                    </a:lnTo>
                    <a:cubicBezTo>
                      <a:pt x="53295" y="61645"/>
                      <a:pt x="54845" y="60638"/>
                      <a:pt x="56595" y="60329"/>
                    </a:cubicBezTo>
                    <a:cubicBezTo>
                      <a:pt x="58346" y="60020"/>
                      <a:pt x="60147" y="60437"/>
                      <a:pt x="61584" y="61482"/>
                    </a:cubicBezTo>
                    <a:lnTo>
                      <a:pt x="77800" y="72123"/>
                    </a:lnTo>
                    <a:cubicBezTo>
                      <a:pt x="79165" y="73107"/>
                      <a:pt x="80855" y="73531"/>
                      <a:pt x="82523" y="73310"/>
                    </a:cubicBezTo>
                    <a:lnTo>
                      <a:pt x="108275" y="69823"/>
                    </a:lnTo>
                    <a:cubicBezTo>
                      <a:pt x="109871" y="69605"/>
                      <a:pt x="111331" y="68807"/>
                      <a:pt x="112376" y="67580"/>
                    </a:cubicBezTo>
                    <a:close/>
                  </a:path>
                </a:pathLst>
              </a:custGeom>
              <a:solidFill>
                <a:srgbClr val="FFFFFF">
                  <a:alpha val="20000"/>
                </a:srgbClr>
              </a:solidFill>
              <a:ln>
                <a:noFill/>
              </a:ln>
            </p:spPr>
          </p:sp>
          <p:sp>
            <p:nvSpPr>
              <p:cNvPr id="58" name="Freeform 58"/>
              <p:cNvSpPr/>
              <p:nvPr/>
            </p:nvSpPr>
            <p:spPr>
              <a:xfrm>
                <a:off x="3086695" y="5810845"/>
                <a:ext cx="170259" cy="170259"/>
              </a:xfrm>
              <a:custGeom>
                <a:avLst/>
                <a:gdLst/>
                <a:ahLst/>
                <a:cxnLst/>
                <a:rect l="l" t="t" r="r" b="b"/>
                <a:pathLst>
                  <a:path w="170259" h="170259">
                    <a:moveTo>
                      <a:pt x="85130" y="0"/>
                    </a:moveTo>
                    <a:cubicBezTo>
                      <a:pt x="38114" y="0"/>
                      <a:pt x="0" y="38114"/>
                      <a:pt x="0" y="85130"/>
                    </a:cubicBezTo>
                    <a:cubicBezTo>
                      <a:pt x="0" y="132146"/>
                      <a:pt x="38114" y="170259"/>
                      <a:pt x="85130" y="170259"/>
                    </a:cubicBezTo>
                    <a:cubicBezTo>
                      <a:pt x="132146" y="170259"/>
                      <a:pt x="170259" y="132146"/>
                      <a:pt x="170259" y="85130"/>
                    </a:cubicBezTo>
                    <a:cubicBezTo>
                      <a:pt x="170210" y="38134"/>
                      <a:pt x="132125" y="50"/>
                      <a:pt x="85130" y="0"/>
                    </a:cubicBezTo>
                    <a:close/>
                    <a:moveTo>
                      <a:pt x="85130" y="13097"/>
                    </a:moveTo>
                    <a:cubicBezTo>
                      <a:pt x="99086" y="13082"/>
                      <a:pt x="112742" y="17145"/>
                      <a:pt x="124420" y="24786"/>
                    </a:cubicBezTo>
                    <a:lnTo>
                      <a:pt x="124420" y="40928"/>
                    </a:lnTo>
                    <a:lnTo>
                      <a:pt x="106273" y="61997"/>
                    </a:lnTo>
                    <a:lnTo>
                      <a:pt x="80513" y="65484"/>
                    </a:lnTo>
                    <a:lnTo>
                      <a:pt x="80259" y="65304"/>
                    </a:lnTo>
                    <a:lnTo>
                      <a:pt x="64158" y="54778"/>
                    </a:lnTo>
                    <a:cubicBezTo>
                      <a:pt x="61274" y="52746"/>
                      <a:pt x="57693" y="51964"/>
                      <a:pt x="54225" y="52608"/>
                    </a:cubicBezTo>
                    <a:cubicBezTo>
                      <a:pt x="50757" y="53252"/>
                      <a:pt x="47695" y="55268"/>
                      <a:pt x="45733" y="58199"/>
                    </a:cubicBezTo>
                    <a:lnTo>
                      <a:pt x="28592" y="83820"/>
                    </a:lnTo>
                    <a:cubicBezTo>
                      <a:pt x="27164" y="85955"/>
                      <a:pt x="26396" y="88463"/>
                      <a:pt x="26382" y="91031"/>
                    </a:cubicBezTo>
                    <a:lnTo>
                      <a:pt x="26194" y="120688"/>
                    </a:lnTo>
                    <a:lnTo>
                      <a:pt x="23517" y="122448"/>
                    </a:lnTo>
                    <a:cubicBezTo>
                      <a:pt x="10045" y="100204"/>
                      <a:pt x="9607" y="72426"/>
                      <a:pt x="22373" y="49770"/>
                    </a:cubicBezTo>
                    <a:cubicBezTo>
                      <a:pt x="35138" y="27114"/>
                      <a:pt x="59125" y="13097"/>
                      <a:pt x="85130" y="13097"/>
                    </a:cubicBezTo>
                    <a:close/>
                    <a:moveTo>
                      <a:pt x="31342" y="132991"/>
                    </a:moveTo>
                    <a:lnTo>
                      <a:pt x="33405" y="131640"/>
                    </a:lnTo>
                    <a:cubicBezTo>
                      <a:pt x="37064" y="129227"/>
                      <a:pt x="39273" y="125144"/>
                      <a:pt x="39291" y="120761"/>
                    </a:cubicBezTo>
                    <a:lnTo>
                      <a:pt x="39463" y="91105"/>
                    </a:lnTo>
                    <a:lnTo>
                      <a:pt x="56619" y="65484"/>
                    </a:lnTo>
                    <a:cubicBezTo>
                      <a:pt x="56703" y="65549"/>
                      <a:pt x="56791" y="65609"/>
                      <a:pt x="56881" y="65664"/>
                    </a:cubicBezTo>
                    <a:lnTo>
                      <a:pt x="72982" y="76199"/>
                    </a:lnTo>
                    <a:cubicBezTo>
                      <a:pt x="75681" y="78104"/>
                      <a:pt x="79001" y="78914"/>
                      <a:pt x="82273" y="78467"/>
                    </a:cubicBezTo>
                    <a:lnTo>
                      <a:pt x="108049" y="74971"/>
                    </a:lnTo>
                    <a:cubicBezTo>
                      <a:pt x="111228" y="74547"/>
                      <a:pt x="114140" y="72972"/>
                      <a:pt x="116235" y="70543"/>
                    </a:cubicBezTo>
                    <a:lnTo>
                      <a:pt x="134382" y="49457"/>
                    </a:lnTo>
                    <a:cubicBezTo>
                      <a:pt x="136412" y="47079"/>
                      <a:pt x="137524" y="44054"/>
                      <a:pt x="137517" y="40928"/>
                    </a:cubicBezTo>
                    <a:lnTo>
                      <a:pt x="137517" y="35746"/>
                    </a:lnTo>
                    <a:cubicBezTo>
                      <a:pt x="155558" y="54833"/>
                      <a:pt x="161761" y="82235"/>
                      <a:pt x="153700" y="107231"/>
                    </a:cubicBezTo>
                    <a:lnTo>
                      <a:pt x="140489" y="95149"/>
                    </a:lnTo>
                    <a:cubicBezTo>
                      <a:pt x="136739" y="91707"/>
                      <a:pt x="131335" y="90749"/>
                      <a:pt x="126630" y="92693"/>
                    </a:cubicBezTo>
                    <a:lnTo>
                      <a:pt x="101697" y="103048"/>
                    </a:lnTo>
                    <a:cubicBezTo>
                      <a:pt x="97457" y="104828"/>
                      <a:pt x="94453" y="108691"/>
                      <a:pt x="93774" y="113239"/>
                    </a:cubicBezTo>
                    <a:lnTo>
                      <a:pt x="91817" y="126491"/>
                    </a:lnTo>
                    <a:cubicBezTo>
                      <a:pt x="90844" y="133096"/>
                      <a:pt x="94994" y="139376"/>
                      <a:pt x="101452" y="141070"/>
                    </a:cubicBezTo>
                    <a:lnTo>
                      <a:pt x="119018" y="145703"/>
                    </a:lnTo>
                    <a:lnTo>
                      <a:pt x="120950" y="147643"/>
                    </a:lnTo>
                    <a:cubicBezTo>
                      <a:pt x="91382" y="164607"/>
                      <a:pt x="53967" y="158490"/>
                      <a:pt x="31342" y="132991"/>
                    </a:cubicBezTo>
                    <a:close/>
                    <a:moveTo>
                      <a:pt x="131787" y="139973"/>
                    </a:moveTo>
                    <a:lnTo>
                      <a:pt x="128268" y="136445"/>
                    </a:lnTo>
                    <a:cubicBezTo>
                      <a:pt x="126626" y="134797"/>
                      <a:pt x="124574" y="133616"/>
                      <a:pt x="122325" y="133023"/>
                    </a:cubicBezTo>
                    <a:lnTo>
                      <a:pt x="104775" y="128390"/>
                    </a:lnTo>
                    <a:lnTo>
                      <a:pt x="106731" y="115138"/>
                    </a:lnTo>
                    <a:lnTo>
                      <a:pt x="131656" y="104775"/>
                    </a:lnTo>
                    <a:lnTo>
                      <a:pt x="148158" y="119902"/>
                    </a:lnTo>
                    <a:cubicBezTo>
                      <a:pt x="143952" y="127522"/>
                      <a:pt x="138407" y="134321"/>
                      <a:pt x="131787" y="139973"/>
                    </a:cubicBezTo>
                    <a:close/>
                  </a:path>
                </a:pathLst>
              </a:custGeom>
              <a:solidFill>
                <a:srgbClr val="FFFFFF"/>
              </a:solidFill>
              <a:ln>
                <a:noFill/>
              </a:ln>
            </p:spPr>
          </p:sp>
        </p:grpSp>
        <p:sp>
          <p:nvSpPr>
            <p:cNvPr id="60" name="TextBox 60"/>
            <p:cNvSpPr txBox="1"/>
            <p:nvPr/>
          </p:nvSpPr>
          <p:spPr>
            <a:xfrm>
              <a:off x="3348038" y="5797391"/>
              <a:ext cx="473591" cy="161925"/>
            </a:xfrm>
            <a:prstGeom prst="rect">
              <a:avLst/>
            </a:prstGeom>
            <a:noFill/>
            <a:ln>
              <a:noFill/>
            </a:ln>
          </p:spPr>
          <p:txBody>
            <a:bodyPr wrap="none" lIns="0" tIns="0" rIns="0" bIns="0" anchor="t" anchorCtr="0">
              <a:spAutoFit/>
            </a:bodyPr>
            <a:lstStyle/>
            <a:p>
              <a:pPr algn="l"/>
              <a:r>
                <a:rPr lang="en-IN" sz="820" dirty="0">
                  <a:solidFill>
                    <a:srgbClr val="B9C7D8"/>
                  </a:solidFill>
                  <a:latin typeface="Calibri"/>
                  <a:ea typeface="Calibri"/>
                  <a:cs typeface="Calibri"/>
                </a:rPr>
                <a:t>Live demo</a:t>
              </a:r>
            </a:p>
          </p:txBody>
        </p:sp>
        <p:sp>
          <p:nvSpPr>
            <p:cNvPr id="61" name="TextBox 61"/>
            <p:cNvSpPr txBox="1"/>
            <p:nvPr/>
          </p:nvSpPr>
          <p:spPr>
            <a:xfrm>
              <a:off x="3347847" y="5933599"/>
              <a:ext cx="1261556" cy="190690"/>
            </a:xfrm>
            <a:prstGeom prst="rect">
              <a:avLst/>
            </a:prstGeom>
            <a:noFill/>
            <a:ln>
              <a:noFill/>
            </a:ln>
          </p:spPr>
          <p:txBody>
            <a:bodyPr wrap="none" lIns="0" tIns="0" rIns="0" bIns="0" anchor="t" anchorCtr="0">
              <a:spAutoFit/>
            </a:bodyPr>
            <a:lstStyle/>
            <a:p>
              <a:pPr algn="l"/>
              <a:r>
                <a:rPr lang="en-IN" sz="980" b="1" dirty="0">
                  <a:solidFill>
                    <a:srgbClr val="FFFFFF"/>
                  </a:solidFill>
                  <a:latin typeface="Calibri"/>
                  <a:ea typeface="Calibri"/>
                  <a:cs typeface="Calibri"/>
                </a:rPr>
                <a:t>drishti-lyart.vercel.app</a:t>
              </a:r>
            </a:p>
          </p:txBody>
        </p:sp>
        <p:sp>
          <p:nvSpPr>
            <p:cNvPr id="62" name="TextBox 62"/>
            <p:cNvSpPr txBox="1"/>
            <p:nvPr/>
          </p:nvSpPr>
          <p:spPr>
            <a:xfrm>
              <a:off x="452438" y="6125289"/>
              <a:ext cx="2899349" cy="154781"/>
            </a:xfrm>
            <a:prstGeom prst="rect">
              <a:avLst/>
            </a:prstGeom>
            <a:noFill/>
            <a:ln>
              <a:noFill/>
            </a:ln>
          </p:spPr>
          <p:txBody>
            <a:bodyPr wrap="none" lIns="0" tIns="0" rIns="0" bIns="0" anchor="t" anchorCtr="0">
              <a:spAutoFit/>
            </a:bodyPr>
            <a:lstStyle/>
            <a:p>
              <a:pPr algn="l"/>
              <a:r>
                <a:rPr lang="en-IN" sz="790" dirty="0">
                  <a:solidFill>
                    <a:srgbClr val="B9C7D8"/>
                  </a:solidFill>
                  <a:latin typeface="Calibri"/>
                  <a:ea typeface="Calibri"/>
                  <a:cs typeface="Calibri"/>
                </a:rPr>
                <a:t>Every number on these slides: docs/trial/FINDINGS.md in the repo</a:t>
              </a:r>
            </a:p>
          </p:txBody>
        </p:sp>
      </p:grpSp>
      <p:grpSp>
        <p:nvGrpSpPr>
          <p:cNvPr id="199" name="comparison"/>
          <p:cNvGrpSpPr/>
          <p:nvPr/>
        </p:nvGrpSpPr>
        <p:grpSpPr>
          <a:xfrm>
            <a:off x="5747385" y="1231106"/>
            <a:ext cx="6139815" cy="4750594"/>
            <a:chOff x="5747385" y="1231106"/>
            <a:chExt cx="6139815" cy="4750594"/>
          </a:xfrm>
        </p:grpSpPr>
        <p:sp>
          <p:nvSpPr>
            <p:cNvPr id="64" name="TextBox 64"/>
            <p:cNvSpPr txBox="1"/>
            <p:nvPr/>
          </p:nvSpPr>
          <p:spPr>
            <a:xfrm>
              <a:off x="5747385" y="1231106"/>
              <a:ext cx="3082540" cy="220028"/>
            </a:xfrm>
            <a:prstGeom prst="rect">
              <a:avLst/>
            </a:prstGeom>
            <a:noFill/>
            <a:ln>
              <a:noFill/>
            </a:ln>
          </p:spPr>
          <p:txBody>
            <a:bodyPr wrap="none" lIns="0" tIns="0" rIns="0" bIns="0" anchor="t" anchorCtr="0">
              <a:spAutoFit/>
            </a:bodyPr>
            <a:lstStyle/>
            <a:p>
              <a:pPr algn="l"/>
              <a:r>
                <a:rPr lang="en-IN" sz="1120" b="1" dirty="0">
                  <a:solidFill>
                    <a:srgbClr val="0B3D6E"/>
                  </a:solidFill>
                  <a:latin typeface="Calibri"/>
                  <a:ea typeface="Calibri"/>
                  <a:cs typeface="Calibri"/>
                </a:rPr>
                <a:t>How DRISHTI compares with existing monitoring</a:t>
              </a:r>
            </a:p>
          </p:txBody>
        </p:sp>
        <p:sp>
          <p:nvSpPr>
            <p:cNvPr id="65" name="Line 65"/>
            <p:cNvSpPr/>
            <p:nvPr/>
          </p:nvSpPr>
          <p:spPr>
            <a:xfrm>
              <a:off x="5753100" y="1419225"/>
              <a:ext cx="6134100" cy="9525"/>
            </a:xfrm>
            <a:custGeom>
              <a:avLst/>
              <a:gdLst/>
              <a:ahLst/>
              <a:cxnLst/>
              <a:rect l="l" t="t" r="r" b="b"/>
              <a:pathLst>
                <a:path w="6134100" h="9525">
                  <a:moveTo>
                    <a:pt x="0" y="0"/>
                  </a:moveTo>
                  <a:lnTo>
                    <a:pt x="6134100" y="0"/>
                  </a:lnTo>
                </a:path>
              </a:pathLst>
            </a:custGeom>
            <a:noFill/>
            <a:ln w="9525">
              <a:solidFill>
                <a:srgbClr val="D0D5DD"/>
              </a:solidFill>
            </a:ln>
          </p:spPr>
        </p:sp>
        <p:sp>
          <p:nvSpPr>
            <p:cNvPr id="66" name="Rectangle 66"/>
            <p:cNvSpPr/>
            <p:nvPr/>
          </p:nvSpPr>
          <p:spPr>
            <a:xfrm>
              <a:off x="5753100" y="1504950"/>
              <a:ext cx="6134100" cy="266700"/>
            </a:xfrm>
            <a:prstGeom prst="rect">
              <a:avLst/>
            </a:prstGeom>
            <a:solidFill>
              <a:srgbClr val="0B3D6E"/>
            </a:solidFill>
            <a:ln>
              <a:noFill/>
            </a:ln>
          </p:spPr>
        </p:sp>
        <p:sp>
          <p:nvSpPr>
            <p:cNvPr id="67" name="TextBox 67"/>
            <p:cNvSpPr txBox="1"/>
            <p:nvPr/>
          </p:nvSpPr>
          <p:spPr>
            <a:xfrm>
              <a:off x="5843588" y="1584722"/>
              <a:ext cx="537268" cy="183356"/>
            </a:xfrm>
            <a:prstGeom prst="rect">
              <a:avLst/>
            </a:prstGeom>
            <a:noFill/>
            <a:ln>
              <a:noFill/>
            </a:ln>
          </p:spPr>
          <p:txBody>
            <a:bodyPr wrap="none" lIns="0" tIns="0" rIns="0" bIns="0" anchor="t" anchorCtr="0">
              <a:spAutoFit/>
            </a:bodyPr>
            <a:lstStyle/>
            <a:p>
              <a:pPr algn="l"/>
              <a:r>
                <a:rPr lang="en-IN" sz="940" b="1" dirty="0">
                  <a:solidFill>
                    <a:srgbClr val="FFFFFF"/>
                  </a:solidFill>
                  <a:latin typeface="Calibri"/>
                  <a:ea typeface="Calibri"/>
                  <a:cs typeface="Calibri"/>
                </a:rPr>
                <a:t>Capability</a:t>
              </a:r>
            </a:p>
          </p:txBody>
        </p:sp>
        <p:sp>
          <p:nvSpPr>
            <p:cNvPr id="68" name="TextBox 68"/>
            <p:cNvSpPr txBox="1"/>
            <p:nvPr/>
          </p:nvSpPr>
          <p:spPr>
            <a:xfrm>
              <a:off x="7710488" y="1584722"/>
              <a:ext cx="930778" cy="183356"/>
            </a:xfrm>
            <a:prstGeom prst="rect">
              <a:avLst/>
            </a:prstGeom>
            <a:noFill/>
            <a:ln>
              <a:noFill/>
            </a:ln>
          </p:spPr>
          <p:txBody>
            <a:bodyPr wrap="none" lIns="0" tIns="0" rIns="0" bIns="0" anchor="t" anchorCtr="0">
              <a:spAutoFit/>
            </a:bodyPr>
            <a:lstStyle/>
            <a:p>
              <a:pPr algn="l"/>
              <a:r>
                <a:rPr lang="en-IN" sz="940" b="1" dirty="0">
                  <a:solidFill>
                    <a:srgbClr val="FFFFFF"/>
                  </a:solidFill>
                  <a:latin typeface="Calibri"/>
                  <a:ea typeface="Calibri"/>
                  <a:cs typeface="Calibri"/>
                </a:rPr>
                <a:t>Existing systems*</a:t>
              </a:r>
            </a:p>
          </p:txBody>
        </p:sp>
        <p:sp>
          <p:nvSpPr>
            <p:cNvPr id="69" name="TextBox 69"/>
            <p:cNvSpPr txBox="1"/>
            <p:nvPr/>
          </p:nvSpPr>
          <p:spPr>
            <a:xfrm>
              <a:off x="9844088" y="1584722"/>
              <a:ext cx="454136" cy="183356"/>
            </a:xfrm>
            <a:prstGeom prst="rect">
              <a:avLst/>
            </a:prstGeom>
            <a:noFill/>
            <a:ln>
              <a:noFill/>
            </a:ln>
          </p:spPr>
          <p:txBody>
            <a:bodyPr wrap="none" lIns="0" tIns="0" rIns="0" bIns="0" anchor="t" anchorCtr="0">
              <a:spAutoFit/>
            </a:bodyPr>
            <a:lstStyle/>
            <a:p>
              <a:pPr algn="l"/>
              <a:r>
                <a:rPr lang="en-IN" sz="940" b="1" dirty="0">
                  <a:solidFill>
                    <a:srgbClr val="FFFFFF"/>
                  </a:solidFill>
                  <a:latin typeface="Calibri"/>
                  <a:ea typeface="Calibri"/>
                  <a:cs typeface="Calibri"/>
                </a:rPr>
                <a:t>DRISHTI</a:t>
              </a:r>
            </a:p>
          </p:txBody>
        </p:sp>
        <p:grpSp>
          <p:nvGrpSpPr>
            <p:cNvPr id="72" name="Group 72"/>
            <p:cNvGrpSpPr/>
            <p:nvPr/>
          </p:nvGrpSpPr>
          <p:grpSpPr>
            <a:xfrm>
              <a:off x="5834469" y="1920770"/>
              <a:ext cx="179561" cy="132114"/>
              <a:chOff x="5834469" y="1920770"/>
              <a:chExt cx="179561" cy="132114"/>
            </a:xfrm>
          </p:grpSpPr>
          <p:sp>
            <p:nvSpPr>
              <p:cNvPr id="70" name="Freeform 70"/>
              <p:cNvSpPr/>
              <p:nvPr/>
            </p:nvSpPr>
            <p:spPr>
              <a:xfrm>
                <a:off x="5853112" y="1927622"/>
                <a:ext cx="142875" cy="95250"/>
              </a:xfrm>
              <a:custGeom>
                <a:avLst/>
                <a:gdLst/>
                <a:ahLst/>
                <a:cxnLst/>
                <a:rect l="l" t="t" r="r" b="b"/>
                <a:pathLst>
                  <a:path w="142875" h="95250">
                    <a:moveTo>
                      <a:pt x="101203" y="65484"/>
                    </a:moveTo>
                    <a:cubicBezTo>
                      <a:pt x="101203" y="81923"/>
                      <a:pt x="87877" y="95250"/>
                      <a:pt x="71438" y="95250"/>
                    </a:cubicBezTo>
                    <a:cubicBezTo>
                      <a:pt x="54998" y="95250"/>
                      <a:pt x="41672" y="81923"/>
                      <a:pt x="41672" y="65484"/>
                    </a:cubicBezTo>
                    <a:cubicBezTo>
                      <a:pt x="41672" y="49045"/>
                      <a:pt x="54998" y="35719"/>
                      <a:pt x="71438" y="35719"/>
                    </a:cubicBezTo>
                    <a:cubicBezTo>
                      <a:pt x="87877" y="35719"/>
                      <a:pt x="101203" y="49045"/>
                      <a:pt x="101203" y="65484"/>
                    </a:cubicBezTo>
                    <a:close/>
                    <a:moveTo>
                      <a:pt x="23812" y="0"/>
                    </a:moveTo>
                    <a:cubicBezTo>
                      <a:pt x="10661" y="0"/>
                      <a:pt x="0" y="10661"/>
                      <a:pt x="0" y="23812"/>
                    </a:cubicBezTo>
                    <a:cubicBezTo>
                      <a:pt x="0" y="36964"/>
                      <a:pt x="10661" y="47625"/>
                      <a:pt x="23812" y="47625"/>
                    </a:cubicBezTo>
                    <a:cubicBezTo>
                      <a:pt x="36964" y="47625"/>
                      <a:pt x="47625" y="36964"/>
                      <a:pt x="47625" y="23812"/>
                    </a:cubicBezTo>
                    <a:cubicBezTo>
                      <a:pt x="47625" y="10661"/>
                      <a:pt x="36964" y="0"/>
                      <a:pt x="23812" y="0"/>
                    </a:cubicBezTo>
                    <a:close/>
                    <a:moveTo>
                      <a:pt x="119062" y="0"/>
                    </a:moveTo>
                    <a:cubicBezTo>
                      <a:pt x="105911" y="0"/>
                      <a:pt x="95250" y="10661"/>
                      <a:pt x="95250" y="23812"/>
                    </a:cubicBezTo>
                    <a:cubicBezTo>
                      <a:pt x="95250" y="36964"/>
                      <a:pt x="105911" y="47625"/>
                      <a:pt x="119062" y="47625"/>
                    </a:cubicBezTo>
                    <a:cubicBezTo>
                      <a:pt x="132214" y="47625"/>
                      <a:pt x="142875" y="36964"/>
                      <a:pt x="142875" y="23812"/>
                    </a:cubicBezTo>
                    <a:cubicBezTo>
                      <a:pt x="142875" y="10661"/>
                      <a:pt x="132214" y="0"/>
                      <a:pt x="119062" y="0"/>
                    </a:cubicBezTo>
                    <a:close/>
                  </a:path>
                </a:pathLst>
              </a:custGeom>
              <a:solidFill>
                <a:srgbClr val="0B3D6E">
                  <a:alpha val="20000"/>
                </a:srgbClr>
              </a:solidFill>
              <a:ln>
                <a:noFill/>
              </a:ln>
            </p:spPr>
          </p:sp>
          <p:sp>
            <p:nvSpPr>
              <p:cNvPr id="71" name="Freeform 71"/>
              <p:cNvSpPr/>
              <p:nvPr/>
            </p:nvSpPr>
            <p:spPr>
              <a:xfrm>
                <a:off x="5834469" y="1920770"/>
                <a:ext cx="179561" cy="132114"/>
              </a:xfrm>
              <a:custGeom>
                <a:avLst/>
                <a:gdLst/>
                <a:ahLst/>
                <a:cxnLst/>
                <a:rect l="l" t="t" r="r" b="b"/>
                <a:pathLst>
                  <a:path w="179561" h="132114">
                    <a:moveTo>
                      <a:pt x="176997" y="77099"/>
                    </a:moveTo>
                    <a:cubicBezTo>
                      <a:pt x="174366" y="79071"/>
                      <a:pt x="170635" y="78538"/>
                      <a:pt x="168662" y="75908"/>
                    </a:cubicBezTo>
                    <a:cubicBezTo>
                      <a:pt x="161386" y="66127"/>
                      <a:pt x="149897" y="60383"/>
                      <a:pt x="137706" y="60430"/>
                    </a:cubicBezTo>
                    <a:cubicBezTo>
                      <a:pt x="134418" y="60430"/>
                      <a:pt x="131753" y="57765"/>
                      <a:pt x="131753" y="54477"/>
                    </a:cubicBezTo>
                    <a:cubicBezTo>
                      <a:pt x="131753" y="51189"/>
                      <a:pt x="134418" y="48524"/>
                      <a:pt x="137706" y="48524"/>
                    </a:cubicBezTo>
                    <a:cubicBezTo>
                      <a:pt x="146987" y="48523"/>
                      <a:pt x="154720" y="41414"/>
                      <a:pt x="155501" y="32166"/>
                    </a:cubicBezTo>
                    <a:cubicBezTo>
                      <a:pt x="156281" y="22918"/>
                      <a:pt x="149848" y="14613"/>
                      <a:pt x="140698" y="13058"/>
                    </a:cubicBezTo>
                    <a:cubicBezTo>
                      <a:pt x="131549" y="11502"/>
                      <a:pt x="122732" y="17213"/>
                      <a:pt x="120412" y="26199"/>
                    </a:cubicBezTo>
                    <a:cubicBezTo>
                      <a:pt x="119590" y="29384"/>
                      <a:pt x="116342" y="31300"/>
                      <a:pt x="113157" y="30478"/>
                    </a:cubicBezTo>
                    <a:cubicBezTo>
                      <a:pt x="109972" y="29656"/>
                      <a:pt x="108056" y="26408"/>
                      <a:pt x="108878" y="23223"/>
                    </a:cubicBezTo>
                    <a:cubicBezTo>
                      <a:pt x="112057" y="10921"/>
                      <a:pt x="122695" y="1993"/>
                      <a:pt x="135362" y="997"/>
                    </a:cubicBezTo>
                    <a:cubicBezTo>
                      <a:pt x="148029" y="0"/>
                      <a:pt x="159932" y="7154"/>
                      <a:pt x="164996" y="18807"/>
                    </a:cubicBezTo>
                    <a:cubicBezTo>
                      <a:pt x="170060" y="30460"/>
                      <a:pt x="167169" y="44043"/>
                      <a:pt x="157798" y="52624"/>
                    </a:cubicBezTo>
                    <a:cubicBezTo>
                      <a:pt x="165893" y="56129"/>
                      <a:pt x="172930" y="61690"/>
                      <a:pt x="178210" y="68757"/>
                    </a:cubicBezTo>
                    <a:cubicBezTo>
                      <a:pt x="179157" y="70023"/>
                      <a:pt x="179561" y="71614"/>
                      <a:pt x="179334" y="73179"/>
                    </a:cubicBezTo>
                    <a:cubicBezTo>
                      <a:pt x="179106" y="74744"/>
                      <a:pt x="178265" y="76154"/>
                      <a:pt x="176997" y="77099"/>
                    </a:cubicBezTo>
                    <a:close/>
                    <a:moveTo>
                      <a:pt x="136902" y="122938"/>
                    </a:moveTo>
                    <a:cubicBezTo>
                      <a:pt x="138034" y="124783"/>
                      <a:pt x="138075" y="127096"/>
                      <a:pt x="137010" y="128980"/>
                    </a:cubicBezTo>
                    <a:cubicBezTo>
                      <a:pt x="135944" y="130864"/>
                      <a:pt x="133941" y="132021"/>
                      <a:pt x="131776" y="132003"/>
                    </a:cubicBezTo>
                    <a:cubicBezTo>
                      <a:pt x="129612" y="131984"/>
                      <a:pt x="127629" y="130793"/>
                      <a:pt x="126596" y="128891"/>
                    </a:cubicBezTo>
                    <a:cubicBezTo>
                      <a:pt x="118965" y="115975"/>
                      <a:pt x="105079" y="108050"/>
                      <a:pt x="90077" y="108050"/>
                    </a:cubicBezTo>
                    <a:cubicBezTo>
                      <a:pt x="75075" y="108050"/>
                      <a:pt x="61189" y="115975"/>
                      <a:pt x="53559" y="128891"/>
                    </a:cubicBezTo>
                    <a:cubicBezTo>
                      <a:pt x="52545" y="130828"/>
                      <a:pt x="50551" y="132054"/>
                      <a:pt x="48364" y="132084"/>
                    </a:cubicBezTo>
                    <a:cubicBezTo>
                      <a:pt x="46178" y="132114"/>
                      <a:pt x="44151" y="130942"/>
                      <a:pt x="43085" y="129033"/>
                    </a:cubicBezTo>
                    <a:cubicBezTo>
                      <a:pt x="42020" y="127123"/>
                      <a:pt x="42087" y="124783"/>
                      <a:pt x="43260" y="122938"/>
                    </a:cubicBezTo>
                    <a:cubicBezTo>
                      <a:pt x="49031" y="113021"/>
                      <a:pt x="57831" y="105217"/>
                      <a:pt x="68367" y="100673"/>
                    </a:cubicBezTo>
                    <a:cubicBezTo>
                      <a:pt x="56211" y="91366"/>
                      <a:pt x="51338" y="75348"/>
                      <a:pt x="56252" y="60849"/>
                    </a:cubicBezTo>
                    <a:cubicBezTo>
                      <a:pt x="61165" y="46349"/>
                      <a:pt x="74772" y="36593"/>
                      <a:pt x="90081" y="36593"/>
                    </a:cubicBezTo>
                    <a:cubicBezTo>
                      <a:pt x="105390" y="36593"/>
                      <a:pt x="118997" y="46349"/>
                      <a:pt x="123910" y="60849"/>
                    </a:cubicBezTo>
                    <a:cubicBezTo>
                      <a:pt x="128824" y="75348"/>
                      <a:pt x="123951" y="91366"/>
                      <a:pt x="111795" y="100673"/>
                    </a:cubicBezTo>
                    <a:cubicBezTo>
                      <a:pt x="122331" y="105217"/>
                      <a:pt x="131131" y="113021"/>
                      <a:pt x="136902" y="122938"/>
                    </a:cubicBezTo>
                    <a:close/>
                    <a:moveTo>
                      <a:pt x="90081" y="96149"/>
                    </a:moveTo>
                    <a:cubicBezTo>
                      <a:pt x="103232" y="96149"/>
                      <a:pt x="113893" y="85487"/>
                      <a:pt x="113893" y="72336"/>
                    </a:cubicBezTo>
                    <a:cubicBezTo>
                      <a:pt x="113893" y="59185"/>
                      <a:pt x="103232" y="48524"/>
                      <a:pt x="90081" y="48524"/>
                    </a:cubicBezTo>
                    <a:cubicBezTo>
                      <a:pt x="76930" y="48524"/>
                      <a:pt x="66268" y="59185"/>
                      <a:pt x="66268" y="72336"/>
                    </a:cubicBezTo>
                    <a:cubicBezTo>
                      <a:pt x="66268" y="85487"/>
                      <a:pt x="76930" y="96149"/>
                      <a:pt x="90081" y="96149"/>
                    </a:cubicBezTo>
                    <a:close/>
                    <a:moveTo>
                      <a:pt x="48409" y="54477"/>
                    </a:moveTo>
                    <a:cubicBezTo>
                      <a:pt x="48409" y="51189"/>
                      <a:pt x="45744" y="48524"/>
                      <a:pt x="42456" y="48524"/>
                    </a:cubicBezTo>
                    <a:cubicBezTo>
                      <a:pt x="33175" y="48523"/>
                      <a:pt x="25442" y="41414"/>
                      <a:pt x="24661" y="32166"/>
                    </a:cubicBezTo>
                    <a:cubicBezTo>
                      <a:pt x="23881" y="22918"/>
                      <a:pt x="30314" y="14613"/>
                      <a:pt x="39464" y="13058"/>
                    </a:cubicBezTo>
                    <a:cubicBezTo>
                      <a:pt x="48613" y="11502"/>
                      <a:pt x="57430" y="17213"/>
                      <a:pt x="59750" y="26199"/>
                    </a:cubicBezTo>
                    <a:cubicBezTo>
                      <a:pt x="60572" y="29384"/>
                      <a:pt x="63820" y="31300"/>
                      <a:pt x="67005" y="30478"/>
                    </a:cubicBezTo>
                    <a:cubicBezTo>
                      <a:pt x="70190" y="29656"/>
                      <a:pt x="72106" y="26408"/>
                      <a:pt x="71284" y="23223"/>
                    </a:cubicBezTo>
                    <a:cubicBezTo>
                      <a:pt x="68105" y="10921"/>
                      <a:pt x="57467" y="1993"/>
                      <a:pt x="44800" y="997"/>
                    </a:cubicBezTo>
                    <a:cubicBezTo>
                      <a:pt x="32133" y="0"/>
                      <a:pt x="20230" y="7154"/>
                      <a:pt x="15166" y="18807"/>
                    </a:cubicBezTo>
                    <a:cubicBezTo>
                      <a:pt x="10102" y="30460"/>
                      <a:pt x="12993" y="44043"/>
                      <a:pt x="22364" y="52624"/>
                    </a:cubicBezTo>
                    <a:cubicBezTo>
                      <a:pt x="14277" y="56132"/>
                      <a:pt x="7249" y="61694"/>
                      <a:pt x="1975" y="68757"/>
                    </a:cubicBezTo>
                    <a:cubicBezTo>
                      <a:pt x="0" y="71387"/>
                      <a:pt x="531" y="75120"/>
                      <a:pt x="3162" y="77095"/>
                    </a:cubicBezTo>
                    <a:cubicBezTo>
                      <a:pt x="5792" y="79070"/>
                      <a:pt x="9525" y="78538"/>
                      <a:pt x="11500" y="75908"/>
                    </a:cubicBezTo>
                    <a:cubicBezTo>
                      <a:pt x="18776" y="66127"/>
                      <a:pt x="30265" y="60383"/>
                      <a:pt x="42456" y="60430"/>
                    </a:cubicBezTo>
                    <a:cubicBezTo>
                      <a:pt x="45744" y="60430"/>
                      <a:pt x="48409" y="57765"/>
                      <a:pt x="48409" y="54477"/>
                    </a:cubicBezTo>
                    <a:close/>
                  </a:path>
                </a:pathLst>
              </a:custGeom>
              <a:solidFill>
                <a:srgbClr val="0B3D6E"/>
              </a:solidFill>
              <a:ln>
                <a:noFill/>
              </a:ln>
            </p:spPr>
          </p:sp>
        </p:grpSp>
        <p:sp>
          <p:nvSpPr>
            <p:cNvPr id="73" name="TextBox 73"/>
            <p:cNvSpPr txBox="1"/>
            <p:nvPr/>
          </p:nvSpPr>
          <p:spPr>
            <a:xfrm>
              <a:off x="6072188" y="1927622"/>
              <a:ext cx="502723"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Coverage</a:t>
              </a:r>
            </a:p>
          </p:txBody>
        </p:sp>
        <p:grpSp>
          <p:nvGrpSpPr>
            <p:cNvPr id="76" name="Group 76"/>
            <p:cNvGrpSpPr/>
            <p:nvPr/>
          </p:nvGrpSpPr>
          <p:grpSpPr>
            <a:xfrm>
              <a:off x="7734895" y="1896070"/>
              <a:ext cx="170259" cy="170259"/>
              <a:chOff x="7734895" y="1896070"/>
              <a:chExt cx="170259" cy="170259"/>
            </a:xfrm>
          </p:grpSpPr>
          <p:sp>
            <p:nvSpPr>
              <p:cNvPr id="74" name="Freeform 74"/>
              <p:cNvSpPr/>
              <p:nvPr/>
            </p:nvSpPr>
            <p:spPr>
              <a:xfrm>
                <a:off x="7741444" y="1902619"/>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E8871E">
                  <a:alpha val="20000"/>
                </a:srgbClr>
              </a:solidFill>
              <a:ln>
                <a:noFill/>
              </a:ln>
            </p:spPr>
          </p:sp>
          <p:sp>
            <p:nvSpPr>
              <p:cNvPr id="75" name="Freeform 75"/>
              <p:cNvSpPr/>
              <p:nvPr/>
            </p:nvSpPr>
            <p:spPr>
              <a:xfrm>
                <a:off x="7734895" y="1896070"/>
                <a:ext cx="170259" cy="170259"/>
              </a:xfrm>
              <a:custGeom>
                <a:avLst/>
                <a:gdLst/>
                <a:ahLst/>
                <a:cxnLst/>
                <a:rect l="l" t="t" r="r" b="b"/>
                <a:pathLst>
                  <a:path w="170259" h="170259">
                    <a:moveTo>
                      <a:pt x="124420" y="85130"/>
                    </a:moveTo>
                    <a:cubicBezTo>
                      <a:pt x="124420" y="88746"/>
                      <a:pt x="121488" y="91678"/>
                      <a:pt x="117872" y="91678"/>
                    </a:cubicBezTo>
                    <a:lnTo>
                      <a:pt x="52388" y="91678"/>
                    </a:lnTo>
                    <a:cubicBezTo>
                      <a:pt x="48771" y="91678"/>
                      <a:pt x="45839" y="88746"/>
                      <a:pt x="45839" y="85130"/>
                    </a:cubicBezTo>
                    <a:cubicBezTo>
                      <a:pt x="45839" y="81513"/>
                      <a:pt x="48771" y="78581"/>
                      <a:pt x="52388" y="78581"/>
                    </a:cubicBezTo>
                    <a:lnTo>
                      <a:pt x="117872" y="78581"/>
                    </a:lnTo>
                    <a:cubicBezTo>
                      <a:pt x="121488" y="78581"/>
                      <a:pt x="124420" y="81513"/>
                      <a:pt x="124420" y="85130"/>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E8871E"/>
              </a:solidFill>
              <a:ln>
                <a:noFill/>
              </a:ln>
            </p:spPr>
          </p:sp>
        </p:grpSp>
        <p:sp>
          <p:nvSpPr>
            <p:cNvPr id="77" name="TextBox 77"/>
            <p:cNvSpPr txBox="1"/>
            <p:nvPr/>
          </p:nvSpPr>
          <p:spPr>
            <a:xfrm>
              <a:off x="7996238" y="1931670"/>
              <a:ext cx="1086317" cy="176212"/>
            </a:xfrm>
            <a:prstGeom prst="rect">
              <a:avLst/>
            </a:prstGeom>
            <a:noFill/>
            <a:ln>
              <a:noFill/>
            </a:ln>
          </p:spPr>
          <p:txBody>
            <a:bodyPr wrap="none" lIns="0" tIns="0" rIns="0" bIns="0" anchor="t" anchorCtr="0">
              <a:spAutoFit/>
            </a:bodyPr>
            <a:lstStyle/>
            <a:p>
              <a:pPr algn="l"/>
              <a:r>
                <a:rPr lang="en-IN" sz="900" dirty="0">
                  <a:solidFill>
                    <a:srgbClr val="344054"/>
                  </a:solidFill>
                  <a:latin typeface="Calibri"/>
                  <a:ea typeface="Calibri"/>
                  <a:cs typeface="Calibri"/>
                </a:rPr>
                <a:t>audits check a sample</a:t>
              </a:r>
            </a:p>
          </p:txBody>
        </p:sp>
        <p:grpSp>
          <p:nvGrpSpPr>
            <p:cNvPr id="80" name="Group 80"/>
            <p:cNvGrpSpPr/>
            <p:nvPr/>
          </p:nvGrpSpPr>
          <p:grpSpPr>
            <a:xfrm>
              <a:off x="9868495" y="1896070"/>
              <a:ext cx="170259" cy="170259"/>
              <a:chOff x="9868495" y="1896070"/>
              <a:chExt cx="170259" cy="170259"/>
            </a:xfrm>
          </p:grpSpPr>
          <p:sp>
            <p:nvSpPr>
              <p:cNvPr id="78" name="Freeform 78"/>
              <p:cNvSpPr/>
              <p:nvPr/>
            </p:nvSpPr>
            <p:spPr>
              <a:xfrm>
                <a:off x="9875044" y="1902619"/>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1E7B45">
                  <a:alpha val="20000"/>
                </a:srgbClr>
              </a:solidFill>
              <a:ln>
                <a:noFill/>
              </a:ln>
            </p:spPr>
          </p:sp>
          <p:sp>
            <p:nvSpPr>
              <p:cNvPr id="79" name="Freeform 79"/>
              <p:cNvSpPr/>
              <p:nvPr/>
            </p:nvSpPr>
            <p:spPr>
              <a:xfrm>
                <a:off x="9868495" y="1896070"/>
                <a:ext cx="170259" cy="170259"/>
              </a:xfrm>
              <a:custGeom>
                <a:avLst/>
                <a:gdLst/>
                <a:ahLst/>
                <a:cxnLst/>
                <a:rect l="l" t="t" r="r" b="b"/>
                <a:pathLst>
                  <a:path w="170259" h="170259">
                    <a:moveTo>
                      <a:pt x="122505" y="60851"/>
                    </a:moveTo>
                    <a:cubicBezTo>
                      <a:pt x="123735" y="62080"/>
                      <a:pt x="124425" y="63746"/>
                      <a:pt x="124425" y="65484"/>
                    </a:cubicBezTo>
                    <a:cubicBezTo>
                      <a:pt x="124425" y="67222"/>
                      <a:pt x="123735" y="68889"/>
                      <a:pt x="122505" y="70117"/>
                    </a:cubicBezTo>
                    <a:lnTo>
                      <a:pt x="76666" y="115956"/>
                    </a:lnTo>
                    <a:cubicBezTo>
                      <a:pt x="75438" y="117186"/>
                      <a:pt x="73771" y="117877"/>
                      <a:pt x="72033" y="117877"/>
                    </a:cubicBezTo>
                    <a:cubicBezTo>
                      <a:pt x="70295" y="117877"/>
                      <a:pt x="68628" y="117186"/>
                      <a:pt x="67400" y="115956"/>
                    </a:cubicBezTo>
                    <a:lnTo>
                      <a:pt x="47754" y="96311"/>
                    </a:lnTo>
                    <a:cubicBezTo>
                      <a:pt x="45196" y="93752"/>
                      <a:pt x="45196" y="89604"/>
                      <a:pt x="47754" y="87045"/>
                    </a:cubicBezTo>
                    <a:cubicBezTo>
                      <a:pt x="50313" y="84486"/>
                      <a:pt x="54462" y="84486"/>
                      <a:pt x="57021" y="87045"/>
                    </a:cubicBezTo>
                    <a:lnTo>
                      <a:pt x="72033" y="102066"/>
                    </a:lnTo>
                    <a:lnTo>
                      <a:pt x="113239" y="60851"/>
                    </a:lnTo>
                    <a:cubicBezTo>
                      <a:pt x="114467" y="59622"/>
                      <a:pt x="116134" y="58931"/>
                      <a:pt x="117872" y="58931"/>
                    </a:cubicBezTo>
                    <a:cubicBezTo>
                      <a:pt x="119610" y="58931"/>
                      <a:pt x="121277" y="59622"/>
                      <a:pt x="122505" y="60851"/>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1E7B45"/>
              </a:solidFill>
              <a:ln>
                <a:noFill/>
              </a:ln>
            </p:spPr>
          </p:sp>
        </p:grpSp>
        <p:sp>
          <p:nvSpPr>
            <p:cNvPr id="81" name="TextBox 81"/>
            <p:cNvSpPr txBox="1"/>
            <p:nvPr/>
          </p:nvSpPr>
          <p:spPr>
            <a:xfrm>
              <a:off x="10129838" y="1931670"/>
              <a:ext cx="1043596" cy="176212"/>
            </a:xfrm>
            <a:prstGeom prst="rect">
              <a:avLst/>
            </a:prstGeom>
            <a:noFill/>
            <a:ln>
              <a:noFill/>
            </a:ln>
          </p:spPr>
          <p:txBody>
            <a:bodyPr wrap="none" lIns="0" tIns="0" rIns="0" bIns="0" anchor="t" anchorCtr="0">
              <a:spAutoFit/>
            </a:bodyPr>
            <a:lstStyle/>
            <a:p>
              <a:pPr algn="l"/>
              <a:r>
                <a:rPr lang="en-IN" sz="900" dirty="0">
                  <a:solidFill>
                    <a:srgbClr val="344054"/>
                  </a:solidFill>
                  <a:latin typeface="Calibri"/>
                  <a:ea typeface="Calibri"/>
                  <a:cs typeface="Calibri"/>
                </a:rPr>
                <a:t>every work, 2,09,993</a:t>
              </a:r>
            </a:p>
          </p:txBody>
        </p:sp>
        <p:sp>
          <p:nvSpPr>
            <p:cNvPr id="82" name="Rectangle 82"/>
            <p:cNvSpPr/>
            <p:nvPr/>
          </p:nvSpPr>
          <p:spPr>
            <a:xfrm>
              <a:off x="5753100" y="2200275"/>
              <a:ext cx="6134100" cy="428625"/>
            </a:xfrm>
            <a:prstGeom prst="rect">
              <a:avLst/>
            </a:prstGeom>
            <a:solidFill>
              <a:srgbClr val="F2F5F9"/>
            </a:solidFill>
            <a:ln>
              <a:noFill/>
            </a:ln>
          </p:spPr>
        </p:sp>
        <p:grpSp>
          <p:nvGrpSpPr>
            <p:cNvPr id="85" name="Group 85"/>
            <p:cNvGrpSpPr/>
            <p:nvPr/>
          </p:nvGrpSpPr>
          <p:grpSpPr>
            <a:xfrm>
              <a:off x="5876439" y="2338388"/>
              <a:ext cx="107642" cy="149245"/>
              <a:chOff x="5876439" y="2338388"/>
              <a:chExt cx="107642" cy="149245"/>
            </a:xfrm>
          </p:grpSpPr>
          <p:sp>
            <p:nvSpPr>
              <p:cNvPr id="83" name="Freeform 83"/>
              <p:cNvSpPr/>
              <p:nvPr/>
            </p:nvSpPr>
            <p:spPr>
              <a:xfrm>
                <a:off x="5882878" y="2344341"/>
                <a:ext cx="65484" cy="77391"/>
              </a:xfrm>
              <a:custGeom>
                <a:avLst/>
                <a:gdLst/>
                <a:ahLst/>
                <a:cxnLst/>
                <a:rect l="l" t="t" r="r" b="b"/>
                <a:pathLst>
                  <a:path w="65484" h="77391">
                    <a:moveTo>
                      <a:pt x="65484" y="38695"/>
                    </a:moveTo>
                    <a:cubicBezTo>
                      <a:pt x="65484" y="60066"/>
                      <a:pt x="48160" y="77391"/>
                      <a:pt x="26789" y="77391"/>
                    </a:cubicBezTo>
                    <a:lnTo>
                      <a:pt x="0" y="77391"/>
                    </a:lnTo>
                    <a:lnTo>
                      <a:pt x="0" y="0"/>
                    </a:lnTo>
                    <a:lnTo>
                      <a:pt x="26789" y="0"/>
                    </a:lnTo>
                    <a:cubicBezTo>
                      <a:pt x="48160" y="0"/>
                      <a:pt x="65484" y="17324"/>
                      <a:pt x="65484" y="38695"/>
                    </a:cubicBezTo>
                    <a:close/>
                  </a:path>
                </a:pathLst>
              </a:custGeom>
              <a:solidFill>
                <a:srgbClr val="0B3D6E">
                  <a:alpha val="20000"/>
                </a:srgbClr>
              </a:solidFill>
              <a:ln>
                <a:noFill/>
              </a:ln>
            </p:spPr>
          </p:sp>
          <p:sp>
            <p:nvSpPr>
              <p:cNvPr id="84" name="Freeform 84"/>
              <p:cNvSpPr/>
              <p:nvPr/>
            </p:nvSpPr>
            <p:spPr>
              <a:xfrm>
                <a:off x="5876439" y="2338388"/>
                <a:ext cx="107642" cy="149245"/>
              </a:xfrm>
              <a:custGeom>
                <a:avLst/>
                <a:gdLst/>
                <a:ahLst/>
                <a:cxnLst/>
                <a:rect l="l" t="t" r="r" b="b"/>
                <a:pathLst>
                  <a:path w="107642" h="149245">
                    <a:moveTo>
                      <a:pt x="107642" y="35719"/>
                    </a:moveTo>
                    <a:cubicBezTo>
                      <a:pt x="107642" y="39007"/>
                      <a:pt x="104977" y="41672"/>
                      <a:pt x="101689" y="41672"/>
                    </a:cubicBezTo>
                    <a:lnTo>
                      <a:pt x="77765" y="41672"/>
                    </a:lnTo>
                    <a:cubicBezTo>
                      <a:pt x="77832" y="42654"/>
                      <a:pt x="77876" y="43644"/>
                      <a:pt x="77876" y="44648"/>
                    </a:cubicBezTo>
                    <a:cubicBezTo>
                      <a:pt x="77848" y="69295"/>
                      <a:pt x="57875" y="89268"/>
                      <a:pt x="33228" y="89297"/>
                    </a:cubicBezTo>
                    <a:lnTo>
                      <a:pt x="21835" y="89297"/>
                    </a:lnTo>
                    <a:lnTo>
                      <a:pt x="75927" y="138470"/>
                    </a:lnTo>
                    <a:cubicBezTo>
                      <a:pt x="77530" y="139892"/>
                      <a:pt x="78245" y="142068"/>
                      <a:pt x="77798" y="144164"/>
                    </a:cubicBezTo>
                    <a:cubicBezTo>
                      <a:pt x="77351" y="146261"/>
                      <a:pt x="75811" y="147955"/>
                      <a:pt x="73767" y="148600"/>
                    </a:cubicBezTo>
                    <a:cubicBezTo>
                      <a:pt x="71722" y="149245"/>
                      <a:pt x="69489" y="148741"/>
                      <a:pt x="67920" y="147280"/>
                    </a:cubicBezTo>
                    <a:lnTo>
                      <a:pt x="2435" y="87749"/>
                    </a:lnTo>
                    <a:cubicBezTo>
                      <a:pt x="615" y="86095"/>
                      <a:pt x="0" y="83492"/>
                      <a:pt x="887" y="81198"/>
                    </a:cubicBezTo>
                    <a:cubicBezTo>
                      <a:pt x="1773" y="78904"/>
                      <a:pt x="3979" y="77391"/>
                      <a:pt x="6439" y="77391"/>
                    </a:cubicBezTo>
                    <a:lnTo>
                      <a:pt x="33228" y="77391"/>
                    </a:lnTo>
                    <a:cubicBezTo>
                      <a:pt x="51302" y="77370"/>
                      <a:pt x="65950" y="62723"/>
                      <a:pt x="65970" y="44648"/>
                    </a:cubicBezTo>
                    <a:cubicBezTo>
                      <a:pt x="65970" y="43644"/>
                      <a:pt x="65918" y="42654"/>
                      <a:pt x="65829" y="41672"/>
                    </a:cubicBezTo>
                    <a:lnTo>
                      <a:pt x="6439" y="41672"/>
                    </a:lnTo>
                    <a:cubicBezTo>
                      <a:pt x="3151" y="41672"/>
                      <a:pt x="486" y="39007"/>
                      <a:pt x="486" y="35719"/>
                    </a:cubicBezTo>
                    <a:cubicBezTo>
                      <a:pt x="486" y="32431"/>
                      <a:pt x="3151" y="29766"/>
                      <a:pt x="6439" y="29766"/>
                    </a:cubicBezTo>
                    <a:lnTo>
                      <a:pt x="62376" y="29766"/>
                    </a:lnTo>
                    <a:cubicBezTo>
                      <a:pt x="56785" y="18810"/>
                      <a:pt x="45527" y="11912"/>
                      <a:pt x="33228" y="11906"/>
                    </a:cubicBezTo>
                    <a:lnTo>
                      <a:pt x="6439" y="11906"/>
                    </a:lnTo>
                    <a:cubicBezTo>
                      <a:pt x="3151" y="11906"/>
                      <a:pt x="486" y="9241"/>
                      <a:pt x="486" y="5953"/>
                    </a:cubicBezTo>
                    <a:cubicBezTo>
                      <a:pt x="486" y="2665"/>
                      <a:pt x="3151" y="0"/>
                      <a:pt x="6439" y="0"/>
                    </a:cubicBezTo>
                    <a:lnTo>
                      <a:pt x="101689" y="0"/>
                    </a:lnTo>
                    <a:cubicBezTo>
                      <a:pt x="104977" y="0"/>
                      <a:pt x="107642" y="2665"/>
                      <a:pt x="107642" y="5953"/>
                    </a:cubicBezTo>
                    <a:cubicBezTo>
                      <a:pt x="107642" y="9241"/>
                      <a:pt x="104977" y="11906"/>
                      <a:pt x="101689" y="11906"/>
                    </a:cubicBezTo>
                    <a:lnTo>
                      <a:pt x="63544" y="11906"/>
                    </a:lnTo>
                    <a:cubicBezTo>
                      <a:pt x="68854" y="16820"/>
                      <a:pt x="72894" y="22948"/>
                      <a:pt x="75316" y="29766"/>
                    </a:cubicBezTo>
                    <a:lnTo>
                      <a:pt x="101689" y="29766"/>
                    </a:lnTo>
                    <a:cubicBezTo>
                      <a:pt x="104977" y="29766"/>
                      <a:pt x="107642" y="32431"/>
                      <a:pt x="107642" y="35719"/>
                    </a:cubicBezTo>
                    <a:close/>
                  </a:path>
                </a:pathLst>
              </a:custGeom>
              <a:solidFill>
                <a:srgbClr val="0B3D6E"/>
              </a:solidFill>
              <a:ln>
                <a:noFill/>
              </a:ln>
            </p:spPr>
          </p:sp>
        </p:grpSp>
        <p:sp>
          <p:nvSpPr>
            <p:cNvPr id="86" name="TextBox 86"/>
            <p:cNvSpPr txBox="1"/>
            <p:nvPr/>
          </p:nvSpPr>
          <p:spPr>
            <a:xfrm>
              <a:off x="6072188" y="2356247"/>
              <a:ext cx="1111155"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Cost vs similar works</a:t>
              </a:r>
            </a:p>
          </p:txBody>
        </p:sp>
        <p:grpSp>
          <p:nvGrpSpPr>
            <p:cNvPr id="89" name="Group 89"/>
            <p:cNvGrpSpPr/>
            <p:nvPr/>
          </p:nvGrpSpPr>
          <p:grpSpPr>
            <a:xfrm>
              <a:off x="7734895" y="2324695"/>
              <a:ext cx="170259" cy="170259"/>
              <a:chOff x="7734895" y="2324695"/>
              <a:chExt cx="170259" cy="170259"/>
            </a:xfrm>
          </p:grpSpPr>
          <p:sp>
            <p:nvSpPr>
              <p:cNvPr id="87" name="Freeform 87"/>
              <p:cNvSpPr/>
              <p:nvPr/>
            </p:nvSpPr>
            <p:spPr>
              <a:xfrm>
                <a:off x="7741444" y="2331244"/>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E8871E">
                  <a:alpha val="20000"/>
                </a:srgbClr>
              </a:solidFill>
              <a:ln>
                <a:noFill/>
              </a:ln>
            </p:spPr>
          </p:sp>
          <p:sp>
            <p:nvSpPr>
              <p:cNvPr id="88" name="Freeform 88"/>
              <p:cNvSpPr/>
              <p:nvPr/>
            </p:nvSpPr>
            <p:spPr>
              <a:xfrm>
                <a:off x="7734895" y="2324695"/>
                <a:ext cx="170259" cy="170259"/>
              </a:xfrm>
              <a:custGeom>
                <a:avLst/>
                <a:gdLst/>
                <a:ahLst/>
                <a:cxnLst/>
                <a:rect l="l" t="t" r="r" b="b"/>
                <a:pathLst>
                  <a:path w="170259" h="170259">
                    <a:moveTo>
                      <a:pt x="124420" y="85130"/>
                    </a:moveTo>
                    <a:cubicBezTo>
                      <a:pt x="124420" y="88746"/>
                      <a:pt x="121488" y="91678"/>
                      <a:pt x="117872" y="91678"/>
                    </a:cubicBezTo>
                    <a:lnTo>
                      <a:pt x="52388" y="91678"/>
                    </a:lnTo>
                    <a:cubicBezTo>
                      <a:pt x="48771" y="91678"/>
                      <a:pt x="45839" y="88746"/>
                      <a:pt x="45839" y="85130"/>
                    </a:cubicBezTo>
                    <a:cubicBezTo>
                      <a:pt x="45839" y="81513"/>
                      <a:pt x="48771" y="78581"/>
                      <a:pt x="52388" y="78581"/>
                    </a:cubicBezTo>
                    <a:lnTo>
                      <a:pt x="117872" y="78581"/>
                    </a:lnTo>
                    <a:cubicBezTo>
                      <a:pt x="121488" y="78581"/>
                      <a:pt x="124420" y="81513"/>
                      <a:pt x="124420" y="85130"/>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E8871E"/>
              </a:solidFill>
              <a:ln>
                <a:noFill/>
              </a:ln>
            </p:spPr>
          </p:sp>
        </p:grpSp>
        <p:sp>
          <p:nvSpPr>
            <p:cNvPr id="90" name="TextBox 90"/>
            <p:cNvSpPr txBox="1"/>
            <p:nvPr/>
          </p:nvSpPr>
          <p:spPr>
            <a:xfrm>
              <a:off x="7996238" y="2360295"/>
              <a:ext cx="855099" cy="176212"/>
            </a:xfrm>
            <a:prstGeom prst="rect">
              <a:avLst/>
            </a:prstGeom>
            <a:noFill/>
            <a:ln>
              <a:noFill/>
            </a:ln>
          </p:spPr>
          <p:txBody>
            <a:bodyPr wrap="none" lIns="0" tIns="0" rIns="0" bIns="0" anchor="t" anchorCtr="0">
              <a:spAutoFit/>
            </a:bodyPr>
            <a:lstStyle/>
            <a:p>
              <a:pPr algn="l"/>
              <a:r>
                <a:rPr lang="en-IN" sz="900" dirty="0">
                  <a:solidFill>
                    <a:srgbClr val="344054"/>
                  </a:solidFill>
                  <a:latin typeface="Calibri"/>
                  <a:ea typeface="Calibri"/>
                  <a:cs typeface="Calibri"/>
                </a:rPr>
                <a:t>manual, in audits</a:t>
              </a:r>
            </a:p>
          </p:txBody>
        </p:sp>
        <p:grpSp>
          <p:nvGrpSpPr>
            <p:cNvPr id="93" name="Group 93"/>
            <p:cNvGrpSpPr/>
            <p:nvPr/>
          </p:nvGrpSpPr>
          <p:grpSpPr>
            <a:xfrm>
              <a:off x="9868495" y="2324695"/>
              <a:ext cx="170259" cy="170259"/>
              <a:chOff x="9868495" y="2324695"/>
              <a:chExt cx="170259" cy="170259"/>
            </a:xfrm>
          </p:grpSpPr>
          <p:sp>
            <p:nvSpPr>
              <p:cNvPr id="91" name="Freeform 91"/>
              <p:cNvSpPr/>
              <p:nvPr/>
            </p:nvSpPr>
            <p:spPr>
              <a:xfrm>
                <a:off x="9875044" y="2331244"/>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1E7B45">
                  <a:alpha val="20000"/>
                </a:srgbClr>
              </a:solidFill>
              <a:ln>
                <a:noFill/>
              </a:ln>
            </p:spPr>
          </p:sp>
          <p:sp>
            <p:nvSpPr>
              <p:cNvPr id="92" name="Freeform 92"/>
              <p:cNvSpPr/>
              <p:nvPr/>
            </p:nvSpPr>
            <p:spPr>
              <a:xfrm>
                <a:off x="9868495" y="2324695"/>
                <a:ext cx="170259" cy="170259"/>
              </a:xfrm>
              <a:custGeom>
                <a:avLst/>
                <a:gdLst/>
                <a:ahLst/>
                <a:cxnLst/>
                <a:rect l="l" t="t" r="r" b="b"/>
                <a:pathLst>
                  <a:path w="170259" h="170259">
                    <a:moveTo>
                      <a:pt x="122505" y="60851"/>
                    </a:moveTo>
                    <a:cubicBezTo>
                      <a:pt x="123735" y="62080"/>
                      <a:pt x="124425" y="63746"/>
                      <a:pt x="124425" y="65484"/>
                    </a:cubicBezTo>
                    <a:cubicBezTo>
                      <a:pt x="124425" y="67222"/>
                      <a:pt x="123735" y="68889"/>
                      <a:pt x="122505" y="70117"/>
                    </a:cubicBezTo>
                    <a:lnTo>
                      <a:pt x="76666" y="115956"/>
                    </a:lnTo>
                    <a:cubicBezTo>
                      <a:pt x="75438" y="117186"/>
                      <a:pt x="73771" y="117877"/>
                      <a:pt x="72033" y="117877"/>
                    </a:cubicBezTo>
                    <a:cubicBezTo>
                      <a:pt x="70295" y="117877"/>
                      <a:pt x="68628" y="117186"/>
                      <a:pt x="67400" y="115956"/>
                    </a:cubicBezTo>
                    <a:lnTo>
                      <a:pt x="47754" y="96311"/>
                    </a:lnTo>
                    <a:cubicBezTo>
                      <a:pt x="45196" y="93752"/>
                      <a:pt x="45196" y="89604"/>
                      <a:pt x="47754" y="87045"/>
                    </a:cubicBezTo>
                    <a:cubicBezTo>
                      <a:pt x="50313" y="84486"/>
                      <a:pt x="54462" y="84486"/>
                      <a:pt x="57021" y="87045"/>
                    </a:cubicBezTo>
                    <a:lnTo>
                      <a:pt x="72033" y="102066"/>
                    </a:lnTo>
                    <a:lnTo>
                      <a:pt x="113239" y="60851"/>
                    </a:lnTo>
                    <a:cubicBezTo>
                      <a:pt x="114467" y="59622"/>
                      <a:pt x="116134" y="58931"/>
                      <a:pt x="117872" y="58931"/>
                    </a:cubicBezTo>
                    <a:cubicBezTo>
                      <a:pt x="119610" y="58931"/>
                      <a:pt x="121277" y="59622"/>
                      <a:pt x="122505" y="60851"/>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1E7B45"/>
              </a:solidFill>
              <a:ln>
                <a:noFill/>
              </a:ln>
            </p:spPr>
          </p:sp>
        </p:grpSp>
        <p:sp>
          <p:nvSpPr>
            <p:cNvPr id="94" name="TextBox 94"/>
            <p:cNvSpPr txBox="1"/>
            <p:nvPr/>
          </p:nvSpPr>
          <p:spPr>
            <a:xfrm>
              <a:off x="10129838" y="2360295"/>
              <a:ext cx="785348" cy="176212"/>
            </a:xfrm>
            <a:prstGeom prst="rect">
              <a:avLst/>
            </a:prstGeom>
            <a:noFill/>
            <a:ln>
              <a:noFill/>
            </a:ln>
          </p:spPr>
          <p:txBody>
            <a:bodyPr wrap="none" lIns="0" tIns="0" rIns="0" bIns="0" anchor="t" anchorCtr="0">
              <a:spAutoFit/>
            </a:bodyPr>
            <a:lstStyle/>
            <a:p>
              <a:pPr algn="l"/>
              <a:r>
                <a:rPr lang="en-IN" sz="900" dirty="0">
                  <a:solidFill>
                    <a:srgbClr val="344054"/>
                  </a:solidFill>
                  <a:latin typeface="Calibri"/>
                  <a:ea typeface="Calibri"/>
                  <a:cs typeface="Calibri"/>
                </a:rPr>
                <a:t>live, every work</a:t>
              </a:r>
            </a:p>
          </p:txBody>
        </p:sp>
        <p:grpSp>
          <p:nvGrpSpPr>
            <p:cNvPr id="97" name="Group 97"/>
            <p:cNvGrpSpPr/>
            <p:nvPr/>
          </p:nvGrpSpPr>
          <p:grpSpPr>
            <a:xfrm>
              <a:off x="5847159" y="2772966"/>
              <a:ext cx="154781" cy="130969"/>
              <a:chOff x="5847159" y="2772966"/>
              <a:chExt cx="154781" cy="130969"/>
            </a:xfrm>
          </p:grpSpPr>
          <p:sp>
            <p:nvSpPr>
              <p:cNvPr id="95" name="Freeform 95"/>
              <p:cNvSpPr/>
              <p:nvPr/>
            </p:nvSpPr>
            <p:spPr>
              <a:xfrm>
                <a:off x="5853112" y="2778919"/>
                <a:ext cx="142875" cy="96783"/>
              </a:xfrm>
              <a:custGeom>
                <a:avLst/>
                <a:gdLst/>
                <a:ahLst/>
                <a:cxnLst/>
                <a:rect l="l" t="t" r="r" b="b"/>
                <a:pathLst>
                  <a:path w="142875" h="96783">
                    <a:moveTo>
                      <a:pt x="142875" y="5953"/>
                    </a:moveTo>
                    <a:lnTo>
                      <a:pt x="142875" y="96783"/>
                    </a:lnTo>
                    <a:lnTo>
                      <a:pt x="113318" y="67226"/>
                    </a:lnTo>
                    <a:cubicBezTo>
                      <a:pt x="110993" y="64903"/>
                      <a:pt x="107226" y="64903"/>
                      <a:pt x="104902" y="67226"/>
                    </a:cubicBezTo>
                    <a:lnTo>
                      <a:pt x="85807" y="86320"/>
                    </a:lnTo>
                    <a:lnTo>
                      <a:pt x="48860" y="49366"/>
                    </a:lnTo>
                    <a:cubicBezTo>
                      <a:pt x="47744" y="48248"/>
                      <a:pt x="46228" y="47620"/>
                      <a:pt x="44648" y="47620"/>
                    </a:cubicBezTo>
                    <a:cubicBezTo>
                      <a:pt x="43068" y="47620"/>
                      <a:pt x="41553" y="48248"/>
                      <a:pt x="40437" y="49366"/>
                    </a:cubicBezTo>
                    <a:lnTo>
                      <a:pt x="0" y="89810"/>
                    </a:lnTo>
                    <a:lnTo>
                      <a:pt x="0" y="5953"/>
                    </a:lnTo>
                    <a:cubicBezTo>
                      <a:pt x="0" y="2665"/>
                      <a:pt x="2665" y="0"/>
                      <a:pt x="5953" y="0"/>
                    </a:cubicBezTo>
                    <a:lnTo>
                      <a:pt x="136922" y="0"/>
                    </a:lnTo>
                    <a:cubicBezTo>
                      <a:pt x="140210" y="0"/>
                      <a:pt x="142875" y="2665"/>
                      <a:pt x="142875" y="5953"/>
                    </a:cubicBezTo>
                    <a:close/>
                  </a:path>
                </a:pathLst>
              </a:custGeom>
              <a:solidFill>
                <a:srgbClr val="0B3D6E">
                  <a:alpha val="20000"/>
                </a:srgbClr>
              </a:solidFill>
              <a:ln>
                <a:noFill/>
              </a:ln>
            </p:spPr>
          </p:sp>
          <p:sp>
            <p:nvSpPr>
              <p:cNvPr id="96" name="Freeform 96"/>
              <p:cNvSpPr/>
              <p:nvPr/>
            </p:nvSpPr>
            <p:spPr>
              <a:xfrm>
                <a:off x="5847159" y="2772966"/>
                <a:ext cx="154781" cy="130969"/>
              </a:xfrm>
              <a:custGeom>
                <a:avLst/>
                <a:gdLst/>
                <a:ahLst/>
                <a:cxnLst/>
                <a:rect l="l" t="t" r="r" b="b"/>
                <a:pathLst>
                  <a:path w="154781" h="130969">
                    <a:moveTo>
                      <a:pt x="142875" y="0"/>
                    </a:moveTo>
                    <a:lnTo>
                      <a:pt x="11906" y="0"/>
                    </a:lnTo>
                    <a:cubicBezTo>
                      <a:pt x="5331" y="0"/>
                      <a:pt x="0" y="5331"/>
                      <a:pt x="0" y="11906"/>
                    </a:cubicBezTo>
                    <a:lnTo>
                      <a:pt x="0" y="119062"/>
                    </a:lnTo>
                    <a:cubicBezTo>
                      <a:pt x="0" y="125638"/>
                      <a:pt x="5331" y="130969"/>
                      <a:pt x="11906" y="130969"/>
                    </a:cubicBezTo>
                    <a:lnTo>
                      <a:pt x="142875" y="130969"/>
                    </a:lnTo>
                    <a:cubicBezTo>
                      <a:pt x="149451" y="130969"/>
                      <a:pt x="154781" y="125638"/>
                      <a:pt x="154781" y="119062"/>
                    </a:cubicBezTo>
                    <a:lnTo>
                      <a:pt x="154781" y="11906"/>
                    </a:lnTo>
                    <a:cubicBezTo>
                      <a:pt x="154781" y="5331"/>
                      <a:pt x="149451" y="0"/>
                      <a:pt x="142875" y="0"/>
                    </a:cubicBezTo>
                    <a:close/>
                    <a:moveTo>
                      <a:pt x="142875" y="11906"/>
                    </a:moveTo>
                    <a:lnTo>
                      <a:pt x="142875" y="88367"/>
                    </a:lnTo>
                    <a:lnTo>
                      <a:pt x="123475" y="68974"/>
                    </a:lnTo>
                    <a:cubicBezTo>
                      <a:pt x="121242" y="66741"/>
                      <a:pt x="118214" y="65486"/>
                      <a:pt x="115055" y="65486"/>
                    </a:cubicBezTo>
                    <a:cubicBezTo>
                      <a:pt x="111897" y="65486"/>
                      <a:pt x="108868" y="66741"/>
                      <a:pt x="106635" y="68974"/>
                    </a:cubicBezTo>
                    <a:lnTo>
                      <a:pt x="91753" y="83857"/>
                    </a:lnTo>
                    <a:lnTo>
                      <a:pt x="59010" y="51115"/>
                    </a:lnTo>
                    <a:cubicBezTo>
                      <a:pt x="54361" y="46469"/>
                      <a:pt x="46827" y="46469"/>
                      <a:pt x="42178" y="51115"/>
                    </a:cubicBezTo>
                    <a:lnTo>
                      <a:pt x="11906" y="81387"/>
                    </a:lnTo>
                    <a:lnTo>
                      <a:pt x="11906" y="11906"/>
                    </a:lnTo>
                    <a:close/>
                    <a:moveTo>
                      <a:pt x="11906" y="98227"/>
                    </a:moveTo>
                    <a:lnTo>
                      <a:pt x="50602" y="59531"/>
                    </a:lnTo>
                    <a:lnTo>
                      <a:pt x="110133" y="119062"/>
                    </a:lnTo>
                    <a:lnTo>
                      <a:pt x="11906" y="119062"/>
                    </a:lnTo>
                    <a:close/>
                    <a:moveTo>
                      <a:pt x="142875" y="119062"/>
                    </a:moveTo>
                    <a:lnTo>
                      <a:pt x="126973" y="119062"/>
                    </a:lnTo>
                    <a:lnTo>
                      <a:pt x="100184" y="92273"/>
                    </a:lnTo>
                    <a:lnTo>
                      <a:pt x="115066" y="77391"/>
                    </a:lnTo>
                    <a:lnTo>
                      <a:pt x="142875" y="105207"/>
                    </a:lnTo>
                    <a:lnTo>
                      <a:pt x="142875" y="119062"/>
                    </a:lnTo>
                    <a:close/>
                    <a:moveTo>
                      <a:pt x="89297" y="44648"/>
                    </a:moveTo>
                    <a:cubicBezTo>
                      <a:pt x="89297" y="39717"/>
                      <a:pt x="93295" y="35719"/>
                      <a:pt x="98227" y="35719"/>
                    </a:cubicBezTo>
                    <a:cubicBezTo>
                      <a:pt x="103158" y="35719"/>
                      <a:pt x="107156" y="39717"/>
                      <a:pt x="107156" y="44648"/>
                    </a:cubicBezTo>
                    <a:cubicBezTo>
                      <a:pt x="107156" y="49580"/>
                      <a:pt x="103158" y="53578"/>
                      <a:pt x="98227" y="53578"/>
                    </a:cubicBezTo>
                    <a:cubicBezTo>
                      <a:pt x="93295" y="53578"/>
                      <a:pt x="89297" y="49580"/>
                      <a:pt x="89297" y="44648"/>
                    </a:cubicBezTo>
                    <a:close/>
                  </a:path>
                </a:pathLst>
              </a:custGeom>
              <a:solidFill>
                <a:srgbClr val="0B3D6E"/>
              </a:solidFill>
              <a:ln>
                <a:noFill/>
              </a:ln>
            </p:spPr>
          </p:sp>
        </p:grpSp>
        <p:sp>
          <p:nvSpPr>
            <p:cNvPr id="98" name="TextBox 98"/>
            <p:cNvSpPr txBox="1"/>
            <p:nvPr/>
          </p:nvSpPr>
          <p:spPr>
            <a:xfrm>
              <a:off x="6072188" y="2784872"/>
              <a:ext cx="1242907"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Reused / edited photos</a:t>
              </a:r>
            </a:p>
          </p:txBody>
        </p:sp>
        <p:grpSp>
          <p:nvGrpSpPr>
            <p:cNvPr id="101" name="Group 101"/>
            <p:cNvGrpSpPr/>
            <p:nvPr/>
          </p:nvGrpSpPr>
          <p:grpSpPr>
            <a:xfrm>
              <a:off x="7734895" y="2753320"/>
              <a:ext cx="170259" cy="170259"/>
              <a:chOff x="7734895" y="2753320"/>
              <a:chExt cx="170259" cy="170259"/>
            </a:xfrm>
          </p:grpSpPr>
          <p:sp>
            <p:nvSpPr>
              <p:cNvPr id="99" name="Freeform 99"/>
              <p:cNvSpPr/>
              <p:nvPr/>
            </p:nvSpPr>
            <p:spPr>
              <a:xfrm>
                <a:off x="7741444" y="2759869"/>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98A2B3">
                  <a:alpha val="20000"/>
                </a:srgbClr>
              </a:solidFill>
              <a:ln>
                <a:noFill/>
              </a:ln>
            </p:spPr>
          </p:sp>
          <p:sp>
            <p:nvSpPr>
              <p:cNvPr id="100" name="Freeform 100"/>
              <p:cNvSpPr/>
              <p:nvPr/>
            </p:nvSpPr>
            <p:spPr>
              <a:xfrm>
                <a:off x="7734895" y="2753320"/>
                <a:ext cx="170259" cy="170259"/>
              </a:xfrm>
              <a:custGeom>
                <a:avLst/>
                <a:gdLst/>
                <a:ahLst/>
                <a:cxnLst/>
                <a:rect l="l" t="t" r="r" b="b"/>
                <a:pathLst>
                  <a:path w="170259" h="170259">
                    <a:moveTo>
                      <a:pt x="115956" y="63569"/>
                    </a:moveTo>
                    <a:lnTo>
                      <a:pt x="94388" y="85130"/>
                    </a:lnTo>
                    <a:lnTo>
                      <a:pt x="115956" y="106690"/>
                    </a:lnTo>
                    <a:cubicBezTo>
                      <a:pt x="118515" y="109249"/>
                      <a:pt x="118515" y="113398"/>
                      <a:pt x="115956" y="115956"/>
                    </a:cubicBezTo>
                    <a:cubicBezTo>
                      <a:pt x="113398" y="118515"/>
                      <a:pt x="109249" y="118515"/>
                      <a:pt x="106690" y="115956"/>
                    </a:cubicBezTo>
                    <a:lnTo>
                      <a:pt x="85130" y="94388"/>
                    </a:lnTo>
                    <a:lnTo>
                      <a:pt x="63569" y="115956"/>
                    </a:lnTo>
                    <a:cubicBezTo>
                      <a:pt x="61010" y="118515"/>
                      <a:pt x="56862" y="118515"/>
                      <a:pt x="54303" y="115956"/>
                    </a:cubicBezTo>
                    <a:cubicBezTo>
                      <a:pt x="51744" y="113398"/>
                      <a:pt x="51744" y="109249"/>
                      <a:pt x="54303" y="106690"/>
                    </a:cubicBezTo>
                    <a:lnTo>
                      <a:pt x="75872" y="85130"/>
                    </a:lnTo>
                    <a:lnTo>
                      <a:pt x="54303" y="63569"/>
                    </a:lnTo>
                    <a:cubicBezTo>
                      <a:pt x="51744" y="61010"/>
                      <a:pt x="51744" y="56862"/>
                      <a:pt x="54303" y="54303"/>
                    </a:cubicBezTo>
                    <a:cubicBezTo>
                      <a:pt x="56862" y="51744"/>
                      <a:pt x="61010" y="51744"/>
                      <a:pt x="63569" y="54303"/>
                    </a:cubicBezTo>
                    <a:lnTo>
                      <a:pt x="85130" y="75872"/>
                    </a:lnTo>
                    <a:lnTo>
                      <a:pt x="106690" y="54303"/>
                    </a:lnTo>
                    <a:cubicBezTo>
                      <a:pt x="109249" y="51744"/>
                      <a:pt x="113398" y="51744"/>
                      <a:pt x="115956" y="54303"/>
                    </a:cubicBezTo>
                    <a:cubicBezTo>
                      <a:pt x="118515" y="56862"/>
                      <a:pt x="118515" y="61010"/>
                      <a:pt x="115956" y="63569"/>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98A2B3"/>
              </a:solidFill>
              <a:ln>
                <a:noFill/>
              </a:ln>
            </p:spPr>
          </p:sp>
        </p:grpSp>
        <p:sp>
          <p:nvSpPr>
            <p:cNvPr id="102" name="TextBox 102"/>
            <p:cNvSpPr txBox="1"/>
            <p:nvPr/>
          </p:nvSpPr>
          <p:spPr>
            <a:xfrm>
              <a:off x="7996238" y="2788920"/>
              <a:ext cx="711587"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viewed by eye</a:t>
              </a:r>
            </a:p>
          </p:txBody>
        </p:sp>
        <p:grpSp>
          <p:nvGrpSpPr>
            <p:cNvPr id="105" name="Group 105"/>
            <p:cNvGrpSpPr/>
            <p:nvPr/>
          </p:nvGrpSpPr>
          <p:grpSpPr>
            <a:xfrm>
              <a:off x="9868495" y="2753320"/>
              <a:ext cx="170259" cy="170259"/>
              <a:chOff x="9868495" y="2753320"/>
              <a:chExt cx="170259" cy="170259"/>
            </a:xfrm>
          </p:grpSpPr>
          <p:sp>
            <p:nvSpPr>
              <p:cNvPr id="103" name="Freeform 103"/>
              <p:cNvSpPr/>
              <p:nvPr/>
            </p:nvSpPr>
            <p:spPr>
              <a:xfrm>
                <a:off x="9875044" y="2759869"/>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1E7B45">
                  <a:alpha val="20000"/>
                </a:srgbClr>
              </a:solidFill>
              <a:ln>
                <a:noFill/>
              </a:ln>
            </p:spPr>
          </p:sp>
          <p:sp>
            <p:nvSpPr>
              <p:cNvPr id="104" name="Freeform 104"/>
              <p:cNvSpPr/>
              <p:nvPr/>
            </p:nvSpPr>
            <p:spPr>
              <a:xfrm>
                <a:off x="9868495" y="2753320"/>
                <a:ext cx="170259" cy="170259"/>
              </a:xfrm>
              <a:custGeom>
                <a:avLst/>
                <a:gdLst/>
                <a:ahLst/>
                <a:cxnLst/>
                <a:rect l="l" t="t" r="r" b="b"/>
                <a:pathLst>
                  <a:path w="170259" h="170259">
                    <a:moveTo>
                      <a:pt x="122505" y="60851"/>
                    </a:moveTo>
                    <a:cubicBezTo>
                      <a:pt x="123735" y="62080"/>
                      <a:pt x="124425" y="63746"/>
                      <a:pt x="124425" y="65484"/>
                    </a:cubicBezTo>
                    <a:cubicBezTo>
                      <a:pt x="124425" y="67222"/>
                      <a:pt x="123735" y="68889"/>
                      <a:pt x="122505" y="70117"/>
                    </a:cubicBezTo>
                    <a:lnTo>
                      <a:pt x="76666" y="115956"/>
                    </a:lnTo>
                    <a:cubicBezTo>
                      <a:pt x="75438" y="117186"/>
                      <a:pt x="73771" y="117877"/>
                      <a:pt x="72033" y="117877"/>
                    </a:cubicBezTo>
                    <a:cubicBezTo>
                      <a:pt x="70295" y="117877"/>
                      <a:pt x="68628" y="117186"/>
                      <a:pt x="67400" y="115956"/>
                    </a:cubicBezTo>
                    <a:lnTo>
                      <a:pt x="47754" y="96311"/>
                    </a:lnTo>
                    <a:cubicBezTo>
                      <a:pt x="45196" y="93752"/>
                      <a:pt x="45196" y="89604"/>
                      <a:pt x="47754" y="87045"/>
                    </a:cubicBezTo>
                    <a:cubicBezTo>
                      <a:pt x="50313" y="84486"/>
                      <a:pt x="54462" y="84486"/>
                      <a:pt x="57021" y="87045"/>
                    </a:cubicBezTo>
                    <a:lnTo>
                      <a:pt x="72033" y="102066"/>
                    </a:lnTo>
                    <a:lnTo>
                      <a:pt x="113239" y="60851"/>
                    </a:lnTo>
                    <a:cubicBezTo>
                      <a:pt x="114467" y="59622"/>
                      <a:pt x="116134" y="58931"/>
                      <a:pt x="117872" y="58931"/>
                    </a:cubicBezTo>
                    <a:cubicBezTo>
                      <a:pt x="119610" y="58931"/>
                      <a:pt x="121277" y="59622"/>
                      <a:pt x="122505" y="60851"/>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1E7B45"/>
              </a:solidFill>
              <a:ln>
                <a:noFill/>
              </a:ln>
            </p:spPr>
          </p:sp>
        </p:grpSp>
        <p:sp>
          <p:nvSpPr>
            <p:cNvPr id="106" name="TextBox 106"/>
            <p:cNvSpPr txBox="1"/>
            <p:nvPr/>
          </p:nvSpPr>
          <p:spPr>
            <a:xfrm>
              <a:off x="10129838" y="2788920"/>
              <a:ext cx="875780" cy="176212"/>
            </a:xfrm>
            <a:prstGeom prst="rect">
              <a:avLst/>
            </a:prstGeom>
            <a:noFill/>
            <a:ln>
              <a:noFill/>
            </a:ln>
          </p:spPr>
          <p:txBody>
            <a:bodyPr wrap="none" lIns="0" tIns="0" rIns="0" bIns="0" anchor="t" anchorCtr="0">
              <a:spAutoFit/>
            </a:bodyPr>
            <a:lstStyle/>
            <a:p>
              <a:pPr algn="l"/>
              <a:r>
                <a:rPr lang="en-IN" sz="900" dirty="0">
                  <a:solidFill>
                    <a:srgbClr val="344054"/>
                  </a:solidFill>
                  <a:latin typeface="Calibri"/>
                  <a:ea typeface="Calibri"/>
                  <a:cs typeface="Calibri"/>
                </a:rPr>
                <a:t>99.9% recognised</a:t>
              </a:r>
            </a:p>
          </p:txBody>
        </p:sp>
        <p:sp>
          <p:nvSpPr>
            <p:cNvPr id="107" name="Rectangle 107"/>
            <p:cNvSpPr/>
            <p:nvPr/>
          </p:nvSpPr>
          <p:spPr>
            <a:xfrm>
              <a:off x="5753100" y="3057525"/>
              <a:ext cx="6134100" cy="428625"/>
            </a:xfrm>
            <a:prstGeom prst="rect">
              <a:avLst/>
            </a:prstGeom>
            <a:solidFill>
              <a:srgbClr val="F2F5F9"/>
            </a:solidFill>
            <a:ln>
              <a:noFill/>
            </a:ln>
          </p:spPr>
        </p:sp>
        <p:grpSp>
          <p:nvGrpSpPr>
            <p:cNvPr id="110" name="Group 110"/>
            <p:cNvGrpSpPr/>
            <p:nvPr/>
          </p:nvGrpSpPr>
          <p:grpSpPr>
            <a:xfrm>
              <a:off x="5859066" y="3183731"/>
              <a:ext cx="130969" cy="167045"/>
              <a:chOff x="5859066" y="3183731"/>
              <a:chExt cx="130969" cy="167045"/>
            </a:xfrm>
          </p:grpSpPr>
          <p:sp>
            <p:nvSpPr>
              <p:cNvPr id="108" name="Freeform 108"/>
              <p:cNvSpPr/>
              <p:nvPr/>
            </p:nvSpPr>
            <p:spPr>
              <a:xfrm>
                <a:off x="5865019" y="3189684"/>
                <a:ext cx="119062" cy="154781"/>
              </a:xfrm>
              <a:custGeom>
                <a:avLst/>
                <a:gdLst/>
                <a:ahLst/>
                <a:cxnLst/>
                <a:rect l="l" t="t" r="r" b="b"/>
                <a:pathLst>
                  <a:path w="119062" h="154781">
                    <a:moveTo>
                      <a:pt x="59531" y="0"/>
                    </a:moveTo>
                    <a:cubicBezTo>
                      <a:pt x="26653" y="0"/>
                      <a:pt x="0" y="26653"/>
                      <a:pt x="0" y="59531"/>
                    </a:cubicBezTo>
                    <a:cubicBezTo>
                      <a:pt x="0" y="113109"/>
                      <a:pt x="59531" y="154781"/>
                      <a:pt x="59531" y="154781"/>
                    </a:cubicBezTo>
                    <a:cubicBezTo>
                      <a:pt x="59531" y="154781"/>
                      <a:pt x="119062" y="113109"/>
                      <a:pt x="119062" y="59531"/>
                    </a:cubicBezTo>
                    <a:cubicBezTo>
                      <a:pt x="119062" y="26653"/>
                      <a:pt x="92409" y="0"/>
                      <a:pt x="59531" y="0"/>
                    </a:cubicBezTo>
                    <a:close/>
                    <a:moveTo>
                      <a:pt x="59531" y="83344"/>
                    </a:moveTo>
                    <a:cubicBezTo>
                      <a:pt x="46380" y="83344"/>
                      <a:pt x="35719" y="72683"/>
                      <a:pt x="35719" y="59531"/>
                    </a:cubicBezTo>
                    <a:cubicBezTo>
                      <a:pt x="35719" y="46380"/>
                      <a:pt x="46380" y="35719"/>
                      <a:pt x="59531" y="35719"/>
                    </a:cubicBezTo>
                    <a:cubicBezTo>
                      <a:pt x="72683" y="35719"/>
                      <a:pt x="83344" y="46380"/>
                      <a:pt x="83344" y="59531"/>
                    </a:cubicBezTo>
                    <a:cubicBezTo>
                      <a:pt x="83344" y="72683"/>
                      <a:pt x="72683" y="83344"/>
                      <a:pt x="59531" y="83344"/>
                    </a:cubicBezTo>
                    <a:close/>
                  </a:path>
                </a:pathLst>
              </a:custGeom>
              <a:solidFill>
                <a:srgbClr val="0B3D6E">
                  <a:alpha val="20000"/>
                </a:srgbClr>
              </a:solidFill>
              <a:ln>
                <a:noFill/>
              </a:ln>
            </p:spPr>
          </p:sp>
          <p:sp>
            <p:nvSpPr>
              <p:cNvPr id="109" name="Freeform 109"/>
              <p:cNvSpPr/>
              <p:nvPr/>
            </p:nvSpPr>
            <p:spPr>
              <a:xfrm>
                <a:off x="5859066" y="3183731"/>
                <a:ext cx="130969" cy="167045"/>
              </a:xfrm>
              <a:custGeom>
                <a:avLst/>
                <a:gdLst/>
                <a:ahLst/>
                <a:cxnLst/>
                <a:rect l="l" t="t" r="r" b="b"/>
                <a:pathLst>
                  <a:path w="130969" h="167045">
                    <a:moveTo>
                      <a:pt x="65484" y="35719"/>
                    </a:moveTo>
                    <a:cubicBezTo>
                      <a:pt x="49045" y="35719"/>
                      <a:pt x="35719" y="49045"/>
                      <a:pt x="35719" y="65484"/>
                    </a:cubicBezTo>
                    <a:cubicBezTo>
                      <a:pt x="35719" y="81923"/>
                      <a:pt x="49045" y="95250"/>
                      <a:pt x="65484" y="95250"/>
                    </a:cubicBezTo>
                    <a:cubicBezTo>
                      <a:pt x="81923" y="95250"/>
                      <a:pt x="95250" y="81923"/>
                      <a:pt x="95250" y="65484"/>
                    </a:cubicBezTo>
                    <a:cubicBezTo>
                      <a:pt x="95250" y="49045"/>
                      <a:pt x="81923" y="35719"/>
                      <a:pt x="65484" y="35719"/>
                    </a:cubicBezTo>
                    <a:close/>
                    <a:moveTo>
                      <a:pt x="65484" y="83344"/>
                    </a:moveTo>
                    <a:cubicBezTo>
                      <a:pt x="55621" y="83344"/>
                      <a:pt x="47625" y="75348"/>
                      <a:pt x="47625" y="65484"/>
                    </a:cubicBezTo>
                    <a:cubicBezTo>
                      <a:pt x="47625" y="55621"/>
                      <a:pt x="55621" y="47625"/>
                      <a:pt x="65484" y="47625"/>
                    </a:cubicBezTo>
                    <a:cubicBezTo>
                      <a:pt x="75348" y="47625"/>
                      <a:pt x="83344" y="55621"/>
                      <a:pt x="83344" y="65484"/>
                    </a:cubicBezTo>
                    <a:cubicBezTo>
                      <a:pt x="83344" y="75348"/>
                      <a:pt x="75348" y="83344"/>
                      <a:pt x="65484" y="83344"/>
                    </a:cubicBezTo>
                    <a:close/>
                    <a:moveTo>
                      <a:pt x="65484" y="0"/>
                    </a:moveTo>
                    <a:cubicBezTo>
                      <a:pt x="29335" y="41"/>
                      <a:pt x="41" y="29335"/>
                      <a:pt x="0" y="65484"/>
                    </a:cubicBezTo>
                    <a:cubicBezTo>
                      <a:pt x="0" y="88850"/>
                      <a:pt x="10797" y="113615"/>
                      <a:pt x="31254" y="137108"/>
                    </a:cubicBezTo>
                    <a:cubicBezTo>
                      <a:pt x="40446" y="147724"/>
                      <a:pt x="50791" y="157283"/>
                      <a:pt x="62099" y="165608"/>
                    </a:cubicBezTo>
                    <a:cubicBezTo>
                      <a:pt x="64149" y="167045"/>
                      <a:pt x="66879" y="167045"/>
                      <a:pt x="68930" y="165608"/>
                    </a:cubicBezTo>
                    <a:cubicBezTo>
                      <a:pt x="80216" y="157279"/>
                      <a:pt x="90542" y="147720"/>
                      <a:pt x="99715" y="137108"/>
                    </a:cubicBezTo>
                    <a:cubicBezTo>
                      <a:pt x="120142" y="113615"/>
                      <a:pt x="130969" y="88850"/>
                      <a:pt x="130969" y="65484"/>
                    </a:cubicBezTo>
                    <a:cubicBezTo>
                      <a:pt x="130928" y="29335"/>
                      <a:pt x="101633" y="41"/>
                      <a:pt x="65484" y="0"/>
                    </a:cubicBezTo>
                    <a:close/>
                    <a:moveTo>
                      <a:pt x="65484" y="153293"/>
                    </a:moveTo>
                    <a:cubicBezTo>
                      <a:pt x="53184" y="143619"/>
                      <a:pt x="11906" y="108086"/>
                      <a:pt x="11906" y="65484"/>
                    </a:cubicBezTo>
                    <a:cubicBezTo>
                      <a:pt x="11906" y="35894"/>
                      <a:pt x="35894" y="11906"/>
                      <a:pt x="65484" y="11906"/>
                    </a:cubicBezTo>
                    <a:cubicBezTo>
                      <a:pt x="95075" y="11906"/>
                      <a:pt x="119062" y="35894"/>
                      <a:pt x="119062" y="65484"/>
                    </a:cubicBezTo>
                    <a:cubicBezTo>
                      <a:pt x="119062" y="108072"/>
                      <a:pt x="77785" y="143619"/>
                      <a:pt x="65484" y="153293"/>
                    </a:cubicBezTo>
                    <a:close/>
                  </a:path>
                </a:pathLst>
              </a:custGeom>
              <a:solidFill>
                <a:srgbClr val="0B3D6E"/>
              </a:solidFill>
              <a:ln>
                <a:noFill/>
              </a:ln>
            </p:spPr>
          </p:sp>
        </p:grpSp>
        <p:sp>
          <p:nvSpPr>
            <p:cNvPr id="111" name="TextBox 111"/>
            <p:cNvSpPr txBox="1"/>
            <p:nvPr/>
          </p:nvSpPr>
          <p:spPr>
            <a:xfrm>
              <a:off x="6072188" y="3213497"/>
              <a:ext cx="1023496"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Photo place &amp; time</a:t>
              </a:r>
            </a:p>
          </p:txBody>
        </p:sp>
        <p:grpSp>
          <p:nvGrpSpPr>
            <p:cNvPr id="114" name="Group 114"/>
            <p:cNvGrpSpPr/>
            <p:nvPr/>
          </p:nvGrpSpPr>
          <p:grpSpPr>
            <a:xfrm>
              <a:off x="7734895" y="3181945"/>
              <a:ext cx="170259" cy="170259"/>
              <a:chOff x="7734895" y="3181945"/>
              <a:chExt cx="170259" cy="170259"/>
            </a:xfrm>
          </p:grpSpPr>
          <p:sp>
            <p:nvSpPr>
              <p:cNvPr id="112" name="Freeform 112"/>
              <p:cNvSpPr/>
              <p:nvPr/>
            </p:nvSpPr>
            <p:spPr>
              <a:xfrm>
                <a:off x="7741444" y="3188494"/>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E8871E">
                  <a:alpha val="20000"/>
                </a:srgbClr>
              </a:solidFill>
              <a:ln>
                <a:noFill/>
              </a:ln>
            </p:spPr>
          </p:sp>
          <p:sp>
            <p:nvSpPr>
              <p:cNvPr id="113" name="Freeform 113"/>
              <p:cNvSpPr/>
              <p:nvPr/>
            </p:nvSpPr>
            <p:spPr>
              <a:xfrm>
                <a:off x="7734895" y="3181945"/>
                <a:ext cx="170259" cy="170259"/>
              </a:xfrm>
              <a:custGeom>
                <a:avLst/>
                <a:gdLst/>
                <a:ahLst/>
                <a:cxnLst/>
                <a:rect l="l" t="t" r="r" b="b"/>
                <a:pathLst>
                  <a:path w="170259" h="170259">
                    <a:moveTo>
                      <a:pt x="124420" y="85130"/>
                    </a:moveTo>
                    <a:cubicBezTo>
                      <a:pt x="124420" y="88746"/>
                      <a:pt x="121488" y="91678"/>
                      <a:pt x="117872" y="91678"/>
                    </a:cubicBezTo>
                    <a:lnTo>
                      <a:pt x="52388" y="91678"/>
                    </a:lnTo>
                    <a:cubicBezTo>
                      <a:pt x="48771" y="91678"/>
                      <a:pt x="45839" y="88746"/>
                      <a:pt x="45839" y="85130"/>
                    </a:cubicBezTo>
                    <a:cubicBezTo>
                      <a:pt x="45839" y="81513"/>
                      <a:pt x="48771" y="78581"/>
                      <a:pt x="52388" y="78581"/>
                    </a:cubicBezTo>
                    <a:lnTo>
                      <a:pt x="117872" y="78581"/>
                    </a:lnTo>
                    <a:cubicBezTo>
                      <a:pt x="121488" y="78581"/>
                      <a:pt x="124420" y="81513"/>
                      <a:pt x="124420" y="85130"/>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E8871E"/>
              </a:solidFill>
              <a:ln>
                <a:noFill/>
              </a:ln>
            </p:spPr>
          </p:sp>
        </p:grpSp>
        <p:sp>
          <p:nvSpPr>
            <p:cNvPr id="115" name="TextBox 115"/>
            <p:cNvSpPr txBox="1"/>
            <p:nvPr/>
          </p:nvSpPr>
          <p:spPr>
            <a:xfrm>
              <a:off x="7996238" y="3217545"/>
              <a:ext cx="832612" cy="176212"/>
            </a:xfrm>
            <a:prstGeom prst="rect">
              <a:avLst/>
            </a:prstGeom>
            <a:noFill/>
            <a:ln>
              <a:noFill/>
            </a:ln>
          </p:spPr>
          <p:txBody>
            <a:bodyPr wrap="none" lIns="0" tIns="0" rIns="0" bIns="0" anchor="t" anchorCtr="0">
              <a:spAutoFit/>
            </a:bodyPr>
            <a:lstStyle/>
            <a:p>
              <a:pPr algn="l"/>
              <a:r>
                <a:rPr lang="en-IN" sz="900" dirty="0">
                  <a:solidFill>
                    <a:srgbClr val="344054"/>
                  </a:solidFill>
                  <a:latin typeface="Calibri"/>
                  <a:ea typeface="Calibri"/>
                  <a:cs typeface="Calibri"/>
                </a:rPr>
                <a:t>geotag on a map</a:t>
              </a:r>
            </a:p>
          </p:txBody>
        </p:sp>
        <p:grpSp>
          <p:nvGrpSpPr>
            <p:cNvPr id="118" name="Group 118"/>
            <p:cNvGrpSpPr/>
            <p:nvPr/>
          </p:nvGrpSpPr>
          <p:grpSpPr>
            <a:xfrm>
              <a:off x="9868495" y="3181945"/>
              <a:ext cx="170259" cy="170259"/>
              <a:chOff x="9868495" y="3181945"/>
              <a:chExt cx="170259" cy="170259"/>
            </a:xfrm>
          </p:grpSpPr>
          <p:sp>
            <p:nvSpPr>
              <p:cNvPr id="116" name="Freeform 116"/>
              <p:cNvSpPr/>
              <p:nvPr/>
            </p:nvSpPr>
            <p:spPr>
              <a:xfrm>
                <a:off x="9875044" y="3188494"/>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1E7B45">
                  <a:alpha val="20000"/>
                </a:srgbClr>
              </a:solidFill>
              <a:ln>
                <a:noFill/>
              </a:ln>
            </p:spPr>
          </p:sp>
          <p:sp>
            <p:nvSpPr>
              <p:cNvPr id="117" name="Freeform 117"/>
              <p:cNvSpPr/>
              <p:nvPr/>
            </p:nvSpPr>
            <p:spPr>
              <a:xfrm>
                <a:off x="9868495" y="3181945"/>
                <a:ext cx="170259" cy="170259"/>
              </a:xfrm>
              <a:custGeom>
                <a:avLst/>
                <a:gdLst/>
                <a:ahLst/>
                <a:cxnLst/>
                <a:rect l="l" t="t" r="r" b="b"/>
                <a:pathLst>
                  <a:path w="170259" h="170259">
                    <a:moveTo>
                      <a:pt x="122505" y="60851"/>
                    </a:moveTo>
                    <a:cubicBezTo>
                      <a:pt x="123735" y="62080"/>
                      <a:pt x="124425" y="63746"/>
                      <a:pt x="124425" y="65484"/>
                    </a:cubicBezTo>
                    <a:cubicBezTo>
                      <a:pt x="124425" y="67222"/>
                      <a:pt x="123735" y="68889"/>
                      <a:pt x="122505" y="70117"/>
                    </a:cubicBezTo>
                    <a:lnTo>
                      <a:pt x="76666" y="115956"/>
                    </a:lnTo>
                    <a:cubicBezTo>
                      <a:pt x="75438" y="117186"/>
                      <a:pt x="73771" y="117877"/>
                      <a:pt x="72033" y="117877"/>
                    </a:cubicBezTo>
                    <a:cubicBezTo>
                      <a:pt x="70295" y="117877"/>
                      <a:pt x="68628" y="117186"/>
                      <a:pt x="67400" y="115956"/>
                    </a:cubicBezTo>
                    <a:lnTo>
                      <a:pt x="47754" y="96311"/>
                    </a:lnTo>
                    <a:cubicBezTo>
                      <a:pt x="45196" y="93752"/>
                      <a:pt x="45196" y="89604"/>
                      <a:pt x="47754" y="87045"/>
                    </a:cubicBezTo>
                    <a:cubicBezTo>
                      <a:pt x="50313" y="84486"/>
                      <a:pt x="54462" y="84486"/>
                      <a:pt x="57021" y="87045"/>
                    </a:cubicBezTo>
                    <a:lnTo>
                      <a:pt x="72033" y="102066"/>
                    </a:lnTo>
                    <a:lnTo>
                      <a:pt x="113239" y="60851"/>
                    </a:lnTo>
                    <a:cubicBezTo>
                      <a:pt x="114467" y="59622"/>
                      <a:pt x="116134" y="58931"/>
                      <a:pt x="117872" y="58931"/>
                    </a:cubicBezTo>
                    <a:cubicBezTo>
                      <a:pt x="119610" y="58931"/>
                      <a:pt x="121277" y="59622"/>
                      <a:pt x="122505" y="60851"/>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1E7B45"/>
              </a:solidFill>
              <a:ln>
                <a:noFill/>
              </a:ln>
            </p:spPr>
          </p:sp>
        </p:grpSp>
        <p:sp>
          <p:nvSpPr>
            <p:cNvPr id="119" name="TextBox 119"/>
            <p:cNvSpPr txBox="1"/>
            <p:nvPr/>
          </p:nvSpPr>
          <p:spPr>
            <a:xfrm>
              <a:off x="10129838" y="3217545"/>
              <a:ext cx="1088146" cy="176212"/>
            </a:xfrm>
            <a:prstGeom prst="rect">
              <a:avLst/>
            </a:prstGeom>
            <a:noFill/>
            <a:ln>
              <a:noFill/>
            </a:ln>
          </p:spPr>
          <p:txBody>
            <a:bodyPr wrap="none" lIns="0" tIns="0" rIns="0" bIns="0" anchor="t" anchorCtr="0">
              <a:spAutoFit/>
            </a:bodyPr>
            <a:lstStyle/>
            <a:p>
              <a:pPr algn="l"/>
              <a:r>
                <a:rPr lang="en-IN" sz="900" dirty="0">
                  <a:solidFill>
                    <a:srgbClr val="344054"/>
                  </a:solidFill>
                  <a:latin typeface="Calibri"/>
                  <a:ea typeface="Calibri"/>
                  <a:cs typeface="Calibri"/>
                </a:rPr>
                <a:t>stamp read + checked</a:t>
              </a:r>
            </a:p>
          </p:txBody>
        </p:sp>
        <p:grpSp>
          <p:nvGrpSpPr>
            <p:cNvPr id="122" name="Group 122"/>
            <p:cNvGrpSpPr/>
            <p:nvPr/>
          </p:nvGrpSpPr>
          <p:grpSpPr>
            <a:xfrm>
              <a:off x="5859066" y="3618308"/>
              <a:ext cx="130970" cy="154782"/>
              <a:chOff x="5859066" y="3618308"/>
              <a:chExt cx="130970" cy="154782"/>
            </a:xfrm>
          </p:grpSpPr>
          <p:sp>
            <p:nvSpPr>
              <p:cNvPr id="120" name="Freeform 120"/>
              <p:cNvSpPr/>
              <p:nvPr/>
            </p:nvSpPr>
            <p:spPr>
              <a:xfrm>
                <a:off x="5942409" y="3624262"/>
                <a:ext cx="41672" cy="41672"/>
              </a:xfrm>
              <a:custGeom>
                <a:avLst/>
                <a:gdLst/>
                <a:ahLst/>
                <a:cxnLst/>
                <a:rect l="l" t="t" r="r" b="b"/>
                <a:pathLst>
                  <a:path w="41672" h="41672">
                    <a:moveTo>
                      <a:pt x="41672" y="41672"/>
                    </a:moveTo>
                    <a:lnTo>
                      <a:pt x="0" y="41672"/>
                    </a:lnTo>
                    <a:lnTo>
                      <a:pt x="0" y="0"/>
                    </a:lnTo>
                    <a:close/>
                  </a:path>
                </a:pathLst>
              </a:custGeom>
              <a:solidFill>
                <a:srgbClr val="0B3D6E">
                  <a:alpha val="20000"/>
                </a:srgbClr>
              </a:solidFill>
              <a:ln>
                <a:noFill/>
              </a:ln>
            </p:spPr>
          </p:sp>
          <p:sp>
            <p:nvSpPr>
              <p:cNvPr id="121" name="Freeform 121"/>
              <p:cNvSpPr/>
              <p:nvPr/>
            </p:nvSpPr>
            <p:spPr>
              <a:xfrm>
                <a:off x="5859066" y="3618308"/>
                <a:ext cx="130970" cy="154782"/>
              </a:xfrm>
              <a:custGeom>
                <a:avLst/>
                <a:gdLst/>
                <a:ahLst/>
                <a:cxnLst/>
                <a:rect l="l" t="t" r="r" b="b"/>
                <a:pathLst>
                  <a:path w="130970" h="154782">
                    <a:moveTo>
                      <a:pt x="129227" y="43414"/>
                    </a:moveTo>
                    <a:lnTo>
                      <a:pt x="87556" y="1743"/>
                    </a:lnTo>
                    <a:cubicBezTo>
                      <a:pt x="86438" y="626"/>
                      <a:pt x="84923" y="0"/>
                      <a:pt x="83344" y="1"/>
                    </a:cubicBezTo>
                    <a:lnTo>
                      <a:pt x="11906" y="1"/>
                    </a:lnTo>
                    <a:cubicBezTo>
                      <a:pt x="5331" y="1"/>
                      <a:pt x="0" y="5332"/>
                      <a:pt x="0" y="11907"/>
                    </a:cubicBezTo>
                    <a:lnTo>
                      <a:pt x="0" y="142876"/>
                    </a:lnTo>
                    <a:cubicBezTo>
                      <a:pt x="0" y="149452"/>
                      <a:pt x="5331" y="154782"/>
                      <a:pt x="11906" y="154782"/>
                    </a:cubicBezTo>
                    <a:lnTo>
                      <a:pt x="119062" y="154782"/>
                    </a:lnTo>
                    <a:cubicBezTo>
                      <a:pt x="125638" y="154782"/>
                      <a:pt x="130969" y="149452"/>
                      <a:pt x="130969" y="142876"/>
                    </a:cubicBezTo>
                    <a:lnTo>
                      <a:pt x="130969" y="47626"/>
                    </a:lnTo>
                    <a:cubicBezTo>
                      <a:pt x="130970" y="46047"/>
                      <a:pt x="130344" y="44532"/>
                      <a:pt x="129227" y="43414"/>
                    </a:cubicBezTo>
                    <a:close/>
                    <a:moveTo>
                      <a:pt x="89297" y="20324"/>
                    </a:moveTo>
                    <a:lnTo>
                      <a:pt x="110646" y="41673"/>
                    </a:lnTo>
                    <a:lnTo>
                      <a:pt x="89297" y="41673"/>
                    </a:lnTo>
                    <a:close/>
                    <a:moveTo>
                      <a:pt x="119062" y="142876"/>
                    </a:moveTo>
                    <a:lnTo>
                      <a:pt x="11906" y="142876"/>
                    </a:lnTo>
                    <a:lnTo>
                      <a:pt x="11906" y="11907"/>
                    </a:lnTo>
                    <a:lnTo>
                      <a:pt x="77391" y="11907"/>
                    </a:lnTo>
                    <a:lnTo>
                      <a:pt x="77391" y="47626"/>
                    </a:lnTo>
                    <a:cubicBezTo>
                      <a:pt x="77391" y="50914"/>
                      <a:pt x="80056" y="53579"/>
                      <a:pt x="83344" y="53579"/>
                    </a:cubicBezTo>
                    <a:lnTo>
                      <a:pt x="119062" y="53579"/>
                    </a:lnTo>
                    <a:lnTo>
                      <a:pt x="119062" y="142876"/>
                    </a:lnTo>
                    <a:close/>
                    <a:moveTo>
                      <a:pt x="95250" y="83345"/>
                    </a:moveTo>
                    <a:cubicBezTo>
                      <a:pt x="95250" y="86633"/>
                      <a:pt x="92585" y="89298"/>
                      <a:pt x="89297" y="89298"/>
                    </a:cubicBezTo>
                    <a:lnTo>
                      <a:pt x="41672" y="89298"/>
                    </a:lnTo>
                    <a:cubicBezTo>
                      <a:pt x="38384" y="89298"/>
                      <a:pt x="35719" y="86633"/>
                      <a:pt x="35719" y="83345"/>
                    </a:cubicBezTo>
                    <a:cubicBezTo>
                      <a:pt x="35719" y="80057"/>
                      <a:pt x="38384" y="77392"/>
                      <a:pt x="41672" y="77392"/>
                    </a:cubicBezTo>
                    <a:lnTo>
                      <a:pt x="89297" y="77392"/>
                    </a:lnTo>
                    <a:cubicBezTo>
                      <a:pt x="92585" y="77392"/>
                      <a:pt x="95250" y="80057"/>
                      <a:pt x="95250" y="83345"/>
                    </a:cubicBezTo>
                    <a:close/>
                    <a:moveTo>
                      <a:pt x="95250" y="107157"/>
                    </a:moveTo>
                    <a:cubicBezTo>
                      <a:pt x="95250" y="110445"/>
                      <a:pt x="92585" y="113111"/>
                      <a:pt x="89297" y="113111"/>
                    </a:cubicBezTo>
                    <a:lnTo>
                      <a:pt x="41672" y="113111"/>
                    </a:lnTo>
                    <a:cubicBezTo>
                      <a:pt x="38384" y="113111"/>
                      <a:pt x="35719" y="110445"/>
                      <a:pt x="35719" y="107157"/>
                    </a:cubicBezTo>
                    <a:cubicBezTo>
                      <a:pt x="35719" y="103870"/>
                      <a:pt x="38384" y="101204"/>
                      <a:pt x="41672" y="101204"/>
                    </a:cubicBezTo>
                    <a:lnTo>
                      <a:pt x="89297" y="101204"/>
                    </a:lnTo>
                    <a:cubicBezTo>
                      <a:pt x="92585" y="101204"/>
                      <a:pt x="95250" y="103870"/>
                      <a:pt x="95250" y="107157"/>
                    </a:cubicBezTo>
                    <a:close/>
                  </a:path>
                </a:pathLst>
              </a:custGeom>
              <a:solidFill>
                <a:srgbClr val="0B3D6E"/>
              </a:solidFill>
              <a:ln>
                <a:noFill/>
              </a:ln>
            </p:spPr>
          </p:sp>
        </p:grpSp>
        <p:sp>
          <p:nvSpPr>
            <p:cNvPr id="123" name="TextBox 123"/>
            <p:cNvSpPr txBox="1"/>
            <p:nvPr/>
          </p:nvSpPr>
          <p:spPr>
            <a:xfrm>
              <a:off x="6072188" y="3642122"/>
              <a:ext cx="1296440"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Reads certificates &amp; bills</a:t>
              </a:r>
            </a:p>
          </p:txBody>
        </p:sp>
        <p:grpSp>
          <p:nvGrpSpPr>
            <p:cNvPr id="126" name="Group 126"/>
            <p:cNvGrpSpPr/>
            <p:nvPr/>
          </p:nvGrpSpPr>
          <p:grpSpPr>
            <a:xfrm>
              <a:off x="7734895" y="3610570"/>
              <a:ext cx="170259" cy="170259"/>
              <a:chOff x="7734895" y="3610570"/>
              <a:chExt cx="170259" cy="170259"/>
            </a:xfrm>
          </p:grpSpPr>
          <p:sp>
            <p:nvSpPr>
              <p:cNvPr id="124" name="Freeform 124"/>
              <p:cNvSpPr/>
              <p:nvPr/>
            </p:nvSpPr>
            <p:spPr>
              <a:xfrm>
                <a:off x="7741444" y="3617119"/>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98A2B3">
                  <a:alpha val="20000"/>
                </a:srgbClr>
              </a:solidFill>
              <a:ln>
                <a:noFill/>
              </a:ln>
            </p:spPr>
          </p:sp>
          <p:sp>
            <p:nvSpPr>
              <p:cNvPr id="125" name="Freeform 125"/>
              <p:cNvSpPr/>
              <p:nvPr/>
            </p:nvSpPr>
            <p:spPr>
              <a:xfrm>
                <a:off x="7734895" y="3610570"/>
                <a:ext cx="170259" cy="170259"/>
              </a:xfrm>
              <a:custGeom>
                <a:avLst/>
                <a:gdLst/>
                <a:ahLst/>
                <a:cxnLst/>
                <a:rect l="l" t="t" r="r" b="b"/>
                <a:pathLst>
                  <a:path w="170259" h="170259">
                    <a:moveTo>
                      <a:pt x="115956" y="63569"/>
                    </a:moveTo>
                    <a:lnTo>
                      <a:pt x="94388" y="85130"/>
                    </a:lnTo>
                    <a:lnTo>
                      <a:pt x="115956" y="106690"/>
                    </a:lnTo>
                    <a:cubicBezTo>
                      <a:pt x="118515" y="109249"/>
                      <a:pt x="118515" y="113398"/>
                      <a:pt x="115956" y="115956"/>
                    </a:cubicBezTo>
                    <a:cubicBezTo>
                      <a:pt x="113398" y="118515"/>
                      <a:pt x="109249" y="118515"/>
                      <a:pt x="106690" y="115956"/>
                    </a:cubicBezTo>
                    <a:lnTo>
                      <a:pt x="85130" y="94388"/>
                    </a:lnTo>
                    <a:lnTo>
                      <a:pt x="63569" y="115956"/>
                    </a:lnTo>
                    <a:cubicBezTo>
                      <a:pt x="61010" y="118515"/>
                      <a:pt x="56862" y="118515"/>
                      <a:pt x="54303" y="115956"/>
                    </a:cubicBezTo>
                    <a:cubicBezTo>
                      <a:pt x="51744" y="113398"/>
                      <a:pt x="51744" y="109249"/>
                      <a:pt x="54303" y="106690"/>
                    </a:cubicBezTo>
                    <a:lnTo>
                      <a:pt x="75872" y="85130"/>
                    </a:lnTo>
                    <a:lnTo>
                      <a:pt x="54303" y="63569"/>
                    </a:lnTo>
                    <a:cubicBezTo>
                      <a:pt x="51744" y="61010"/>
                      <a:pt x="51744" y="56862"/>
                      <a:pt x="54303" y="54303"/>
                    </a:cubicBezTo>
                    <a:cubicBezTo>
                      <a:pt x="56862" y="51744"/>
                      <a:pt x="61010" y="51744"/>
                      <a:pt x="63569" y="54303"/>
                    </a:cubicBezTo>
                    <a:lnTo>
                      <a:pt x="85130" y="75872"/>
                    </a:lnTo>
                    <a:lnTo>
                      <a:pt x="106690" y="54303"/>
                    </a:lnTo>
                    <a:cubicBezTo>
                      <a:pt x="109249" y="51744"/>
                      <a:pt x="113398" y="51744"/>
                      <a:pt x="115956" y="54303"/>
                    </a:cubicBezTo>
                    <a:cubicBezTo>
                      <a:pt x="118515" y="56862"/>
                      <a:pt x="118515" y="61010"/>
                      <a:pt x="115956" y="63569"/>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98A2B3"/>
              </a:solidFill>
              <a:ln>
                <a:noFill/>
              </a:ln>
            </p:spPr>
          </p:sp>
        </p:grpSp>
        <p:sp>
          <p:nvSpPr>
            <p:cNvPr id="127" name="TextBox 127"/>
            <p:cNvSpPr txBox="1"/>
            <p:nvPr/>
          </p:nvSpPr>
          <p:spPr>
            <a:xfrm>
              <a:off x="7996238" y="3646170"/>
              <a:ext cx="688034"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stored as files</a:t>
              </a:r>
            </a:p>
          </p:txBody>
        </p:sp>
        <p:grpSp>
          <p:nvGrpSpPr>
            <p:cNvPr id="130" name="Group 130"/>
            <p:cNvGrpSpPr/>
            <p:nvPr/>
          </p:nvGrpSpPr>
          <p:grpSpPr>
            <a:xfrm>
              <a:off x="9868495" y="3610570"/>
              <a:ext cx="170259" cy="170259"/>
              <a:chOff x="9868495" y="3610570"/>
              <a:chExt cx="170259" cy="170259"/>
            </a:xfrm>
          </p:grpSpPr>
          <p:sp>
            <p:nvSpPr>
              <p:cNvPr id="128" name="Freeform 128"/>
              <p:cNvSpPr/>
              <p:nvPr/>
            </p:nvSpPr>
            <p:spPr>
              <a:xfrm>
                <a:off x="9875044" y="3617119"/>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1E7B45">
                  <a:alpha val="20000"/>
                </a:srgbClr>
              </a:solidFill>
              <a:ln>
                <a:noFill/>
              </a:ln>
            </p:spPr>
          </p:sp>
          <p:sp>
            <p:nvSpPr>
              <p:cNvPr id="129" name="Freeform 129"/>
              <p:cNvSpPr/>
              <p:nvPr/>
            </p:nvSpPr>
            <p:spPr>
              <a:xfrm>
                <a:off x="9868495" y="3610570"/>
                <a:ext cx="170259" cy="170259"/>
              </a:xfrm>
              <a:custGeom>
                <a:avLst/>
                <a:gdLst/>
                <a:ahLst/>
                <a:cxnLst/>
                <a:rect l="l" t="t" r="r" b="b"/>
                <a:pathLst>
                  <a:path w="170259" h="170259">
                    <a:moveTo>
                      <a:pt x="122505" y="60851"/>
                    </a:moveTo>
                    <a:cubicBezTo>
                      <a:pt x="123735" y="62080"/>
                      <a:pt x="124425" y="63746"/>
                      <a:pt x="124425" y="65484"/>
                    </a:cubicBezTo>
                    <a:cubicBezTo>
                      <a:pt x="124425" y="67222"/>
                      <a:pt x="123735" y="68889"/>
                      <a:pt x="122505" y="70117"/>
                    </a:cubicBezTo>
                    <a:lnTo>
                      <a:pt x="76666" y="115956"/>
                    </a:lnTo>
                    <a:cubicBezTo>
                      <a:pt x="75438" y="117186"/>
                      <a:pt x="73771" y="117877"/>
                      <a:pt x="72033" y="117877"/>
                    </a:cubicBezTo>
                    <a:cubicBezTo>
                      <a:pt x="70295" y="117877"/>
                      <a:pt x="68628" y="117186"/>
                      <a:pt x="67400" y="115956"/>
                    </a:cubicBezTo>
                    <a:lnTo>
                      <a:pt x="47754" y="96311"/>
                    </a:lnTo>
                    <a:cubicBezTo>
                      <a:pt x="45196" y="93752"/>
                      <a:pt x="45196" y="89604"/>
                      <a:pt x="47754" y="87045"/>
                    </a:cubicBezTo>
                    <a:cubicBezTo>
                      <a:pt x="50313" y="84486"/>
                      <a:pt x="54462" y="84486"/>
                      <a:pt x="57021" y="87045"/>
                    </a:cubicBezTo>
                    <a:lnTo>
                      <a:pt x="72033" y="102066"/>
                    </a:lnTo>
                    <a:lnTo>
                      <a:pt x="113239" y="60851"/>
                    </a:lnTo>
                    <a:cubicBezTo>
                      <a:pt x="114467" y="59622"/>
                      <a:pt x="116134" y="58931"/>
                      <a:pt x="117872" y="58931"/>
                    </a:cubicBezTo>
                    <a:cubicBezTo>
                      <a:pt x="119610" y="58931"/>
                      <a:pt x="121277" y="59622"/>
                      <a:pt x="122505" y="60851"/>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1E7B45"/>
              </a:solidFill>
              <a:ln>
                <a:noFill/>
              </a:ln>
            </p:spPr>
          </p:sp>
        </p:grpSp>
        <p:sp>
          <p:nvSpPr>
            <p:cNvPr id="131" name="TextBox 131"/>
            <p:cNvSpPr txBox="1"/>
            <p:nvPr/>
          </p:nvSpPr>
          <p:spPr>
            <a:xfrm>
              <a:off x="10129838" y="3646170"/>
              <a:ext cx="1228399" cy="176212"/>
            </a:xfrm>
            <a:prstGeom prst="rect">
              <a:avLst/>
            </a:prstGeom>
            <a:noFill/>
            <a:ln>
              <a:noFill/>
            </a:ln>
          </p:spPr>
          <p:txBody>
            <a:bodyPr wrap="none" lIns="0" tIns="0" rIns="0" bIns="0" anchor="t" anchorCtr="0">
              <a:spAutoFit/>
            </a:bodyPr>
            <a:lstStyle/>
            <a:p>
              <a:pPr algn="l"/>
              <a:r>
                <a:rPr lang="en-IN" sz="900" dirty="0">
                  <a:solidFill>
                    <a:srgbClr val="344054"/>
                  </a:solidFill>
                  <a:latin typeface="Calibri"/>
                  <a:ea typeface="Calibri"/>
                  <a:cs typeface="Calibri"/>
                </a:rPr>
                <a:t>dates, payments, vendor</a:t>
              </a:r>
            </a:p>
          </p:txBody>
        </p:sp>
        <p:sp>
          <p:nvSpPr>
            <p:cNvPr id="132" name="Rectangle 132"/>
            <p:cNvSpPr/>
            <p:nvPr/>
          </p:nvSpPr>
          <p:spPr>
            <a:xfrm>
              <a:off x="5753100" y="3914775"/>
              <a:ext cx="6134100" cy="428625"/>
            </a:xfrm>
            <a:prstGeom prst="rect">
              <a:avLst/>
            </a:prstGeom>
            <a:solidFill>
              <a:srgbClr val="F2F5F9"/>
            </a:solidFill>
            <a:ln>
              <a:noFill/>
            </a:ln>
          </p:spPr>
        </p:sp>
        <p:grpSp>
          <p:nvGrpSpPr>
            <p:cNvPr id="135" name="Group 135"/>
            <p:cNvGrpSpPr/>
            <p:nvPr/>
          </p:nvGrpSpPr>
          <p:grpSpPr>
            <a:xfrm>
              <a:off x="5844128" y="4055774"/>
              <a:ext cx="164295" cy="137282"/>
              <a:chOff x="5844128" y="4055774"/>
              <a:chExt cx="164295" cy="137282"/>
            </a:xfrm>
          </p:grpSpPr>
          <p:sp>
            <p:nvSpPr>
              <p:cNvPr id="133" name="Freeform 133"/>
              <p:cNvSpPr/>
              <p:nvPr/>
            </p:nvSpPr>
            <p:spPr>
              <a:xfrm>
                <a:off x="5851078" y="4062761"/>
                <a:ext cx="45741" cy="123128"/>
              </a:xfrm>
              <a:custGeom>
                <a:avLst/>
                <a:gdLst/>
                <a:ahLst/>
                <a:cxnLst/>
                <a:rect l="l" t="t" r="r" b="b"/>
                <a:pathLst>
                  <a:path w="45741" h="123128">
                    <a:moveTo>
                      <a:pt x="8136" y="37603"/>
                    </a:moveTo>
                    <a:cubicBezTo>
                      <a:pt x="0" y="29465"/>
                      <a:pt x="0" y="16273"/>
                      <a:pt x="8137" y="8137"/>
                    </a:cubicBezTo>
                    <a:cubicBezTo>
                      <a:pt x="16274" y="0"/>
                      <a:pt x="29466" y="0"/>
                      <a:pt x="37603" y="8137"/>
                    </a:cubicBezTo>
                    <a:cubicBezTo>
                      <a:pt x="45740" y="16273"/>
                      <a:pt x="45741" y="29465"/>
                      <a:pt x="37604" y="37603"/>
                    </a:cubicBezTo>
                    <a:cubicBezTo>
                      <a:pt x="33697" y="41511"/>
                      <a:pt x="28397" y="43706"/>
                      <a:pt x="22870" y="43706"/>
                    </a:cubicBezTo>
                    <a:cubicBezTo>
                      <a:pt x="17344" y="43706"/>
                      <a:pt x="12044" y="41511"/>
                      <a:pt x="8136" y="37603"/>
                    </a:cubicBezTo>
                    <a:close/>
                    <a:moveTo>
                      <a:pt x="8136" y="85525"/>
                    </a:moveTo>
                    <a:cubicBezTo>
                      <a:pt x="0" y="93662"/>
                      <a:pt x="0" y="106855"/>
                      <a:pt x="8137" y="114991"/>
                    </a:cubicBezTo>
                    <a:cubicBezTo>
                      <a:pt x="16274" y="123128"/>
                      <a:pt x="29466" y="123128"/>
                      <a:pt x="37603" y="114991"/>
                    </a:cubicBezTo>
                    <a:cubicBezTo>
                      <a:pt x="45740" y="106855"/>
                      <a:pt x="45741" y="93662"/>
                      <a:pt x="37604" y="85525"/>
                    </a:cubicBezTo>
                    <a:cubicBezTo>
                      <a:pt x="33697" y="81617"/>
                      <a:pt x="28397" y="79422"/>
                      <a:pt x="22870" y="79422"/>
                    </a:cubicBezTo>
                    <a:cubicBezTo>
                      <a:pt x="17344" y="79422"/>
                      <a:pt x="12044" y="81617"/>
                      <a:pt x="8136" y="85525"/>
                    </a:cubicBezTo>
                    <a:close/>
                  </a:path>
                </a:pathLst>
              </a:custGeom>
              <a:solidFill>
                <a:srgbClr val="0B3D6E">
                  <a:alpha val="20000"/>
                </a:srgbClr>
              </a:solidFill>
              <a:ln>
                <a:noFill/>
              </a:ln>
            </p:spPr>
          </p:sp>
          <p:sp>
            <p:nvSpPr>
              <p:cNvPr id="134" name="Freeform 134"/>
              <p:cNvSpPr/>
              <p:nvPr/>
            </p:nvSpPr>
            <p:spPr>
              <a:xfrm>
                <a:off x="5844128" y="4055774"/>
                <a:ext cx="164295" cy="137282"/>
              </a:xfrm>
              <a:custGeom>
                <a:avLst/>
                <a:gdLst/>
                <a:ahLst/>
                <a:cxnLst/>
                <a:rect l="l" t="t" r="r" b="b"/>
                <a:pathLst>
                  <a:path w="164295" h="137282">
                    <a:moveTo>
                      <a:pt x="102545" y="57486"/>
                    </a:moveTo>
                    <a:cubicBezTo>
                      <a:pt x="101652" y="56182"/>
                      <a:pt x="101313" y="54576"/>
                      <a:pt x="101605" y="53022"/>
                    </a:cubicBezTo>
                    <a:cubicBezTo>
                      <a:pt x="101897" y="51469"/>
                      <a:pt x="102795" y="50095"/>
                      <a:pt x="104101" y="49204"/>
                    </a:cubicBezTo>
                    <a:lnTo>
                      <a:pt x="154449" y="14750"/>
                    </a:lnTo>
                    <a:cubicBezTo>
                      <a:pt x="157158" y="13074"/>
                      <a:pt x="160707" y="13828"/>
                      <a:pt x="162501" y="16461"/>
                    </a:cubicBezTo>
                    <a:cubicBezTo>
                      <a:pt x="164295" y="19094"/>
                      <a:pt x="163698" y="22672"/>
                      <a:pt x="161146" y="24580"/>
                    </a:cubicBezTo>
                    <a:lnTo>
                      <a:pt x="110790" y="59034"/>
                    </a:lnTo>
                    <a:cubicBezTo>
                      <a:pt x="109804" y="59714"/>
                      <a:pt x="108633" y="60078"/>
                      <a:pt x="107434" y="60076"/>
                    </a:cubicBezTo>
                    <a:cubicBezTo>
                      <a:pt x="105478" y="60068"/>
                      <a:pt x="103650" y="59100"/>
                      <a:pt x="102545" y="57486"/>
                    </a:cubicBezTo>
                    <a:close/>
                    <a:moveTo>
                      <a:pt x="162724" y="120805"/>
                    </a:moveTo>
                    <a:cubicBezTo>
                      <a:pt x="160866" y="123517"/>
                      <a:pt x="157162" y="124210"/>
                      <a:pt x="154449" y="122353"/>
                    </a:cubicBezTo>
                    <a:lnTo>
                      <a:pt x="86375" y="75769"/>
                    </a:lnTo>
                    <a:lnTo>
                      <a:pt x="54742" y="97409"/>
                    </a:lnTo>
                    <a:cubicBezTo>
                      <a:pt x="59739" y="110099"/>
                      <a:pt x="54404" y="124518"/>
                      <a:pt x="42351" y="130900"/>
                    </a:cubicBezTo>
                    <a:cubicBezTo>
                      <a:pt x="30298" y="137282"/>
                      <a:pt x="15374" y="133589"/>
                      <a:pt x="7687" y="122324"/>
                    </a:cubicBezTo>
                    <a:cubicBezTo>
                      <a:pt x="0" y="111058"/>
                      <a:pt x="2004" y="95815"/>
                      <a:pt x="12342" y="86919"/>
                    </a:cubicBezTo>
                    <a:cubicBezTo>
                      <a:pt x="22679" y="78023"/>
                      <a:pt x="38050" y="78313"/>
                      <a:pt x="48044" y="87594"/>
                    </a:cubicBezTo>
                    <a:lnTo>
                      <a:pt x="75831" y="68551"/>
                    </a:lnTo>
                    <a:lnTo>
                      <a:pt x="48007" y="49509"/>
                    </a:lnTo>
                    <a:cubicBezTo>
                      <a:pt x="38047" y="58741"/>
                      <a:pt x="22742" y="59020"/>
                      <a:pt x="12452" y="50157"/>
                    </a:cubicBezTo>
                    <a:cubicBezTo>
                      <a:pt x="2162" y="41294"/>
                      <a:pt x="170" y="26116"/>
                      <a:pt x="7824" y="14898"/>
                    </a:cubicBezTo>
                    <a:cubicBezTo>
                      <a:pt x="15479" y="3680"/>
                      <a:pt x="30338" y="0"/>
                      <a:pt x="42343" y="6350"/>
                    </a:cubicBezTo>
                    <a:cubicBezTo>
                      <a:pt x="54348" y="12699"/>
                      <a:pt x="59669" y="27053"/>
                      <a:pt x="54704" y="39694"/>
                    </a:cubicBezTo>
                    <a:lnTo>
                      <a:pt x="161117" y="112523"/>
                    </a:lnTo>
                    <a:cubicBezTo>
                      <a:pt x="162431" y="113406"/>
                      <a:pt x="163339" y="114776"/>
                      <a:pt x="163641" y="116330"/>
                    </a:cubicBezTo>
                    <a:cubicBezTo>
                      <a:pt x="163942" y="117884"/>
                      <a:pt x="163612" y="119494"/>
                      <a:pt x="162724" y="120805"/>
                    </a:cubicBezTo>
                    <a:close/>
                    <a:moveTo>
                      <a:pt x="44703" y="107247"/>
                    </a:moveTo>
                    <a:cubicBezTo>
                      <a:pt x="44705" y="100146"/>
                      <a:pt x="39690" y="94034"/>
                      <a:pt x="32727" y="92647"/>
                    </a:cubicBezTo>
                    <a:cubicBezTo>
                      <a:pt x="25763" y="91261"/>
                      <a:pt x="18790" y="94986"/>
                      <a:pt x="16072" y="101546"/>
                    </a:cubicBezTo>
                    <a:cubicBezTo>
                      <a:pt x="13353" y="108105"/>
                      <a:pt x="15647" y="115671"/>
                      <a:pt x="21550" y="119617"/>
                    </a:cubicBezTo>
                    <a:cubicBezTo>
                      <a:pt x="27453" y="123562"/>
                      <a:pt x="35321" y="122789"/>
                      <a:pt x="40343" y="117769"/>
                    </a:cubicBezTo>
                    <a:cubicBezTo>
                      <a:pt x="43144" y="114985"/>
                      <a:pt x="44715" y="111196"/>
                      <a:pt x="44703" y="107247"/>
                    </a:cubicBezTo>
                    <a:close/>
                    <a:moveTo>
                      <a:pt x="40343" y="40371"/>
                    </a:moveTo>
                    <a:cubicBezTo>
                      <a:pt x="44600" y="36115"/>
                      <a:pt x="45874" y="29713"/>
                      <a:pt x="43571" y="24151"/>
                    </a:cubicBezTo>
                    <a:cubicBezTo>
                      <a:pt x="41267" y="18589"/>
                      <a:pt x="35840" y="14963"/>
                      <a:pt x="29820" y="14963"/>
                    </a:cubicBezTo>
                    <a:cubicBezTo>
                      <a:pt x="23800" y="14963"/>
                      <a:pt x="18373" y="18589"/>
                      <a:pt x="16070" y="24151"/>
                    </a:cubicBezTo>
                    <a:cubicBezTo>
                      <a:pt x="13767" y="29713"/>
                      <a:pt x="15041" y="36115"/>
                      <a:pt x="19298" y="40371"/>
                    </a:cubicBezTo>
                    <a:cubicBezTo>
                      <a:pt x="22074" y="43188"/>
                      <a:pt x="25865" y="44775"/>
                      <a:pt x="29820" y="44775"/>
                    </a:cubicBezTo>
                    <a:cubicBezTo>
                      <a:pt x="33776" y="44775"/>
                      <a:pt x="37566" y="43188"/>
                      <a:pt x="40343" y="40371"/>
                    </a:cubicBezTo>
                    <a:close/>
                  </a:path>
                </a:pathLst>
              </a:custGeom>
              <a:solidFill>
                <a:srgbClr val="0B3D6E"/>
              </a:solidFill>
              <a:ln>
                <a:noFill/>
              </a:ln>
            </p:spPr>
          </p:sp>
        </p:grpSp>
        <p:sp>
          <p:nvSpPr>
            <p:cNvPr id="136" name="TextBox 136"/>
            <p:cNvSpPr txBox="1"/>
            <p:nvPr/>
          </p:nvSpPr>
          <p:spPr>
            <a:xfrm>
              <a:off x="6072188" y="4070747"/>
              <a:ext cx="1137652"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Split works &amp; repeats</a:t>
              </a:r>
            </a:p>
          </p:txBody>
        </p:sp>
        <p:grpSp>
          <p:nvGrpSpPr>
            <p:cNvPr id="139" name="Group 139"/>
            <p:cNvGrpSpPr/>
            <p:nvPr/>
          </p:nvGrpSpPr>
          <p:grpSpPr>
            <a:xfrm>
              <a:off x="7734895" y="4039195"/>
              <a:ext cx="170259" cy="170259"/>
              <a:chOff x="7734895" y="4039195"/>
              <a:chExt cx="170259" cy="170259"/>
            </a:xfrm>
          </p:grpSpPr>
          <p:sp>
            <p:nvSpPr>
              <p:cNvPr id="137" name="Freeform 137"/>
              <p:cNvSpPr/>
              <p:nvPr/>
            </p:nvSpPr>
            <p:spPr>
              <a:xfrm>
                <a:off x="7741444" y="4045744"/>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98A2B3">
                  <a:alpha val="20000"/>
                </a:srgbClr>
              </a:solidFill>
              <a:ln>
                <a:noFill/>
              </a:ln>
            </p:spPr>
          </p:sp>
          <p:sp>
            <p:nvSpPr>
              <p:cNvPr id="138" name="Freeform 138"/>
              <p:cNvSpPr/>
              <p:nvPr/>
            </p:nvSpPr>
            <p:spPr>
              <a:xfrm>
                <a:off x="7734895" y="4039195"/>
                <a:ext cx="170259" cy="170259"/>
              </a:xfrm>
              <a:custGeom>
                <a:avLst/>
                <a:gdLst/>
                <a:ahLst/>
                <a:cxnLst/>
                <a:rect l="l" t="t" r="r" b="b"/>
                <a:pathLst>
                  <a:path w="170259" h="170259">
                    <a:moveTo>
                      <a:pt x="115956" y="63569"/>
                    </a:moveTo>
                    <a:lnTo>
                      <a:pt x="94388" y="85130"/>
                    </a:lnTo>
                    <a:lnTo>
                      <a:pt x="115956" y="106690"/>
                    </a:lnTo>
                    <a:cubicBezTo>
                      <a:pt x="118515" y="109249"/>
                      <a:pt x="118515" y="113398"/>
                      <a:pt x="115956" y="115956"/>
                    </a:cubicBezTo>
                    <a:cubicBezTo>
                      <a:pt x="113398" y="118515"/>
                      <a:pt x="109249" y="118515"/>
                      <a:pt x="106690" y="115956"/>
                    </a:cubicBezTo>
                    <a:lnTo>
                      <a:pt x="85130" y="94388"/>
                    </a:lnTo>
                    <a:lnTo>
                      <a:pt x="63569" y="115956"/>
                    </a:lnTo>
                    <a:cubicBezTo>
                      <a:pt x="61010" y="118515"/>
                      <a:pt x="56862" y="118515"/>
                      <a:pt x="54303" y="115956"/>
                    </a:cubicBezTo>
                    <a:cubicBezTo>
                      <a:pt x="51744" y="113398"/>
                      <a:pt x="51744" y="109249"/>
                      <a:pt x="54303" y="106690"/>
                    </a:cubicBezTo>
                    <a:lnTo>
                      <a:pt x="75872" y="85130"/>
                    </a:lnTo>
                    <a:lnTo>
                      <a:pt x="54303" y="63569"/>
                    </a:lnTo>
                    <a:cubicBezTo>
                      <a:pt x="51744" y="61010"/>
                      <a:pt x="51744" y="56862"/>
                      <a:pt x="54303" y="54303"/>
                    </a:cubicBezTo>
                    <a:cubicBezTo>
                      <a:pt x="56862" y="51744"/>
                      <a:pt x="61010" y="51744"/>
                      <a:pt x="63569" y="54303"/>
                    </a:cubicBezTo>
                    <a:lnTo>
                      <a:pt x="85130" y="75872"/>
                    </a:lnTo>
                    <a:lnTo>
                      <a:pt x="106690" y="54303"/>
                    </a:lnTo>
                    <a:cubicBezTo>
                      <a:pt x="109249" y="51744"/>
                      <a:pt x="113398" y="51744"/>
                      <a:pt x="115956" y="54303"/>
                    </a:cubicBezTo>
                    <a:cubicBezTo>
                      <a:pt x="118515" y="56862"/>
                      <a:pt x="118515" y="61010"/>
                      <a:pt x="115956" y="63569"/>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98A2B3"/>
              </a:solidFill>
              <a:ln>
                <a:noFill/>
              </a:ln>
            </p:spPr>
          </p:sp>
        </p:grpSp>
        <p:sp>
          <p:nvSpPr>
            <p:cNvPr id="140" name="TextBox 140"/>
            <p:cNvSpPr txBox="1"/>
            <p:nvPr/>
          </p:nvSpPr>
          <p:spPr>
            <a:xfrm>
              <a:off x="7996238" y="4074795"/>
              <a:ext cx="750564"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not automated</a:t>
              </a:r>
            </a:p>
          </p:txBody>
        </p:sp>
        <p:grpSp>
          <p:nvGrpSpPr>
            <p:cNvPr id="143" name="Group 143"/>
            <p:cNvGrpSpPr/>
            <p:nvPr/>
          </p:nvGrpSpPr>
          <p:grpSpPr>
            <a:xfrm>
              <a:off x="9868495" y="4039195"/>
              <a:ext cx="170259" cy="170259"/>
              <a:chOff x="9868495" y="4039195"/>
              <a:chExt cx="170259" cy="170259"/>
            </a:xfrm>
          </p:grpSpPr>
          <p:sp>
            <p:nvSpPr>
              <p:cNvPr id="141" name="Freeform 141"/>
              <p:cNvSpPr/>
              <p:nvPr/>
            </p:nvSpPr>
            <p:spPr>
              <a:xfrm>
                <a:off x="9875044" y="4045744"/>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E8871E">
                  <a:alpha val="20000"/>
                </a:srgbClr>
              </a:solidFill>
              <a:ln>
                <a:noFill/>
              </a:ln>
            </p:spPr>
          </p:sp>
          <p:sp>
            <p:nvSpPr>
              <p:cNvPr id="142" name="Freeform 142"/>
              <p:cNvSpPr/>
              <p:nvPr/>
            </p:nvSpPr>
            <p:spPr>
              <a:xfrm>
                <a:off x="9868495" y="4039195"/>
                <a:ext cx="170259" cy="170259"/>
              </a:xfrm>
              <a:custGeom>
                <a:avLst/>
                <a:gdLst/>
                <a:ahLst/>
                <a:cxnLst/>
                <a:rect l="l" t="t" r="r" b="b"/>
                <a:pathLst>
                  <a:path w="170259" h="170259">
                    <a:moveTo>
                      <a:pt x="124420" y="85130"/>
                    </a:moveTo>
                    <a:cubicBezTo>
                      <a:pt x="124420" y="88746"/>
                      <a:pt x="121488" y="91678"/>
                      <a:pt x="117872" y="91678"/>
                    </a:cubicBezTo>
                    <a:lnTo>
                      <a:pt x="52388" y="91678"/>
                    </a:lnTo>
                    <a:cubicBezTo>
                      <a:pt x="48771" y="91678"/>
                      <a:pt x="45839" y="88746"/>
                      <a:pt x="45839" y="85130"/>
                    </a:cubicBezTo>
                    <a:cubicBezTo>
                      <a:pt x="45839" y="81513"/>
                      <a:pt x="48771" y="78581"/>
                      <a:pt x="52388" y="78581"/>
                    </a:cubicBezTo>
                    <a:lnTo>
                      <a:pt x="117872" y="78581"/>
                    </a:lnTo>
                    <a:cubicBezTo>
                      <a:pt x="121488" y="78581"/>
                      <a:pt x="124420" y="81513"/>
                      <a:pt x="124420" y="85130"/>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E8871E"/>
              </a:solidFill>
              <a:ln>
                <a:noFill/>
              </a:ln>
            </p:spPr>
          </p:sp>
        </p:grpSp>
        <p:sp>
          <p:nvSpPr>
            <p:cNvPr id="144" name="TextBox 144"/>
            <p:cNvSpPr txBox="1"/>
            <p:nvPr/>
          </p:nvSpPr>
          <p:spPr>
            <a:xfrm>
              <a:off x="10129838" y="4074795"/>
              <a:ext cx="1265667" cy="176212"/>
            </a:xfrm>
            <a:prstGeom prst="rect">
              <a:avLst/>
            </a:prstGeom>
            <a:noFill/>
            <a:ln>
              <a:noFill/>
            </a:ln>
          </p:spPr>
          <p:txBody>
            <a:bodyPr wrap="none" lIns="0" tIns="0" rIns="0" bIns="0" anchor="t" anchorCtr="0">
              <a:spAutoFit/>
            </a:bodyPr>
            <a:lstStyle/>
            <a:p>
              <a:pPr algn="l"/>
              <a:r>
                <a:rPr lang="en-IN" sz="900" dirty="0">
                  <a:solidFill>
                    <a:srgbClr val="344054"/>
                  </a:solidFill>
                  <a:latin typeface="Calibri"/>
                  <a:ea typeface="Calibri"/>
                  <a:cs typeface="Calibri"/>
                </a:rPr>
                <a:t>splits yes; rewording next</a:t>
              </a:r>
            </a:p>
          </p:txBody>
        </p:sp>
        <p:grpSp>
          <p:nvGrpSpPr>
            <p:cNvPr id="147" name="Group 147"/>
            <p:cNvGrpSpPr/>
            <p:nvPr/>
          </p:nvGrpSpPr>
          <p:grpSpPr>
            <a:xfrm>
              <a:off x="5852266" y="4481214"/>
              <a:ext cx="143721" cy="137221"/>
              <a:chOff x="5852266" y="4481214"/>
              <a:chExt cx="143721" cy="137221"/>
            </a:xfrm>
          </p:grpSpPr>
          <p:sp>
            <p:nvSpPr>
              <p:cNvPr id="145" name="Freeform 145"/>
              <p:cNvSpPr/>
              <p:nvPr/>
            </p:nvSpPr>
            <p:spPr>
              <a:xfrm>
                <a:off x="5906691" y="4505325"/>
                <a:ext cx="83344" cy="95250"/>
              </a:xfrm>
              <a:custGeom>
                <a:avLst/>
                <a:gdLst/>
                <a:ahLst/>
                <a:cxnLst/>
                <a:rect l="l" t="t" r="r" b="b"/>
                <a:pathLst>
                  <a:path w="83344" h="95250">
                    <a:moveTo>
                      <a:pt x="83344" y="0"/>
                    </a:moveTo>
                    <a:lnTo>
                      <a:pt x="83344" y="95250"/>
                    </a:lnTo>
                    <a:lnTo>
                      <a:pt x="0" y="95250"/>
                    </a:lnTo>
                    <a:lnTo>
                      <a:pt x="0" y="0"/>
                    </a:lnTo>
                    <a:close/>
                  </a:path>
                </a:pathLst>
              </a:custGeom>
              <a:solidFill>
                <a:srgbClr val="0B3D6E">
                  <a:alpha val="20000"/>
                </a:srgbClr>
              </a:solidFill>
              <a:ln>
                <a:noFill/>
              </a:ln>
            </p:spPr>
          </p:sp>
          <p:sp>
            <p:nvSpPr>
              <p:cNvPr id="146" name="Freeform 146"/>
              <p:cNvSpPr/>
              <p:nvPr/>
            </p:nvSpPr>
            <p:spPr>
              <a:xfrm>
                <a:off x="5852266" y="4481214"/>
                <a:ext cx="143721" cy="137221"/>
              </a:xfrm>
              <a:custGeom>
                <a:avLst/>
                <a:gdLst/>
                <a:ahLst/>
                <a:cxnLst/>
                <a:rect l="l" t="t" r="r" b="b"/>
                <a:pathLst>
                  <a:path w="143721" h="137221">
                    <a:moveTo>
                      <a:pt x="143721" y="71736"/>
                    </a:moveTo>
                    <a:cubicBezTo>
                      <a:pt x="143721" y="75024"/>
                      <a:pt x="141056" y="77689"/>
                      <a:pt x="137768" y="77689"/>
                    </a:cubicBezTo>
                    <a:lnTo>
                      <a:pt x="54424" y="77689"/>
                    </a:lnTo>
                    <a:cubicBezTo>
                      <a:pt x="51137" y="77689"/>
                      <a:pt x="48471" y="75024"/>
                      <a:pt x="48471" y="71736"/>
                    </a:cubicBezTo>
                    <a:cubicBezTo>
                      <a:pt x="48471" y="68448"/>
                      <a:pt x="51137" y="65783"/>
                      <a:pt x="54424" y="65783"/>
                    </a:cubicBezTo>
                    <a:lnTo>
                      <a:pt x="137768" y="65783"/>
                    </a:lnTo>
                    <a:cubicBezTo>
                      <a:pt x="141056" y="65783"/>
                      <a:pt x="143721" y="68448"/>
                      <a:pt x="143721" y="71736"/>
                    </a:cubicBezTo>
                    <a:close/>
                    <a:moveTo>
                      <a:pt x="54424" y="30064"/>
                    </a:moveTo>
                    <a:lnTo>
                      <a:pt x="137768" y="30064"/>
                    </a:lnTo>
                    <a:cubicBezTo>
                      <a:pt x="141056" y="30064"/>
                      <a:pt x="143721" y="27399"/>
                      <a:pt x="143721" y="24111"/>
                    </a:cubicBezTo>
                    <a:cubicBezTo>
                      <a:pt x="143721" y="20823"/>
                      <a:pt x="141056" y="18158"/>
                      <a:pt x="137768" y="18158"/>
                    </a:cubicBezTo>
                    <a:lnTo>
                      <a:pt x="54424" y="18158"/>
                    </a:lnTo>
                    <a:cubicBezTo>
                      <a:pt x="51137" y="18158"/>
                      <a:pt x="48471" y="20823"/>
                      <a:pt x="48471" y="24111"/>
                    </a:cubicBezTo>
                    <a:cubicBezTo>
                      <a:pt x="48471" y="27399"/>
                      <a:pt x="51137" y="30064"/>
                      <a:pt x="54424" y="30064"/>
                    </a:cubicBezTo>
                    <a:close/>
                    <a:moveTo>
                      <a:pt x="137768" y="113408"/>
                    </a:moveTo>
                    <a:lnTo>
                      <a:pt x="54424" y="113408"/>
                    </a:lnTo>
                    <a:cubicBezTo>
                      <a:pt x="51137" y="113408"/>
                      <a:pt x="48471" y="116073"/>
                      <a:pt x="48471" y="119361"/>
                    </a:cubicBezTo>
                    <a:cubicBezTo>
                      <a:pt x="48471" y="122649"/>
                      <a:pt x="51137" y="125314"/>
                      <a:pt x="54424" y="125314"/>
                    </a:cubicBezTo>
                    <a:lnTo>
                      <a:pt x="137768" y="125314"/>
                    </a:lnTo>
                    <a:cubicBezTo>
                      <a:pt x="141056" y="125314"/>
                      <a:pt x="143721" y="122649"/>
                      <a:pt x="143721" y="119361"/>
                    </a:cubicBezTo>
                    <a:cubicBezTo>
                      <a:pt x="143721" y="116073"/>
                      <a:pt x="141056" y="113408"/>
                      <a:pt x="137768" y="113408"/>
                    </a:cubicBezTo>
                    <a:close/>
                    <a:moveTo>
                      <a:pt x="9463" y="17533"/>
                    </a:moveTo>
                    <a:lnTo>
                      <a:pt x="12752" y="15881"/>
                    </a:lnTo>
                    <a:lnTo>
                      <a:pt x="12752" y="53877"/>
                    </a:lnTo>
                    <a:cubicBezTo>
                      <a:pt x="12752" y="57165"/>
                      <a:pt x="15418" y="59830"/>
                      <a:pt x="18706" y="59830"/>
                    </a:cubicBezTo>
                    <a:cubicBezTo>
                      <a:pt x="21993" y="59830"/>
                      <a:pt x="24659" y="57165"/>
                      <a:pt x="24659" y="53877"/>
                    </a:cubicBezTo>
                    <a:lnTo>
                      <a:pt x="24659" y="6252"/>
                    </a:lnTo>
                    <a:cubicBezTo>
                      <a:pt x="24660" y="4188"/>
                      <a:pt x="23592" y="2270"/>
                      <a:pt x="21836" y="1184"/>
                    </a:cubicBezTo>
                    <a:cubicBezTo>
                      <a:pt x="20081" y="99"/>
                      <a:pt x="17888" y="0"/>
                      <a:pt x="16042" y="924"/>
                    </a:cubicBezTo>
                    <a:lnTo>
                      <a:pt x="4135" y="6877"/>
                    </a:lnTo>
                    <a:cubicBezTo>
                      <a:pt x="1193" y="8348"/>
                      <a:pt x="0" y="11926"/>
                      <a:pt x="1471" y="14869"/>
                    </a:cubicBezTo>
                    <a:cubicBezTo>
                      <a:pt x="2943" y="17812"/>
                      <a:pt x="6521" y="19004"/>
                      <a:pt x="9463" y="17533"/>
                    </a:cubicBezTo>
                    <a:close/>
                    <a:moveTo>
                      <a:pt x="36394" y="93108"/>
                    </a:moveTo>
                    <a:cubicBezTo>
                      <a:pt x="35729" y="88344"/>
                      <a:pt x="33149" y="84057"/>
                      <a:pt x="29250" y="81239"/>
                    </a:cubicBezTo>
                    <a:cubicBezTo>
                      <a:pt x="21221" y="75408"/>
                      <a:pt x="10021" y="76952"/>
                      <a:pt x="3867" y="84736"/>
                    </a:cubicBezTo>
                    <a:cubicBezTo>
                      <a:pt x="2736" y="86190"/>
                      <a:pt x="1839" y="87812"/>
                      <a:pt x="1211" y="89543"/>
                    </a:cubicBezTo>
                    <a:cubicBezTo>
                      <a:pt x="317" y="91575"/>
                      <a:pt x="627" y="93935"/>
                      <a:pt x="2015" y="95666"/>
                    </a:cubicBezTo>
                    <a:cubicBezTo>
                      <a:pt x="3403" y="97397"/>
                      <a:pt x="5639" y="98213"/>
                      <a:pt x="7816" y="97781"/>
                    </a:cubicBezTo>
                    <a:cubicBezTo>
                      <a:pt x="9993" y="97350"/>
                      <a:pt x="11750" y="95744"/>
                      <a:pt x="12373" y="93614"/>
                    </a:cubicBezTo>
                    <a:cubicBezTo>
                      <a:pt x="12581" y="93043"/>
                      <a:pt x="12878" y="92508"/>
                      <a:pt x="13251" y="92029"/>
                    </a:cubicBezTo>
                    <a:cubicBezTo>
                      <a:pt x="15433" y="89311"/>
                      <a:pt x="19367" y="88789"/>
                      <a:pt x="22181" y="90846"/>
                    </a:cubicBezTo>
                    <a:cubicBezTo>
                      <a:pt x="23498" y="91777"/>
                      <a:pt x="24375" y="93208"/>
                      <a:pt x="24607" y="94805"/>
                    </a:cubicBezTo>
                    <a:cubicBezTo>
                      <a:pt x="24819" y="96338"/>
                      <a:pt x="24397" y="97891"/>
                      <a:pt x="23438" y="99106"/>
                    </a:cubicBezTo>
                    <a:cubicBezTo>
                      <a:pt x="23417" y="99132"/>
                      <a:pt x="23397" y="99159"/>
                      <a:pt x="23379" y="99188"/>
                    </a:cubicBezTo>
                    <a:lnTo>
                      <a:pt x="2029" y="127703"/>
                    </a:lnTo>
                    <a:cubicBezTo>
                      <a:pt x="680" y="129508"/>
                      <a:pt x="466" y="131920"/>
                      <a:pt x="1475" y="133935"/>
                    </a:cubicBezTo>
                    <a:cubicBezTo>
                      <a:pt x="2485" y="135949"/>
                      <a:pt x="4546" y="137221"/>
                      <a:pt x="6799" y="137221"/>
                    </a:cubicBezTo>
                    <a:lnTo>
                      <a:pt x="30612" y="137221"/>
                    </a:lnTo>
                    <a:cubicBezTo>
                      <a:pt x="33900" y="137221"/>
                      <a:pt x="36565" y="134555"/>
                      <a:pt x="36565" y="131267"/>
                    </a:cubicBezTo>
                    <a:cubicBezTo>
                      <a:pt x="36565" y="127980"/>
                      <a:pt x="33900" y="125314"/>
                      <a:pt x="30612" y="125314"/>
                    </a:cubicBezTo>
                    <a:lnTo>
                      <a:pt x="18706" y="125314"/>
                    </a:lnTo>
                    <a:lnTo>
                      <a:pt x="32904" y="106316"/>
                    </a:lnTo>
                    <a:cubicBezTo>
                      <a:pt x="35812" y="102570"/>
                      <a:pt x="37072" y="97802"/>
                      <a:pt x="36394" y="93108"/>
                    </a:cubicBezTo>
                    <a:close/>
                  </a:path>
                </a:pathLst>
              </a:custGeom>
              <a:solidFill>
                <a:srgbClr val="0B3D6E"/>
              </a:solidFill>
              <a:ln>
                <a:noFill/>
              </a:ln>
            </p:spPr>
          </p:sp>
        </p:grpSp>
        <p:sp>
          <p:nvSpPr>
            <p:cNvPr id="148" name="TextBox 148"/>
            <p:cNvSpPr txBox="1"/>
            <p:nvPr/>
          </p:nvSpPr>
          <p:spPr>
            <a:xfrm>
              <a:off x="6072188" y="4499372"/>
              <a:ext cx="1204247"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Risk-ranked review list</a:t>
              </a:r>
            </a:p>
          </p:txBody>
        </p:sp>
        <p:grpSp>
          <p:nvGrpSpPr>
            <p:cNvPr id="151" name="Group 151"/>
            <p:cNvGrpSpPr/>
            <p:nvPr/>
          </p:nvGrpSpPr>
          <p:grpSpPr>
            <a:xfrm>
              <a:off x="7734895" y="4467820"/>
              <a:ext cx="170259" cy="170259"/>
              <a:chOff x="7734895" y="4467820"/>
              <a:chExt cx="170259" cy="170259"/>
            </a:xfrm>
          </p:grpSpPr>
          <p:sp>
            <p:nvSpPr>
              <p:cNvPr id="149" name="Freeform 149"/>
              <p:cNvSpPr/>
              <p:nvPr/>
            </p:nvSpPr>
            <p:spPr>
              <a:xfrm>
                <a:off x="7741444" y="4474369"/>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98A2B3">
                  <a:alpha val="20000"/>
                </a:srgbClr>
              </a:solidFill>
              <a:ln>
                <a:noFill/>
              </a:ln>
            </p:spPr>
          </p:sp>
          <p:sp>
            <p:nvSpPr>
              <p:cNvPr id="150" name="Freeform 150"/>
              <p:cNvSpPr/>
              <p:nvPr/>
            </p:nvSpPr>
            <p:spPr>
              <a:xfrm>
                <a:off x="7734895" y="4467820"/>
                <a:ext cx="170259" cy="170259"/>
              </a:xfrm>
              <a:custGeom>
                <a:avLst/>
                <a:gdLst/>
                <a:ahLst/>
                <a:cxnLst/>
                <a:rect l="l" t="t" r="r" b="b"/>
                <a:pathLst>
                  <a:path w="170259" h="170259">
                    <a:moveTo>
                      <a:pt x="115956" y="63569"/>
                    </a:moveTo>
                    <a:lnTo>
                      <a:pt x="94388" y="85130"/>
                    </a:lnTo>
                    <a:lnTo>
                      <a:pt x="115956" y="106690"/>
                    </a:lnTo>
                    <a:cubicBezTo>
                      <a:pt x="118515" y="109249"/>
                      <a:pt x="118515" y="113398"/>
                      <a:pt x="115956" y="115956"/>
                    </a:cubicBezTo>
                    <a:cubicBezTo>
                      <a:pt x="113398" y="118515"/>
                      <a:pt x="109249" y="118515"/>
                      <a:pt x="106690" y="115956"/>
                    </a:cubicBezTo>
                    <a:lnTo>
                      <a:pt x="85130" y="94388"/>
                    </a:lnTo>
                    <a:lnTo>
                      <a:pt x="63569" y="115956"/>
                    </a:lnTo>
                    <a:cubicBezTo>
                      <a:pt x="61010" y="118515"/>
                      <a:pt x="56862" y="118515"/>
                      <a:pt x="54303" y="115956"/>
                    </a:cubicBezTo>
                    <a:cubicBezTo>
                      <a:pt x="51744" y="113398"/>
                      <a:pt x="51744" y="109249"/>
                      <a:pt x="54303" y="106690"/>
                    </a:cubicBezTo>
                    <a:lnTo>
                      <a:pt x="75872" y="85130"/>
                    </a:lnTo>
                    <a:lnTo>
                      <a:pt x="54303" y="63569"/>
                    </a:lnTo>
                    <a:cubicBezTo>
                      <a:pt x="51744" y="61010"/>
                      <a:pt x="51744" y="56862"/>
                      <a:pt x="54303" y="54303"/>
                    </a:cubicBezTo>
                    <a:cubicBezTo>
                      <a:pt x="56862" y="51744"/>
                      <a:pt x="61010" y="51744"/>
                      <a:pt x="63569" y="54303"/>
                    </a:cubicBezTo>
                    <a:lnTo>
                      <a:pt x="85130" y="75872"/>
                    </a:lnTo>
                    <a:lnTo>
                      <a:pt x="106690" y="54303"/>
                    </a:lnTo>
                    <a:cubicBezTo>
                      <a:pt x="109249" y="51744"/>
                      <a:pt x="113398" y="51744"/>
                      <a:pt x="115956" y="54303"/>
                    </a:cubicBezTo>
                    <a:cubicBezTo>
                      <a:pt x="118515" y="56862"/>
                      <a:pt x="118515" y="61010"/>
                      <a:pt x="115956" y="63569"/>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98A2B3"/>
              </a:solidFill>
              <a:ln>
                <a:noFill/>
              </a:ln>
            </p:spPr>
          </p:sp>
        </p:grpSp>
        <p:sp>
          <p:nvSpPr>
            <p:cNvPr id="152" name="TextBox 152"/>
            <p:cNvSpPr txBox="1"/>
            <p:nvPr/>
          </p:nvSpPr>
          <p:spPr>
            <a:xfrm>
              <a:off x="7996238" y="4503420"/>
              <a:ext cx="753532"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picked by hand</a:t>
              </a:r>
            </a:p>
          </p:txBody>
        </p:sp>
        <p:grpSp>
          <p:nvGrpSpPr>
            <p:cNvPr id="155" name="Group 155"/>
            <p:cNvGrpSpPr/>
            <p:nvPr/>
          </p:nvGrpSpPr>
          <p:grpSpPr>
            <a:xfrm>
              <a:off x="9868495" y="4467820"/>
              <a:ext cx="170259" cy="170259"/>
              <a:chOff x="9868495" y="4467820"/>
              <a:chExt cx="170259" cy="170259"/>
            </a:xfrm>
          </p:grpSpPr>
          <p:sp>
            <p:nvSpPr>
              <p:cNvPr id="153" name="Freeform 153"/>
              <p:cNvSpPr/>
              <p:nvPr/>
            </p:nvSpPr>
            <p:spPr>
              <a:xfrm>
                <a:off x="9875044" y="4474369"/>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1E7B45">
                  <a:alpha val="20000"/>
                </a:srgbClr>
              </a:solidFill>
              <a:ln>
                <a:noFill/>
              </a:ln>
            </p:spPr>
          </p:sp>
          <p:sp>
            <p:nvSpPr>
              <p:cNvPr id="154" name="Freeform 154"/>
              <p:cNvSpPr/>
              <p:nvPr/>
            </p:nvSpPr>
            <p:spPr>
              <a:xfrm>
                <a:off x="9868495" y="4467820"/>
                <a:ext cx="170259" cy="170259"/>
              </a:xfrm>
              <a:custGeom>
                <a:avLst/>
                <a:gdLst/>
                <a:ahLst/>
                <a:cxnLst/>
                <a:rect l="l" t="t" r="r" b="b"/>
                <a:pathLst>
                  <a:path w="170259" h="170259">
                    <a:moveTo>
                      <a:pt x="122505" y="60851"/>
                    </a:moveTo>
                    <a:cubicBezTo>
                      <a:pt x="123735" y="62080"/>
                      <a:pt x="124425" y="63746"/>
                      <a:pt x="124425" y="65484"/>
                    </a:cubicBezTo>
                    <a:cubicBezTo>
                      <a:pt x="124425" y="67222"/>
                      <a:pt x="123735" y="68889"/>
                      <a:pt x="122505" y="70117"/>
                    </a:cubicBezTo>
                    <a:lnTo>
                      <a:pt x="76666" y="115956"/>
                    </a:lnTo>
                    <a:cubicBezTo>
                      <a:pt x="75438" y="117186"/>
                      <a:pt x="73771" y="117877"/>
                      <a:pt x="72033" y="117877"/>
                    </a:cubicBezTo>
                    <a:cubicBezTo>
                      <a:pt x="70295" y="117877"/>
                      <a:pt x="68628" y="117186"/>
                      <a:pt x="67400" y="115956"/>
                    </a:cubicBezTo>
                    <a:lnTo>
                      <a:pt x="47754" y="96311"/>
                    </a:lnTo>
                    <a:cubicBezTo>
                      <a:pt x="45196" y="93752"/>
                      <a:pt x="45196" y="89604"/>
                      <a:pt x="47754" y="87045"/>
                    </a:cubicBezTo>
                    <a:cubicBezTo>
                      <a:pt x="50313" y="84486"/>
                      <a:pt x="54462" y="84486"/>
                      <a:pt x="57021" y="87045"/>
                    </a:cubicBezTo>
                    <a:lnTo>
                      <a:pt x="72033" y="102066"/>
                    </a:lnTo>
                    <a:lnTo>
                      <a:pt x="113239" y="60851"/>
                    </a:lnTo>
                    <a:cubicBezTo>
                      <a:pt x="114467" y="59622"/>
                      <a:pt x="116134" y="58931"/>
                      <a:pt x="117872" y="58931"/>
                    </a:cubicBezTo>
                    <a:cubicBezTo>
                      <a:pt x="119610" y="58931"/>
                      <a:pt x="121277" y="59622"/>
                      <a:pt x="122505" y="60851"/>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1E7B45"/>
              </a:solidFill>
              <a:ln>
                <a:noFill/>
              </a:ln>
            </p:spPr>
          </p:sp>
        </p:grpSp>
        <p:sp>
          <p:nvSpPr>
            <p:cNvPr id="156" name="TextBox 156"/>
            <p:cNvSpPr txBox="1"/>
            <p:nvPr/>
          </p:nvSpPr>
          <p:spPr>
            <a:xfrm>
              <a:off x="10129838" y="4503420"/>
              <a:ext cx="1024320" cy="176212"/>
            </a:xfrm>
            <a:prstGeom prst="rect">
              <a:avLst/>
            </a:prstGeom>
            <a:noFill/>
            <a:ln>
              <a:noFill/>
            </a:ln>
          </p:spPr>
          <p:txBody>
            <a:bodyPr wrap="none" lIns="0" tIns="0" rIns="0" bIns="0" anchor="t" anchorCtr="0">
              <a:spAutoFit/>
            </a:bodyPr>
            <a:lstStyle/>
            <a:p>
              <a:pPr algn="l"/>
              <a:r>
                <a:rPr lang="en-IN" sz="900" dirty="0">
                  <a:solidFill>
                    <a:srgbClr val="344054"/>
                  </a:solidFill>
                  <a:latin typeface="Calibri"/>
                  <a:ea typeface="Calibri"/>
                  <a:cs typeface="Calibri"/>
                </a:rPr>
                <a:t>276, by risk × money</a:t>
              </a:r>
            </a:p>
          </p:txBody>
        </p:sp>
        <p:sp>
          <p:nvSpPr>
            <p:cNvPr id="157" name="Rectangle 157"/>
            <p:cNvSpPr/>
            <p:nvPr/>
          </p:nvSpPr>
          <p:spPr>
            <a:xfrm>
              <a:off x="5753100" y="4772025"/>
              <a:ext cx="6134100" cy="428625"/>
            </a:xfrm>
            <a:prstGeom prst="rect">
              <a:avLst/>
            </a:prstGeom>
            <a:solidFill>
              <a:srgbClr val="F2F5F9"/>
            </a:solidFill>
            <a:ln>
              <a:noFill/>
            </a:ln>
          </p:spPr>
        </p:sp>
        <p:grpSp>
          <p:nvGrpSpPr>
            <p:cNvPr id="160" name="Group 160"/>
            <p:cNvGrpSpPr/>
            <p:nvPr/>
          </p:nvGrpSpPr>
          <p:grpSpPr>
            <a:xfrm>
              <a:off x="5841206" y="4898231"/>
              <a:ext cx="166688" cy="166688"/>
              <a:chOff x="5841206" y="4898231"/>
              <a:chExt cx="166688" cy="166688"/>
            </a:xfrm>
          </p:grpSpPr>
          <p:sp>
            <p:nvSpPr>
              <p:cNvPr id="158" name="Freeform 158"/>
              <p:cNvSpPr/>
              <p:nvPr/>
            </p:nvSpPr>
            <p:spPr>
              <a:xfrm>
                <a:off x="5847159" y="4904184"/>
                <a:ext cx="154781" cy="154781"/>
              </a:xfrm>
              <a:custGeom>
                <a:avLst/>
                <a:gdLst/>
                <a:ahLst/>
                <a:cxnLst/>
                <a:rect l="l" t="t" r="r" b="b"/>
                <a:pathLst>
                  <a:path w="154781" h="154781">
                    <a:moveTo>
                      <a:pt x="154781" y="77391"/>
                    </a:moveTo>
                    <a:cubicBezTo>
                      <a:pt x="154781" y="86700"/>
                      <a:pt x="141521" y="93725"/>
                      <a:pt x="137904" y="102461"/>
                    </a:cubicBezTo>
                    <a:cubicBezTo>
                      <a:pt x="134422" y="110884"/>
                      <a:pt x="138961" y="125269"/>
                      <a:pt x="132115" y="132115"/>
                    </a:cubicBezTo>
                    <a:cubicBezTo>
                      <a:pt x="125269" y="138961"/>
                      <a:pt x="110884" y="134422"/>
                      <a:pt x="102461" y="137904"/>
                    </a:cubicBezTo>
                    <a:cubicBezTo>
                      <a:pt x="93762" y="141521"/>
                      <a:pt x="86692" y="154781"/>
                      <a:pt x="77391" y="154781"/>
                    </a:cubicBezTo>
                    <a:cubicBezTo>
                      <a:pt x="68089" y="154781"/>
                      <a:pt x="61020" y="141521"/>
                      <a:pt x="52321" y="137904"/>
                    </a:cubicBezTo>
                    <a:cubicBezTo>
                      <a:pt x="43897" y="134422"/>
                      <a:pt x="29513" y="138961"/>
                      <a:pt x="22667" y="132115"/>
                    </a:cubicBezTo>
                    <a:cubicBezTo>
                      <a:pt x="15820" y="125269"/>
                      <a:pt x="20360" y="110884"/>
                      <a:pt x="16877" y="102461"/>
                    </a:cubicBezTo>
                    <a:cubicBezTo>
                      <a:pt x="13261" y="93762"/>
                      <a:pt x="0" y="86692"/>
                      <a:pt x="0" y="77391"/>
                    </a:cubicBezTo>
                    <a:cubicBezTo>
                      <a:pt x="0" y="68089"/>
                      <a:pt x="13261" y="61020"/>
                      <a:pt x="16877" y="52321"/>
                    </a:cubicBezTo>
                    <a:cubicBezTo>
                      <a:pt x="20360" y="43904"/>
                      <a:pt x="15820" y="29513"/>
                      <a:pt x="22667" y="22667"/>
                    </a:cubicBezTo>
                    <a:cubicBezTo>
                      <a:pt x="29513" y="15820"/>
                      <a:pt x="43904" y="20360"/>
                      <a:pt x="52321" y="16877"/>
                    </a:cubicBezTo>
                    <a:cubicBezTo>
                      <a:pt x="61057" y="13261"/>
                      <a:pt x="68089" y="0"/>
                      <a:pt x="77391" y="0"/>
                    </a:cubicBezTo>
                    <a:cubicBezTo>
                      <a:pt x="86692" y="0"/>
                      <a:pt x="93762" y="13261"/>
                      <a:pt x="102461" y="16877"/>
                    </a:cubicBezTo>
                    <a:cubicBezTo>
                      <a:pt x="110884" y="20360"/>
                      <a:pt x="125269" y="15820"/>
                      <a:pt x="132115" y="22667"/>
                    </a:cubicBezTo>
                    <a:cubicBezTo>
                      <a:pt x="138961" y="29513"/>
                      <a:pt x="134422" y="43897"/>
                      <a:pt x="137904" y="52321"/>
                    </a:cubicBezTo>
                    <a:cubicBezTo>
                      <a:pt x="141521" y="61057"/>
                      <a:pt x="154781" y="68089"/>
                      <a:pt x="154781" y="77391"/>
                    </a:cubicBezTo>
                    <a:close/>
                  </a:path>
                </a:pathLst>
              </a:custGeom>
              <a:solidFill>
                <a:srgbClr val="0B3D6E">
                  <a:alpha val="20000"/>
                </a:srgbClr>
              </a:solidFill>
              <a:ln>
                <a:noFill/>
              </a:ln>
            </p:spPr>
          </p:sp>
          <p:sp>
            <p:nvSpPr>
              <p:cNvPr id="159" name="Freeform 159"/>
              <p:cNvSpPr/>
              <p:nvPr/>
            </p:nvSpPr>
            <p:spPr>
              <a:xfrm>
                <a:off x="5841206" y="4898231"/>
                <a:ext cx="166688" cy="166688"/>
              </a:xfrm>
              <a:custGeom>
                <a:avLst/>
                <a:gdLst/>
                <a:ahLst/>
                <a:cxnLst/>
                <a:rect l="l" t="t" r="r" b="b"/>
                <a:pathLst>
                  <a:path w="166688" h="166688">
                    <a:moveTo>
                      <a:pt x="156165" y="64606"/>
                    </a:moveTo>
                    <a:cubicBezTo>
                      <a:pt x="153360" y="61674"/>
                      <a:pt x="150458" y="58653"/>
                      <a:pt x="149364" y="55997"/>
                    </a:cubicBezTo>
                    <a:cubicBezTo>
                      <a:pt x="148352" y="53563"/>
                      <a:pt x="148292" y="49530"/>
                      <a:pt x="148233" y="45623"/>
                    </a:cubicBezTo>
                    <a:cubicBezTo>
                      <a:pt x="148121" y="38360"/>
                      <a:pt x="148002" y="30130"/>
                      <a:pt x="142280" y="24408"/>
                    </a:cubicBezTo>
                    <a:cubicBezTo>
                      <a:pt x="136557" y="18685"/>
                      <a:pt x="128327" y="18566"/>
                      <a:pt x="121064" y="18455"/>
                    </a:cubicBezTo>
                    <a:cubicBezTo>
                      <a:pt x="117157" y="18395"/>
                      <a:pt x="113124" y="18336"/>
                      <a:pt x="110691" y="17324"/>
                    </a:cubicBezTo>
                    <a:cubicBezTo>
                      <a:pt x="108042" y="16230"/>
                      <a:pt x="105013" y="13328"/>
                      <a:pt x="102081" y="10522"/>
                    </a:cubicBezTo>
                    <a:cubicBezTo>
                      <a:pt x="96947" y="5588"/>
                      <a:pt x="91113" y="0"/>
                      <a:pt x="83344" y="0"/>
                    </a:cubicBezTo>
                    <a:cubicBezTo>
                      <a:pt x="75575" y="0"/>
                      <a:pt x="69748" y="5588"/>
                      <a:pt x="64606" y="10522"/>
                    </a:cubicBezTo>
                    <a:cubicBezTo>
                      <a:pt x="61674" y="13328"/>
                      <a:pt x="58653" y="16230"/>
                      <a:pt x="55997" y="17324"/>
                    </a:cubicBezTo>
                    <a:cubicBezTo>
                      <a:pt x="53578" y="18336"/>
                      <a:pt x="49530" y="18395"/>
                      <a:pt x="45623" y="18455"/>
                    </a:cubicBezTo>
                    <a:cubicBezTo>
                      <a:pt x="38360" y="18566"/>
                      <a:pt x="30130" y="18685"/>
                      <a:pt x="24408" y="24408"/>
                    </a:cubicBezTo>
                    <a:cubicBezTo>
                      <a:pt x="18685" y="30130"/>
                      <a:pt x="18604" y="38360"/>
                      <a:pt x="18455" y="45623"/>
                    </a:cubicBezTo>
                    <a:cubicBezTo>
                      <a:pt x="18395" y="49530"/>
                      <a:pt x="18336" y="53563"/>
                      <a:pt x="17324" y="55997"/>
                    </a:cubicBezTo>
                    <a:cubicBezTo>
                      <a:pt x="16230" y="58646"/>
                      <a:pt x="13328" y="61674"/>
                      <a:pt x="10522" y="64606"/>
                    </a:cubicBezTo>
                    <a:cubicBezTo>
                      <a:pt x="5588" y="69741"/>
                      <a:pt x="0" y="75575"/>
                      <a:pt x="0" y="83344"/>
                    </a:cubicBezTo>
                    <a:cubicBezTo>
                      <a:pt x="0" y="91113"/>
                      <a:pt x="5588" y="96939"/>
                      <a:pt x="10522" y="102081"/>
                    </a:cubicBezTo>
                    <a:cubicBezTo>
                      <a:pt x="13328" y="105013"/>
                      <a:pt x="16230" y="108034"/>
                      <a:pt x="17324" y="110691"/>
                    </a:cubicBezTo>
                    <a:cubicBezTo>
                      <a:pt x="18336" y="113124"/>
                      <a:pt x="18395" y="117157"/>
                      <a:pt x="18455" y="121064"/>
                    </a:cubicBezTo>
                    <a:cubicBezTo>
                      <a:pt x="18566" y="128327"/>
                      <a:pt x="18685" y="136557"/>
                      <a:pt x="24408" y="142280"/>
                    </a:cubicBezTo>
                    <a:cubicBezTo>
                      <a:pt x="30130" y="148002"/>
                      <a:pt x="38360" y="148121"/>
                      <a:pt x="45623" y="148233"/>
                    </a:cubicBezTo>
                    <a:cubicBezTo>
                      <a:pt x="49530" y="148292"/>
                      <a:pt x="53563" y="148352"/>
                      <a:pt x="55997" y="149364"/>
                    </a:cubicBezTo>
                    <a:cubicBezTo>
                      <a:pt x="58646" y="150458"/>
                      <a:pt x="61674" y="153360"/>
                      <a:pt x="64606" y="156165"/>
                    </a:cubicBezTo>
                    <a:cubicBezTo>
                      <a:pt x="69741" y="161099"/>
                      <a:pt x="75575" y="166688"/>
                      <a:pt x="83344" y="166688"/>
                    </a:cubicBezTo>
                    <a:cubicBezTo>
                      <a:pt x="91113" y="166688"/>
                      <a:pt x="96939" y="161099"/>
                      <a:pt x="102081" y="156165"/>
                    </a:cubicBezTo>
                    <a:cubicBezTo>
                      <a:pt x="105013" y="153360"/>
                      <a:pt x="108034" y="150458"/>
                      <a:pt x="110691" y="149364"/>
                    </a:cubicBezTo>
                    <a:cubicBezTo>
                      <a:pt x="113124" y="148352"/>
                      <a:pt x="117157" y="148292"/>
                      <a:pt x="121064" y="148233"/>
                    </a:cubicBezTo>
                    <a:cubicBezTo>
                      <a:pt x="128327" y="148121"/>
                      <a:pt x="136557" y="148002"/>
                      <a:pt x="142280" y="142280"/>
                    </a:cubicBezTo>
                    <a:cubicBezTo>
                      <a:pt x="148002" y="136557"/>
                      <a:pt x="148121" y="128327"/>
                      <a:pt x="148233" y="121064"/>
                    </a:cubicBezTo>
                    <a:cubicBezTo>
                      <a:pt x="148292" y="117157"/>
                      <a:pt x="148352" y="113124"/>
                      <a:pt x="149364" y="110691"/>
                    </a:cubicBezTo>
                    <a:cubicBezTo>
                      <a:pt x="150458" y="108042"/>
                      <a:pt x="153360" y="105013"/>
                      <a:pt x="156165" y="102081"/>
                    </a:cubicBezTo>
                    <a:cubicBezTo>
                      <a:pt x="161099" y="96947"/>
                      <a:pt x="166688" y="91113"/>
                      <a:pt x="166688" y="83344"/>
                    </a:cubicBezTo>
                    <a:cubicBezTo>
                      <a:pt x="166688" y="75575"/>
                      <a:pt x="161099" y="69748"/>
                      <a:pt x="156165" y="64606"/>
                    </a:cubicBezTo>
                    <a:close/>
                    <a:moveTo>
                      <a:pt x="147571" y="93844"/>
                    </a:moveTo>
                    <a:cubicBezTo>
                      <a:pt x="144006" y="97564"/>
                      <a:pt x="140315" y="101411"/>
                      <a:pt x="138358" y="106137"/>
                    </a:cubicBezTo>
                    <a:cubicBezTo>
                      <a:pt x="136483" y="110676"/>
                      <a:pt x="136401" y="115863"/>
                      <a:pt x="136327" y="120886"/>
                    </a:cubicBezTo>
                    <a:cubicBezTo>
                      <a:pt x="136252" y="126095"/>
                      <a:pt x="136170" y="131549"/>
                      <a:pt x="133856" y="133856"/>
                    </a:cubicBezTo>
                    <a:cubicBezTo>
                      <a:pt x="131542" y="136163"/>
                      <a:pt x="126124" y="136252"/>
                      <a:pt x="120886" y="136327"/>
                    </a:cubicBezTo>
                    <a:cubicBezTo>
                      <a:pt x="115863" y="136401"/>
                      <a:pt x="110676" y="136483"/>
                      <a:pt x="106137" y="138358"/>
                    </a:cubicBezTo>
                    <a:cubicBezTo>
                      <a:pt x="101411" y="140315"/>
                      <a:pt x="97564" y="144006"/>
                      <a:pt x="93844" y="147571"/>
                    </a:cubicBezTo>
                    <a:cubicBezTo>
                      <a:pt x="90123" y="151135"/>
                      <a:pt x="86320" y="154781"/>
                      <a:pt x="83344" y="154781"/>
                    </a:cubicBezTo>
                    <a:cubicBezTo>
                      <a:pt x="80367" y="154781"/>
                      <a:pt x="76535" y="151120"/>
                      <a:pt x="72844" y="147571"/>
                    </a:cubicBezTo>
                    <a:cubicBezTo>
                      <a:pt x="69153" y="144021"/>
                      <a:pt x="65276" y="140315"/>
                      <a:pt x="60551" y="138358"/>
                    </a:cubicBezTo>
                    <a:cubicBezTo>
                      <a:pt x="56011" y="136483"/>
                      <a:pt x="50825" y="136401"/>
                      <a:pt x="45802" y="136327"/>
                    </a:cubicBezTo>
                    <a:cubicBezTo>
                      <a:pt x="40593" y="136252"/>
                      <a:pt x="35138" y="136170"/>
                      <a:pt x="32831" y="133856"/>
                    </a:cubicBezTo>
                    <a:cubicBezTo>
                      <a:pt x="30525" y="131542"/>
                      <a:pt x="30435" y="126124"/>
                      <a:pt x="30361" y="120886"/>
                    </a:cubicBezTo>
                    <a:cubicBezTo>
                      <a:pt x="30287" y="115863"/>
                      <a:pt x="30205" y="110676"/>
                      <a:pt x="28329" y="106137"/>
                    </a:cubicBezTo>
                    <a:cubicBezTo>
                      <a:pt x="26372" y="101411"/>
                      <a:pt x="22681" y="97564"/>
                      <a:pt x="19117" y="93844"/>
                    </a:cubicBezTo>
                    <a:cubicBezTo>
                      <a:pt x="15553" y="90123"/>
                      <a:pt x="11906" y="86320"/>
                      <a:pt x="11906" y="83344"/>
                    </a:cubicBezTo>
                    <a:cubicBezTo>
                      <a:pt x="11906" y="80367"/>
                      <a:pt x="15567" y="76535"/>
                      <a:pt x="19117" y="72844"/>
                    </a:cubicBezTo>
                    <a:cubicBezTo>
                      <a:pt x="22667" y="69153"/>
                      <a:pt x="26372" y="65276"/>
                      <a:pt x="28329" y="60551"/>
                    </a:cubicBezTo>
                    <a:cubicBezTo>
                      <a:pt x="30205" y="56011"/>
                      <a:pt x="30287" y="50825"/>
                      <a:pt x="30361" y="45802"/>
                    </a:cubicBezTo>
                    <a:cubicBezTo>
                      <a:pt x="30435" y="40593"/>
                      <a:pt x="30517" y="35138"/>
                      <a:pt x="32831" y="32831"/>
                    </a:cubicBezTo>
                    <a:cubicBezTo>
                      <a:pt x="35146" y="30525"/>
                      <a:pt x="40563" y="30435"/>
                      <a:pt x="45802" y="30361"/>
                    </a:cubicBezTo>
                    <a:cubicBezTo>
                      <a:pt x="50825" y="30287"/>
                      <a:pt x="56011" y="30205"/>
                      <a:pt x="60551" y="28329"/>
                    </a:cubicBezTo>
                    <a:cubicBezTo>
                      <a:pt x="65276" y="26372"/>
                      <a:pt x="69123" y="22681"/>
                      <a:pt x="72844" y="19117"/>
                    </a:cubicBezTo>
                    <a:cubicBezTo>
                      <a:pt x="76565" y="15553"/>
                      <a:pt x="80367" y="11906"/>
                      <a:pt x="83344" y="11906"/>
                    </a:cubicBezTo>
                    <a:cubicBezTo>
                      <a:pt x="86320" y="11906"/>
                      <a:pt x="90153" y="15567"/>
                      <a:pt x="93844" y="19117"/>
                    </a:cubicBezTo>
                    <a:cubicBezTo>
                      <a:pt x="97535" y="22667"/>
                      <a:pt x="101411" y="26372"/>
                      <a:pt x="106137" y="28329"/>
                    </a:cubicBezTo>
                    <a:cubicBezTo>
                      <a:pt x="110676" y="30205"/>
                      <a:pt x="115863" y="30287"/>
                      <a:pt x="120886" y="30361"/>
                    </a:cubicBezTo>
                    <a:cubicBezTo>
                      <a:pt x="126095" y="30435"/>
                      <a:pt x="131549" y="30517"/>
                      <a:pt x="133856" y="32831"/>
                    </a:cubicBezTo>
                    <a:cubicBezTo>
                      <a:pt x="136163" y="35146"/>
                      <a:pt x="136252" y="40563"/>
                      <a:pt x="136327" y="45802"/>
                    </a:cubicBezTo>
                    <a:cubicBezTo>
                      <a:pt x="136401" y="50825"/>
                      <a:pt x="136483" y="56011"/>
                      <a:pt x="138358" y="60551"/>
                    </a:cubicBezTo>
                    <a:cubicBezTo>
                      <a:pt x="140315" y="65276"/>
                      <a:pt x="144006" y="69123"/>
                      <a:pt x="147571" y="72844"/>
                    </a:cubicBezTo>
                    <a:cubicBezTo>
                      <a:pt x="151135" y="76565"/>
                      <a:pt x="154781" y="80367"/>
                      <a:pt x="154781" y="83344"/>
                    </a:cubicBezTo>
                    <a:cubicBezTo>
                      <a:pt x="154781" y="86320"/>
                      <a:pt x="151120" y="90153"/>
                      <a:pt x="147571" y="93844"/>
                    </a:cubicBezTo>
                    <a:close/>
                    <a:moveTo>
                      <a:pt x="117321" y="61273"/>
                    </a:moveTo>
                    <a:cubicBezTo>
                      <a:pt x="118439" y="62389"/>
                      <a:pt x="119067" y="63904"/>
                      <a:pt x="119067" y="65484"/>
                    </a:cubicBezTo>
                    <a:cubicBezTo>
                      <a:pt x="119067" y="67064"/>
                      <a:pt x="118439" y="68580"/>
                      <a:pt x="117321" y="69696"/>
                    </a:cubicBezTo>
                    <a:lnTo>
                      <a:pt x="75649" y="111368"/>
                    </a:lnTo>
                    <a:cubicBezTo>
                      <a:pt x="74533" y="112486"/>
                      <a:pt x="73018" y="113114"/>
                      <a:pt x="71438" y="113114"/>
                    </a:cubicBezTo>
                    <a:cubicBezTo>
                      <a:pt x="69857" y="113114"/>
                      <a:pt x="68342" y="112486"/>
                      <a:pt x="67226" y="111368"/>
                    </a:cubicBezTo>
                    <a:lnTo>
                      <a:pt x="49366" y="93509"/>
                    </a:lnTo>
                    <a:cubicBezTo>
                      <a:pt x="47040" y="91183"/>
                      <a:pt x="47040" y="87411"/>
                      <a:pt x="49366" y="85085"/>
                    </a:cubicBezTo>
                    <a:cubicBezTo>
                      <a:pt x="51692" y="82759"/>
                      <a:pt x="55464" y="82759"/>
                      <a:pt x="57790" y="85085"/>
                    </a:cubicBezTo>
                    <a:lnTo>
                      <a:pt x="71438" y="98740"/>
                    </a:lnTo>
                    <a:lnTo>
                      <a:pt x="108898" y="61273"/>
                    </a:lnTo>
                    <a:cubicBezTo>
                      <a:pt x="110014" y="60155"/>
                      <a:pt x="111529" y="59527"/>
                      <a:pt x="113109" y="59527"/>
                    </a:cubicBezTo>
                    <a:cubicBezTo>
                      <a:pt x="114689" y="59527"/>
                      <a:pt x="116205" y="60155"/>
                      <a:pt x="117321" y="61273"/>
                    </a:cubicBezTo>
                    <a:close/>
                  </a:path>
                </a:pathLst>
              </a:custGeom>
              <a:solidFill>
                <a:srgbClr val="0B3D6E"/>
              </a:solidFill>
              <a:ln>
                <a:noFill/>
              </a:ln>
            </p:spPr>
          </p:sp>
        </p:grpSp>
        <p:sp>
          <p:nvSpPr>
            <p:cNvPr id="161" name="TextBox 161"/>
            <p:cNvSpPr txBox="1"/>
            <p:nvPr/>
          </p:nvSpPr>
          <p:spPr>
            <a:xfrm>
              <a:off x="6072188" y="4927997"/>
              <a:ext cx="1076405"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Reason for each flag</a:t>
              </a:r>
            </a:p>
          </p:txBody>
        </p:sp>
        <p:grpSp>
          <p:nvGrpSpPr>
            <p:cNvPr id="164" name="Group 164"/>
            <p:cNvGrpSpPr/>
            <p:nvPr/>
          </p:nvGrpSpPr>
          <p:grpSpPr>
            <a:xfrm>
              <a:off x="7734895" y="4896445"/>
              <a:ext cx="170259" cy="170259"/>
              <a:chOff x="7734895" y="4896445"/>
              <a:chExt cx="170259" cy="170259"/>
            </a:xfrm>
          </p:grpSpPr>
          <p:sp>
            <p:nvSpPr>
              <p:cNvPr id="162" name="Freeform 162"/>
              <p:cNvSpPr/>
              <p:nvPr/>
            </p:nvSpPr>
            <p:spPr>
              <a:xfrm>
                <a:off x="7741444" y="4902994"/>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98A2B3">
                  <a:alpha val="20000"/>
                </a:srgbClr>
              </a:solidFill>
              <a:ln>
                <a:noFill/>
              </a:ln>
            </p:spPr>
          </p:sp>
          <p:sp>
            <p:nvSpPr>
              <p:cNvPr id="163" name="Freeform 163"/>
              <p:cNvSpPr/>
              <p:nvPr/>
            </p:nvSpPr>
            <p:spPr>
              <a:xfrm>
                <a:off x="7734895" y="4896445"/>
                <a:ext cx="170259" cy="170259"/>
              </a:xfrm>
              <a:custGeom>
                <a:avLst/>
                <a:gdLst/>
                <a:ahLst/>
                <a:cxnLst/>
                <a:rect l="l" t="t" r="r" b="b"/>
                <a:pathLst>
                  <a:path w="170259" h="170259">
                    <a:moveTo>
                      <a:pt x="115956" y="63569"/>
                    </a:moveTo>
                    <a:lnTo>
                      <a:pt x="94388" y="85130"/>
                    </a:lnTo>
                    <a:lnTo>
                      <a:pt x="115956" y="106690"/>
                    </a:lnTo>
                    <a:cubicBezTo>
                      <a:pt x="118515" y="109249"/>
                      <a:pt x="118515" y="113398"/>
                      <a:pt x="115956" y="115956"/>
                    </a:cubicBezTo>
                    <a:cubicBezTo>
                      <a:pt x="113398" y="118515"/>
                      <a:pt x="109249" y="118515"/>
                      <a:pt x="106690" y="115956"/>
                    </a:cubicBezTo>
                    <a:lnTo>
                      <a:pt x="85130" y="94388"/>
                    </a:lnTo>
                    <a:lnTo>
                      <a:pt x="63569" y="115956"/>
                    </a:lnTo>
                    <a:cubicBezTo>
                      <a:pt x="61010" y="118515"/>
                      <a:pt x="56862" y="118515"/>
                      <a:pt x="54303" y="115956"/>
                    </a:cubicBezTo>
                    <a:cubicBezTo>
                      <a:pt x="51744" y="113398"/>
                      <a:pt x="51744" y="109249"/>
                      <a:pt x="54303" y="106690"/>
                    </a:cubicBezTo>
                    <a:lnTo>
                      <a:pt x="75872" y="85130"/>
                    </a:lnTo>
                    <a:lnTo>
                      <a:pt x="54303" y="63569"/>
                    </a:lnTo>
                    <a:cubicBezTo>
                      <a:pt x="51744" y="61010"/>
                      <a:pt x="51744" y="56862"/>
                      <a:pt x="54303" y="54303"/>
                    </a:cubicBezTo>
                    <a:cubicBezTo>
                      <a:pt x="56862" y="51744"/>
                      <a:pt x="61010" y="51744"/>
                      <a:pt x="63569" y="54303"/>
                    </a:cubicBezTo>
                    <a:lnTo>
                      <a:pt x="85130" y="75872"/>
                    </a:lnTo>
                    <a:lnTo>
                      <a:pt x="106690" y="54303"/>
                    </a:lnTo>
                    <a:cubicBezTo>
                      <a:pt x="109249" y="51744"/>
                      <a:pt x="113398" y="51744"/>
                      <a:pt x="115956" y="54303"/>
                    </a:cubicBezTo>
                    <a:cubicBezTo>
                      <a:pt x="118515" y="56862"/>
                      <a:pt x="118515" y="61010"/>
                      <a:pt x="115956" y="63569"/>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98A2B3"/>
              </a:solidFill>
              <a:ln>
                <a:noFill/>
              </a:ln>
            </p:spPr>
          </p:sp>
        </p:grpSp>
        <p:sp>
          <p:nvSpPr>
            <p:cNvPr id="165" name="TextBox 165"/>
            <p:cNvSpPr txBox="1"/>
            <p:nvPr/>
          </p:nvSpPr>
          <p:spPr>
            <a:xfrm>
              <a:off x="7996238" y="4932045"/>
              <a:ext cx="119209"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a:t>
              </a:r>
            </a:p>
          </p:txBody>
        </p:sp>
        <p:grpSp>
          <p:nvGrpSpPr>
            <p:cNvPr id="168" name="Group 168"/>
            <p:cNvGrpSpPr/>
            <p:nvPr/>
          </p:nvGrpSpPr>
          <p:grpSpPr>
            <a:xfrm>
              <a:off x="9868495" y="4896445"/>
              <a:ext cx="170259" cy="170259"/>
              <a:chOff x="9868495" y="4896445"/>
              <a:chExt cx="170259" cy="170259"/>
            </a:xfrm>
          </p:grpSpPr>
          <p:sp>
            <p:nvSpPr>
              <p:cNvPr id="166" name="Freeform 166"/>
              <p:cNvSpPr/>
              <p:nvPr/>
            </p:nvSpPr>
            <p:spPr>
              <a:xfrm>
                <a:off x="9875044" y="4902994"/>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1E7B45">
                  <a:alpha val="20000"/>
                </a:srgbClr>
              </a:solidFill>
              <a:ln>
                <a:noFill/>
              </a:ln>
            </p:spPr>
          </p:sp>
          <p:sp>
            <p:nvSpPr>
              <p:cNvPr id="167" name="Freeform 167"/>
              <p:cNvSpPr/>
              <p:nvPr/>
            </p:nvSpPr>
            <p:spPr>
              <a:xfrm>
                <a:off x="9868495" y="4896445"/>
                <a:ext cx="170259" cy="170259"/>
              </a:xfrm>
              <a:custGeom>
                <a:avLst/>
                <a:gdLst/>
                <a:ahLst/>
                <a:cxnLst/>
                <a:rect l="l" t="t" r="r" b="b"/>
                <a:pathLst>
                  <a:path w="170259" h="170259">
                    <a:moveTo>
                      <a:pt x="122505" y="60851"/>
                    </a:moveTo>
                    <a:cubicBezTo>
                      <a:pt x="123735" y="62080"/>
                      <a:pt x="124425" y="63746"/>
                      <a:pt x="124425" y="65484"/>
                    </a:cubicBezTo>
                    <a:cubicBezTo>
                      <a:pt x="124425" y="67222"/>
                      <a:pt x="123735" y="68889"/>
                      <a:pt x="122505" y="70117"/>
                    </a:cubicBezTo>
                    <a:lnTo>
                      <a:pt x="76666" y="115956"/>
                    </a:lnTo>
                    <a:cubicBezTo>
                      <a:pt x="75438" y="117186"/>
                      <a:pt x="73771" y="117877"/>
                      <a:pt x="72033" y="117877"/>
                    </a:cubicBezTo>
                    <a:cubicBezTo>
                      <a:pt x="70295" y="117877"/>
                      <a:pt x="68628" y="117186"/>
                      <a:pt x="67400" y="115956"/>
                    </a:cubicBezTo>
                    <a:lnTo>
                      <a:pt x="47754" y="96311"/>
                    </a:lnTo>
                    <a:cubicBezTo>
                      <a:pt x="45196" y="93752"/>
                      <a:pt x="45196" y="89604"/>
                      <a:pt x="47754" y="87045"/>
                    </a:cubicBezTo>
                    <a:cubicBezTo>
                      <a:pt x="50313" y="84486"/>
                      <a:pt x="54462" y="84486"/>
                      <a:pt x="57021" y="87045"/>
                    </a:cubicBezTo>
                    <a:lnTo>
                      <a:pt x="72033" y="102066"/>
                    </a:lnTo>
                    <a:lnTo>
                      <a:pt x="113239" y="60851"/>
                    </a:lnTo>
                    <a:cubicBezTo>
                      <a:pt x="114467" y="59622"/>
                      <a:pt x="116134" y="58931"/>
                      <a:pt x="117872" y="58931"/>
                    </a:cubicBezTo>
                    <a:cubicBezTo>
                      <a:pt x="119610" y="58931"/>
                      <a:pt x="121277" y="59622"/>
                      <a:pt x="122505" y="60851"/>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1E7B45"/>
              </a:solidFill>
              <a:ln>
                <a:noFill/>
              </a:ln>
            </p:spPr>
          </p:sp>
        </p:grpSp>
        <p:sp>
          <p:nvSpPr>
            <p:cNvPr id="169" name="TextBox 169"/>
            <p:cNvSpPr txBox="1"/>
            <p:nvPr/>
          </p:nvSpPr>
          <p:spPr>
            <a:xfrm>
              <a:off x="10129838" y="4932045"/>
              <a:ext cx="875005" cy="176212"/>
            </a:xfrm>
            <a:prstGeom prst="rect">
              <a:avLst/>
            </a:prstGeom>
            <a:noFill/>
            <a:ln>
              <a:noFill/>
            </a:ln>
          </p:spPr>
          <p:txBody>
            <a:bodyPr wrap="none" lIns="0" tIns="0" rIns="0" bIns="0" anchor="t" anchorCtr="0">
              <a:spAutoFit/>
            </a:bodyPr>
            <a:lstStyle/>
            <a:p>
              <a:pPr algn="l"/>
              <a:r>
                <a:rPr lang="en-IN" sz="900" dirty="0">
                  <a:solidFill>
                    <a:srgbClr val="344054"/>
                  </a:solidFill>
                  <a:latin typeface="Calibri"/>
                  <a:ea typeface="Calibri"/>
                  <a:cs typeface="Calibri"/>
                </a:rPr>
                <a:t>evidence + clause</a:t>
              </a:r>
            </a:p>
          </p:txBody>
        </p:sp>
        <p:grpSp>
          <p:nvGrpSpPr>
            <p:cNvPr id="172" name="Group 172"/>
            <p:cNvGrpSpPr/>
            <p:nvPr/>
          </p:nvGrpSpPr>
          <p:grpSpPr>
            <a:xfrm>
              <a:off x="5841206" y="5332809"/>
              <a:ext cx="166688" cy="136922"/>
              <a:chOff x="5841206" y="5332809"/>
              <a:chExt cx="166688" cy="136922"/>
            </a:xfrm>
          </p:grpSpPr>
          <p:sp>
            <p:nvSpPr>
              <p:cNvPr id="170" name="Freeform 170"/>
              <p:cNvSpPr/>
              <p:nvPr/>
            </p:nvSpPr>
            <p:spPr>
              <a:xfrm>
                <a:off x="5859057" y="5353132"/>
                <a:ext cx="130986" cy="80881"/>
              </a:xfrm>
              <a:custGeom>
                <a:avLst/>
                <a:gdLst/>
                <a:ahLst/>
                <a:cxnLst/>
                <a:rect l="l" t="t" r="r" b="b"/>
                <a:pathLst>
                  <a:path w="130986" h="80881">
                    <a:moveTo>
                      <a:pt x="47634" y="0"/>
                    </a:moveTo>
                    <a:lnTo>
                      <a:pt x="47634" y="80881"/>
                    </a:lnTo>
                    <a:lnTo>
                      <a:pt x="9" y="80881"/>
                    </a:lnTo>
                    <a:lnTo>
                      <a:pt x="9" y="63021"/>
                    </a:lnTo>
                    <a:cubicBezTo>
                      <a:pt x="0" y="33726"/>
                      <a:pt x="19449" y="7990"/>
                      <a:pt x="47634" y="0"/>
                    </a:cubicBezTo>
                    <a:close/>
                    <a:moveTo>
                      <a:pt x="83352" y="0"/>
                    </a:moveTo>
                    <a:lnTo>
                      <a:pt x="83352" y="80881"/>
                    </a:lnTo>
                    <a:lnTo>
                      <a:pt x="130977" y="80881"/>
                    </a:lnTo>
                    <a:lnTo>
                      <a:pt x="130977" y="63021"/>
                    </a:lnTo>
                    <a:cubicBezTo>
                      <a:pt x="130986" y="33726"/>
                      <a:pt x="111537" y="7990"/>
                      <a:pt x="83352" y="0"/>
                    </a:cubicBezTo>
                    <a:close/>
                  </a:path>
                </a:pathLst>
              </a:custGeom>
              <a:solidFill>
                <a:srgbClr val="0B3D6E">
                  <a:alpha val="20000"/>
                </a:srgbClr>
              </a:solidFill>
              <a:ln>
                <a:noFill/>
              </a:ln>
            </p:spPr>
          </p:sp>
          <p:sp>
            <p:nvSpPr>
              <p:cNvPr id="171" name="Freeform 171"/>
              <p:cNvSpPr/>
              <p:nvPr/>
            </p:nvSpPr>
            <p:spPr>
              <a:xfrm>
                <a:off x="5841206" y="5332809"/>
                <a:ext cx="166688" cy="136922"/>
              </a:xfrm>
              <a:custGeom>
                <a:avLst/>
                <a:gdLst/>
                <a:ahLst/>
                <a:cxnLst/>
                <a:rect l="l" t="t" r="r" b="b"/>
                <a:pathLst>
                  <a:path w="166688" h="136922">
                    <a:moveTo>
                      <a:pt x="154781" y="95250"/>
                    </a:moveTo>
                    <a:lnTo>
                      <a:pt x="154781" y="83344"/>
                    </a:lnTo>
                    <a:cubicBezTo>
                      <a:pt x="154699" y="53096"/>
                      <a:pt x="135647" y="26152"/>
                      <a:pt x="107156" y="15992"/>
                    </a:cubicBezTo>
                    <a:lnTo>
                      <a:pt x="107156" y="11906"/>
                    </a:lnTo>
                    <a:cubicBezTo>
                      <a:pt x="107156" y="5331"/>
                      <a:pt x="101826" y="0"/>
                      <a:pt x="95250" y="0"/>
                    </a:cubicBezTo>
                    <a:lnTo>
                      <a:pt x="71438" y="0"/>
                    </a:lnTo>
                    <a:cubicBezTo>
                      <a:pt x="64862" y="0"/>
                      <a:pt x="59531" y="5331"/>
                      <a:pt x="59531" y="11906"/>
                    </a:cubicBezTo>
                    <a:lnTo>
                      <a:pt x="59531" y="15992"/>
                    </a:lnTo>
                    <a:cubicBezTo>
                      <a:pt x="31041" y="26152"/>
                      <a:pt x="11988" y="53096"/>
                      <a:pt x="11906" y="83344"/>
                    </a:cubicBezTo>
                    <a:lnTo>
                      <a:pt x="11906" y="95250"/>
                    </a:lnTo>
                    <a:cubicBezTo>
                      <a:pt x="5331" y="95250"/>
                      <a:pt x="0" y="100581"/>
                      <a:pt x="0" y="107156"/>
                    </a:cubicBezTo>
                    <a:lnTo>
                      <a:pt x="0" y="125016"/>
                    </a:lnTo>
                    <a:cubicBezTo>
                      <a:pt x="0" y="131591"/>
                      <a:pt x="5331" y="136922"/>
                      <a:pt x="11906" y="136922"/>
                    </a:cubicBezTo>
                    <a:lnTo>
                      <a:pt x="154781" y="136922"/>
                    </a:lnTo>
                    <a:cubicBezTo>
                      <a:pt x="161357" y="136922"/>
                      <a:pt x="166688" y="131591"/>
                      <a:pt x="166688" y="125016"/>
                    </a:cubicBezTo>
                    <a:lnTo>
                      <a:pt x="166688" y="107156"/>
                    </a:lnTo>
                    <a:cubicBezTo>
                      <a:pt x="166688" y="100581"/>
                      <a:pt x="161357" y="95250"/>
                      <a:pt x="154781" y="95250"/>
                    </a:cubicBezTo>
                    <a:close/>
                    <a:moveTo>
                      <a:pt x="142875" y="83344"/>
                    </a:moveTo>
                    <a:lnTo>
                      <a:pt x="142875" y="95250"/>
                    </a:lnTo>
                    <a:lnTo>
                      <a:pt x="107156" y="95250"/>
                    </a:lnTo>
                    <a:lnTo>
                      <a:pt x="107156" y="28776"/>
                    </a:lnTo>
                    <a:cubicBezTo>
                      <a:pt x="128806" y="38300"/>
                      <a:pt x="142808" y="59691"/>
                      <a:pt x="142875" y="83344"/>
                    </a:cubicBezTo>
                    <a:close/>
                    <a:moveTo>
                      <a:pt x="95250" y="11906"/>
                    </a:moveTo>
                    <a:lnTo>
                      <a:pt x="95250" y="95250"/>
                    </a:lnTo>
                    <a:lnTo>
                      <a:pt x="71438" y="95250"/>
                    </a:lnTo>
                    <a:lnTo>
                      <a:pt x="71438" y="11906"/>
                    </a:lnTo>
                    <a:close/>
                    <a:moveTo>
                      <a:pt x="23812" y="83344"/>
                    </a:moveTo>
                    <a:cubicBezTo>
                      <a:pt x="23879" y="59691"/>
                      <a:pt x="37881" y="38300"/>
                      <a:pt x="59531" y="28776"/>
                    </a:cubicBezTo>
                    <a:lnTo>
                      <a:pt x="59531" y="95250"/>
                    </a:lnTo>
                    <a:lnTo>
                      <a:pt x="23812" y="95250"/>
                    </a:lnTo>
                    <a:close/>
                    <a:moveTo>
                      <a:pt x="154781" y="125016"/>
                    </a:moveTo>
                    <a:lnTo>
                      <a:pt x="11906" y="125016"/>
                    </a:lnTo>
                    <a:lnTo>
                      <a:pt x="11906" y="107156"/>
                    </a:lnTo>
                    <a:lnTo>
                      <a:pt x="154781" y="107156"/>
                    </a:lnTo>
                    <a:lnTo>
                      <a:pt x="154781" y="125016"/>
                    </a:lnTo>
                    <a:close/>
                  </a:path>
                </a:pathLst>
              </a:custGeom>
              <a:solidFill>
                <a:srgbClr val="0B3D6E"/>
              </a:solidFill>
              <a:ln>
                <a:noFill/>
              </a:ln>
            </p:spPr>
          </p:sp>
        </p:grpSp>
        <p:sp>
          <p:nvSpPr>
            <p:cNvPr id="173" name="TextBox 173"/>
            <p:cNvSpPr txBox="1"/>
            <p:nvPr/>
          </p:nvSpPr>
          <p:spPr>
            <a:xfrm>
              <a:off x="6072188" y="5356622"/>
              <a:ext cx="1142509" cy="183356"/>
            </a:xfrm>
            <a:prstGeom prst="rect">
              <a:avLst/>
            </a:prstGeom>
            <a:noFill/>
            <a:ln>
              <a:noFill/>
            </a:ln>
          </p:spPr>
          <p:txBody>
            <a:bodyPr wrap="none" lIns="0" tIns="0" rIns="0" bIns="0" anchor="t" anchorCtr="0">
              <a:spAutoFit/>
            </a:bodyPr>
            <a:lstStyle/>
            <a:p>
              <a:pPr algn="l"/>
              <a:r>
                <a:rPr lang="en-IN" sz="940" b="1" dirty="0">
                  <a:solidFill>
                    <a:srgbClr val="1D2939"/>
                  </a:solidFill>
                  <a:latin typeface="Calibri"/>
                  <a:ea typeface="Calibri"/>
                  <a:cs typeface="Calibri"/>
                </a:rPr>
                <a:t>Progress from photos</a:t>
              </a:r>
            </a:p>
          </p:txBody>
        </p:sp>
        <p:grpSp>
          <p:nvGrpSpPr>
            <p:cNvPr id="176" name="Group 176"/>
            <p:cNvGrpSpPr/>
            <p:nvPr/>
          </p:nvGrpSpPr>
          <p:grpSpPr>
            <a:xfrm>
              <a:off x="7734895" y="5325070"/>
              <a:ext cx="170259" cy="170259"/>
              <a:chOff x="7734895" y="5325070"/>
              <a:chExt cx="170259" cy="170259"/>
            </a:xfrm>
          </p:grpSpPr>
          <p:sp>
            <p:nvSpPr>
              <p:cNvPr id="174" name="Freeform 174"/>
              <p:cNvSpPr/>
              <p:nvPr/>
            </p:nvSpPr>
            <p:spPr>
              <a:xfrm>
                <a:off x="7741444" y="5331619"/>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98A2B3">
                  <a:alpha val="20000"/>
                </a:srgbClr>
              </a:solidFill>
              <a:ln>
                <a:noFill/>
              </a:ln>
            </p:spPr>
          </p:sp>
          <p:sp>
            <p:nvSpPr>
              <p:cNvPr id="175" name="Freeform 175"/>
              <p:cNvSpPr/>
              <p:nvPr/>
            </p:nvSpPr>
            <p:spPr>
              <a:xfrm>
                <a:off x="7734895" y="5325070"/>
                <a:ext cx="170259" cy="170259"/>
              </a:xfrm>
              <a:custGeom>
                <a:avLst/>
                <a:gdLst/>
                <a:ahLst/>
                <a:cxnLst/>
                <a:rect l="l" t="t" r="r" b="b"/>
                <a:pathLst>
                  <a:path w="170259" h="170259">
                    <a:moveTo>
                      <a:pt x="115956" y="63569"/>
                    </a:moveTo>
                    <a:lnTo>
                      <a:pt x="94388" y="85130"/>
                    </a:lnTo>
                    <a:lnTo>
                      <a:pt x="115956" y="106690"/>
                    </a:lnTo>
                    <a:cubicBezTo>
                      <a:pt x="118515" y="109249"/>
                      <a:pt x="118515" y="113398"/>
                      <a:pt x="115956" y="115956"/>
                    </a:cubicBezTo>
                    <a:cubicBezTo>
                      <a:pt x="113398" y="118515"/>
                      <a:pt x="109249" y="118515"/>
                      <a:pt x="106690" y="115956"/>
                    </a:cubicBezTo>
                    <a:lnTo>
                      <a:pt x="85130" y="94388"/>
                    </a:lnTo>
                    <a:lnTo>
                      <a:pt x="63569" y="115956"/>
                    </a:lnTo>
                    <a:cubicBezTo>
                      <a:pt x="61010" y="118515"/>
                      <a:pt x="56862" y="118515"/>
                      <a:pt x="54303" y="115956"/>
                    </a:cubicBezTo>
                    <a:cubicBezTo>
                      <a:pt x="51744" y="113398"/>
                      <a:pt x="51744" y="109249"/>
                      <a:pt x="54303" y="106690"/>
                    </a:cubicBezTo>
                    <a:lnTo>
                      <a:pt x="75872" y="85130"/>
                    </a:lnTo>
                    <a:lnTo>
                      <a:pt x="54303" y="63569"/>
                    </a:lnTo>
                    <a:cubicBezTo>
                      <a:pt x="51744" y="61010"/>
                      <a:pt x="51744" y="56862"/>
                      <a:pt x="54303" y="54303"/>
                    </a:cubicBezTo>
                    <a:cubicBezTo>
                      <a:pt x="56862" y="51744"/>
                      <a:pt x="61010" y="51744"/>
                      <a:pt x="63569" y="54303"/>
                    </a:cubicBezTo>
                    <a:lnTo>
                      <a:pt x="85130" y="75872"/>
                    </a:lnTo>
                    <a:lnTo>
                      <a:pt x="106690" y="54303"/>
                    </a:lnTo>
                    <a:cubicBezTo>
                      <a:pt x="109249" y="51744"/>
                      <a:pt x="113398" y="51744"/>
                      <a:pt x="115956" y="54303"/>
                    </a:cubicBezTo>
                    <a:cubicBezTo>
                      <a:pt x="118515" y="56862"/>
                      <a:pt x="118515" y="61010"/>
                      <a:pt x="115956" y="63569"/>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98A2B3"/>
              </a:solidFill>
              <a:ln>
                <a:noFill/>
              </a:ln>
            </p:spPr>
          </p:sp>
        </p:grpSp>
        <p:sp>
          <p:nvSpPr>
            <p:cNvPr id="177" name="TextBox 177"/>
            <p:cNvSpPr txBox="1"/>
            <p:nvPr/>
          </p:nvSpPr>
          <p:spPr>
            <a:xfrm>
              <a:off x="7996238" y="5360670"/>
              <a:ext cx="763661" cy="176212"/>
            </a:xfrm>
            <a:prstGeom prst="rect">
              <a:avLst/>
            </a:prstGeom>
            <a:noFill/>
            <a:ln>
              <a:noFill/>
            </a:ln>
          </p:spPr>
          <p:txBody>
            <a:bodyPr wrap="none" lIns="0" tIns="0" rIns="0" bIns="0" anchor="t" anchorCtr="0">
              <a:spAutoFit/>
            </a:bodyPr>
            <a:lstStyle/>
            <a:p>
              <a:pPr algn="l"/>
              <a:r>
                <a:rPr lang="en-IN" sz="900" dirty="0">
                  <a:solidFill>
                    <a:srgbClr val="667085"/>
                  </a:solidFill>
                  <a:latin typeface="Calibri"/>
                  <a:ea typeface="Calibri"/>
                  <a:cs typeface="Calibri"/>
                </a:rPr>
                <a:t>checked by eye</a:t>
              </a:r>
            </a:p>
          </p:txBody>
        </p:sp>
        <p:grpSp>
          <p:nvGrpSpPr>
            <p:cNvPr id="180" name="Group 180"/>
            <p:cNvGrpSpPr/>
            <p:nvPr/>
          </p:nvGrpSpPr>
          <p:grpSpPr>
            <a:xfrm>
              <a:off x="9868495" y="5325070"/>
              <a:ext cx="170259" cy="170259"/>
              <a:chOff x="9868495" y="5325070"/>
              <a:chExt cx="170259" cy="170259"/>
            </a:xfrm>
          </p:grpSpPr>
          <p:sp>
            <p:nvSpPr>
              <p:cNvPr id="178" name="Freeform 178"/>
              <p:cNvSpPr/>
              <p:nvPr/>
            </p:nvSpPr>
            <p:spPr>
              <a:xfrm>
                <a:off x="9875044" y="5331619"/>
                <a:ext cx="157162" cy="157162"/>
              </a:xfrm>
              <a:custGeom>
                <a:avLst/>
                <a:gdLst/>
                <a:ahLst/>
                <a:cxnLst/>
                <a:rect l="l" t="t" r="r" b="b"/>
                <a:pathLst>
                  <a:path w="157162" h="157162">
                    <a:moveTo>
                      <a:pt x="157162" y="78581"/>
                    </a:moveTo>
                    <a:cubicBezTo>
                      <a:pt x="157162" y="121980"/>
                      <a:pt x="121980" y="157162"/>
                      <a:pt x="78581" y="157162"/>
                    </a:cubicBezTo>
                    <a:cubicBezTo>
                      <a:pt x="35182" y="157162"/>
                      <a:pt x="0" y="121980"/>
                      <a:pt x="0" y="78581"/>
                    </a:cubicBezTo>
                    <a:cubicBezTo>
                      <a:pt x="0" y="35182"/>
                      <a:pt x="35182" y="0"/>
                      <a:pt x="78581" y="0"/>
                    </a:cubicBezTo>
                    <a:cubicBezTo>
                      <a:pt x="121980" y="0"/>
                      <a:pt x="157162" y="35182"/>
                      <a:pt x="157162" y="78581"/>
                    </a:cubicBezTo>
                    <a:close/>
                  </a:path>
                </a:pathLst>
              </a:custGeom>
              <a:solidFill>
                <a:srgbClr val="E8871E">
                  <a:alpha val="20000"/>
                </a:srgbClr>
              </a:solidFill>
              <a:ln>
                <a:noFill/>
              </a:ln>
            </p:spPr>
          </p:sp>
          <p:sp>
            <p:nvSpPr>
              <p:cNvPr id="179" name="Freeform 179"/>
              <p:cNvSpPr/>
              <p:nvPr/>
            </p:nvSpPr>
            <p:spPr>
              <a:xfrm>
                <a:off x="9868495" y="5325070"/>
                <a:ext cx="170259" cy="170259"/>
              </a:xfrm>
              <a:custGeom>
                <a:avLst/>
                <a:gdLst/>
                <a:ahLst/>
                <a:cxnLst/>
                <a:rect l="l" t="t" r="r" b="b"/>
                <a:pathLst>
                  <a:path w="170259" h="170259">
                    <a:moveTo>
                      <a:pt x="124420" y="85130"/>
                    </a:moveTo>
                    <a:cubicBezTo>
                      <a:pt x="124420" y="88746"/>
                      <a:pt x="121488" y="91678"/>
                      <a:pt x="117872" y="91678"/>
                    </a:cubicBezTo>
                    <a:lnTo>
                      <a:pt x="52388" y="91678"/>
                    </a:lnTo>
                    <a:cubicBezTo>
                      <a:pt x="48771" y="91678"/>
                      <a:pt x="45839" y="88746"/>
                      <a:pt x="45839" y="85130"/>
                    </a:cubicBezTo>
                    <a:cubicBezTo>
                      <a:pt x="45839" y="81513"/>
                      <a:pt x="48771" y="78581"/>
                      <a:pt x="52388" y="78581"/>
                    </a:cubicBezTo>
                    <a:lnTo>
                      <a:pt x="117872" y="78581"/>
                    </a:lnTo>
                    <a:cubicBezTo>
                      <a:pt x="121488" y="78581"/>
                      <a:pt x="124420" y="81513"/>
                      <a:pt x="124420" y="85130"/>
                    </a:cubicBezTo>
                    <a:close/>
                    <a:moveTo>
                      <a:pt x="170259" y="85130"/>
                    </a:moveTo>
                    <a:cubicBezTo>
                      <a:pt x="170259" y="132146"/>
                      <a:pt x="132146" y="170259"/>
                      <a:pt x="85130" y="170259"/>
                    </a:cubicBezTo>
                    <a:cubicBezTo>
                      <a:pt x="38114" y="170259"/>
                      <a:pt x="0" y="132146"/>
                      <a:pt x="0" y="85130"/>
                    </a:cubicBezTo>
                    <a:cubicBezTo>
                      <a:pt x="0" y="38114"/>
                      <a:pt x="38114" y="0"/>
                      <a:pt x="85130" y="0"/>
                    </a:cubicBezTo>
                    <a:cubicBezTo>
                      <a:pt x="132125" y="50"/>
                      <a:pt x="170210" y="38134"/>
                      <a:pt x="170259" y="85130"/>
                    </a:cubicBezTo>
                    <a:close/>
                    <a:moveTo>
                      <a:pt x="157162" y="85130"/>
                    </a:moveTo>
                    <a:cubicBezTo>
                      <a:pt x="157162" y="45347"/>
                      <a:pt x="124912" y="13097"/>
                      <a:pt x="85130" y="13097"/>
                    </a:cubicBezTo>
                    <a:cubicBezTo>
                      <a:pt x="45347" y="13097"/>
                      <a:pt x="13097" y="45347"/>
                      <a:pt x="13097" y="85130"/>
                    </a:cubicBezTo>
                    <a:cubicBezTo>
                      <a:pt x="13097" y="124912"/>
                      <a:pt x="45347" y="157162"/>
                      <a:pt x="85130" y="157162"/>
                    </a:cubicBezTo>
                    <a:cubicBezTo>
                      <a:pt x="124894" y="157117"/>
                      <a:pt x="157117" y="124894"/>
                      <a:pt x="157162" y="85130"/>
                    </a:cubicBezTo>
                    <a:close/>
                  </a:path>
                </a:pathLst>
              </a:custGeom>
              <a:solidFill>
                <a:srgbClr val="E8871E"/>
              </a:solidFill>
              <a:ln>
                <a:noFill/>
              </a:ln>
            </p:spPr>
          </p:sp>
        </p:grpSp>
        <p:sp>
          <p:nvSpPr>
            <p:cNvPr id="181" name="TextBox 181"/>
            <p:cNvSpPr txBox="1"/>
            <p:nvPr/>
          </p:nvSpPr>
          <p:spPr>
            <a:xfrm>
              <a:off x="10129838" y="5360670"/>
              <a:ext cx="887775" cy="176212"/>
            </a:xfrm>
            <a:prstGeom prst="rect">
              <a:avLst/>
            </a:prstGeom>
            <a:noFill/>
            <a:ln>
              <a:noFill/>
            </a:ln>
          </p:spPr>
          <p:txBody>
            <a:bodyPr wrap="none" lIns="0" tIns="0" rIns="0" bIns="0" anchor="t" anchorCtr="0">
              <a:spAutoFit/>
            </a:bodyPr>
            <a:lstStyle/>
            <a:p>
              <a:pPr algn="l"/>
              <a:r>
                <a:rPr lang="en-IN" sz="900" dirty="0">
                  <a:solidFill>
                    <a:srgbClr val="344054"/>
                  </a:solidFill>
                  <a:latin typeface="Calibri"/>
                  <a:ea typeface="Calibri"/>
                  <a:cs typeface="Calibri"/>
                </a:rPr>
                <a:t>planned, AI vision</a:t>
              </a:r>
            </a:p>
          </p:txBody>
        </p:sp>
        <p:sp>
          <p:nvSpPr>
            <p:cNvPr id="182" name="Line 182"/>
            <p:cNvSpPr/>
            <p:nvPr/>
          </p:nvSpPr>
          <p:spPr>
            <a:xfrm>
              <a:off x="5753100" y="5629275"/>
              <a:ext cx="6134100" cy="9525"/>
            </a:xfrm>
            <a:custGeom>
              <a:avLst/>
              <a:gdLst/>
              <a:ahLst/>
              <a:cxnLst/>
              <a:rect l="l" t="t" r="r" b="b"/>
              <a:pathLst>
                <a:path w="6134100" h="9525">
                  <a:moveTo>
                    <a:pt x="0" y="0"/>
                  </a:moveTo>
                  <a:lnTo>
                    <a:pt x="6134100" y="0"/>
                  </a:lnTo>
                </a:path>
              </a:pathLst>
            </a:custGeom>
            <a:noFill/>
            <a:ln w="9525">
              <a:solidFill>
                <a:srgbClr val="D0D5DD"/>
              </a:solidFill>
            </a:ln>
          </p:spPr>
        </p:sp>
        <p:sp>
          <p:nvSpPr>
            <p:cNvPr id="183" name="Line 183"/>
            <p:cNvSpPr/>
            <p:nvPr/>
          </p:nvSpPr>
          <p:spPr>
            <a:xfrm>
              <a:off x="7620000" y="1504950"/>
              <a:ext cx="9525" cy="4124325"/>
            </a:xfrm>
            <a:custGeom>
              <a:avLst/>
              <a:gdLst/>
              <a:ahLst/>
              <a:cxnLst/>
              <a:rect l="l" t="t" r="r" b="b"/>
              <a:pathLst>
                <a:path w="9525" h="4124325">
                  <a:moveTo>
                    <a:pt x="0" y="0"/>
                  </a:moveTo>
                  <a:lnTo>
                    <a:pt x="0" y="4124325"/>
                  </a:lnTo>
                </a:path>
              </a:pathLst>
            </a:custGeom>
            <a:noFill/>
            <a:ln w="9525">
              <a:solidFill>
                <a:srgbClr val="D0D5DD"/>
              </a:solidFill>
            </a:ln>
          </p:spPr>
        </p:sp>
        <p:sp>
          <p:nvSpPr>
            <p:cNvPr id="184" name="Line 184"/>
            <p:cNvSpPr/>
            <p:nvPr/>
          </p:nvSpPr>
          <p:spPr>
            <a:xfrm>
              <a:off x="9753600" y="1504950"/>
              <a:ext cx="9525" cy="4124325"/>
            </a:xfrm>
            <a:custGeom>
              <a:avLst/>
              <a:gdLst/>
              <a:ahLst/>
              <a:cxnLst/>
              <a:rect l="l" t="t" r="r" b="b"/>
              <a:pathLst>
                <a:path w="9525" h="4124325">
                  <a:moveTo>
                    <a:pt x="0" y="0"/>
                  </a:moveTo>
                  <a:lnTo>
                    <a:pt x="0" y="4124325"/>
                  </a:lnTo>
                </a:path>
              </a:pathLst>
            </a:custGeom>
            <a:noFill/>
            <a:ln w="9525">
              <a:solidFill>
                <a:srgbClr val="D0D5DD"/>
              </a:solidFill>
            </a:ln>
          </p:spPr>
        </p:sp>
        <p:grpSp>
          <p:nvGrpSpPr>
            <p:cNvPr id="187" name="Group 187"/>
            <p:cNvGrpSpPr/>
            <p:nvPr/>
          </p:nvGrpSpPr>
          <p:grpSpPr>
            <a:xfrm>
              <a:off x="5765602" y="5708452"/>
              <a:ext cx="108347" cy="108347"/>
              <a:chOff x="5765602" y="5708452"/>
              <a:chExt cx="108347" cy="108347"/>
            </a:xfrm>
          </p:grpSpPr>
          <p:sp>
            <p:nvSpPr>
              <p:cNvPr id="185" name="Freeform 185"/>
              <p:cNvSpPr/>
              <p:nvPr/>
            </p:nvSpPr>
            <p:spPr>
              <a:xfrm>
                <a:off x="5769769" y="5712619"/>
                <a:ext cx="100012" cy="100012"/>
              </a:xfrm>
              <a:custGeom>
                <a:avLst/>
                <a:gdLst/>
                <a:ahLst/>
                <a:cxnLst/>
                <a:rect l="l" t="t" r="r" b="b"/>
                <a:pathLst>
                  <a:path w="100012" h="100012">
                    <a:moveTo>
                      <a:pt x="100012" y="50006"/>
                    </a:moveTo>
                    <a:cubicBezTo>
                      <a:pt x="100012" y="77624"/>
                      <a:pt x="77624" y="100012"/>
                      <a:pt x="50006" y="100012"/>
                    </a:cubicBezTo>
                    <a:cubicBezTo>
                      <a:pt x="22389" y="100012"/>
                      <a:pt x="0" y="77624"/>
                      <a:pt x="0" y="50006"/>
                    </a:cubicBezTo>
                    <a:cubicBezTo>
                      <a:pt x="0" y="22389"/>
                      <a:pt x="22389" y="0"/>
                      <a:pt x="50006" y="0"/>
                    </a:cubicBezTo>
                    <a:cubicBezTo>
                      <a:pt x="77624" y="0"/>
                      <a:pt x="100012" y="22389"/>
                      <a:pt x="100012" y="50006"/>
                    </a:cubicBezTo>
                    <a:close/>
                  </a:path>
                </a:pathLst>
              </a:custGeom>
              <a:solidFill>
                <a:srgbClr val="1E7B45">
                  <a:alpha val="20000"/>
                </a:srgbClr>
              </a:solidFill>
              <a:ln>
                <a:noFill/>
              </a:ln>
            </p:spPr>
          </p:sp>
          <p:sp>
            <p:nvSpPr>
              <p:cNvPr id="186" name="Freeform 186"/>
              <p:cNvSpPr/>
              <p:nvPr/>
            </p:nvSpPr>
            <p:spPr>
              <a:xfrm>
                <a:off x="5765602" y="5708452"/>
                <a:ext cx="108347" cy="108347"/>
              </a:xfrm>
              <a:custGeom>
                <a:avLst/>
                <a:gdLst/>
                <a:ahLst/>
                <a:cxnLst/>
                <a:rect l="l" t="t" r="r" b="b"/>
                <a:pathLst>
                  <a:path w="108347" h="108347">
                    <a:moveTo>
                      <a:pt x="77958" y="38724"/>
                    </a:moveTo>
                    <a:cubicBezTo>
                      <a:pt x="78740" y="39505"/>
                      <a:pt x="79180" y="40566"/>
                      <a:pt x="79180" y="41672"/>
                    </a:cubicBezTo>
                    <a:cubicBezTo>
                      <a:pt x="79180" y="42778"/>
                      <a:pt x="78740" y="43839"/>
                      <a:pt x="77958" y="44620"/>
                    </a:cubicBezTo>
                    <a:lnTo>
                      <a:pt x="48787" y="73790"/>
                    </a:lnTo>
                    <a:cubicBezTo>
                      <a:pt x="48006" y="74573"/>
                      <a:pt x="46945" y="75013"/>
                      <a:pt x="45839" y="75013"/>
                    </a:cubicBezTo>
                    <a:cubicBezTo>
                      <a:pt x="44733" y="75013"/>
                      <a:pt x="43672" y="74573"/>
                      <a:pt x="42891" y="73790"/>
                    </a:cubicBezTo>
                    <a:lnTo>
                      <a:pt x="30389" y="61289"/>
                    </a:lnTo>
                    <a:cubicBezTo>
                      <a:pt x="28761" y="59661"/>
                      <a:pt x="28761" y="57021"/>
                      <a:pt x="30389" y="55392"/>
                    </a:cubicBezTo>
                    <a:cubicBezTo>
                      <a:pt x="32018" y="53764"/>
                      <a:pt x="34657" y="53764"/>
                      <a:pt x="36286" y="55392"/>
                    </a:cubicBezTo>
                    <a:lnTo>
                      <a:pt x="45839" y="64951"/>
                    </a:lnTo>
                    <a:lnTo>
                      <a:pt x="72061" y="38724"/>
                    </a:lnTo>
                    <a:cubicBezTo>
                      <a:pt x="72843" y="37941"/>
                      <a:pt x="73903" y="37501"/>
                      <a:pt x="75009" y="37501"/>
                    </a:cubicBezTo>
                    <a:cubicBezTo>
                      <a:pt x="76115" y="37501"/>
                      <a:pt x="77176" y="37941"/>
                      <a:pt x="77958" y="38724"/>
                    </a:cubicBezTo>
                    <a:close/>
                    <a:moveTo>
                      <a:pt x="108347" y="54173"/>
                    </a:moveTo>
                    <a:cubicBezTo>
                      <a:pt x="108347" y="84093"/>
                      <a:pt x="84093" y="108347"/>
                      <a:pt x="54173" y="108347"/>
                    </a:cubicBezTo>
                    <a:cubicBezTo>
                      <a:pt x="24254" y="108347"/>
                      <a:pt x="0" y="84093"/>
                      <a:pt x="0" y="54173"/>
                    </a:cubicBezTo>
                    <a:cubicBezTo>
                      <a:pt x="0" y="24254"/>
                      <a:pt x="24254" y="0"/>
                      <a:pt x="54173" y="0"/>
                    </a:cubicBezTo>
                    <a:cubicBezTo>
                      <a:pt x="84080" y="32"/>
                      <a:pt x="108315" y="24267"/>
                      <a:pt x="108347" y="54173"/>
                    </a:cubicBezTo>
                    <a:close/>
                    <a:moveTo>
                      <a:pt x="100012" y="54173"/>
                    </a:moveTo>
                    <a:cubicBezTo>
                      <a:pt x="100012" y="28857"/>
                      <a:pt x="79490" y="8334"/>
                      <a:pt x="54173" y="8334"/>
                    </a:cubicBezTo>
                    <a:cubicBezTo>
                      <a:pt x="28857" y="8334"/>
                      <a:pt x="8334" y="28857"/>
                      <a:pt x="8334" y="54173"/>
                    </a:cubicBezTo>
                    <a:cubicBezTo>
                      <a:pt x="8334" y="79490"/>
                      <a:pt x="28857" y="100012"/>
                      <a:pt x="54173" y="100012"/>
                    </a:cubicBezTo>
                    <a:cubicBezTo>
                      <a:pt x="79478" y="99984"/>
                      <a:pt x="99984" y="79478"/>
                      <a:pt x="100012" y="54173"/>
                    </a:cubicBezTo>
                    <a:close/>
                  </a:path>
                </a:pathLst>
              </a:custGeom>
              <a:solidFill>
                <a:srgbClr val="1E7B45"/>
              </a:solidFill>
              <a:ln>
                <a:noFill/>
              </a:ln>
            </p:spPr>
          </p:sp>
        </p:grpSp>
        <p:sp>
          <p:nvSpPr>
            <p:cNvPr id="188" name="TextBox 188"/>
            <p:cNvSpPr txBox="1"/>
            <p:nvPr/>
          </p:nvSpPr>
          <p:spPr>
            <a:xfrm>
              <a:off x="5919788" y="5715714"/>
              <a:ext cx="152172" cy="154781"/>
            </a:xfrm>
            <a:prstGeom prst="rect">
              <a:avLst/>
            </a:prstGeom>
            <a:noFill/>
            <a:ln>
              <a:noFill/>
            </a:ln>
          </p:spPr>
          <p:txBody>
            <a:bodyPr wrap="none" lIns="0" tIns="0" rIns="0" bIns="0" anchor="t" anchorCtr="0">
              <a:spAutoFit/>
            </a:bodyPr>
            <a:lstStyle/>
            <a:p>
              <a:pPr algn="l"/>
              <a:r>
                <a:rPr lang="en-IN" sz="790" dirty="0">
                  <a:solidFill>
                    <a:srgbClr val="667085"/>
                  </a:solidFill>
                  <a:latin typeface="Calibri"/>
                  <a:ea typeface="Calibri"/>
                  <a:cs typeface="Calibri"/>
                </a:rPr>
                <a:t>yes</a:t>
              </a:r>
            </a:p>
          </p:txBody>
        </p:sp>
        <p:grpSp>
          <p:nvGrpSpPr>
            <p:cNvPr id="191" name="Group 191"/>
            <p:cNvGrpSpPr/>
            <p:nvPr/>
          </p:nvGrpSpPr>
          <p:grpSpPr>
            <a:xfrm>
              <a:off x="6241852" y="5708452"/>
              <a:ext cx="108347" cy="108347"/>
              <a:chOff x="6241852" y="5708452"/>
              <a:chExt cx="108347" cy="108347"/>
            </a:xfrm>
          </p:grpSpPr>
          <p:sp>
            <p:nvSpPr>
              <p:cNvPr id="189" name="Freeform 189"/>
              <p:cNvSpPr/>
              <p:nvPr/>
            </p:nvSpPr>
            <p:spPr>
              <a:xfrm>
                <a:off x="6246019" y="5712619"/>
                <a:ext cx="100012" cy="100012"/>
              </a:xfrm>
              <a:custGeom>
                <a:avLst/>
                <a:gdLst/>
                <a:ahLst/>
                <a:cxnLst/>
                <a:rect l="l" t="t" r="r" b="b"/>
                <a:pathLst>
                  <a:path w="100012" h="100012">
                    <a:moveTo>
                      <a:pt x="100012" y="50006"/>
                    </a:moveTo>
                    <a:cubicBezTo>
                      <a:pt x="100012" y="77624"/>
                      <a:pt x="77624" y="100012"/>
                      <a:pt x="50006" y="100012"/>
                    </a:cubicBezTo>
                    <a:cubicBezTo>
                      <a:pt x="22389" y="100012"/>
                      <a:pt x="0" y="77624"/>
                      <a:pt x="0" y="50006"/>
                    </a:cubicBezTo>
                    <a:cubicBezTo>
                      <a:pt x="0" y="22389"/>
                      <a:pt x="22389" y="0"/>
                      <a:pt x="50006" y="0"/>
                    </a:cubicBezTo>
                    <a:cubicBezTo>
                      <a:pt x="77624" y="0"/>
                      <a:pt x="100012" y="22389"/>
                      <a:pt x="100012" y="50006"/>
                    </a:cubicBezTo>
                    <a:close/>
                  </a:path>
                </a:pathLst>
              </a:custGeom>
              <a:solidFill>
                <a:srgbClr val="E8871E">
                  <a:alpha val="20000"/>
                </a:srgbClr>
              </a:solidFill>
              <a:ln>
                <a:noFill/>
              </a:ln>
            </p:spPr>
          </p:sp>
          <p:sp>
            <p:nvSpPr>
              <p:cNvPr id="190" name="Freeform 190"/>
              <p:cNvSpPr/>
              <p:nvPr/>
            </p:nvSpPr>
            <p:spPr>
              <a:xfrm>
                <a:off x="6241852" y="5708452"/>
                <a:ext cx="108347" cy="108347"/>
              </a:xfrm>
              <a:custGeom>
                <a:avLst/>
                <a:gdLst/>
                <a:ahLst/>
                <a:cxnLst/>
                <a:rect l="l" t="t" r="r" b="b"/>
                <a:pathLst>
                  <a:path w="108347" h="108347">
                    <a:moveTo>
                      <a:pt x="79177" y="54173"/>
                    </a:moveTo>
                    <a:cubicBezTo>
                      <a:pt x="79177" y="56475"/>
                      <a:pt x="77311" y="58341"/>
                      <a:pt x="75009" y="58341"/>
                    </a:cubicBezTo>
                    <a:lnTo>
                      <a:pt x="33338" y="58341"/>
                    </a:lnTo>
                    <a:cubicBezTo>
                      <a:pt x="31036" y="58341"/>
                      <a:pt x="29170" y="56475"/>
                      <a:pt x="29170" y="54173"/>
                    </a:cubicBezTo>
                    <a:cubicBezTo>
                      <a:pt x="29170" y="51872"/>
                      <a:pt x="31036" y="50006"/>
                      <a:pt x="33338" y="50006"/>
                    </a:cubicBezTo>
                    <a:lnTo>
                      <a:pt x="75009" y="50006"/>
                    </a:lnTo>
                    <a:cubicBezTo>
                      <a:pt x="77311" y="50006"/>
                      <a:pt x="79177" y="51872"/>
                      <a:pt x="79177" y="54173"/>
                    </a:cubicBezTo>
                    <a:close/>
                    <a:moveTo>
                      <a:pt x="108347" y="54173"/>
                    </a:moveTo>
                    <a:cubicBezTo>
                      <a:pt x="108347" y="84093"/>
                      <a:pt x="84093" y="108347"/>
                      <a:pt x="54173" y="108347"/>
                    </a:cubicBezTo>
                    <a:cubicBezTo>
                      <a:pt x="24254" y="108347"/>
                      <a:pt x="0" y="84093"/>
                      <a:pt x="0" y="54173"/>
                    </a:cubicBezTo>
                    <a:cubicBezTo>
                      <a:pt x="0" y="24254"/>
                      <a:pt x="24254" y="0"/>
                      <a:pt x="54173" y="0"/>
                    </a:cubicBezTo>
                    <a:cubicBezTo>
                      <a:pt x="84080" y="32"/>
                      <a:pt x="108315" y="24267"/>
                      <a:pt x="108347" y="54173"/>
                    </a:cubicBezTo>
                    <a:close/>
                    <a:moveTo>
                      <a:pt x="100012" y="54173"/>
                    </a:moveTo>
                    <a:cubicBezTo>
                      <a:pt x="100012" y="28857"/>
                      <a:pt x="79490" y="8334"/>
                      <a:pt x="54173" y="8334"/>
                    </a:cubicBezTo>
                    <a:cubicBezTo>
                      <a:pt x="28857" y="8334"/>
                      <a:pt x="8334" y="28857"/>
                      <a:pt x="8334" y="54173"/>
                    </a:cubicBezTo>
                    <a:cubicBezTo>
                      <a:pt x="8334" y="79490"/>
                      <a:pt x="28857" y="100012"/>
                      <a:pt x="54173" y="100012"/>
                    </a:cubicBezTo>
                    <a:cubicBezTo>
                      <a:pt x="79478" y="99984"/>
                      <a:pt x="99984" y="79478"/>
                      <a:pt x="100012" y="54173"/>
                    </a:cubicBezTo>
                    <a:close/>
                  </a:path>
                </a:pathLst>
              </a:custGeom>
              <a:solidFill>
                <a:srgbClr val="E8871E"/>
              </a:solidFill>
              <a:ln>
                <a:noFill/>
              </a:ln>
            </p:spPr>
          </p:sp>
        </p:grpSp>
        <p:sp>
          <p:nvSpPr>
            <p:cNvPr id="192" name="TextBox 192"/>
            <p:cNvSpPr txBox="1"/>
            <p:nvPr/>
          </p:nvSpPr>
          <p:spPr>
            <a:xfrm>
              <a:off x="6396038" y="5715714"/>
              <a:ext cx="261585" cy="154781"/>
            </a:xfrm>
            <a:prstGeom prst="rect">
              <a:avLst/>
            </a:prstGeom>
            <a:noFill/>
            <a:ln>
              <a:noFill/>
            </a:ln>
          </p:spPr>
          <p:txBody>
            <a:bodyPr wrap="none" lIns="0" tIns="0" rIns="0" bIns="0" anchor="t" anchorCtr="0">
              <a:spAutoFit/>
            </a:bodyPr>
            <a:lstStyle/>
            <a:p>
              <a:pPr algn="l"/>
              <a:r>
                <a:rPr lang="en-IN" sz="790" dirty="0">
                  <a:solidFill>
                    <a:srgbClr val="667085"/>
                  </a:solidFill>
                  <a:latin typeface="Calibri"/>
                  <a:ea typeface="Calibri"/>
                  <a:cs typeface="Calibri"/>
                </a:rPr>
                <a:t>partly</a:t>
              </a:r>
            </a:p>
          </p:txBody>
        </p:sp>
        <p:grpSp>
          <p:nvGrpSpPr>
            <p:cNvPr id="195" name="Group 195"/>
            <p:cNvGrpSpPr/>
            <p:nvPr/>
          </p:nvGrpSpPr>
          <p:grpSpPr>
            <a:xfrm>
              <a:off x="6851452" y="5708452"/>
              <a:ext cx="108347" cy="108347"/>
              <a:chOff x="6851452" y="5708452"/>
              <a:chExt cx="108347" cy="108347"/>
            </a:xfrm>
          </p:grpSpPr>
          <p:sp>
            <p:nvSpPr>
              <p:cNvPr id="193" name="Freeform 193"/>
              <p:cNvSpPr/>
              <p:nvPr/>
            </p:nvSpPr>
            <p:spPr>
              <a:xfrm>
                <a:off x="6855619" y="5712619"/>
                <a:ext cx="100012" cy="100012"/>
              </a:xfrm>
              <a:custGeom>
                <a:avLst/>
                <a:gdLst/>
                <a:ahLst/>
                <a:cxnLst/>
                <a:rect l="l" t="t" r="r" b="b"/>
                <a:pathLst>
                  <a:path w="100012" h="100012">
                    <a:moveTo>
                      <a:pt x="100012" y="50006"/>
                    </a:moveTo>
                    <a:cubicBezTo>
                      <a:pt x="100012" y="77624"/>
                      <a:pt x="77624" y="100012"/>
                      <a:pt x="50006" y="100012"/>
                    </a:cubicBezTo>
                    <a:cubicBezTo>
                      <a:pt x="22389" y="100012"/>
                      <a:pt x="0" y="77624"/>
                      <a:pt x="0" y="50006"/>
                    </a:cubicBezTo>
                    <a:cubicBezTo>
                      <a:pt x="0" y="22389"/>
                      <a:pt x="22389" y="0"/>
                      <a:pt x="50006" y="0"/>
                    </a:cubicBezTo>
                    <a:cubicBezTo>
                      <a:pt x="77624" y="0"/>
                      <a:pt x="100012" y="22389"/>
                      <a:pt x="100012" y="50006"/>
                    </a:cubicBezTo>
                    <a:close/>
                  </a:path>
                </a:pathLst>
              </a:custGeom>
              <a:solidFill>
                <a:srgbClr val="98A2B3">
                  <a:alpha val="20000"/>
                </a:srgbClr>
              </a:solidFill>
              <a:ln>
                <a:noFill/>
              </a:ln>
            </p:spPr>
          </p:sp>
          <p:sp>
            <p:nvSpPr>
              <p:cNvPr id="194" name="Freeform 194"/>
              <p:cNvSpPr/>
              <p:nvPr/>
            </p:nvSpPr>
            <p:spPr>
              <a:xfrm>
                <a:off x="6851452" y="5708452"/>
                <a:ext cx="108347" cy="108347"/>
              </a:xfrm>
              <a:custGeom>
                <a:avLst/>
                <a:gdLst/>
                <a:ahLst/>
                <a:cxnLst/>
                <a:rect l="l" t="t" r="r" b="b"/>
                <a:pathLst>
                  <a:path w="108347" h="108347">
                    <a:moveTo>
                      <a:pt x="73790" y="40453"/>
                    </a:moveTo>
                    <a:lnTo>
                      <a:pt x="60065" y="54173"/>
                    </a:lnTo>
                    <a:lnTo>
                      <a:pt x="73790" y="67894"/>
                    </a:lnTo>
                    <a:cubicBezTo>
                      <a:pt x="75419" y="69522"/>
                      <a:pt x="75419" y="72162"/>
                      <a:pt x="73790" y="73790"/>
                    </a:cubicBezTo>
                    <a:cubicBezTo>
                      <a:pt x="72162" y="75419"/>
                      <a:pt x="69522" y="75419"/>
                      <a:pt x="67894" y="73790"/>
                    </a:cubicBezTo>
                    <a:lnTo>
                      <a:pt x="54173" y="60065"/>
                    </a:lnTo>
                    <a:lnTo>
                      <a:pt x="40453" y="73790"/>
                    </a:lnTo>
                    <a:cubicBezTo>
                      <a:pt x="38825" y="75419"/>
                      <a:pt x="36185" y="75419"/>
                      <a:pt x="34556" y="73790"/>
                    </a:cubicBezTo>
                    <a:cubicBezTo>
                      <a:pt x="32928" y="72162"/>
                      <a:pt x="32928" y="69522"/>
                      <a:pt x="34556" y="67894"/>
                    </a:cubicBezTo>
                    <a:lnTo>
                      <a:pt x="48282" y="54173"/>
                    </a:lnTo>
                    <a:lnTo>
                      <a:pt x="34556" y="40453"/>
                    </a:lnTo>
                    <a:cubicBezTo>
                      <a:pt x="32928" y="38825"/>
                      <a:pt x="32928" y="36185"/>
                      <a:pt x="34556" y="34556"/>
                    </a:cubicBezTo>
                    <a:cubicBezTo>
                      <a:pt x="36185" y="32928"/>
                      <a:pt x="38825" y="32928"/>
                      <a:pt x="40453" y="34556"/>
                    </a:cubicBezTo>
                    <a:lnTo>
                      <a:pt x="54173" y="48282"/>
                    </a:lnTo>
                    <a:lnTo>
                      <a:pt x="67894" y="34556"/>
                    </a:lnTo>
                    <a:cubicBezTo>
                      <a:pt x="69522" y="32928"/>
                      <a:pt x="72162" y="32928"/>
                      <a:pt x="73790" y="34556"/>
                    </a:cubicBezTo>
                    <a:cubicBezTo>
                      <a:pt x="75419" y="36185"/>
                      <a:pt x="75419" y="38825"/>
                      <a:pt x="73790" y="40453"/>
                    </a:cubicBezTo>
                    <a:close/>
                    <a:moveTo>
                      <a:pt x="108347" y="54173"/>
                    </a:moveTo>
                    <a:cubicBezTo>
                      <a:pt x="108347" y="84093"/>
                      <a:pt x="84093" y="108347"/>
                      <a:pt x="54173" y="108347"/>
                    </a:cubicBezTo>
                    <a:cubicBezTo>
                      <a:pt x="24254" y="108347"/>
                      <a:pt x="0" y="84093"/>
                      <a:pt x="0" y="54173"/>
                    </a:cubicBezTo>
                    <a:cubicBezTo>
                      <a:pt x="0" y="24254"/>
                      <a:pt x="24254" y="0"/>
                      <a:pt x="54173" y="0"/>
                    </a:cubicBezTo>
                    <a:cubicBezTo>
                      <a:pt x="84080" y="32"/>
                      <a:pt x="108315" y="24267"/>
                      <a:pt x="108347" y="54173"/>
                    </a:cubicBezTo>
                    <a:close/>
                    <a:moveTo>
                      <a:pt x="100012" y="54173"/>
                    </a:moveTo>
                    <a:cubicBezTo>
                      <a:pt x="100012" y="28857"/>
                      <a:pt x="79490" y="8334"/>
                      <a:pt x="54173" y="8334"/>
                    </a:cubicBezTo>
                    <a:cubicBezTo>
                      <a:pt x="28857" y="8334"/>
                      <a:pt x="8334" y="28857"/>
                      <a:pt x="8334" y="54173"/>
                    </a:cubicBezTo>
                    <a:cubicBezTo>
                      <a:pt x="8334" y="79490"/>
                      <a:pt x="28857" y="100012"/>
                      <a:pt x="54173" y="100012"/>
                    </a:cubicBezTo>
                    <a:cubicBezTo>
                      <a:pt x="79478" y="99984"/>
                      <a:pt x="99984" y="79478"/>
                      <a:pt x="100012" y="54173"/>
                    </a:cubicBezTo>
                    <a:close/>
                  </a:path>
                </a:pathLst>
              </a:custGeom>
              <a:solidFill>
                <a:srgbClr val="98A2B3"/>
              </a:solidFill>
              <a:ln>
                <a:noFill/>
              </a:ln>
            </p:spPr>
          </p:sp>
        </p:grpSp>
        <p:sp>
          <p:nvSpPr>
            <p:cNvPr id="196" name="TextBox 196"/>
            <p:cNvSpPr txBox="1"/>
            <p:nvPr/>
          </p:nvSpPr>
          <p:spPr>
            <a:xfrm>
              <a:off x="7005638" y="5715714"/>
              <a:ext cx="121479" cy="154781"/>
            </a:xfrm>
            <a:prstGeom prst="rect">
              <a:avLst/>
            </a:prstGeom>
            <a:noFill/>
            <a:ln>
              <a:noFill/>
            </a:ln>
          </p:spPr>
          <p:txBody>
            <a:bodyPr wrap="none" lIns="0" tIns="0" rIns="0" bIns="0" anchor="t" anchorCtr="0">
              <a:spAutoFit/>
            </a:bodyPr>
            <a:lstStyle/>
            <a:p>
              <a:pPr algn="l"/>
              <a:r>
                <a:rPr lang="en-IN" sz="790" dirty="0">
                  <a:solidFill>
                    <a:srgbClr val="667085"/>
                  </a:solidFill>
                  <a:latin typeface="Calibri"/>
                  <a:ea typeface="Calibri"/>
                  <a:cs typeface="Calibri"/>
                </a:rPr>
                <a:t>no</a:t>
              </a:r>
            </a:p>
          </p:txBody>
        </p:sp>
        <p:sp>
          <p:nvSpPr>
            <p:cNvPr id="197" name="TextBox 197"/>
            <p:cNvSpPr txBox="1"/>
            <p:nvPr/>
          </p:nvSpPr>
          <p:spPr>
            <a:xfrm>
              <a:off x="7367588" y="5719762"/>
              <a:ext cx="3239197" cy="147638"/>
            </a:xfrm>
            <a:prstGeom prst="rect">
              <a:avLst/>
            </a:prstGeom>
            <a:noFill/>
            <a:ln>
              <a:noFill/>
            </a:ln>
          </p:spPr>
          <p:txBody>
            <a:bodyPr wrap="none" lIns="0" tIns="0" rIns="0" bIns="0" anchor="t" anchorCtr="0">
              <a:spAutoFit/>
            </a:bodyPr>
            <a:lstStyle/>
            <a:p>
              <a:pPr algn="l"/>
              <a:r>
                <a:rPr lang="en-IN" sz="750" dirty="0">
                  <a:solidFill>
                    <a:srgbClr val="667085"/>
                  </a:solidFill>
                  <a:latin typeface="Calibri"/>
                  <a:ea typeface="Calibri"/>
                  <a:cs typeface="Calibri"/>
                </a:rPr>
                <a:t>*eSAKSHI, PMAY-G AwaasApp, GeoMGNREGA / NMMS, CAG &amp; social audits,</a:t>
              </a:r>
            </a:p>
          </p:txBody>
        </p:sp>
        <p:sp>
          <p:nvSpPr>
            <p:cNvPr id="198" name="TextBox 198"/>
            <p:cNvSpPr txBox="1"/>
            <p:nvPr/>
          </p:nvSpPr>
          <p:spPr>
            <a:xfrm>
              <a:off x="7367588" y="5834062"/>
              <a:ext cx="1880629" cy="147638"/>
            </a:xfrm>
            <a:prstGeom prst="rect">
              <a:avLst/>
            </a:prstGeom>
            <a:noFill/>
            <a:ln>
              <a:noFill/>
            </a:ln>
          </p:spPr>
          <p:txBody>
            <a:bodyPr wrap="none" lIns="0" tIns="0" rIns="0" bIns="0" anchor="t" anchorCtr="0">
              <a:spAutoFit/>
            </a:bodyPr>
            <a:lstStyle/>
            <a:p>
              <a:pPr algn="l"/>
              <a:r>
                <a:rPr lang="en-IN" sz="750" dirty="0">
                  <a:solidFill>
                    <a:srgbClr val="667085"/>
                  </a:solidFill>
                  <a:latin typeface="Calibri"/>
                  <a:ea typeface="Calibri"/>
                  <a:cs typeface="Calibri"/>
                </a:rPr>
                <a:t>as their own public documents describe them</a:t>
              </a:r>
            </a:p>
          </p:txBody>
        </p:sp>
      </p:grpSp>
    </p:spTree>
    <p:extLst>
      <p:ext uri="{BB962C8B-B14F-4D97-AF65-F5344CB8AC3E}">
        <p14:creationId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ns0:Properties xmlns:ns0="http://schemas.openxmlformats.org/officeDocument/2006/extended-properties" xmlns:ns1="http://schemas.openxmlformats.org/officeDocument/2006/docPropsVTypes">
  <ns0:TotalTime>7489</ns0:TotalTime>
  <ns0:Words>325</ns0:Words>
  <ns0:Application>Microsoft Office PowerPoint</ns0:Application>
  <ns0:PresentationFormat>Widescreen</ns0:PresentationFormat>
  <ns0:Paragraphs>62</ns0:Paragraphs>
  <ns0:Slides>6</ns0:Slides>
  <ns0:Notes>6</ns0:Notes>
  <ns0:HiddenSlides>0</ns0:HiddenSlides>
  <ns0:MMClips>0</ns0:MMClips>
  <ns0:ScaleCrop>false</ns0:ScaleCrop>
  <ns0:HeadingPairs>
    <ns1:vector size="6" baseType="variant">
      <ns1:variant>
        <ns1:lpstr>Fonts Used</ns1:lpstr>
      </ns1:variant>
      <ns1:variant>
        <ns1:i4>7</ns1:i4>
      </ns1:variant>
      <ns1:variant>
        <ns1:lpstr>Theme</ns1:lpstr>
      </ns1:variant>
      <ns1:variant>
        <ns1:i4>1</ns1:i4>
      </ns1:variant>
      <ns1:variant>
        <ns1:lpstr>Slide Titles</ns1:lpstr>
      </ns1:variant>
      <ns1:variant>
        <ns1:i4>7</ns1:i4>
      </ns1:variant>
    </ns1:vector>
  </ns0:HeadingPairs>
  <ns0:TitlesOfParts>
    <ns1:vector size="15" baseType="lpstr">
      <ns1:lpstr>ＭＳ Ｐゴシック</ns1:lpstr>
      <ns1:lpstr>Arial</ns1:lpstr>
      <ns1:lpstr>Calibri</ns1:lpstr>
      <ns1:lpstr>Garamond</ns1:lpstr>
      <ns1:lpstr>Times New Roman</ns1:lpstr>
      <ns1:lpstr>TradeGothic</ns1:lpstr>
      <ns1:lpstr>Wingdings</ns1:lpstr>
      <ns1:lpstr>Office Theme</ns1:lpstr>
      <ns1:lpstr>SMART INDIA HACKATHON 2026</ns1:lpstr>
      <ns1:lpstr> IDEA TITLE</ns1:lpstr>
      <ns1:lpstr>TECHNICAL APPROACH</ns1:lpstr>
      <ns1:lpstr>FEASIBILITY AND VIABILITY</ns1:lpstr>
      <ns1:lpstr>IMPACT AND BENEFITS</ns1:lpstr>
      <ns1:lpstr>RESEARCH  AND REFERENCES</ns1:lpstr>
      <ns1:lpstr>PowerPoint Presentation</ns1:lpstr>
    </ns1:vector>
  </ns0:TitlesOfParts>
  <ns0:Manager/>
  <ns0:Company>Crowdfunder, Inc.</ns0:Company>
  <ns0:LinksUpToDate>false</ns0:LinksUpToDate>
  <ns0:SharedDoc>false</ns0:SharedDoc>
  <ns0:HyperlinkBase/>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