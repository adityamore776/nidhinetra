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unchanged from the team's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agents in four stages of a work's life. Each maps to a problem the PS names or a CAG audit found: cost overruns (Cost, Document), duplicate works (Duplicate &amp; Split), delayed projects (Delay Prediction), misuse of funds (Photo Forensics, Geo-Location, Document, Fund Flow, Contractor Network), non-compliance (Eligibility), early warning (Delay Prediction, pre-sanction checks). Satellite runs only for big works (ponds, long roads) and only after it passes a go/no-go test on real works. 45-day window: the team's reading of the MPLADS Guidelines 2023 — confirm against the 2023 text (the 2016 edition says sanction within 75 days, rejection within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order: before sanction (Eligibility, Duplicate &amp; Split, Cost); during construction (Site Progress, Photo Forensics, Geo-Location, Document, Satellite); money &amp; time (Delay Prediction, Fund Flow, Contractor Network); after completion (Citizen Verification). Each agent is tested on held-out real eSAKSHI data and stays switched off until it meets its accuracy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Precedents: PMAY-G releases instalments only on geo-tagged stage photos (3.84 crore house sites geo-tagged by July 2025); Mission Amrit Sarovar monitors 68,000+ ponds with remote sensing (BISAG-N). Data: 2,09,993 works from the public eSAKSHI export are loaded in the prototype; about two-thirds of completed works carry an attachment on eSAKSHI (completion certificates, bills, utilisation certificates, geo-stamped photos). AI cost: an estimate from list prices for a low-cost vision model, not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the real eSAKSHI export in the live prototype (2026-09-26): 2,09,993 works screened; 276 (0.13%) flagged Medium for review (253 on price), none High yet. Date errors from bulk entry when eSAKSHI opened are listed once per office (22 offices) instead of filling the queue. 'Two in three': about two-thirds of completed works carry an attachment on eSAKSHI (65.9% of completed 18th Lok Sabha works in the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Citizen ratings on eSAKSHI are almost all empty (21,789 of 21,793 on completed 18th LS works are zero), so citizen confirmation is a new channel. CAG figures are totals from the annexures of CAG Report No. 31 of 2010-11 (TOTAL rows, sampled districts): Annex 7.2 plaques not erected - 4,918 works in 31 District Authorities (Rs 100.20 crore); Annex 4.7 incomplete works - 12,006 works in 71 DAs, Rs 279.99 crore. The earlier '₹9.16 Cr on 518 works' figure was replaced because it could not be traced to that report; restore it if the team has the source. Outlay ~Rs 4,000 crore: PIB 2027330 (June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3.png"/><Relationship Id="rId6" Type="http://schemas.openxmlformats.org/officeDocument/2006/relationships/image" Target="../media/image-3-6.png"/><Relationship Id="rId7" Type="http://schemas.openxmlformats.org/officeDocument/2006/relationships/image" Target="../media/image-3-3.png"/><Relationship Id="rId8" Type="http://schemas.openxmlformats.org/officeDocument/2006/relationships/image" Target="../media/image-3-8.png"/><Relationship Id="rId9" Type="http://schemas.openxmlformats.org/officeDocument/2006/relationships/image" Target="../media/image-3-3.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slideLayout" Target="../slideLayouts/slideLayout1.xml"/><Relationship Id="rId2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6.png"/><Relationship Id="rId10" Type="http://schemas.openxmlformats.org/officeDocument/2006/relationships/image" Target="../media/image-4-7.png"/><Relationship Id="rId11" Type="http://schemas.openxmlformats.org/officeDocument/2006/relationships/image" Target="../media/image-4-8.png"/><Relationship Id="rId12" Type="http://schemas.openxmlformats.org/officeDocument/2006/relationships/image" Target="../media/image-4-6.png"/><Relationship Id="rId13" Type="http://schemas.openxmlformats.org/officeDocument/2006/relationships/image" Target="../media/image-4-7.png"/><Relationship Id="rId14" Type="http://schemas.openxmlformats.org/officeDocument/2006/relationships/image" Target="../media/image-4-8.png"/><Relationship Id="rId15" Type="http://schemas.openxmlformats.org/officeDocument/2006/relationships/image" Target="../media/image-4-6.png"/><Relationship Id="rId16" Type="http://schemas.openxmlformats.org/officeDocument/2006/relationships/image" Target="../media/image-4-7.png"/><Relationship Id="rId17" Type="http://schemas.openxmlformats.org/officeDocument/2006/relationships/image" Target="../media/image-4-8.png"/><Relationship Id="rId18" Type="http://schemas.openxmlformats.org/officeDocument/2006/relationships/image" Target="../media/image-4-7.png"/><Relationship Id="rId19" Type="http://schemas.openxmlformats.org/officeDocument/2006/relationships/image" Target="../media/image-4-7.png"/><Relationship Id="rId20" Type="http://schemas.openxmlformats.org/officeDocument/2006/relationships/image" Target="../media/image-4-7.png"/><Relationship Id="rId21" Type="http://schemas.openxmlformats.org/officeDocument/2006/relationships/image" Target="../media/image-4-21.png"/><Relationship Id="rId22" Type="http://schemas.openxmlformats.org/officeDocument/2006/relationships/slideLayout" Target="../slideLayouts/slideLayout1.xml"/><Relationship Id="rId2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0" y="508000"/>
            <a:ext cx="11849100" cy="863600"/>
          </a:xfrm>
          <a:prstGeom prst="rect">
            <a:avLst/>
          </a:prstGeom>
          <a:noFill/>
          <a:ln/>
        </p:spPr>
        <p:txBody>
          <a:bodyPr wrap="square" lIns="0" tIns="0" rIns="0" bIns="0" rtlCol="0" anchor="ctr"/>
          <a:lstStyle/>
          <a:p>
            <a:pPr algn="ctr" indent="0" marL="0">
              <a:buNone/>
            </a:pPr>
            <a:r>
              <a:rPr lang="en-US" sz="4800" b="1" dirty="0">
                <a:solidFill>
                  <a:srgbClr val="2A4D88"/>
                </a:solidFill>
                <a:latin typeface="Cambria" pitchFamily="34" charset="0"/>
                <a:ea typeface="Cambria" pitchFamily="34" charset="-122"/>
                <a:cs typeface="Cambria" pitchFamily="34" charset="-120"/>
              </a:rPr>
              <a:t>SMART INDIA HACKATHON 2026</a:t>
            </a:r>
            <a:endParaRPr lang="en-US" sz="4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0" y="1634490"/>
          <a:ext cx="13716000" cy="914400"/>
        </p:xfrm>
        <a:graphic>
          <a:graphicData uri="http://schemas.openxmlformats.org/drawingml/2006/table">
            <a:tbl>
              <a:tblPr/>
              <a:tblGrid>
                <a:gridCol w="3841750"/>
                <a:gridCol w="8007350"/>
              </a:tblGrid>
              <a:tr h="1515110">
                <a:tc>
                  <a:txBody>
                    <a:bodyPr/>
                    <a:lstStyle/>
                    <a:p>
                      <a:pPr indent="0" marL="0">
                        <a:buNone/>
                      </a:pPr>
                      <a:r>
                        <a:rPr lang="en-US" sz="1880" b="1" dirty="0">
                          <a:solidFill>
                            <a:srgbClr val="FFFFFF"/>
                          </a:solidFill>
                          <a:latin typeface="Montserrat" pitchFamily="34" charset="0"/>
                          <a:ea typeface="Montserrat" pitchFamily="34" charset="-122"/>
                          <a:cs typeface="Montserrat" pitchFamily="34" charset="-120"/>
                        </a:rPr>
                        <a:t>Problem Statement ID</a:t>
                      </a:r>
                      <a:endParaRPr lang="en-US" sz="1880" dirty="0">
                        <a:latin typeface="Montserrat" charset="0"/>
                        <a:ea typeface="Montserrat" charset="0"/>
                        <a:cs typeface="Montserrat" charset="0"/>
                      </a:endParaRPr>
                    </a:p>
                  </a:txBody>
                  <a:tcPr marL="101600" marR="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2A4D88"/>
                    </a:solidFill>
                  </a:tcPr>
                </a:tc>
                <a:tc>
                  <a:txBody>
                    <a:bodyPr/>
                    <a:lstStyle/>
                    <a:p>
                      <a:pPr indent="0" marL="0">
                        <a:buNone/>
                      </a:pPr>
                      <a:r>
                        <a:rPr lang="en-US" sz="1880" b="1" dirty="0">
                          <a:solidFill>
                            <a:srgbClr val="1A2F57"/>
                          </a:solidFill>
                          <a:latin typeface="Bookman Old Style" pitchFamily="34" charset="0"/>
                          <a:ea typeface="Bookman Old Style" pitchFamily="34" charset="-122"/>
                          <a:cs typeface="Bookman Old Style" pitchFamily="34" charset="-120"/>
                        </a:rPr>
                        <a:t>SIH26102</a:t>
                      </a:r>
                      <a:endParaRPr lang="en-US" sz="1880" dirty="0">
                        <a:latin typeface="Bookman Old Style" charset="0"/>
                        <a:ea typeface="Bookman Old Style" charset="0"/>
                        <a:cs typeface="Bookman Old Style" charset="0"/>
                      </a:endParaRPr>
                    </a:p>
                  </a:txBody>
                  <a:tcPr marL="101600" marR="1016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1358900">
                <a:tc>
                  <a:txBody>
                    <a:bodyPr/>
                    <a:lstStyle/>
                    <a:p>
                      <a:pPr indent="0" marL="0">
                        <a:buNone/>
                      </a:pPr>
                      <a:r>
                        <a:rPr lang="en-US" sz="1880" b="1" dirty="0">
                          <a:solidFill>
                            <a:srgbClr val="FFFFFF"/>
                          </a:solidFill>
                          <a:latin typeface="Montserrat" pitchFamily="34" charset="0"/>
                          <a:ea typeface="Montserrat" pitchFamily="34" charset="-122"/>
                          <a:cs typeface="Montserrat" pitchFamily="34" charset="-120"/>
                        </a:rPr>
                        <a:t>Problem Statement Title</a:t>
                      </a:r>
                      <a:endParaRPr lang="en-US" sz="1880" dirty="0">
                        <a:latin typeface="Montserrat" charset="0"/>
                        <a:ea typeface="Montserrat" charset="0"/>
                        <a:cs typeface="Montserrat" charset="0"/>
                      </a:endParaRPr>
                    </a:p>
                  </a:txBody>
                  <a:tcPr marL="101600" marR="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2A4D88"/>
                    </a:solidFill>
                  </a:tcPr>
                </a:tc>
                <a:tc>
                  <a:txBody>
                    <a:bodyPr/>
                    <a:lstStyle/>
                    <a:p>
                      <a:pPr indent="0" marL="0">
                        <a:buNone/>
                      </a:pPr>
                      <a:r>
                        <a:rPr lang="en-US" sz="1880" b="1" dirty="0">
                          <a:solidFill>
                            <a:srgbClr val="1A2F57"/>
                          </a:solidFill>
                          <a:latin typeface="Bookman Old Style" pitchFamily="34" charset="0"/>
                          <a:ea typeface="Bookman Old Style" pitchFamily="34" charset="-122"/>
                          <a:cs typeface="Bookman Old Style" pitchFamily="34" charset="-120"/>
                        </a:rPr>
                        <a:t>Development of an AI-powered system to detect anomalies, fraud, and inefficiencies in MPLAD Scheme implementation regd.</a:t>
                      </a:r>
                      <a:endParaRPr lang="en-US" sz="1880" dirty="0">
                        <a:latin typeface="Bookman Old Style" charset="0"/>
                        <a:ea typeface="Bookman Old Style" charset="0"/>
                        <a:cs typeface="Bookman Old Style" charset="0"/>
                      </a:endParaRPr>
                    </a:p>
                  </a:txBody>
                  <a:tcPr marL="101600" marR="1016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990600">
                <a:tc>
                  <a:txBody>
                    <a:bodyPr/>
                    <a:lstStyle/>
                    <a:p>
                      <a:pPr indent="0" marL="0">
                        <a:buNone/>
                      </a:pPr>
                      <a:r>
                        <a:rPr lang="en-US" sz="1880" b="1" dirty="0">
                          <a:solidFill>
                            <a:srgbClr val="FFFFFF"/>
                          </a:solidFill>
                          <a:latin typeface="Montserrat" pitchFamily="34" charset="0"/>
                          <a:ea typeface="Montserrat" pitchFamily="34" charset="-122"/>
                          <a:cs typeface="Montserrat" pitchFamily="34" charset="-120"/>
                        </a:rPr>
                        <a:t>Organisation</a:t>
                      </a:r>
                      <a:endParaRPr lang="en-US" sz="1880" dirty="0">
                        <a:latin typeface="Montserrat" charset="0"/>
                        <a:ea typeface="Montserrat" charset="0"/>
                        <a:cs typeface="Montserrat" charset="0"/>
                      </a:endParaRPr>
                    </a:p>
                  </a:txBody>
                  <a:tcPr marL="101600" marR="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2A4D88"/>
                    </a:solidFill>
                  </a:tcPr>
                </a:tc>
                <a:tc>
                  <a:txBody>
                    <a:bodyPr/>
                    <a:lstStyle/>
                    <a:p>
                      <a:pPr indent="0" marL="0">
                        <a:buNone/>
                      </a:pPr>
                      <a:r>
                        <a:rPr lang="en-US" sz="1880" b="1" dirty="0">
                          <a:solidFill>
                            <a:srgbClr val="1A2F57"/>
                          </a:solidFill>
                          <a:latin typeface="Bookman Old Style" pitchFamily="34" charset="0"/>
                          <a:ea typeface="Bookman Old Style" pitchFamily="34" charset="-122"/>
                          <a:cs typeface="Bookman Old Style" pitchFamily="34" charset="-120"/>
                        </a:rPr>
                        <a:t>Ministry of Statistics &amp; Programme Implementation (MoSPI)</a:t>
                      </a:r>
                      <a:endParaRPr lang="en-US" sz="1880" dirty="0">
                        <a:latin typeface="Bookman Old Style" charset="0"/>
                        <a:ea typeface="Bookman Old Style" charset="0"/>
                        <a:cs typeface="Bookman Old Style" charset="0"/>
                      </a:endParaRPr>
                    </a:p>
                  </a:txBody>
                  <a:tcPr marL="101600" marR="1016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1016000">
                <a:tc>
                  <a:txBody>
                    <a:bodyPr/>
                    <a:lstStyle/>
                    <a:p>
                      <a:pPr indent="0" marL="0">
                        <a:buNone/>
                      </a:pPr>
                      <a:r>
                        <a:rPr lang="en-US" sz="1880" b="1" dirty="0">
                          <a:solidFill>
                            <a:srgbClr val="FFFFFF"/>
                          </a:solidFill>
                          <a:latin typeface="Montserrat" pitchFamily="34" charset="0"/>
                          <a:ea typeface="Montserrat" pitchFamily="34" charset="-122"/>
                          <a:cs typeface="Montserrat" pitchFamily="34" charset="-120"/>
                        </a:rPr>
                        <a:t>Theme</a:t>
                      </a:r>
                      <a:endParaRPr lang="en-US" sz="1880" dirty="0">
                        <a:latin typeface="Montserrat" charset="0"/>
                        <a:ea typeface="Montserrat" charset="0"/>
                        <a:cs typeface="Montserrat" charset="0"/>
                      </a:endParaRPr>
                    </a:p>
                  </a:txBody>
                  <a:tcPr marL="101600" marR="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2A4D88"/>
                    </a:solidFill>
                  </a:tcPr>
                </a:tc>
                <a:tc>
                  <a:txBody>
                    <a:bodyPr/>
                    <a:lstStyle/>
                    <a:p>
                      <a:pPr indent="0" marL="0">
                        <a:buNone/>
                      </a:pPr>
                      <a:r>
                        <a:rPr lang="en-US" sz="1880" b="1" dirty="0">
                          <a:solidFill>
                            <a:srgbClr val="1A2F57"/>
                          </a:solidFill>
                          <a:latin typeface="Bookman Old Style" pitchFamily="34" charset="0"/>
                          <a:ea typeface="Bookman Old Style" pitchFamily="34" charset="-122"/>
                          <a:cs typeface="Bookman Old Style" pitchFamily="34" charset="-120"/>
                        </a:rPr>
                        <a:t>Smart Automation</a:t>
                      </a:r>
                      <a:endParaRPr lang="en-US" sz="1880" dirty="0">
                        <a:latin typeface="Bookman Old Style" charset="0"/>
                        <a:ea typeface="Bookman Old Style" charset="0"/>
                        <a:cs typeface="Bookman Old Style" charset="0"/>
                      </a:endParaRPr>
                    </a:p>
                  </a:txBody>
                  <a:tcPr marL="101600" marR="1016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990600">
                <a:tc>
                  <a:txBody>
                    <a:bodyPr/>
                    <a:lstStyle/>
                    <a:p>
                      <a:pPr indent="0" marL="0">
                        <a:buNone/>
                      </a:pPr>
                      <a:r>
                        <a:rPr lang="en-US" sz="1880" b="1" dirty="0">
                          <a:solidFill>
                            <a:srgbClr val="FFFFFF"/>
                          </a:solidFill>
                          <a:latin typeface="Montserrat" pitchFamily="34" charset="0"/>
                          <a:ea typeface="Montserrat" pitchFamily="34" charset="-122"/>
                          <a:cs typeface="Montserrat" pitchFamily="34" charset="-120"/>
                        </a:rPr>
                        <a:t>PS Category</a:t>
                      </a:r>
                      <a:endParaRPr lang="en-US" sz="1880" dirty="0">
                        <a:latin typeface="Montserrat" charset="0"/>
                        <a:ea typeface="Montserrat" charset="0"/>
                        <a:cs typeface="Montserrat" charset="0"/>
                      </a:endParaRPr>
                    </a:p>
                  </a:txBody>
                  <a:tcPr marL="101600" marR="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2A4D88"/>
                    </a:solidFill>
                  </a:tcPr>
                </a:tc>
                <a:tc>
                  <a:txBody>
                    <a:bodyPr/>
                    <a:lstStyle/>
                    <a:p>
                      <a:pPr indent="0" marL="0">
                        <a:buNone/>
                      </a:pPr>
                      <a:r>
                        <a:rPr lang="en-US" sz="1880" b="1" dirty="0">
                          <a:solidFill>
                            <a:srgbClr val="1A2F57"/>
                          </a:solidFill>
                          <a:latin typeface="Bookman Old Style" pitchFamily="34" charset="0"/>
                          <a:ea typeface="Bookman Old Style" pitchFamily="34" charset="-122"/>
                          <a:cs typeface="Bookman Old Style" pitchFamily="34" charset="-120"/>
                        </a:rPr>
                        <a:t>Software</a:t>
                      </a:r>
                      <a:endParaRPr lang="en-US" sz="1880" dirty="0">
                        <a:latin typeface="Bookman Old Style" charset="0"/>
                        <a:ea typeface="Bookman Old Style" charset="0"/>
                        <a:cs typeface="Bookman Old Style" charset="0"/>
                      </a:endParaRPr>
                    </a:p>
                  </a:txBody>
                  <a:tcPr marL="101600" marR="1016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1003300">
                <a:tc>
                  <a:txBody>
                    <a:bodyPr/>
                    <a:lstStyle/>
                    <a:p>
                      <a:pPr indent="0" marL="0">
                        <a:buNone/>
                      </a:pPr>
                      <a:r>
                        <a:rPr lang="en-US" sz="1880" b="1" dirty="0">
                          <a:solidFill>
                            <a:srgbClr val="FFFFFF"/>
                          </a:solidFill>
                          <a:latin typeface="Montserrat" pitchFamily="34" charset="0"/>
                          <a:ea typeface="Montserrat" pitchFamily="34" charset="-122"/>
                          <a:cs typeface="Montserrat" pitchFamily="34" charset="-120"/>
                        </a:rPr>
                        <a:t>Team ID</a:t>
                      </a:r>
                      <a:endParaRPr lang="en-US" sz="1880" dirty="0">
                        <a:latin typeface="Montserrat" charset="0"/>
                        <a:ea typeface="Montserrat" charset="0"/>
                        <a:cs typeface="Montserrat" charset="0"/>
                      </a:endParaRPr>
                    </a:p>
                  </a:txBody>
                  <a:tcPr marL="101600" marR="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2A4D88"/>
                    </a:solidFill>
                  </a:tcPr>
                </a:tc>
                <a:tc>
                  <a:txBody>
                    <a:bodyPr/>
                    <a:lstStyle/>
                    <a:p>
                      <a:pPr indent="0" marL="0">
                        <a:buNone/>
                      </a:pPr>
                      <a:r>
                        <a:rPr lang="en-US" sz="1880" b="1" dirty="0">
                          <a:solidFill>
                            <a:srgbClr val="1A2F57"/>
                          </a:solidFill>
                          <a:latin typeface="Bookman Old Style" pitchFamily="34" charset="0"/>
                          <a:ea typeface="Bookman Old Style" pitchFamily="34" charset="-122"/>
                          <a:cs typeface="Bookman Old Style" pitchFamily="34" charset="-120"/>
                        </a:rPr>
                        <a:t>121911</a:t>
                      </a:r>
                      <a:endParaRPr lang="en-US" sz="1880" dirty="0">
                        <a:latin typeface="Bookman Old Style" charset="0"/>
                        <a:ea typeface="Bookman Old Style" charset="0"/>
                        <a:cs typeface="Bookman Old Style" charset="0"/>
                      </a:endParaRPr>
                    </a:p>
                  </a:txBody>
                  <a:tcPr marL="101600" marR="1016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1774190">
                <a:tc>
                  <a:txBody>
                    <a:bodyPr/>
                    <a:lstStyle/>
                    <a:p>
                      <a:pPr indent="0" marL="0">
                        <a:buNone/>
                      </a:pPr>
                      <a:r>
                        <a:rPr lang="en-US" sz="1880" b="1" dirty="0">
                          <a:solidFill>
                            <a:srgbClr val="FFFFFF"/>
                          </a:solidFill>
                          <a:latin typeface="Montserrat" pitchFamily="34" charset="0"/>
                          <a:ea typeface="Montserrat" pitchFamily="34" charset="-122"/>
                          <a:cs typeface="Montserrat" pitchFamily="34" charset="-120"/>
                        </a:rPr>
                        <a:t>Team Name</a:t>
                      </a:r>
                      <a:endParaRPr lang="en-US" sz="1880" dirty="0">
                        <a:latin typeface="Montserrat" charset="0"/>
                        <a:ea typeface="Montserrat" charset="0"/>
                        <a:cs typeface="Montserrat" charset="0"/>
                      </a:endParaRPr>
                    </a:p>
                  </a:txBody>
                  <a:tcPr marL="101600" marR="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2A4D88"/>
                    </a:solidFill>
                  </a:tcPr>
                </a:tc>
                <a:tc>
                  <a:txBody>
                    <a:bodyPr/>
                    <a:lstStyle/>
                    <a:p>
                      <a:pPr indent="0" marL="0">
                        <a:buNone/>
                      </a:pPr>
                      <a:r>
                        <a:rPr lang="en-US" sz="1880" b="1" dirty="0">
                          <a:solidFill>
                            <a:srgbClr val="1A2F57"/>
                          </a:solidFill>
                          <a:latin typeface="Bookman Old Style" pitchFamily="34" charset="0"/>
                          <a:ea typeface="Bookman Old Style" pitchFamily="34" charset="-122"/>
                          <a:cs typeface="Bookman Old Style" pitchFamily="34" charset="-120"/>
                        </a:rPr>
                        <a:t>NeuralNexus</a:t>
                      </a:r>
                      <a:endParaRPr lang="en-US" sz="1880" dirty="0">
                        <a:latin typeface="Bookman Old Style" charset="0"/>
                        <a:ea typeface="Bookman Old Style" charset="0"/>
                        <a:cs typeface="Bookman Old Style" charset="0"/>
                      </a:endParaRPr>
                    </a:p>
                  </a:txBody>
                  <a:tcPr marL="101600" marR="1016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bl>
          </a:graphicData>
        </a:graphic>
      </p:graphicFrame>
      <p:sp>
        <p:nvSpPr>
          <p:cNvPr id="4" name="Shape 1"/>
          <p:cNvSpPr/>
          <p:nvPr/>
        </p:nvSpPr>
        <p:spPr>
          <a:xfrm>
            <a:off x="11855450" y="0"/>
            <a:ext cx="6432550" cy="10287000"/>
          </a:xfrm>
          <a:prstGeom prst="rect">
            <a:avLst/>
          </a:prstGeom>
          <a:solidFill>
            <a:srgbClr val="2A4D88"/>
          </a:solidFill>
          <a:ln/>
        </p:spPr>
      </p:sp>
      <p:sp>
        <p:nvSpPr>
          <p:cNvPr id="5" name="Shape 2"/>
          <p:cNvSpPr/>
          <p:nvPr/>
        </p:nvSpPr>
        <p:spPr>
          <a:xfrm>
            <a:off x="12608560" y="744220"/>
            <a:ext cx="4953000" cy="2419350"/>
          </a:xfrm>
          <a:prstGeom prst="roundRect">
            <a:avLst>
              <a:gd name="adj" fmla="val 5774"/>
            </a:avLst>
          </a:prstGeom>
          <a:solidFill>
            <a:srgbClr val="FFFFFF"/>
          </a:solidFill>
          <a:ln/>
        </p:spPr>
      </p:sp>
      <p:pic>
        <p:nvPicPr>
          <p:cNvPr id="6" name="Image 0" descr="C:\Users\abhim\drishti\docs\deck\assets\sih_logo_wide.png">    </p:cNvPr>
          <p:cNvPicPr>
            <a:picLocks noChangeAspect="1"/>
          </p:cNvPicPr>
          <p:nvPr/>
        </p:nvPicPr>
        <p:blipFill>
          <a:blip r:embed="rId1"/>
          <a:stretch>
            <a:fillRect/>
          </a:stretch>
        </p:blipFill>
        <p:spPr>
          <a:xfrm>
            <a:off x="13093700" y="952500"/>
            <a:ext cx="3962400" cy="1871980"/>
          </a:xfrm>
          <a:prstGeom prst="rect">
            <a:avLst/>
          </a:prstGeom>
        </p:spPr>
      </p:pic>
      <p:sp>
        <p:nvSpPr>
          <p:cNvPr id="7" name="Text 3"/>
          <p:cNvSpPr txBox="1"/>
          <p:nvPr/>
        </p:nvSpPr>
        <p:spPr>
          <a:xfrm>
            <a:off x="11855450" y="4546600"/>
            <a:ext cx="6432550" cy="1066800"/>
          </a:xfrm>
          <a:prstGeom prst="rect">
            <a:avLst/>
          </a:prstGeom>
          <a:noFill/>
          <a:ln/>
        </p:spPr>
        <p:txBody>
          <a:bodyPr wrap="square" lIns="0" tIns="0" rIns="0" bIns="0" rtlCol="0" anchor="ctr"/>
          <a:lstStyle/>
          <a:p>
            <a:pPr algn="ctr" indent="0" marL="0">
              <a:buNone/>
            </a:pPr>
            <a:r>
              <a:rPr lang="en-US" sz="6200" b="1" dirty="0">
                <a:solidFill>
                  <a:srgbClr val="FFFFFF"/>
                </a:solidFill>
                <a:latin typeface="Cambria" pitchFamily="34" charset="0"/>
                <a:ea typeface="Cambria" pitchFamily="34" charset="-122"/>
                <a:cs typeface="Cambria" pitchFamily="34" charset="-120"/>
              </a:rPr>
              <a:t>DRISHTI</a:t>
            </a:r>
            <a:endParaRPr lang="en-US" sz="6200" dirty="0"/>
          </a:p>
        </p:txBody>
      </p:sp>
      <p:sp>
        <p:nvSpPr>
          <p:cNvPr id="8" name="Text 4"/>
          <p:cNvSpPr txBox="1"/>
          <p:nvPr/>
        </p:nvSpPr>
        <p:spPr>
          <a:xfrm>
            <a:off x="11855450" y="5588000"/>
            <a:ext cx="6432550" cy="431800"/>
          </a:xfrm>
          <a:prstGeom prst="rect">
            <a:avLst/>
          </a:prstGeom>
          <a:noFill/>
          <a:ln/>
        </p:spPr>
        <p:txBody>
          <a:bodyPr wrap="square" lIns="0" tIns="0" rIns="0" bIns="0" rtlCol="0" anchor="ctr"/>
          <a:lstStyle/>
          <a:p>
            <a:pPr algn="ctr" indent="0" marL="0">
              <a:buNone/>
            </a:pPr>
            <a:r>
              <a:rPr lang="en-US" sz="2850" b="1" dirty="0">
                <a:solidFill>
                  <a:srgbClr val="B1BBC8"/>
                </a:solidFill>
                <a:latin typeface="Calibri" pitchFamily="34" charset="0"/>
                <a:ea typeface="Calibri" pitchFamily="34" charset="-122"/>
                <a:cs typeface="Calibri" pitchFamily="34" charset="-120"/>
              </a:rPr>
              <a:t>The AI-eye on every MPLADS rupee</a:t>
            </a:r>
            <a:endParaRPr lang="en-US" sz="2850" dirty="0"/>
          </a:p>
        </p:txBody>
      </p:sp>
      <p:sp>
        <p:nvSpPr>
          <p:cNvPr id="9" name="Text 5"/>
          <p:cNvSpPr txBox="1"/>
          <p:nvPr/>
        </p:nvSpPr>
        <p:spPr>
          <a:xfrm>
            <a:off x="11855450" y="6350000"/>
            <a:ext cx="6432550" cy="1219200"/>
          </a:xfrm>
          <a:prstGeom prst="rect">
            <a:avLst/>
          </a:prstGeom>
          <a:noFill/>
          <a:ln/>
        </p:spPr>
        <p:txBody>
          <a:bodyPr wrap="square" lIns="0" tIns="0" rIns="0" bIns="0" rtlCol="0" anchor="t"/>
          <a:lstStyle/>
          <a:p>
            <a:pPr algn="ctr" indent="0" marL="0">
              <a:buNone/>
            </a:pPr>
            <a:r>
              <a:rPr lang="en-US" sz="2750" i="1" dirty="0">
                <a:solidFill>
                  <a:srgbClr val="D9D9D8"/>
                </a:solidFill>
                <a:latin typeface="Calibri" pitchFamily="34" charset="0"/>
                <a:ea typeface="Calibri" pitchFamily="34" charset="-122"/>
                <a:cs typeface="Calibri" pitchFamily="34" charset="-120"/>
              </a:rPr>
              <a:t>Detect anomalies. Explain risks.</a:t>
            </a:r>
            <a:endParaRPr lang="en-US" sz="2750" dirty="0"/>
          </a:p>
          <a:p>
            <a:pPr algn="ctr" indent="0" marL="0">
              <a:buNone/>
            </a:pPr>
            <a:r>
              <a:rPr lang="en-US" sz="2750" i="1" dirty="0">
                <a:solidFill>
                  <a:srgbClr val="D9D9D8"/>
                </a:solidFill>
                <a:latin typeface="Calibri" pitchFamily="34" charset="0"/>
                <a:ea typeface="Calibri" pitchFamily="34" charset="-122"/>
                <a:cs typeface="Calibri" pitchFamily="34" charset="-120"/>
              </a:rPr>
              <a:t>Enable smarter oversight of public</a:t>
            </a:r>
            <a:endParaRPr lang="en-US" sz="2750" dirty="0"/>
          </a:p>
          <a:p>
            <a:pPr algn="ctr" indent="0" marL="0">
              <a:buNone/>
            </a:pPr>
            <a:r>
              <a:rPr lang="en-US" sz="2750" i="1" dirty="0">
                <a:solidFill>
                  <a:srgbClr val="D9D9D8"/>
                </a:solidFill>
                <a:latin typeface="Calibri" pitchFamily="34" charset="0"/>
                <a:ea typeface="Calibri" pitchFamily="34" charset="-122"/>
                <a:cs typeface="Calibri" pitchFamily="34" charset="-120"/>
              </a:rPr>
              <a:t>funds.</a:t>
            </a:r>
            <a:endParaRPr lang="en-US" sz="2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66090" y="287020"/>
            <a:ext cx="2153920" cy="934720"/>
          </a:xfrm>
          <a:prstGeom prst="ellipse">
            <a:avLst/>
          </a:prstGeom>
          <a:solidFill>
            <a:srgbClr val="FFFFFF"/>
          </a:solidFill>
          <a:ln w="57150">
            <a:solidFill>
              <a:srgbClr val="2A4D88"/>
            </a:solidFill>
            <a:prstDash val="solid"/>
          </a:ln>
        </p:spPr>
      </p:sp>
      <p:sp>
        <p:nvSpPr>
          <p:cNvPr id="3" name="Text 1"/>
          <p:cNvSpPr txBox="1"/>
          <p:nvPr/>
        </p:nvSpPr>
        <p:spPr>
          <a:xfrm>
            <a:off x="466090" y="287020"/>
            <a:ext cx="2153920" cy="934720"/>
          </a:xfrm>
          <a:prstGeom prst="rect">
            <a:avLst/>
          </a:prstGeom>
          <a:noFill/>
          <a:ln/>
        </p:spPr>
        <p:txBody>
          <a:bodyPr wrap="square" lIns="0" tIns="0" rIns="0" bIns="0" rtlCol="0" anchor="ctr"/>
          <a:lstStyle/>
          <a:p>
            <a:pPr algn="ctr" indent="0" marL="0">
              <a:buNone/>
            </a:pPr>
            <a:r>
              <a:rPr lang="en-US" sz="2050" b="1" dirty="0">
                <a:solidFill>
                  <a:srgbClr val="2A4D88"/>
                </a:solidFill>
                <a:latin typeface="Calibri" pitchFamily="34" charset="0"/>
                <a:ea typeface="Calibri" pitchFamily="34" charset="-122"/>
                <a:cs typeface="Calibri" pitchFamily="34" charset="-120"/>
              </a:rPr>
              <a:t>NeuralNexus</a:t>
            </a:r>
            <a:endParaRPr lang="en-US" sz="2050" dirty="0"/>
          </a:p>
        </p:txBody>
      </p:sp>
      <p:pic>
        <p:nvPicPr>
          <p:cNvPr id="4" name="Image 0" descr="C:\Users\abhim\drishti\docs\deck\assets\drishti_icon.png">    </p:cNvPr>
          <p:cNvPicPr>
            <a:picLocks noChangeAspect="1"/>
          </p:cNvPicPr>
          <p:nvPr/>
        </p:nvPicPr>
        <p:blipFill>
          <a:blip r:embed="rId1"/>
          <a:stretch>
            <a:fillRect/>
          </a:stretch>
        </p:blipFill>
        <p:spPr>
          <a:xfrm>
            <a:off x="7442200" y="228600"/>
            <a:ext cx="1117600" cy="916940"/>
          </a:xfrm>
          <a:prstGeom prst="rect">
            <a:avLst/>
          </a:prstGeom>
        </p:spPr>
      </p:pic>
      <p:sp>
        <p:nvSpPr>
          <p:cNvPr id="5" name="Text 2"/>
          <p:cNvSpPr txBox="1"/>
          <p:nvPr/>
        </p:nvSpPr>
        <p:spPr>
          <a:xfrm>
            <a:off x="8597900" y="330200"/>
            <a:ext cx="3048000" cy="762000"/>
          </a:xfrm>
          <a:prstGeom prst="rect">
            <a:avLst/>
          </a:prstGeom>
          <a:noFill/>
          <a:ln/>
        </p:spPr>
        <p:txBody>
          <a:bodyPr wrap="square" lIns="0" tIns="0" rIns="0" bIns="0" rtlCol="0" anchor="ctr"/>
          <a:lstStyle/>
          <a:p>
            <a:pPr algn="l" indent="0" marL="0">
              <a:buNone/>
            </a:pPr>
            <a:r>
              <a:rPr lang="en-US" sz="4200" b="1" dirty="0">
                <a:solidFill>
                  <a:srgbClr val="000000"/>
                </a:solidFill>
                <a:latin typeface="Cambria" pitchFamily="34" charset="0"/>
                <a:ea typeface="Cambria" pitchFamily="34" charset="-122"/>
                <a:cs typeface="Cambria" pitchFamily="34" charset="-120"/>
              </a:rPr>
              <a:t>DRISHTI</a:t>
            </a:r>
            <a:endParaRPr lang="en-US" sz="4200" dirty="0"/>
          </a:p>
        </p:txBody>
      </p:sp>
      <p:pic>
        <p:nvPicPr>
          <p:cNvPr id="6" name="Image 1" descr="C:\Users\abhim\drishti\docs\deck\assets\sih_logo_wide.png">    </p:cNvPr>
          <p:cNvPicPr>
            <a:picLocks noChangeAspect="1"/>
          </p:cNvPicPr>
          <p:nvPr/>
        </p:nvPicPr>
        <p:blipFill>
          <a:blip r:embed="rId2"/>
          <a:stretch>
            <a:fillRect/>
          </a:stretch>
        </p:blipFill>
        <p:spPr>
          <a:xfrm>
            <a:off x="15392400" y="76200"/>
            <a:ext cx="2705100" cy="1277620"/>
          </a:xfrm>
          <a:prstGeom prst="rect">
            <a:avLst/>
          </a:prstGeom>
        </p:spPr>
      </p:pic>
      <p:sp>
        <p:nvSpPr>
          <p:cNvPr id="7" name="Shape 3"/>
          <p:cNvSpPr/>
          <p:nvPr/>
        </p:nvSpPr>
        <p:spPr>
          <a:xfrm>
            <a:off x="0" y="9756140"/>
            <a:ext cx="18288000" cy="533400"/>
          </a:xfrm>
          <a:prstGeom prst="rect">
            <a:avLst/>
          </a:prstGeom>
          <a:solidFill>
            <a:srgbClr val="2A4D88"/>
          </a:solidFill>
          <a:ln/>
        </p:spPr>
      </p:sp>
      <p:sp>
        <p:nvSpPr>
          <p:cNvPr id="8" name="Text 4"/>
          <p:cNvSpPr txBox="1"/>
          <p:nvPr/>
        </p:nvSpPr>
        <p:spPr>
          <a:xfrm>
            <a:off x="5969000" y="9880600"/>
            <a:ext cx="6350000" cy="27940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@SIH Idea submission – Template</a:t>
            </a:r>
            <a:endParaRPr lang="en-US" sz="1500" dirty="0"/>
          </a:p>
        </p:txBody>
      </p:sp>
      <p:sp>
        <p:nvSpPr>
          <p:cNvPr id="9" name="Text 5"/>
          <p:cNvSpPr txBox="1"/>
          <p:nvPr/>
        </p:nvSpPr>
        <p:spPr>
          <a:xfrm>
            <a:off x="17018000" y="9880600"/>
            <a:ext cx="673100" cy="279400"/>
          </a:xfrm>
          <a:prstGeom prst="rect">
            <a:avLst/>
          </a:prstGeom>
          <a:noFill/>
          <a:ln/>
        </p:spPr>
        <p:txBody>
          <a:bodyPr wrap="square" lIns="0" tIns="0" rIns="0" bIns="0" rtlCol="0" anchor="ctr"/>
          <a:lstStyle/>
          <a:p>
            <a:pPr algn="r" indent="0" marL="0">
              <a:buNone/>
            </a:pPr>
            <a:r>
              <a:rPr lang="en-US" sz="1650" b="1" dirty="0">
                <a:solidFill>
                  <a:srgbClr val="FFFFFF"/>
                </a:solidFill>
                <a:latin typeface="Calibri" pitchFamily="34" charset="0"/>
                <a:ea typeface="Calibri" pitchFamily="34" charset="-122"/>
                <a:cs typeface="Calibri" pitchFamily="34" charset="-120"/>
              </a:rPr>
              <a:t>2</a:t>
            </a:r>
            <a:endParaRPr lang="en-US" sz="1650" dirty="0"/>
          </a:p>
        </p:txBody>
      </p:sp>
      <p:sp>
        <p:nvSpPr>
          <p:cNvPr id="10" name="Shape 6"/>
          <p:cNvSpPr/>
          <p:nvPr/>
        </p:nvSpPr>
        <p:spPr>
          <a:xfrm>
            <a:off x="607060" y="1609090"/>
            <a:ext cx="17072610" cy="1144270"/>
          </a:xfrm>
          <a:prstGeom prst="roundRect">
            <a:avLst>
              <a:gd name="adj" fmla="val 12209"/>
            </a:avLst>
          </a:prstGeom>
          <a:solidFill>
            <a:srgbClr val="EDF0F5"/>
          </a:solidFill>
          <a:ln/>
        </p:spPr>
      </p:sp>
      <p:sp>
        <p:nvSpPr>
          <p:cNvPr id="11" name="Shape 7"/>
          <p:cNvSpPr/>
          <p:nvPr/>
        </p:nvSpPr>
        <p:spPr>
          <a:xfrm>
            <a:off x="607060" y="1609090"/>
            <a:ext cx="3244850" cy="1144270"/>
          </a:xfrm>
          <a:prstGeom prst="roundRect">
            <a:avLst>
              <a:gd name="adj" fmla="val 12209"/>
            </a:avLst>
          </a:prstGeom>
          <a:solidFill>
            <a:srgbClr val="2A4D88"/>
          </a:solidFill>
          <a:ln/>
        </p:spPr>
      </p:sp>
      <p:pic>
        <p:nvPicPr>
          <p:cNvPr id="12" name="Image 2" descr="C:\Users\abhim\drishti\docs\deck\assets\icons\lightbulb_w.png">    </p:cNvPr>
          <p:cNvPicPr>
            <a:picLocks noChangeAspect="1"/>
          </p:cNvPicPr>
          <p:nvPr/>
        </p:nvPicPr>
        <p:blipFill>
          <a:blip r:embed="rId3"/>
          <a:stretch>
            <a:fillRect/>
          </a:stretch>
        </p:blipFill>
        <p:spPr>
          <a:xfrm>
            <a:off x="863600" y="1955800"/>
            <a:ext cx="431800" cy="431800"/>
          </a:xfrm>
          <a:prstGeom prst="rect">
            <a:avLst/>
          </a:prstGeom>
        </p:spPr>
      </p:pic>
      <p:sp>
        <p:nvSpPr>
          <p:cNvPr id="13" name="Text 8"/>
          <p:cNvSpPr txBox="1"/>
          <p:nvPr/>
        </p:nvSpPr>
        <p:spPr>
          <a:xfrm>
            <a:off x="1447800" y="1866900"/>
            <a:ext cx="2286000" cy="58420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PROPOSED</a:t>
            </a:r>
            <a:endParaRPr lang="en-US" sz="1800" dirty="0"/>
          </a:p>
          <a:p>
            <a:pPr algn="l" indent="0" marL="0">
              <a:buNone/>
            </a:pPr>
            <a:r>
              <a:rPr lang="en-US" sz="1800" b="1" dirty="0">
                <a:solidFill>
                  <a:srgbClr val="FFFFFF"/>
                </a:solidFill>
                <a:latin typeface="Cambria" pitchFamily="34" charset="0"/>
                <a:ea typeface="Cambria" pitchFamily="34" charset="-122"/>
                <a:cs typeface="Cambria" pitchFamily="34" charset="-120"/>
              </a:rPr>
              <a:t>SOLUTION</a:t>
            </a:r>
            <a:endParaRPr lang="en-US" sz="1800" dirty="0"/>
          </a:p>
        </p:txBody>
      </p:sp>
      <p:sp>
        <p:nvSpPr>
          <p:cNvPr id="14" name="Text 9"/>
          <p:cNvSpPr txBox="1"/>
          <p:nvPr/>
        </p:nvSpPr>
        <p:spPr>
          <a:xfrm>
            <a:off x="4114800" y="1701800"/>
            <a:ext cx="13360400" cy="965200"/>
          </a:xfrm>
          <a:prstGeom prst="rect">
            <a:avLst/>
          </a:prstGeom>
          <a:noFill/>
          <a:ln/>
        </p:spPr>
        <p:txBody>
          <a:bodyPr wrap="square" lIns="0" tIns="0" rIns="0" bIns="0" rtlCol="0" anchor="ctr"/>
          <a:lstStyle/>
          <a:p>
            <a:pPr algn="l" indent="0" marL="0">
              <a:buNone/>
            </a:pPr>
            <a:r>
              <a:rPr lang="en-US" sz="1720" b="1" dirty="0">
                <a:solidFill>
                  <a:srgbClr val="2A4D88"/>
                </a:solidFill>
                <a:latin typeface="Calibri" pitchFamily="34" charset="0"/>
                <a:ea typeface="Calibri" pitchFamily="34" charset="-122"/>
                <a:cs typeface="Calibri" pitchFamily="34" charset="-120"/>
              </a:rPr>
              <a:t>DRISHTI</a:t>
            </a:r>
            <a:pPr algn="l" indent="0" marL="0">
              <a:buNone/>
            </a:pPr>
            <a:r>
              <a:rPr lang="en-US" sz="1720" dirty="0">
                <a:solidFill>
                  <a:srgbClr val="1A2F57"/>
                </a:solidFill>
                <a:latin typeface="Calibri" pitchFamily="34" charset="0"/>
                <a:ea typeface="Calibri" pitchFamily="34" charset="-122"/>
                <a:cs typeface="Calibri" pitchFamily="34" charset="-120"/>
              </a:rPr>
              <a:t> is an AI-powered risk-intelligence layer on top of </a:t>
            </a:r>
            <a:pPr algn="l" indent="0" marL="0">
              <a:buNone/>
            </a:pPr>
            <a:r>
              <a:rPr lang="en-US" sz="1720" b="1" dirty="0">
                <a:solidFill>
                  <a:srgbClr val="1A2F57"/>
                </a:solidFill>
                <a:latin typeface="Calibri" pitchFamily="34" charset="0"/>
                <a:ea typeface="Calibri" pitchFamily="34" charset="-122"/>
                <a:cs typeface="Calibri" pitchFamily="34" charset="-120"/>
              </a:rPr>
              <a:t>eSAKSHI</a:t>
            </a:r>
            <a:pPr algn="l" indent="0" marL="0">
              <a:buNone/>
            </a:pPr>
            <a:r>
              <a:rPr lang="en-US" sz="1720" dirty="0">
                <a:solidFill>
                  <a:srgbClr val="1A2F57"/>
                </a:solidFill>
                <a:latin typeface="Calibri" pitchFamily="34" charset="0"/>
                <a:ea typeface="Calibri" pitchFamily="34" charset="-122"/>
                <a:cs typeface="Calibri" pitchFamily="34" charset="-120"/>
              </a:rPr>
              <a:t>. </a:t>
            </a:r>
            <a:pPr algn="l" indent="0" marL="0">
              <a:buNone/>
            </a:pPr>
            <a:r>
              <a:rPr lang="en-US" sz="1720" b="1" dirty="0">
                <a:solidFill>
                  <a:srgbClr val="2A4D88"/>
                </a:solidFill>
                <a:latin typeface="Calibri" pitchFamily="34" charset="0"/>
                <a:ea typeface="Calibri" pitchFamily="34" charset="-122"/>
                <a:cs typeface="Calibri" pitchFamily="34" charset="-120"/>
              </a:rPr>
              <a:t>12 AI agents</a:t>
            </a:r>
            <a:pPr algn="l" indent="0" marL="0">
              <a:buNone/>
            </a:pPr>
            <a:r>
              <a:rPr lang="en-US" sz="1720" dirty="0">
                <a:solidFill>
                  <a:srgbClr val="1A2F57"/>
                </a:solidFill>
                <a:latin typeface="Calibri" pitchFamily="34" charset="0"/>
                <a:ea typeface="Calibri" pitchFamily="34" charset="-122"/>
                <a:cs typeface="Calibri" pitchFamily="34" charset="-120"/>
              </a:rPr>
              <a:t> check every MPLADS work at every stage — before sanction, during construction, on money &amp; time, and after completion — reading not just the records but the </a:t>
            </a:r>
            <a:pPr algn="l" indent="0" marL="0">
              <a:buNone/>
            </a:pPr>
            <a:r>
              <a:rPr lang="en-US" sz="1720" b="1" dirty="0">
                <a:solidFill>
                  <a:srgbClr val="1A2F57"/>
                </a:solidFill>
                <a:latin typeface="Calibri" pitchFamily="34" charset="0"/>
                <a:ea typeface="Calibri" pitchFamily="34" charset="-122"/>
                <a:cs typeface="Calibri" pitchFamily="34" charset="-120"/>
              </a:rPr>
              <a:t>certificates, bills and geo-tagged photos</a:t>
            </a:r>
            <a:pPr algn="l" indent="0" marL="0">
              <a:buNone/>
            </a:pPr>
            <a:r>
              <a:rPr lang="en-US" sz="1720" dirty="0">
                <a:solidFill>
                  <a:srgbClr val="1A2F57"/>
                </a:solidFill>
                <a:latin typeface="Calibri" pitchFamily="34" charset="0"/>
                <a:ea typeface="Calibri" pitchFamily="34" charset="-122"/>
                <a:cs typeface="Calibri" pitchFamily="34" charset="-120"/>
              </a:rPr>
              <a:t> already on eSAKSHI, and turn what they find into a </a:t>
            </a:r>
            <a:pPr algn="l" indent="0" marL="0">
              <a:buNone/>
            </a:pPr>
            <a:r>
              <a:rPr lang="en-US" sz="1720" b="1" dirty="0">
                <a:solidFill>
                  <a:srgbClr val="2A4D88"/>
                </a:solidFill>
                <a:latin typeface="Calibri" pitchFamily="34" charset="0"/>
                <a:ea typeface="Calibri" pitchFamily="34" charset="-122"/>
                <a:cs typeface="Calibri" pitchFamily="34" charset="-120"/>
              </a:rPr>
              <a:t>daily inspection plan</a:t>
            </a:r>
            <a:pPr algn="l" indent="0" marL="0">
              <a:buNone/>
            </a:pPr>
            <a:r>
              <a:rPr lang="en-US" sz="1720" dirty="0">
                <a:solidFill>
                  <a:srgbClr val="1A2F57"/>
                </a:solidFill>
                <a:latin typeface="Calibri" pitchFamily="34" charset="0"/>
                <a:ea typeface="Calibri" pitchFamily="34" charset="-122"/>
                <a:cs typeface="Calibri" pitchFamily="34" charset="-120"/>
              </a:rPr>
              <a:t> for District Authorities.</a:t>
            </a:r>
            <a:endParaRPr lang="en-US" sz="1720" dirty="0"/>
          </a:p>
        </p:txBody>
      </p:sp>
      <p:sp>
        <p:nvSpPr>
          <p:cNvPr id="15" name="Shape 10"/>
          <p:cNvSpPr/>
          <p:nvPr/>
        </p:nvSpPr>
        <p:spPr>
          <a:xfrm>
            <a:off x="607060" y="3350260"/>
            <a:ext cx="5430520" cy="3585210"/>
          </a:xfrm>
          <a:prstGeom prst="roundRect">
            <a:avLst>
              <a:gd name="adj" fmla="val 3897"/>
            </a:avLst>
          </a:prstGeom>
          <a:solidFill>
            <a:srgbClr val="EDF0F5"/>
          </a:solidFill>
          <a:ln/>
        </p:spPr>
      </p:sp>
      <p:sp>
        <p:nvSpPr>
          <p:cNvPr id="16" name="Shape 11"/>
          <p:cNvSpPr/>
          <p:nvPr/>
        </p:nvSpPr>
        <p:spPr>
          <a:xfrm>
            <a:off x="854710" y="3075940"/>
            <a:ext cx="3653790" cy="567690"/>
          </a:xfrm>
          <a:prstGeom prst="roundRect">
            <a:avLst>
              <a:gd name="adj" fmla="val 50000"/>
            </a:avLst>
          </a:prstGeom>
          <a:solidFill>
            <a:srgbClr val="2A4D88"/>
          </a:solidFill>
          <a:ln/>
        </p:spPr>
      </p:sp>
      <p:pic>
        <p:nvPicPr>
          <p:cNvPr id="17" name="Image 3" descr="C:\Users\abhim\drishti\docs\deck\assets\icons\bullseye_w.png">    </p:cNvPr>
          <p:cNvPicPr>
            <a:picLocks noChangeAspect="1"/>
          </p:cNvPicPr>
          <p:nvPr/>
        </p:nvPicPr>
        <p:blipFill>
          <a:blip r:embed="rId4"/>
          <a:stretch>
            <a:fillRect/>
          </a:stretch>
        </p:blipFill>
        <p:spPr>
          <a:xfrm>
            <a:off x="1026160" y="3187700"/>
            <a:ext cx="317500" cy="317500"/>
          </a:xfrm>
          <a:prstGeom prst="rect">
            <a:avLst/>
          </a:prstGeom>
        </p:spPr>
      </p:pic>
      <p:sp>
        <p:nvSpPr>
          <p:cNvPr id="18" name="Text 12"/>
          <p:cNvSpPr txBox="1"/>
          <p:nvPr/>
        </p:nvSpPr>
        <p:spPr>
          <a:xfrm>
            <a:off x="1449070" y="3086100"/>
            <a:ext cx="3018790" cy="546100"/>
          </a:xfrm>
          <a:prstGeom prst="rect">
            <a:avLst/>
          </a:prstGeom>
          <a:noFill/>
          <a:ln/>
        </p:spPr>
        <p:txBody>
          <a:bodyPr wrap="square" lIns="0" tIns="0" rIns="0" bIns="0" rtlCol="0" anchor="ctr"/>
          <a:lstStyle/>
          <a:p>
            <a:pPr algn="l" indent="0" marL="0">
              <a:buNone/>
            </a:pPr>
            <a:r>
              <a:rPr lang="en-US" sz="1580" b="1" dirty="0">
                <a:solidFill>
                  <a:srgbClr val="FFFFFF"/>
                </a:solidFill>
                <a:latin typeface="Cambria" pitchFamily="34" charset="0"/>
                <a:ea typeface="Cambria" pitchFamily="34" charset="-122"/>
                <a:cs typeface="Cambria" pitchFamily="34" charset="-120"/>
              </a:rPr>
              <a:t>DETAILED EXPLANATION</a:t>
            </a:r>
            <a:endParaRPr lang="en-US" sz="1580" dirty="0"/>
          </a:p>
        </p:txBody>
      </p:sp>
      <p:sp>
        <p:nvSpPr>
          <p:cNvPr id="19" name="Text 13"/>
          <p:cNvSpPr txBox="1"/>
          <p:nvPr/>
        </p:nvSpPr>
        <p:spPr>
          <a:xfrm>
            <a:off x="1102360" y="3771900"/>
            <a:ext cx="4762500" cy="3098800"/>
          </a:xfrm>
          <a:prstGeom prst="rect">
            <a:avLst/>
          </a:prstGeom>
          <a:noFill/>
          <a:ln/>
        </p:spPr>
        <p:txBody>
          <a:bodyPr wrap="square" lIns="0" tIns="0" rIns="0" bIns="0" rtlCol="0" anchor="t"/>
          <a:lstStyle/>
          <a:p>
            <a:pPr algn="l" marL="177800" indent="-177800">
              <a:buSzPct val="100000"/>
              <a:buChar char="•"/>
            </a:pPr>
            <a:r>
              <a:rPr lang="en-US" sz="1820" b="1" dirty="0">
                <a:solidFill>
                  <a:srgbClr val="1A2F57"/>
                </a:solidFill>
                <a:latin typeface="Calibri" pitchFamily="34" charset="0"/>
                <a:ea typeface="Calibri" pitchFamily="34" charset="-122"/>
                <a:cs typeface="Calibri" pitchFamily="34" charset="-120"/>
              </a:rPr>
              <a:t>12 specialist agents</a:t>
            </a:r>
            <a:pPr algn="l" indent="0" marL="0">
              <a:buNone/>
            </a:pPr>
            <a:r>
              <a:rPr lang="en-US" sz="1820" b="1" dirty="0">
                <a:solidFill>
                  <a:srgbClr val="2A4D88"/>
                </a:solidFill>
                <a:latin typeface="Calibri" pitchFamily="34" charset="0"/>
                <a:ea typeface="Calibri" pitchFamily="34" charset="-122"/>
                <a:cs typeface="Calibri" pitchFamily="34" charset="-120"/>
              </a:rPr>
              <a:t>: </a:t>
            </a:r>
            <a:pPr algn="l" indent="0" marL="0">
              <a:buNone/>
            </a:pPr>
            <a:r>
              <a:rPr lang="en-US" sz="1820" dirty="0">
                <a:solidFill>
                  <a:srgbClr val="1A2F57"/>
                </a:solidFill>
                <a:latin typeface="Calibri" pitchFamily="34" charset="0"/>
                <a:ea typeface="Calibri" pitchFamily="34" charset="-122"/>
                <a:cs typeface="Calibri" pitchFamily="34" charset="-120"/>
              </a:rPr>
              <a:t>each checks one kind of problem CAG audits have found — cost, duplicates, delays, fake evidence.</a:t>
            </a:r>
            <a:endParaRPr lang="en-US" sz="1820" dirty="0"/>
          </a:p>
          <a:p>
            <a:pPr algn="l" marL="177800" indent="-177800">
              <a:buSzPct val="100000"/>
              <a:buChar char="•"/>
            </a:pPr>
            <a:r>
              <a:rPr lang="en-US" sz="1820" b="1" dirty="0">
                <a:solidFill>
                  <a:srgbClr val="1A2F57"/>
                </a:solidFill>
                <a:latin typeface="Calibri" pitchFamily="34" charset="0"/>
                <a:ea typeface="Calibri" pitchFamily="34" charset="-122"/>
                <a:cs typeface="Calibri" pitchFamily="34" charset="-120"/>
              </a:rPr>
              <a:t>Reads the evidence</a:t>
            </a:r>
            <a:pPr algn="l" indent="0" marL="0">
              <a:buNone/>
            </a:pPr>
            <a:r>
              <a:rPr lang="en-US" sz="1820" b="1" dirty="0">
                <a:solidFill>
                  <a:srgbClr val="2A4D88"/>
                </a:solidFill>
                <a:latin typeface="Calibri" pitchFamily="34" charset="0"/>
                <a:ea typeface="Calibri" pitchFamily="34" charset="-122"/>
                <a:cs typeface="Calibri" pitchFamily="34" charset="-120"/>
              </a:rPr>
              <a:t>: </a:t>
            </a:r>
            <a:pPr algn="l" indent="0" marL="0">
              <a:buNone/>
            </a:pPr>
            <a:r>
              <a:rPr lang="en-US" sz="1820" dirty="0">
                <a:solidFill>
                  <a:srgbClr val="1A2F57"/>
                </a:solidFill>
                <a:latin typeface="Calibri" pitchFamily="34" charset="0"/>
                <a:ea typeface="Calibri" pitchFamily="34" charset="-122"/>
                <a:cs typeface="Calibri" pitchFamily="34" charset="-120"/>
              </a:rPr>
              <a:t>completion certificates, bills, Hindi utilisation certificates and geo-tagged photos.</a:t>
            </a:r>
            <a:endParaRPr lang="en-US" sz="1820" dirty="0"/>
          </a:p>
          <a:p>
            <a:pPr algn="l" marL="177800" indent="-177800">
              <a:buSzPct val="100000"/>
              <a:buChar char="•"/>
            </a:pPr>
            <a:r>
              <a:rPr lang="en-US" sz="1820" b="1" dirty="0">
                <a:solidFill>
                  <a:srgbClr val="1A2F57"/>
                </a:solidFill>
                <a:latin typeface="Calibri" pitchFamily="34" charset="0"/>
                <a:ea typeface="Calibri" pitchFamily="34" charset="-122"/>
                <a:cs typeface="Calibri" pitchFamily="34" charset="-120"/>
              </a:rPr>
              <a:t>Explainable Risk Score (0–100)</a:t>
            </a:r>
            <a:pPr algn="l" indent="0" marL="0">
              <a:buNone/>
            </a:pPr>
            <a:r>
              <a:rPr lang="en-US" sz="1820" b="1" dirty="0">
                <a:solidFill>
                  <a:srgbClr val="2A4D88"/>
                </a:solidFill>
                <a:latin typeface="Calibri" pitchFamily="34" charset="0"/>
                <a:ea typeface="Calibri" pitchFamily="34" charset="-122"/>
                <a:cs typeface="Calibri" pitchFamily="34" charset="-120"/>
              </a:rPr>
              <a:t>: </a:t>
            </a:r>
            <a:pPr algn="l" indent="0" marL="0">
              <a:buNone/>
            </a:pPr>
            <a:r>
              <a:rPr lang="en-US" sz="1820" dirty="0">
                <a:solidFill>
                  <a:srgbClr val="1A2F57"/>
                </a:solidFill>
                <a:latin typeface="Calibri" pitchFamily="34" charset="0"/>
                <a:ea typeface="Calibri" pitchFamily="34" charset="-122"/>
                <a:cs typeface="Calibri" pitchFamily="34" charset="-120"/>
              </a:rPr>
              <a:t>fuses all agents + top-3 reasons in plain Hindi/English.</a:t>
            </a:r>
            <a:endParaRPr lang="en-US" sz="1820" dirty="0"/>
          </a:p>
          <a:p>
            <a:pPr algn="l" marL="177800" indent="-177800">
              <a:buSzPct val="100000"/>
              <a:buChar char="•"/>
            </a:pPr>
            <a:r>
              <a:rPr lang="en-US" sz="1820" b="1" dirty="0">
                <a:solidFill>
                  <a:srgbClr val="1A2F57"/>
                </a:solidFill>
                <a:latin typeface="Calibri" pitchFamily="34" charset="0"/>
                <a:ea typeface="Calibri" pitchFamily="34" charset="-122"/>
                <a:cs typeface="Calibri" pitchFamily="34" charset="-120"/>
              </a:rPr>
              <a:t>Inspection Planner + Field App</a:t>
            </a:r>
            <a:pPr algn="l" indent="0" marL="0">
              <a:buNone/>
            </a:pPr>
            <a:r>
              <a:rPr lang="en-US" sz="1820" b="1" dirty="0">
                <a:solidFill>
                  <a:srgbClr val="2A4D88"/>
                </a:solidFill>
                <a:latin typeface="Calibri" pitchFamily="34" charset="0"/>
                <a:ea typeface="Calibri" pitchFamily="34" charset="-122"/>
                <a:cs typeface="Calibri" pitchFamily="34" charset="-120"/>
              </a:rPr>
              <a:t>: </a:t>
            </a:r>
            <a:pPr algn="l" indent="0" marL="0">
              <a:buNone/>
            </a:pPr>
            <a:r>
              <a:rPr lang="en-US" sz="1820" dirty="0">
                <a:solidFill>
                  <a:srgbClr val="1A2F57"/>
                </a:solidFill>
                <a:latin typeface="Calibri" pitchFamily="34" charset="0"/>
                <a:ea typeface="Calibri" pitchFamily="34" charset="-122"/>
                <a:cs typeface="Calibri" pitchFamily="34" charset="-120"/>
              </a:rPr>
              <a:t>picks works for mandatory inspections, routed; verdicts retrain the agents.</a:t>
            </a:r>
            <a:endParaRPr lang="en-US" sz="1820" dirty="0"/>
          </a:p>
        </p:txBody>
      </p:sp>
      <p:sp>
        <p:nvSpPr>
          <p:cNvPr id="20" name="Shape 14"/>
          <p:cNvSpPr/>
          <p:nvPr/>
        </p:nvSpPr>
        <p:spPr>
          <a:xfrm>
            <a:off x="6428740" y="3350260"/>
            <a:ext cx="5430520" cy="3585210"/>
          </a:xfrm>
          <a:prstGeom prst="roundRect">
            <a:avLst>
              <a:gd name="adj" fmla="val 3897"/>
            </a:avLst>
          </a:prstGeom>
          <a:solidFill>
            <a:srgbClr val="EDF0F5"/>
          </a:solidFill>
          <a:ln/>
        </p:spPr>
      </p:sp>
      <p:sp>
        <p:nvSpPr>
          <p:cNvPr id="21" name="Shape 15"/>
          <p:cNvSpPr/>
          <p:nvPr/>
        </p:nvSpPr>
        <p:spPr>
          <a:xfrm>
            <a:off x="6676390" y="3075940"/>
            <a:ext cx="4805680" cy="567690"/>
          </a:xfrm>
          <a:prstGeom prst="roundRect">
            <a:avLst>
              <a:gd name="adj" fmla="val 50000"/>
            </a:avLst>
          </a:prstGeom>
          <a:solidFill>
            <a:srgbClr val="2A4D88"/>
          </a:solidFill>
          <a:ln/>
        </p:spPr>
      </p:sp>
      <p:pic>
        <p:nvPicPr>
          <p:cNvPr id="22" name="Image 4" descr="C:\Users\abhim\drishti\docs\deck\assets\icons\circle-check_w.png">    </p:cNvPr>
          <p:cNvPicPr>
            <a:picLocks noChangeAspect="1"/>
          </p:cNvPicPr>
          <p:nvPr/>
        </p:nvPicPr>
        <p:blipFill>
          <a:blip r:embed="rId5"/>
          <a:stretch>
            <a:fillRect/>
          </a:stretch>
        </p:blipFill>
        <p:spPr>
          <a:xfrm>
            <a:off x="6847840" y="3187700"/>
            <a:ext cx="317500" cy="317500"/>
          </a:xfrm>
          <a:prstGeom prst="rect">
            <a:avLst/>
          </a:prstGeom>
        </p:spPr>
      </p:pic>
      <p:sp>
        <p:nvSpPr>
          <p:cNvPr id="23" name="Text 16"/>
          <p:cNvSpPr txBox="1"/>
          <p:nvPr/>
        </p:nvSpPr>
        <p:spPr>
          <a:xfrm>
            <a:off x="7270750" y="3086100"/>
            <a:ext cx="4170680" cy="546100"/>
          </a:xfrm>
          <a:prstGeom prst="rect">
            <a:avLst/>
          </a:prstGeom>
          <a:noFill/>
          <a:ln/>
        </p:spPr>
        <p:txBody>
          <a:bodyPr wrap="square" lIns="0" tIns="0" rIns="0" bIns="0" rtlCol="0" anchor="ctr"/>
          <a:lstStyle/>
          <a:p>
            <a:pPr algn="l" indent="0" marL="0">
              <a:buNone/>
            </a:pPr>
            <a:r>
              <a:rPr lang="en-US" sz="1580" b="1" dirty="0">
                <a:solidFill>
                  <a:srgbClr val="FFFFFF"/>
                </a:solidFill>
                <a:latin typeface="Cambria" pitchFamily="34" charset="0"/>
                <a:ea typeface="Cambria" pitchFamily="34" charset="-122"/>
                <a:cs typeface="Cambria" pitchFamily="34" charset="-120"/>
              </a:rPr>
              <a:t>HOW IT ADDRESSES THE PROBLEM</a:t>
            </a:r>
            <a:endParaRPr lang="en-US" sz="1580" dirty="0"/>
          </a:p>
        </p:txBody>
      </p:sp>
      <p:sp>
        <p:nvSpPr>
          <p:cNvPr id="24" name="Text 17"/>
          <p:cNvSpPr txBox="1"/>
          <p:nvPr/>
        </p:nvSpPr>
        <p:spPr>
          <a:xfrm>
            <a:off x="6924040" y="3771900"/>
            <a:ext cx="4762500" cy="3098800"/>
          </a:xfrm>
          <a:prstGeom prst="rect">
            <a:avLst/>
          </a:prstGeom>
          <a:noFill/>
          <a:ln/>
        </p:spPr>
        <p:txBody>
          <a:bodyPr wrap="square" lIns="0" tIns="0" rIns="0" bIns="0" rtlCol="0" anchor="t"/>
          <a:lstStyle/>
          <a:p>
            <a:pPr algn="l" marL="177800" indent="-177800">
              <a:buSzPct val="100000"/>
              <a:buChar char="•"/>
            </a:pPr>
            <a:r>
              <a:rPr lang="en-US" sz="1820" b="1" dirty="0">
                <a:solidFill>
                  <a:srgbClr val="1A2F57"/>
                </a:solidFill>
                <a:latin typeface="Calibri" pitchFamily="34" charset="0"/>
                <a:ea typeface="Calibri" pitchFamily="34" charset="-122"/>
                <a:cs typeface="Calibri" pitchFamily="34" charset="-120"/>
              </a:rPr>
              <a:t>Manual monitoring can't scale</a:t>
            </a:r>
            <a:pPr algn="l" indent="0" marL="0">
              <a:buNone/>
            </a:pPr>
            <a:r>
              <a:rPr lang="en-US" sz="1820" b="1" dirty="0">
                <a:solidFill>
                  <a:srgbClr val="2A4D88"/>
                </a:solidFill>
                <a:latin typeface="Calibri" pitchFamily="34" charset="0"/>
                <a:ea typeface="Calibri" pitchFamily="34" charset="-122"/>
                <a:cs typeface="Calibri" pitchFamily="34" charset="-120"/>
              </a:rPr>
              <a:t> → </a:t>
            </a:r>
            <a:pPr algn="l" indent="0" marL="0">
              <a:buNone/>
            </a:pPr>
            <a:r>
              <a:rPr lang="en-US" sz="1820" dirty="0">
                <a:solidFill>
                  <a:srgbClr val="1A2F57"/>
                </a:solidFill>
                <a:latin typeface="Calibri" pitchFamily="34" charset="0"/>
                <a:ea typeface="Calibri" pitchFamily="34" charset="-122"/>
                <a:cs typeface="Calibri" pitchFamily="34" charset="-120"/>
              </a:rPr>
              <a:t>every work screened automatically, every day.</a:t>
            </a:r>
            <a:endParaRPr lang="en-US" sz="1820" dirty="0"/>
          </a:p>
          <a:p>
            <a:pPr algn="l" marL="177800" indent="-177800">
              <a:buSzPct val="100000"/>
              <a:buChar char="•"/>
            </a:pPr>
            <a:r>
              <a:rPr lang="en-US" sz="1820" b="1" dirty="0">
                <a:solidFill>
                  <a:srgbClr val="1A2F57"/>
                </a:solidFill>
                <a:latin typeface="Calibri" pitchFamily="34" charset="0"/>
                <a:ea typeface="Calibri" pitchFamily="34" charset="-122"/>
                <a:cs typeface="Calibri" pitchFamily="34" charset="-120"/>
              </a:rPr>
              <a:t>Money moves before checks</a:t>
            </a:r>
            <a:pPr algn="l" indent="0" marL="0">
              <a:buNone/>
            </a:pPr>
            <a:r>
              <a:rPr lang="en-US" sz="1820" b="1" dirty="0">
                <a:solidFill>
                  <a:srgbClr val="2A4D88"/>
                </a:solidFill>
                <a:latin typeface="Calibri" pitchFamily="34" charset="0"/>
                <a:ea typeface="Calibri" pitchFamily="34" charset="-122"/>
                <a:cs typeface="Calibri" pitchFamily="34" charset="-120"/>
              </a:rPr>
              <a:t> → </a:t>
            </a:r>
            <a:pPr algn="l" indent="0" marL="0">
              <a:buNone/>
            </a:pPr>
            <a:r>
              <a:rPr lang="en-US" sz="1820" dirty="0">
                <a:solidFill>
                  <a:srgbClr val="1A2F57"/>
                </a:solidFill>
                <a:latin typeface="Calibri" pitchFamily="34" charset="0"/>
                <a:ea typeface="Calibri" pitchFamily="34" charset="-122"/>
                <a:cs typeface="Calibri" pitchFamily="34" charset="-120"/>
              </a:rPr>
              <a:t>pre-sanction check inside the 45-day window.</a:t>
            </a:r>
            <a:endParaRPr lang="en-US" sz="1820" dirty="0"/>
          </a:p>
          <a:p>
            <a:pPr algn="l" marL="177800" indent="-177800">
              <a:buSzPct val="100000"/>
              <a:buChar char="•"/>
            </a:pPr>
            <a:r>
              <a:rPr lang="en-US" sz="1820" b="1" dirty="0">
                <a:solidFill>
                  <a:srgbClr val="1A2F57"/>
                </a:solidFill>
                <a:latin typeface="Calibri" pitchFamily="34" charset="0"/>
                <a:ea typeface="Calibri" pitchFamily="34" charset="-122"/>
                <a:cs typeface="Calibri" pitchFamily="34" charset="-120"/>
              </a:rPr>
              <a:t>Evidence uploaded, never checked</a:t>
            </a:r>
            <a:pPr algn="l" indent="0" marL="0">
              <a:buNone/>
            </a:pPr>
            <a:r>
              <a:rPr lang="en-US" sz="1820" b="1" dirty="0">
                <a:solidFill>
                  <a:srgbClr val="2A4D88"/>
                </a:solidFill>
                <a:latin typeface="Calibri" pitchFamily="34" charset="0"/>
                <a:ea typeface="Calibri" pitchFamily="34" charset="-122"/>
                <a:cs typeface="Calibri" pitchFamily="34" charset="-120"/>
              </a:rPr>
              <a:t> → </a:t>
            </a:r>
            <a:pPr algn="l" indent="0" marL="0">
              <a:buNone/>
            </a:pPr>
            <a:r>
              <a:rPr lang="en-US" sz="1820" dirty="0">
                <a:solidFill>
                  <a:srgbClr val="1A2F57"/>
                </a:solidFill>
                <a:latin typeface="Calibri" pitchFamily="34" charset="0"/>
                <a:ea typeface="Calibri" pitchFamily="34" charset="-122"/>
                <a:cs typeface="Calibri" pitchFamily="34" charset="-120"/>
              </a:rPr>
              <a:t>every photo &amp; bill read, compared and placed on the map.</a:t>
            </a:r>
            <a:endParaRPr lang="en-US" sz="1820" dirty="0"/>
          </a:p>
          <a:p>
            <a:pPr algn="l" marL="177800" indent="-177800">
              <a:buSzPct val="100000"/>
              <a:buChar char="•"/>
            </a:pPr>
            <a:r>
              <a:rPr lang="en-US" sz="1820" b="1" dirty="0">
                <a:solidFill>
                  <a:srgbClr val="1A2F57"/>
                </a:solidFill>
                <a:latin typeface="Calibri" pitchFamily="34" charset="0"/>
                <a:ea typeface="Calibri" pitchFamily="34" charset="-122"/>
                <a:cs typeface="Calibri" pitchFamily="34" charset="-120"/>
              </a:rPr>
              <a:t>Many alerts, few officers</a:t>
            </a:r>
            <a:pPr algn="l" indent="0" marL="0">
              <a:buNone/>
            </a:pPr>
            <a:r>
              <a:rPr lang="en-US" sz="1820" b="1" dirty="0">
                <a:solidFill>
                  <a:srgbClr val="2A4D88"/>
                </a:solidFill>
                <a:latin typeface="Calibri" pitchFamily="34" charset="0"/>
                <a:ea typeface="Calibri" pitchFamily="34" charset="-122"/>
                <a:cs typeface="Calibri" pitchFamily="34" charset="-120"/>
              </a:rPr>
              <a:t> → </a:t>
            </a:r>
            <a:pPr algn="l" indent="0" marL="0">
              <a:buNone/>
            </a:pPr>
            <a:r>
              <a:rPr lang="en-US" sz="1820" dirty="0">
                <a:solidFill>
                  <a:srgbClr val="1A2F57"/>
                </a:solidFill>
                <a:latin typeface="Calibri" pitchFamily="34" charset="0"/>
                <a:ea typeface="Calibri" pitchFamily="34" charset="-122"/>
                <a:cs typeface="Calibri" pitchFamily="34" charset="-120"/>
              </a:rPr>
              <a:t>risk-ranked queue + optimised visit route.</a:t>
            </a:r>
            <a:endParaRPr lang="en-US" sz="1820" dirty="0"/>
          </a:p>
        </p:txBody>
      </p:sp>
      <p:sp>
        <p:nvSpPr>
          <p:cNvPr id="25" name="Shape 18"/>
          <p:cNvSpPr/>
          <p:nvPr/>
        </p:nvSpPr>
        <p:spPr>
          <a:xfrm>
            <a:off x="12250420" y="3350260"/>
            <a:ext cx="5430520" cy="3585210"/>
          </a:xfrm>
          <a:prstGeom prst="roundRect">
            <a:avLst>
              <a:gd name="adj" fmla="val 3897"/>
            </a:avLst>
          </a:prstGeom>
          <a:solidFill>
            <a:srgbClr val="EDF0F5"/>
          </a:solidFill>
          <a:ln/>
        </p:spPr>
      </p:sp>
      <p:sp>
        <p:nvSpPr>
          <p:cNvPr id="26" name="Shape 19"/>
          <p:cNvSpPr/>
          <p:nvPr/>
        </p:nvSpPr>
        <p:spPr>
          <a:xfrm>
            <a:off x="12498070" y="3075940"/>
            <a:ext cx="4086860" cy="567690"/>
          </a:xfrm>
          <a:prstGeom prst="roundRect">
            <a:avLst>
              <a:gd name="adj" fmla="val 50000"/>
            </a:avLst>
          </a:prstGeom>
          <a:solidFill>
            <a:srgbClr val="D9962B"/>
          </a:solidFill>
          <a:ln/>
        </p:spPr>
      </p:sp>
      <p:pic>
        <p:nvPicPr>
          <p:cNvPr id="27" name="Image 5" descr="C:\Users\abhim\drishti\docs\deck\assets\icons\star_w.png">    </p:cNvPr>
          <p:cNvPicPr>
            <a:picLocks noChangeAspect="1"/>
          </p:cNvPicPr>
          <p:nvPr/>
        </p:nvPicPr>
        <p:blipFill>
          <a:blip r:embed="rId6"/>
          <a:stretch>
            <a:fillRect/>
          </a:stretch>
        </p:blipFill>
        <p:spPr>
          <a:xfrm>
            <a:off x="12669520" y="3187700"/>
            <a:ext cx="317500" cy="317500"/>
          </a:xfrm>
          <a:prstGeom prst="rect">
            <a:avLst/>
          </a:prstGeom>
        </p:spPr>
      </p:pic>
      <p:sp>
        <p:nvSpPr>
          <p:cNvPr id="28" name="Text 20"/>
          <p:cNvSpPr txBox="1"/>
          <p:nvPr/>
        </p:nvSpPr>
        <p:spPr>
          <a:xfrm>
            <a:off x="13092430" y="3086100"/>
            <a:ext cx="3451860" cy="546100"/>
          </a:xfrm>
          <a:prstGeom prst="rect">
            <a:avLst/>
          </a:prstGeom>
          <a:noFill/>
          <a:ln/>
        </p:spPr>
        <p:txBody>
          <a:bodyPr wrap="square" lIns="0" tIns="0" rIns="0" bIns="0" rtlCol="0" anchor="ctr"/>
          <a:lstStyle/>
          <a:p>
            <a:pPr algn="l" indent="0" marL="0">
              <a:buNone/>
            </a:pPr>
            <a:r>
              <a:rPr lang="en-US" sz="1580" b="1" dirty="0">
                <a:solidFill>
                  <a:srgbClr val="FFFFFF"/>
                </a:solidFill>
                <a:latin typeface="Cambria" pitchFamily="34" charset="0"/>
                <a:ea typeface="Cambria" pitchFamily="34" charset="-122"/>
                <a:cs typeface="Cambria" pitchFamily="34" charset="-120"/>
              </a:rPr>
              <a:t>INNOVATION &amp; UNIQUENESS</a:t>
            </a:r>
            <a:endParaRPr lang="en-US" sz="1580" dirty="0"/>
          </a:p>
        </p:txBody>
      </p:sp>
      <p:sp>
        <p:nvSpPr>
          <p:cNvPr id="29" name="Text 21"/>
          <p:cNvSpPr txBox="1"/>
          <p:nvPr/>
        </p:nvSpPr>
        <p:spPr>
          <a:xfrm>
            <a:off x="12745720" y="3771900"/>
            <a:ext cx="4762500" cy="3098800"/>
          </a:xfrm>
          <a:prstGeom prst="rect">
            <a:avLst/>
          </a:prstGeom>
          <a:noFill/>
          <a:ln/>
        </p:spPr>
        <p:txBody>
          <a:bodyPr wrap="square" lIns="0" tIns="0" rIns="0" bIns="0" rtlCol="0" anchor="t"/>
          <a:lstStyle/>
          <a:p>
            <a:pPr algn="l" marL="177800" indent="-177800">
              <a:buSzPct val="100000"/>
              <a:buChar char="•"/>
            </a:pPr>
            <a:r>
              <a:rPr lang="en-US" sz="1820" b="1" dirty="0">
                <a:solidFill>
                  <a:srgbClr val="B87512"/>
                </a:solidFill>
                <a:latin typeface="Calibri" pitchFamily="34" charset="0"/>
                <a:ea typeface="Calibri" pitchFamily="34" charset="-122"/>
                <a:cs typeface="Calibri" pitchFamily="34" charset="-120"/>
              </a:rPr>
              <a:t>Reads eSAKSHI's own evidence</a:t>
            </a:r>
            <a:pPr algn="l" indent="0" marL="0">
              <a:buNone/>
            </a:pPr>
            <a:r>
              <a:rPr lang="en-US" sz="1820" b="1" dirty="0">
                <a:solidFill>
                  <a:srgbClr val="B87512"/>
                </a:solidFill>
                <a:latin typeface="Calibri" pitchFamily="34" charset="0"/>
                <a:ea typeface="Calibri" pitchFamily="34" charset="-122"/>
                <a:cs typeface="Calibri" pitchFamily="34" charset="-120"/>
              </a:rPr>
              <a:t>: </a:t>
            </a:r>
            <a:pPr algn="l" indent="0" marL="0">
              <a:buNone/>
            </a:pPr>
            <a:r>
              <a:rPr lang="en-US" sz="1820" dirty="0">
                <a:solidFill>
                  <a:srgbClr val="1A2F57"/>
                </a:solidFill>
                <a:latin typeface="Calibri" pitchFamily="34" charset="0"/>
                <a:ea typeface="Calibri" pitchFamily="34" charset="-122"/>
                <a:cs typeface="Calibri" pitchFamily="34" charset="-120"/>
              </a:rPr>
              <a:t>spots reused photos, wrong locations, missing plaques and bills that don't add up.</a:t>
            </a:r>
            <a:endParaRPr lang="en-US" sz="1820" dirty="0"/>
          </a:p>
          <a:p>
            <a:pPr algn="l" marL="177800" indent="-177800">
              <a:buSzPct val="100000"/>
              <a:buChar char="•"/>
            </a:pPr>
            <a:r>
              <a:rPr lang="en-US" sz="1820" b="1" dirty="0">
                <a:solidFill>
                  <a:srgbClr val="B87512"/>
                </a:solidFill>
                <a:latin typeface="Calibri" pitchFamily="34" charset="0"/>
                <a:ea typeface="Calibri" pitchFamily="34" charset="-122"/>
                <a:cs typeface="Calibri" pitchFamily="34" charset="-120"/>
              </a:rPr>
              <a:t>Proven, then measured</a:t>
            </a:r>
            <a:pPr algn="l" indent="0" marL="0">
              <a:buNone/>
            </a:pPr>
            <a:r>
              <a:rPr lang="en-US" sz="1820" b="1" dirty="0">
                <a:solidFill>
                  <a:srgbClr val="B87512"/>
                </a:solidFill>
                <a:latin typeface="Calibri" pitchFamily="34" charset="0"/>
                <a:ea typeface="Calibri" pitchFamily="34" charset="-122"/>
                <a:cs typeface="Calibri" pitchFamily="34" charset="-120"/>
              </a:rPr>
              <a:t>: </a:t>
            </a:r>
            <a:pPr algn="l" indent="0" marL="0">
              <a:buNone/>
            </a:pPr>
            <a:r>
              <a:rPr lang="en-US" sz="1820" dirty="0">
                <a:solidFill>
                  <a:srgbClr val="1A2F57"/>
                </a:solidFill>
                <a:latin typeface="Calibri" pitchFamily="34" charset="0"/>
                <a:ea typeface="Calibri" pitchFamily="34" charset="-122"/>
                <a:cs typeface="Calibri" pitchFamily="34" charset="-120"/>
              </a:rPr>
              <a:t>methods India already runs at scale (PMAY-G, Amrit Sarovar); each agent is measured on real data first.</a:t>
            </a:r>
            <a:endParaRPr lang="en-US" sz="1820" dirty="0"/>
          </a:p>
          <a:p>
            <a:pPr algn="l" marL="177800" indent="-177800">
              <a:buSzPct val="100000"/>
              <a:buChar char="•"/>
            </a:pPr>
            <a:r>
              <a:rPr lang="en-US" sz="1820" b="1" dirty="0">
                <a:solidFill>
                  <a:srgbClr val="B87512"/>
                </a:solidFill>
                <a:latin typeface="Calibri" pitchFamily="34" charset="0"/>
                <a:ea typeface="Calibri" pitchFamily="34" charset="-122"/>
                <a:cs typeface="Calibri" pitchFamily="34" charset="-120"/>
              </a:rPr>
              <a:t>Clause-cited, human-in-the-loop</a:t>
            </a:r>
            <a:pPr algn="l" indent="0" marL="0">
              <a:buNone/>
            </a:pPr>
            <a:r>
              <a:rPr lang="en-US" sz="1820" b="1" dirty="0">
                <a:solidFill>
                  <a:srgbClr val="B87512"/>
                </a:solidFill>
                <a:latin typeface="Calibri" pitchFamily="34" charset="0"/>
                <a:ea typeface="Calibri" pitchFamily="34" charset="-122"/>
                <a:cs typeface="Calibri" pitchFamily="34" charset="-120"/>
              </a:rPr>
              <a:t>: </a:t>
            </a:r>
            <a:pPr algn="l" indent="0" marL="0">
              <a:buNone/>
            </a:pPr>
            <a:r>
              <a:rPr lang="en-US" sz="1820" dirty="0">
                <a:solidFill>
                  <a:srgbClr val="1A2F57"/>
                </a:solidFill>
                <a:latin typeface="Calibri" pitchFamily="34" charset="0"/>
                <a:ea typeface="Calibri" pitchFamily="34" charset="-122"/>
                <a:cs typeface="Calibri" pitchFamily="34" charset="-120"/>
              </a:rPr>
              <a:t>every flag cites the guideline; flags for review, never accuses.</a:t>
            </a:r>
            <a:endParaRPr lang="en-US" sz="1820" dirty="0"/>
          </a:p>
          <a:p>
            <a:pPr algn="l" marL="177800" indent="-177800">
              <a:buSzPct val="100000"/>
              <a:buChar char="•"/>
            </a:pPr>
            <a:r>
              <a:rPr lang="en-US" sz="1820" b="1" dirty="0">
                <a:solidFill>
                  <a:srgbClr val="B87512"/>
                </a:solidFill>
                <a:latin typeface="Calibri" pitchFamily="34" charset="0"/>
                <a:ea typeface="Calibri" pitchFamily="34" charset="-122"/>
                <a:cs typeface="Calibri" pitchFamily="34" charset="-120"/>
              </a:rPr>
              <a:t>Learns from the field</a:t>
            </a:r>
            <a:pPr algn="l" indent="0" marL="0">
              <a:buNone/>
            </a:pPr>
            <a:r>
              <a:rPr lang="en-US" sz="1820" b="1" dirty="0">
                <a:solidFill>
                  <a:srgbClr val="B87512"/>
                </a:solidFill>
                <a:latin typeface="Calibri" pitchFamily="34" charset="0"/>
                <a:ea typeface="Calibri" pitchFamily="34" charset="-122"/>
                <a:cs typeface="Calibri" pitchFamily="34" charset="-120"/>
              </a:rPr>
              <a:t>: </a:t>
            </a:r>
            <a:pPr algn="l" indent="0" marL="0">
              <a:buNone/>
            </a:pPr>
            <a:r>
              <a:rPr lang="en-US" sz="1820" dirty="0">
                <a:solidFill>
                  <a:srgbClr val="1A2F57"/>
                </a:solidFill>
                <a:latin typeface="Calibri" pitchFamily="34" charset="0"/>
                <a:ea typeface="Calibri" pitchFamily="34" charset="-122"/>
                <a:cs typeface="Calibri" pitchFamily="34" charset="-120"/>
              </a:rPr>
              <a:t>officer verdicts become labels, solving the “no fraud labels” problem.</a:t>
            </a:r>
            <a:endParaRPr lang="en-US" sz="1820" dirty="0"/>
          </a:p>
        </p:txBody>
      </p:sp>
      <p:sp>
        <p:nvSpPr>
          <p:cNvPr id="30" name="Text 22"/>
          <p:cNvSpPr txBox="1"/>
          <p:nvPr/>
        </p:nvSpPr>
        <p:spPr>
          <a:xfrm>
            <a:off x="617220" y="7188200"/>
            <a:ext cx="16510000" cy="279400"/>
          </a:xfrm>
          <a:prstGeom prst="rect">
            <a:avLst/>
          </a:prstGeom>
          <a:noFill/>
          <a:ln/>
        </p:spPr>
        <p:txBody>
          <a:bodyPr wrap="square" lIns="0" tIns="0" rIns="0" bIns="0" rtlCol="0" anchor="t"/>
          <a:lstStyle/>
          <a:p>
            <a:pPr algn="l" indent="0" marL="0">
              <a:buNone/>
            </a:pPr>
            <a:r>
              <a:rPr lang="en-US" sz="1720" b="1" spc="300" kern="0" dirty="0">
                <a:solidFill>
                  <a:srgbClr val="2A4D88"/>
                </a:solidFill>
                <a:latin typeface="Calibri" pitchFamily="34" charset="0"/>
                <a:ea typeface="Calibri" pitchFamily="34" charset="-122"/>
                <a:cs typeface="Calibri" pitchFamily="34" charset="-120"/>
              </a:rPr>
              <a:t>12 AI AGENTS ACROSS THE LIFE OF A WORK  —  EVERY PS REQUIREMENT COVERED</a:t>
            </a:r>
            <a:endParaRPr lang="en-US" sz="1720" dirty="0"/>
          </a:p>
        </p:txBody>
      </p:sp>
      <p:sp>
        <p:nvSpPr>
          <p:cNvPr id="31" name="Shape 23"/>
          <p:cNvSpPr/>
          <p:nvPr/>
        </p:nvSpPr>
        <p:spPr>
          <a:xfrm>
            <a:off x="607060" y="7569200"/>
            <a:ext cx="4077970" cy="2032000"/>
          </a:xfrm>
          <a:prstGeom prst="roundRect">
            <a:avLst>
              <a:gd name="adj" fmla="val 6875"/>
            </a:avLst>
          </a:prstGeom>
          <a:solidFill>
            <a:srgbClr val="FFFFFF"/>
          </a:solidFill>
          <a:ln w="19050">
            <a:solidFill>
              <a:srgbClr val="B1BBC8"/>
            </a:solidFill>
            <a:prstDash val="solid"/>
          </a:ln>
        </p:spPr>
      </p:sp>
      <p:sp>
        <p:nvSpPr>
          <p:cNvPr id="32" name="Shape 24"/>
          <p:cNvSpPr/>
          <p:nvPr/>
        </p:nvSpPr>
        <p:spPr>
          <a:xfrm>
            <a:off x="759460" y="7708900"/>
            <a:ext cx="457200" cy="457200"/>
          </a:xfrm>
          <a:prstGeom prst="ellipse">
            <a:avLst/>
          </a:prstGeom>
          <a:solidFill>
            <a:srgbClr val="2A4D88"/>
          </a:solidFill>
          <a:ln/>
        </p:spPr>
      </p:sp>
      <p:pic>
        <p:nvPicPr>
          <p:cNvPr id="33" name="Image 6" descr="C:\Users\abhim\drishti\docs\deck\assets\icons\file-signature_w.png">    </p:cNvPr>
          <p:cNvPicPr>
            <a:picLocks noChangeAspect="1"/>
          </p:cNvPicPr>
          <p:nvPr/>
        </p:nvPicPr>
        <p:blipFill>
          <a:blip r:embed="rId7"/>
          <a:stretch>
            <a:fillRect/>
          </a:stretch>
        </p:blipFill>
        <p:spPr>
          <a:xfrm>
            <a:off x="873760" y="7823200"/>
            <a:ext cx="228600" cy="228600"/>
          </a:xfrm>
          <a:prstGeom prst="rect">
            <a:avLst/>
          </a:prstGeom>
        </p:spPr>
      </p:pic>
      <p:sp>
        <p:nvSpPr>
          <p:cNvPr id="34" name="Text 25"/>
          <p:cNvSpPr txBox="1"/>
          <p:nvPr/>
        </p:nvSpPr>
        <p:spPr>
          <a:xfrm>
            <a:off x="1318260" y="7708900"/>
            <a:ext cx="3239770" cy="457200"/>
          </a:xfrm>
          <a:prstGeom prst="rect">
            <a:avLst/>
          </a:prstGeom>
          <a:noFill/>
          <a:ln/>
        </p:spPr>
        <p:txBody>
          <a:bodyPr wrap="square" lIns="0" tIns="0" rIns="0" bIns="0" rtlCol="0" anchor="ctr"/>
          <a:lstStyle/>
          <a:p>
            <a:pPr algn="l" indent="0" marL="0">
              <a:buNone/>
            </a:pPr>
            <a:r>
              <a:rPr lang="en-US" sz="1650" b="1" spc="100" kern="0" dirty="0">
                <a:solidFill>
                  <a:srgbClr val="2A4D88"/>
                </a:solidFill>
                <a:latin typeface="Calibri" pitchFamily="34" charset="0"/>
                <a:ea typeface="Calibri" pitchFamily="34" charset="-122"/>
                <a:cs typeface="Calibri" pitchFamily="34" charset="-120"/>
              </a:rPr>
              <a:t>BEFORE SANCTION</a:t>
            </a:r>
            <a:endParaRPr lang="en-US" sz="1650" dirty="0"/>
          </a:p>
        </p:txBody>
      </p:sp>
      <p:sp>
        <p:nvSpPr>
          <p:cNvPr id="35" name="Text 26"/>
          <p:cNvSpPr txBox="1"/>
          <p:nvPr/>
        </p:nvSpPr>
        <p:spPr>
          <a:xfrm>
            <a:off x="784860" y="8267700"/>
            <a:ext cx="3773170" cy="755650"/>
          </a:xfrm>
          <a:prstGeom prst="rect">
            <a:avLst/>
          </a:prstGeom>
          <a:noFill/>
          <a:ln/>
        </p:spPr>
        <p:txBody>
          <a:bodyPr wrap="square" lIns="0" tIns="0" rIns="0" bIns="0" rtlCol="0" anchor="t"/>
          <a:lstStyle/>
          <a:p>
            <a:pPr algn="l" indent="0" marL="0">
              <a:buNone/>
            </a:pPr>
            <a:r>
              <a:rPr lang="en-US" sz="1450" b="1" dirty="0">
                <a:solidFill>
                  <a:srgbClr val="2A4D88"/>
                </a:solidFill>
                <a:latin typeface="Calibri" pitchFamily="34" charset="0"/>
                <a:ea typeface="Calibri" pitchFamily="34" charset="-122"/>
                <a:cs typeface="Calibri" pitchFamily="34" charset="-120"/>
              </a:rPr>
              <a:t>Eligibility</a:t>
            </a:r>
            <a:pPr algn="l" indent="0" marL="0">
              <a:buNone/>
            </a:pPr>
            <a:r>
              <a:rPr lang="en-US" sz="1450" dirty="0">
                <a:solidFill>
                  <a:srgbClr val="1A2F57"/>
                </a:solidFill>
                <a:latin typeface="Calibri" pitchFamily="34" charset="0"/>
                <a:ea typeface="Calibri" pitchFamily="34" charset="-122"/>
                <a:cs typeface="Calibri" pitchFamily="34" charset="-120"/>
              </a:rPr>
              <a:t> — works the rules don't allow</a:t>
            </a:r>
            <a:endParaRPr lang="en-US" sz="1450" dirty="0"/>
          </a:p>
          <a:p>
            <a:pPr algn="l" indent="0" marL="0">
              <a:buNone/>
            </a:pPr>
            <a:r>
              <a:rPr lang="en-US" sz="1450" b="1" dirty="0">
                <a:solidFill>
                  <a:srgbClr val="2A4D88"/>
                </a:solidFill>
                <a:latin typeface="Calibri" pitchFamily="34" charset="0"/>
                <a:ea typeface="Calibri" pitchFamily="34" charset="-122"/>
                <a:cs typeface="Calibri" pitchFamily="34" charset="-120"/>
              </a:rPr>
              <a:t>Duplicate &amp; Split</a:t>
            </a:r>
            <a:pPr algn="l" indent="0" marL="0">
              <a:buNone/>
            </a:pPr>
            <a:r>
              <a:rPr lang="en-US" sz="1450" dirty="0">
                <a:solidFill>
                  <a:srgbClr val="1A2F57"/>
                </a:solidFill>
                <a:latin typeface="Calibri" pitchFamily="34" charset="0"/>
                <a:ea typeface="Calibri" pitchFamily="34" charset="-122"/>
                <a:cs typeface="Calibri" pitchFamily="34" charset="-120"/>
              </a:rPr>
              <a:t> — funded twice, or split up</a:t>
            </a:r>
            <a:endParaRPr lang="en-US" sz="1450" dirty="0"/>
          </a:p>
          <a:p>
            <a:pPr algn="l" indent="0" marL="0">
              <a:buNone/>
            </a:pPr>
            <a:r>
              <a:rPr lang="en-US" sz="1450" b="1" dirty="0">
                <a:solidFill>
                  <a:srgbClr val="2A4D88"/>
                </a:solidFill>
                <a:latin typeface="Calibri" pitchFamily="34" charset="0"/>
                <a:ea typeface="Calibri" pitchFamily="34" charset="-122"/>
                <a:cs typeface="Calibri" pitchFamily="34" charset="-120"/>
              </a:rPr>
              <a:t>Cost</a:t>
            </a:r>
            <a:pPr algn="l" indent="0" marL="0">
              <a:buNone/>
            </a:pPr>
            <a:r>
              <a:rPr lang="en-US" sz="1450" dirty="0">
                <a:solidFill>
                  <a:srgbClr val="1A2F57"/>
                </a:solidFill>
                <a:latin typeface="Calibri" pitchFamily="34" charset="0"/>
                <a:ea typeface="Calibri" pitchFamily="34" charset="-122"/>
                <a:cs typeface="Calibri" pitchFamily="34" charset="-120"/>
              </a:rPr>
              <a:t> — cost overruns &amp; padded estimates</a:t>
            </a:r>
            <a:endParaRPr lang="en-US" sz="1450" dirty="0"/>
          </a:p>
        </p:txBody>
      </p:sp>
      <p:sp>
        <p:nvSpPr>
          <p:cNvPr id="36" name="Shape 27"/>
          <p:cNvSpPr/>
          <p:nvPr/>
        </p:nvSpPr>
        <p:spPr>
          <a:xfrm>
            <a:off x="4939030" y="7569200"/>
            <a:ext cx="4077970" cy="2032000"/>
          </a:xfrm>
          <a:prstGeom prst="roundRect">
            <a:avLst>
              <a:gd name="adj" fmla="val 6875"/>
            </a:avLst>
          </a:prstGeom>
          <a:solidFill>
            <a:srgbClr val="FFFFFF"/>
          </a:solidFill>
          <a:ln w="19050">
            <a:solidFill>
              <a:srgbClr val="B1BBC8"/>
            </a:solidFill>
            <a:prstDash val="solid"/>
          </a:ln>
        </p:spPr>
      </p:sp>
      <p:sp>
        <p:nvSpPr>
          <p:cNvPr id="37" name="Shape 28"/>
          <p:cNvSpPr/>
          <p:nvPr/>
        </p:nvSpPr>
        <p:spPr>
          <a:xfrm>
            <a:off x="5091430" y="7708900"/>
            <a:ext cx="457200" cy="457200"/>
          </a:xfrm>
          <a:prstGeom prst="ellipse">
            <a:avLst/>
          </a:prstGeom>
          <a:solidFill>
            <a:srgbClr val="2A4D88"/>
          </a:solidFill>
          <a:ln/>
        </p:spPr>
      </p:sp>
      <p:pic>
        <p:nvPicPr>
          <p:cNvPr id="38" name="Image 7" descr="C:\Users\abhim\drishti\docs\deck\assets\icons\helmet-safety_w.png">    </p:cNvPr>
          <p:cNvPicPr>
            <a:picLocks noChangeAspect="1"/>
          </p:cNvPicPr>
          <p:nvPr/>
        </p:nvPicPr>
        <p:blipFill>
          <a:blip r:embed="rId8"/>
          <a:stretch>
            <a:fillRect/>
          </a:stretch>
        </p:blipFill>
        <p:spPr>
          <a:xfrm>
            <a:off x="5205730" y="7823200"/>
            <a:ext cx="228600" cy="228600"/>
          </a:xfrm>
          <a:prstGeom prst="rect">
            <a:avLst/>
          </a:prstGeom>
        </p:spPr>
      </p:pic>
      <p:sp>
        <p:nvSpPr>
          <p:cNvPr id="39" name="Text 29"/>
          <p:cNvSpPr txBox="1"/>
          <p:nvPr/>
        </p:nvSpPr>
        <p:spPr>
          <a:xfrm>
            <a:off x="5650230" y="7708900"/>
            <a:ext cx="3239770" cy="457200"/>
          </a:xfrm>
          <a:prstGeom prst="rect">
            <a:avLst/>
          </a:prstGeom>
          <a:noFill/>
          <a:ln/>
        </p:spPr>
        <p:txBody>
          <a:bodyPr wrap="square" lIns="0" tIns="0" rIns="0" bIns="0" rtlCol="0" anchor="ctr"/>
          <a:lstStyle/>
          <a:p>
            <a:pPr algn="l" indent="0" marL="0">
              <a:buNone/>
            </a:pPr>
            <a:r>
              <a:rPr lang="en-US" sz="1650" b="1" spc="100" kern="0" dirty="0">
                <a:solidFill>
                  <a:srgbClr val="2A4D88"/>
                </a:solidFill>
                <a:latin typeface="Calibri" pitchFamily="34" charset="0"/>
                <a:ea typeface="Calibri" pitchFamily="34" charset="-122"/>
                <a:cs typeface="Calibri" pitchFamily="34" charset="-120"/>
              </a:rPr>
              <a:t>DURING CONSTRUCTION</a:t>
            </a:r>
            <a:endParaRPr lang="en-US" sz="1650" dirty="0"/>
          </a:p>
        </p:txBody>
      </p:sp>
      <p:sp>
        <p:nvSpPr>
          <p:cNvPr id="40" name="Text 30"/>
          <p:cNvSpPr txBox="1"/>
          <p:nvPr/>
        </p:nvSpPr>
        <p:spPr>
          <a:xfrm>
            <a:off x="5116830" y="8267700"/>
            <a:ext cx="3773170" cy="1225550"/>
          </a:xfrm>
          <a:prstGeom prst="rect">
            <a:avLst/>
          </a:prstGeom>
          <a:noFill/>
          <a:ln/>
        </p:spPr>
        <p:txBody>
          <a:bodyPr wrap="square" lIns="0" tIns="0" rIns="0" bIns="0" rtlCol="0" anchor="t"/>
          <a:lstStyle/>
          <a:p>
            <a:pPr algn="l" indent="0" marL="0">
              <a:buNone/>
            </a:pPr>
            <a:r>
              <a:rPr lang="en-US" sz="1450" b="1" dirty="0">
                <a:solidFill>
                  <a:srgbClr val="2A4D88"/>
                </a:solidFill>
                <a:latin typeface="Calibri" pitchFamily="34" charset="0"/>
                <a:ea typeface="Calibri" pitchFamily="34" charset="-122"/>
                <a:cs typeface="Calibri" pitchFamily="34" charset="-120"/>
              </a:rPr>
              <a:t>Site Progress</a:t>
            </a:r>
            <a:pPr algn="l" indent="0" marL="0">
              <a:buNone/>
            </a:pPr>
            <a:r>
              <a:rPr lang="en-US" sz="1450" dirty="0">
                <a:solidFill>
                  <a:srgbClr val="1A2F57"/>
                </a:solidFill>
                <a:latin typeface="Calibri" pitchFamily="34" charset="0"/>
                <a:ea typeface="Calibri" pitchFamily="34" charset="-122"/>
                <a:cs typeface="Calibri" pitchFamily="34" charset="-120"/>
              </a:rPr>
              <a:t> — claim vs photo, plaque check</a:t>
            </a:r>
            <a:endParaRPr lang="en-US" sz="1450" dirty="0"/>
          </a:p>
          <a:p>
            <a:pPr algn="l" indent="0" marL="0">
              <a:buNone/>
            </a:pPr>
            <a:r>
              <a:rPr lang="en-US" sz="1450" b="1" dirty="0">
                <a:solidFill>
                  <a:srgbClr val="2A4D88"/>
                </a:solidFill>
                <a:latin typeface="Calibri" pitchFamily="34" charset="0"/>
                <a:ea typeface="Calibri" pitchFamily="34" charset="-122"/>
                <a:cs typeface="Calibri" pitchFamily="34" charset="-120"/>
              </a:rPr>
              <a:t>Photo Forensics</a:t>
            </a:r>
            <a:pPr algn="l" indent="0" marL="0">
              <a:buNone/>
            </a:pPr>
            <a:r>
              <a:rPr lang="en-US" sz="1450" dirty="0">
                <a:solidFill>
                  <a:srgbClr val="1A2F57"/>
                </a:solidFill>
                <a:latin typeface="Calibri" pitchFamily="34" charset="0"/>
                <a:ea typeface="Calibri" pitchFamily="34" charset="-122"/>
                <a:cs typeface="Calibri" pitchFamily="34" charset="-120"/>
              </a:rPr>
              <a:t> — reused or edited photos</a:t>
            </a:r>
            <a:endParaRPr lang="en-US" sz="1450" dirty="0"/>
          </a:p>
          <a:p>
            <a:pPr algn="l" indent="0" marL="0">
              <a:buNone/>
            </a:pPr>
            <a:r>
              <a:rPr lang="en-US" sz="1450" b="1" dirty="0">
                <a:solidFill>
                  <a:srgbClr val="2A4D88"/>
                </a:solidFill>
                <a:latin typeface="Calibri" pitchFamily="34" charset="0"/>
                <a:ea typeface="Calibri" pitchFamily="34" charset="-122"/>
                <a:cs typeface="Calibri" pitchFamily="34" charset="-120"/>
              </a:rPr>
              <a:t>Geo-Location</a:t>
            </a:r>
            <a:pPr algn="l" indent="0" marL="0">
              <a:buNone/>
            </a:pPr>
            <a:r>
              <a:rPr lang="en-US" sz="1450" dirty="0">
                <a:solidFill>
                  <a:srgbClr val="1A2F57"/>
                </a:solidFill>
                <a:latin typeface="Calibri" pitchFamily="34" charset="0"/>
                <a:ea typeface="Calibri" pitchFamily="34" charset="-122"/>
                <a:cs typeface="Calibri" pitchFamily="34" charset="-120"/>
              </a:rPr>
              <a:t> — photo taken elsewhere</a:t>
            </a:r>
            <a:endParaRPr lang="en-US" sz="1450" dirty="0"/>
          </a:p>
          <a:p>
            <a:pPr algn="l" indent="0" marL="0">
              <a:buNone/>
            </a:pPr>
            <a:r>
              <a:rPr lang="en-US" sz="1450" b="1" dirty="0">
                <a:solidFill>
                  <a:srgbClr val="2A4D88"/>
                </a:solidFill>
                <a:latin typeface="Calibri" pitchFamily="34" charset="0"/>
                <a:ea typeface="Calibri" pitchFamily="34" charset="-122"/>
                <a:cs typeface="Calibri" pitchFamily="34" charset="-120"/>
              </a:rPr>
              <a:t>Document</a:t>
            </a:r>
            <a:pPr algn="l" indent="0" marL="0">
              <a:buNone/>
            </a:pPr>
            <a:r>
              <a:rPr lang="en-US" sz="1450" dirty="0">
                <a:solidFill>
                  <a:srgbClr val="1A2F57"/>
                </a:solidFill>
                <a:latin typeface="Calibri" pitchFamily="34" charset="0"/>
                <a:ea typeface="Calibri" pitchFamily="34" charset="-122"/>
                <a:cs typeface="Calibri" pitchFamily="34" charset="-120"/>
              </a:rPr>
              <a:t> — bills that don't add up</a:t>
            </a:r>
            <a:endParaRPr lang="en-US" sz="1450" dirty="0"/>
          </a:p>
          <a:p>
            <a:pPr algn="l" indent="0" marL="0">
              <a:buNone/>
            </a:pPr>
            <a:r>
              <a:rPr lang="en-US" sz="1450" b="1" dirty="0">
                <a:solidFill>
                  <a:srgbClr val="2A4D88"/>
                </a:solidFill>
                <a:latin typeface="Calibri" pitchFamily="34" charset="0"/>
                <a:ea typeface="Calibri" pitchFamily="34" charset="-122"/>
                <a:cs typeface="Calibri" pitchFamily="34" charset="-120"/>
              </a:rPr>
              <a:t>Satellite</a:t>
            </a:r>
            <a:pPr algn="l" indent="0" marL="0">
              <a:buNone/>
            </a:pPr>
            <a:r>
              <a:rPr lang="en-US" sz="1450" dirty="0">
                <a:solidFill>
                  <a:srgbClr val="1A2F57"/>
                </a:solidFill>
                <a:latin typeface="Calibri" pitchFamily="34" charset="0"/>
                <a:ea typeface="Calibri" pitchFamily="34" charset="-122"/>
                <a:cs typeface="Calibri" pitchFamily="34" charset="-120"/>
              </a:rPr>
              <a:t> — ghost ponds &amp; long roads</a:t>
            </a:r>
            <a:endParaRPr lang="en-US" sz="1450" dirty="0"/>
          </a:p>
        </p:txBody>
      </p:sp>
      <p:sp>
        <p:nvSpPr>
          <p:cNvPr id="41" name="Shape 31"/>
          <p:cNvSpPr/>
          <p:nvPr/>
        </p:nvSpPr>
        <p:spPr>
          <a:xfrm>
            <a:off x="9271000" y="7569200"/>
            <a:ext cx="4077970" cy="2032000"/>
          </a:xfrm>
          <a:prstGeom prst="roundRect">
            <a:avLst>
              <a:gd name="adj" fmla="val 6875"/>
            </a:avLst>
          </a:prstGeom>
          <a:solidFill>
            <a:srgbClr val="FFFFFF"/>
          </a:solidFill>
          <a:ln w="19050">
            <a:solidFill>
              <a:srgbClr val="B1BBC8"/>
            </a:solidFill>
            <a:prstDash val="solid"/>
          </a:ln>
        </p:spPr>
      </p:sp>
      <p:sp>
        <p:nvSpPr>
          <p:cNvPr id="42" name="Shape 32"/>
          <p:cNvSpPr/>
          <p:nvPr/>
        </p:nvSpPr>
        <p:spPr>
          <a:xfrm>
            <a:off x="9423400" y="7708900"/>
            <a:ext cx="457200" cy="457200"/>
          </a:xfrm>
          <a:prstGeom prst="ellipse">
            <a:avLst/>
          </a:prstGeom>
          <a:solidFill>
            <a:srgbClr val="2A4D88"/>
          </a:solidFill>
          <a:ln/>
        </p:spPr>
      </p:sp>
      <p:pic>
        <p:nvPicPr>
          <p:cNvPr id="43" name="Image 8" descr="C:\Users\abhim\drishti\docs\deck\assets\icons\chart-line_w.png">    </p:cNvPr>
          <p:cNvPicPr>
            <a:picLocks noChangeAspect="1"/>
          </p:cNvPicPr>
          <p:nvPr/>
        </p:nvPicPr>
        <p:blipFill>
          <a:blip r:embed="rId9"/>
          <a:stretch>
            <a:fillRect/>
          </a:stretch>
        </p:blipFill>
        <p:spPr>
          <a:xfrm>
            <a:off x="9537700" y="7823200"/>
            <a:ext cx="228600" cy="228600"/>
          </a:xfrm>
          <a:prstGeom prst="rect">
            <a:avLst/>
          </a:prstGeom>
        </p:spPr>
      </p:pic>
      <p:sp>
        <p:nvSpPr>
          <p:cNvPr id="44" name="Text 33"/>
          <p:cNvSpPr txBox="1"/>
          <p:nvPr/>
        </p:nvSpPr>
        <p:spPr>
          <a:xfrm>
            <a:off x="9982200" y="7708900"/>
            <a:ext cx="3239770" cy="457200"/>
          </a:xfrm>
          <a:prstGeom prst="rect">
            <a:avLst/>
          </a:prstGeom>
          <a:noFill/>
          <a:ln/>
        </p:spPr>
        <p:txBody>
          <a:bodyPr wrap="square" lIns="0" tIns="0" rIns="0" bIns="0" rtlCol="0" anchor="ctr"/>
          <a:lstStyle/>
          <a:p>
            <a:pPr algn="l" indent="0" marL="0">
              <a:buNone/>
            </a:pPr>
            <a:r>
              <a:rPr lang="en-US" sz="1650" b="1" spc="100" kern="0" dirty="0">
                <a:solidFill>
                  <a:srgbClr val="2A4D88"/>
                </a:solidFill>
                <a:latin typeface="Calibri" pitchFamily="34" charset="0"/>
                <a:ea typeface="Calibri" pitchFamily="34" charset="-122"/>
                <a:cs typeface="Calibri" pitchFamily="34" charset="-120"/>
              </a:rPr>
              <a:t>MONEY &amp; TIME</a:t>
            </a:r>
            <a:endParaRPr lang="en-US" sz="1650" dirty="0"/>
          </a:p>
        </p:txBody>
      </p:sp>
      <p:sp>
        <p:nvSpPr>
          <p:cNvPr id="45" name="Text 34"/>
          <p:cNvSpPr txBox="1"/>
          <p:nvPr/>
        </p:nvSpPr>
        <p:spPr>
          <a:xfrm>
            <a:off x="9448800" y="8267700"/>
            <a:ext cx="3773170" cy="755650"/>
          </a:xfrm>
          <a:prstGeom prst="rect">
            <a:avLst/>
          </a:prstGeom>
          <a:noFill/>
          <a:ln/>
        </p:spPr>
        <p:txBody>
          <a:bodyPr wrap="square" lIns="0" tIns="0" rIns="0" bIns="0" rtlCol="0" anchor="t"/>
          <a:lstStyle/>
          <a:p>
            <a:pPr algn="l" indent="0" marL="0">
              <a:buNone/>
            </a:pPr>
            <a:r>
              <a:rPr lang="en-US" sz="1450" b="1" dirty="0">
                <a:solidFill>
                  <a:srgbClr val="2A4D88"/>
                </a:solidFill>
                <a:latin typeface="Calibri" pitchFamily="34" charset="0"/>
                <a:ea typeface="Calibri" pitchFamily="34" charset="-122"/>
                <a:cs typeface="Calibri" pitchFamily="34" charset="-120"/>
              </a:rPr>
              <a:t>Delay Prediction</a:t>
            </a:r>
            <a:pPr algn="l" indent="0" marL="0">
              <a:buNone/>
            </a:pPr>
            <a:r>
              <a:rPr lang="en-US" sz="1450" dirty="0">
                <a:solidFill>
                  <a:srgbClr val="1A2F57"/>
                </a:solidFill>
                <a:latin typeface="Calibri" pitchFamily="34" charset="0"/>
                <a:ea typeface="Calibri" pitchFamily="34" charset="-122"/>
                <a:cs typeface="Calibri" pitchFamily="34" charset="-120"/>
              </a:rPr>
              <a:t> — likely to miss 12 months</a:t>
            </a:r>
            <a:endParaRPr lang="en-US" sz="1450" dirty="0"/>
          </a:p>
          <a:p>
            <a:pPr algn="l" indent="0" marL="0">
              <a:buNone/>
            </a:pPr>
            <a:r>
              <a:rPr lang="en-US" sz="1450" b="1" dirty="0">
                <a:solidFill>
                  <a:srgbClr val="2A4D88"/>
                </a:solidFill>
                <a:latin typeface="Calibri" pitchFamily="34" charset="0"/>
                <a:ea typeface="Calibri" pitchFamily="34" charset="-122"/>
                <a:cs typeface="Calibri" pitchFamily="34" charset="-120"/>
              </a:rPr>
              <a:t>Fund Flow</a:t>
            </a:r>
            <a:pPr algn="l" indent="0" marL="0">
              <a:buNone/>
            </a:pPr>
            <a:r>
              <a:rPr lang="en-US" sz="1450" dirty="0">
                <a:solidFill>
                  <a:srgbClr val="1A2F57"/>
                </a:solidFill>
                <a:latin typeface="Calibri" pitchFamily="34" charset="0"/>
                <a:ea typeface="Calibri" pitchFamily="34" charset="-122"/>
                <a:cs typeface="Calibri" pitchFamily="34" charset="-120"/>
              </a:rPr>
              <a:t> — idle funds, year-end rush</a:t>
            </a:r>
            <a:endParaRPr lang="en-US" sz="1450" dirty="0"/>
          </a:p>
          <a:p>
            <a:pPr algn="l" indent="0" marL="0">
              <a:buNone/>
            </a:pPr>
            <a:r>
              <a:rPr lang="en-US" sz="1450" b="1" dirty="0">
                <a:solidFill>
                  <a:srgbClr val="2A4D88"/>
                </a:solidFill>
                <a:latin typeface="Calibri" pitchFamily="34" charset="0"/>
                <a:ea typeface="Calibri" pitchFamily="34" charset="-122"/>
                <a:cs typeface="Calibri" pitchFamily="34" charset="-120"/>
              </a:rPr>
              <a:t>Contractor Network</a:t>
            </a:r>
            <a:pPr algn="l" indent="0" marL="0">
              <a:buNone/>
            </a:pPr>
            <a:r>
              <a:rPr lang="en-US" sz="1450" dirty="0">
                <a:solidFill>
                  <a:srgbClr val="1A2F57"/>
                </a:solidFill>
                <a:latin typeface="Calibri" pitchFamily="34" charset="0"/>
                <a:ea typeface="Calibri" pitchFamily="34" charset="-122"/>
                <a:cs typeface="Calibri" pitchFamily="34" charset="-120"/>
              </a:rPr>
              <a:t> — a few firms win all</a:t>
            </a:r>
            <a:endParaRPr lang="en-US" sz="1450" dirty="0"/>
          </a:p>
        </p:txBody>
      </p:sp>
      <p:sp>
        <p:nvSpPr>
          <p:cNvPr id="46" name="Shape 35"/>
          <p:cNvSpPr/>
          <p:nvPr/>
        </p:nvSpPr>
        <p:spPr>
          <a:xfrm>
            <a:off x="13602970" y="7569200"/>
            <a:ext cx="4077970" cy="2032000"/>
          </a:xfrm>
          <a:prstGeom prst="roundRect">
            <a:avLst>
              <a:gd name="adj" fmla="val 6875"/>
            </a:avLst>
          </a:prstGeom>
          <a:solidFill>
            <a:srgbClr val="FFFFFF"/>
          </a:solidFill>
          <a:ln w="19050">
            <a:solidFill>
              <a:srgbClr val="B1BBC8"/>
            </a:solidFill>
            <a:prstDash val="solid"/>
          </a:ln>
        </p:spPr>
      </p:sp>
      <p:sp>
        <p:nvSpPr>
          <p:cNvPr id="47" name="Shape 36"/>
          <p:cNvSpPr/>
          <p:nvPr/>
        </p:nvSpPr>
        <p:spPr>
          <a:xfrm>
            <a:off x="13755370" y="7708900"/>
            <a:ext cx="457200" cy="457200"/>
          </a:xfrm>
          <a:prstGeom prst="ellipse">
            <a:avLst/>
          </a:prstGeom>
          <a:solidFill>
            <a:srgbClr val="2A4D88"/>
          </a:solidFill>
          <a:ln/>
        </p:spPr>
      </p:sp>
      <p:pic>
        <p:nvPicPr>
          <p:cNvPr id="48" name="Image 9" descr="C:\Users\abhim\drishti\docs\deck\assets\icons\people-roof_w.png">    </p:cNvPr>
          <p:cNvPicPr>
            <a:picLocks noChangeAspect="1"/>
          </p:cNvPicPr>
          <p:nvPr/>
        </p:nvPicPr>
        <p:blipFill>
          <a:blip r:embed="rId10"/>
          <a:stretch>
            <a:fillRect/>
          </a:stretch>
        </p:blipFill>
        <p:spPr>
          <a:xfrm>
            <a:off x="13869670" y="7823200"/>
            <a:ext cx="228600" cy="228600"/>
          </a:xfrm>
          <a:prstGeom prst="rect">
            <a:avLst/>
          </a:prstGeom>
        </p:spPr>
      </p:pic>
      <p:sp>
        <p:nvSpPr>
          <p:cNvPr id="49" name="Text 37"/>
          <p:cNvSpPr txBox="1"/>
          <p:nvPr/>
        </p:nvSpPr>
        <p:spPr>
          <a:xfrm>
            <a:off x="14314170" y="7708900"/>
            <a:ext cx="3239770" cy="457200"/>
          </a:xfrm>
          <a:prstGeom prst="rect">
            <a:avLst/>
          </a:prstGeom>
          <a:noFill/>
          <a:ln/>
        </p:spPr>
        <p:txBody>
          <a:bodyPr wrap="square" lIns="0" tIns="0" rIns="0" bIns="0" rtlCol="0" anchor="ctr"/>
          <a:lstStyle/>
          <a:p>
            <a:pPr algn="l" indent="0" marL="0">
              <a:buNone/>
            </a:pPr>
            <a:r>
              <a:rPr lang="en-US" sz="1650" b="1" spc="100" kern="0" dirty="0">
                <a:solidFill>
                  <a:srgbClr val="2A4D88"/>
                </a:solidFill>
                <a:latin typeface="Calibri" pitchFamily="34" charset="0"/>
                <a:ea typeface="Calibri" pitchFamily="34" charset="-122"/>
                <a:cs typeface="Calibri" pitchFamily="34" charset="-120"/>
              </a:rPr>
              <a:t>AFTER COMPLETION</a:t>
            </a:r>
            <a:endParaRPr lang="en-US" sz="1650" dirty="0"/>
          </a:p>
        </p:txBody>
      </p:sp>
      <p:sp>
        <p:nvSpPr>
          <p:cNvPr id="50" name="Text 38"/>
          <p:cNvSpPr txBox="1"/>
          <p:nvPr/>
        </p:nvSpPr>
        <p:spPr>
          <a:xfrm>
            <a:off x="13780770" y="8267700"/>
            <a:ext cx="3773170" cy="285750"/>
          </a:xfrm>
          <a:prstGeom prst="rect">
            <a:avLst/>
          </a:prstGeom>
          <a:noFill/>
          <a:ln/>
        </p:spPr>
        <p:txBody>
          <a:bodyPr wrap="square" lIns="0" tIns="0" rIns="0" bIns="0" rtlCol="0" anchor="t"/>
          <a:lstStyle/>
          <a:p>
            <a:pPr algn="l" indent="0" marL="0">
              <a:buNone/>
            </a:pPr>
            <a:r>
              <a:rPr lang="en-US" sz="1450" b="1" dirty="0">
                <a:solidFill>
                  <a:srgbClr val="2A4D88"/>
                </a:solidFill>
                <a:latin typeface="Calibri" pitchFamily="34" charset="0"/>
                <a:ea typeface="Calibri" pitchFamily="34" charset="-122"/>
                <a:cs typeface="Calibri" pitchFamily="34" charset="-120"/>
              </a:rPr>
              <a:t>Citizen Verification</a:t>
            </a:r>
            <a:pPr algn="l" indent="0" marL="0">
              <a:buNone/>
            </a:pPr>
            <a:r>
              <a:rPr lang="en-US" sz="1450" dirty="0">
                <a:solidFill>
                  <a:srgbClr val="1A2F57"/>
                </a:solidFill>
                <a:latin typeface="Calibri" pitchFamily="34" charset="0"/>
                <a:ea typeface="Calibri" pitchFamily="34" charset="-122"/>
                <a:cs typeface="Calibri" pitchFamily="34" charset="-120"/>
              </a:rPr>
              <a:t> — asset exists &amp; is used</a:t>
            </a:r>
            <a:endParaRPr lang="en-US" sz="1450" dirty="0"/>
          </a:p>
        </p:txBody>
      </p:sp>
      <p:sp>
        <p:nvSpPr>
          <p:cNvPr id="51" name="Shape 39"/>
          <p:cNvSpPr/>
          <p:nvPr/>
        </p:nvSpPr>
        <p:spPr>
          <a:xfrm>
            <a:off x="13780770" y="8661400"/>
            <a:ext cx="3722370" cy="0"/>
          </a:xfrm>
          <a:prstGeom prst="line">
            <a:avLst/>
          </a:prstGeom>
          <a:noFill/>
          <a:ln w="12700">
            <a:solidFill>
              <a:srgbClr val="B1BBC8"/>
            </a:solidFill>
            <a:prstDash val="solid"/>
          </a:ln>
        </p:spPr>
      </p:sp>
      <p:sp>
        <p:nvSpPr>
          <p:cNvPr id="52" name="Text 40"/>
          <p:cNvSpPr txBox="1"/>
          <p:nvPr/>
        </p:nvSpPr>
        <p:spPr>
          <a:xfrm>
            <a:off x="13780770" y="8763000"/>
            <a:ext cx="3773170" cy="736600"/>
          </a:xfrm>
          <a:prstGeom prst="rect">
            <a:avLst/>
          </a:prstGeom>
          <a:noFill/>
          <a:ln/>
        </p:spPr>
        <p:txBody>
          <a:bodyPr wrap="square" lIns="0" tIns="0" rIns="0" bIns="0" rtlCol="0" anchor="t"/>
          <a:lstStyle/>
          <a:p>
            <a:pPr algn="l" indent="0" marL="0">
              <a:buNone/>
            </a:pPr>
            <a:r>
              <a:rPr lang="en-US" sz="1450" dirty="0">
                <a:solidFill>
                  <a:srgbClr val="5B6B84"/>
                </a:solidFill>
                <a:latin typeface="Calibri" pitchFamily="34" charset="0"/>
                <a:ea typeface="Calibri" pitchFamily="34" charset="-122"/>
                <a:cs typeface="Calibri" pitchFamily="34" charset="-120"/>
              </a:rPr>
              <a:t>Then, for every work:</a:t>
            </a:r>
            <a:endParaRPr lang="en-US" sz="1450" dirty="0"/>
          </a:p>
          <a:p>
            <a:pPr algn="l" indent="0" marL="0">
              <a:buNone/>
            </a:pPr>
            <a:r>
              <a:rPr lang="en-US" sz="1450" b="1" dirty="0">
                <a:solidFill>
                  <a:srgbClr val="2A4D88"/>
                </a:solidFill>
                <a:latin typeface="Calibri" pitchFamily="34" charset="0"/>
                <a:ea typeface="Calibri" pitchFamily="34" charset="-122"/>
                <a:cs typeface="Calibri" pitchFamily="34" charset="-120"/>
              </a:rPr>
              <a:t>Risk Fusion · Inspection Planner · Ask DRISHTI</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66090" y="287020"/>
            <a:ext cx="2153920" cy="934720"/>
          </a:xfrm>
          <a:prstGeom prst="ellipse">
            <a:avLst/>
          </a:prstGeom>
          <a:solidFill>
            <a:srgbClr val="FFFFFF"/>
          </a:solidFill>
          <a:ln w="57150">
            <a:solidFill>
              <a:srgbClr val="2A4D88"/>
            </a:solidFill>
            <a:prstDash val="solid"/>
          </a:ln>
        </p:spPr>
      </p:sp>
      <p:sp>
        <p:nvSpPr>
          <p:cNvPr id="3" name="Text 1"/>
          <p:cNvSpPr txBox="1"/>
          <p:nvPr/>
        </p:nvSpPr>
        <p:spPr>
          <a:xfrm>
            <a:off x="466090" y="287020"/>
            <a:ext cx="2153920" cy="934720"/>
          </a:xfrm>
          <a:prstGeom prst="rect">
            <a:avLst/>
          </a:prstGeom>
          <a:noFill/>
          <a:ln/>
        </p:spPr>
        <p:txBody>
          <a:bodyPr wrap="square" lIns="0" tIns="0" rIns="0" bIns="0" rtlCol="0" anchor="ctr"/>
          <a:lstStyle/>
          <a:p>
            <a:pPr algn="ctr" indent="0" marL="0">
              <a:buNone/>
            </a:pPr>
            <a:r>
              <a:rPr lang="en-US" sz="2050" b="1" dirty="0">
                <a:solidFill>
                  <a:srgbClr val="2A4D88"/>
                </a:solidFill>
                <a:latin typeface="Calibri" pitchFamily="34" charset="0"/>
                <a:ea typeface="Calibri" pitchFamily="34" charset="-122"/>
                <a:cs typeface="Calibri" pitchFamily="34" charset="-120"/>
              </a:rPr>
              <a:t>NeuralNexus</a:t>
            </a:r>
            <a:endParaRPr lang="en-US" sz="2050" dirty="0"/>
          </a:p>
        </p:txBody>
      </p:sp>
      <p:sp>
        <p:nvSpPr>
          <p:cNvPr id="4" name="Text 2"/>
          <p:cNvSpPr txBox="1"/>
          <p:nvPr/>
        </p:nvSpPr>
        <p:spPr>
          <a:xfrm>
            <a:off x="3131820" y="381000"/>
            <a:ext cx="11430000" cy="787400"/>
          </a:xfrm>
          <a:prstGeom prst="rect">
            <a:avLst/>
          </a:prstGeom>
          <a:noFill/>
          <a:ln/>
        </p:spPr>
        <p:txBody>
          <a:bodyPr wrap="square" lIns="0" tIns="0" rIns="0" bIns="0" rtlCol="0" anchor="ctr"/>
          <a:lstStyle/>
          <a:p>
            <a:pPr algn="ctr" indent="0" marL="0">
              <a:buNone/>
            </a:pPr>
            <a:r>
              <a:rPr lang="en-US" sz="4200" b="1" dirty="0">
                <a:solidFill>
                  <a:srgbClr val="2A4D88"/>
                </a:solidFill>
                <a:latin typeface="Cambria" pitchFamily="34" charset="0"/>
                <a:ea typeface="Cambria" pitchFamily="34" charset="-122"/>
                <a:cs typeface="Cambria" pitchFamily="34" charset="-120"/>
              </a:rPr>
              <a:t>TECHNICAL APPROACH</a:t>
            </a:r>
            <a:endParaRPr lang="en-US" sz="4200" dirty="0"/>
          </a:p>
        </p:txBody>
      </p:sp>
      <p:pic>
        <p:nvPicPr>
          <p:cNvPr id="5" name="Image 0" descr="C:\Users\abhim\drishti\docs\deck\assets\sih_logo_wide.png">    </p:cNvPr>
          <p:cNvPicPr>
            <a:picLocks noChangeAspect="1"/>
          </p:cNvPicPr>
          <p:nvPr/>
        </p:nvPicPr>
        <p:blipFill>
          <a:blip r:embed="rId1"/>
          <a:stretch>
            <a:fillRect/>
          </a:stretch>
        </p:blipFill>
        <p:spPr>
          <a:xfrm>
            <a:off x="15392400" y="76200"/>
            <a:ext cx="2705100" cy="1277620"/>
          </a:xfrm>
          <a:prstGeom prst="rect">
            <a:avLst/>
          </a:prstGeom>
        </p:spPr>
      </p:pic>
      <p:sp>
        <p:nvSpPr>
          <p:cNvPr id="6" name="Shape 3"/>
          <p:cNvSpPr/>
          <p:nvPr/>
        </p:nvSpPr>
        <p:spPr>
          <a:xfrm>
            <a:off x="0" y="9756140"/>
            <a:ext cx="18288000" cy="533400"/>
          </a:xfrm>
          <a:prstGeom prst="rect">
            <a:avLst/>
          </a:prstGeom>
          <a:solidFill>
            <a:srgbClr val="2A4D88"/>
          </a:solidFill>
          <a:ln/>
        </p:spPr>
      </p:sp>
      <p:sp>
        <p:nvSpPr>
          <p:cNvPr id="7" name="Text 4"/>
          <p:cNvSpPr txBox="1"/>
          <p:nvPr/>
        </p:nvSpPr>
        <p:spPr>
          <a:xfrm>
            <a:off x="5969000" y="9880600"/>
            <a:ext cx="6350000" cy="27940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@SIH Idea submission – Template</a:t>
            </a:r>
            <a:endParaRPr lang="en-US" sz="1500" dirty="0"/>
          </a:p>
        </p:txBody>
      </p:sp>
      <p:sp>
        <p:nvSpPr>
          <p:cNvPr id="8" name="Text 5"/>
          <p:cNvSpPr txBox="1"/>
          <p:nvPr/>
        </p:nvSpPr>
        <p:spPr>
          <a:xfrm>
            <a:off x="17018000" y="9880600"/>
            <a:ext cx="673100" cy="279400"/>
          </a:xfrm>
          <a:prstGeom prst="rect">
            <a:avLst/>
          </a:prstGeom>
          <a:noFill/>
          <a:ln/>
        </p:spPr>
        <p:txBody>
          <a:bodyPr wrap="square" lIns="0" tIns="0" rIns="0" bIns="0" rtlCol="0" anchor="ctr"/>
          <a:lstStyle/>
          <a:p>
            <a:pPr algn="r" indent="0" marL="0">
              <a:buNone/>
            </a:pPr>
            <a:r>
              <a:rPr lang="en-US" sz="1650" b="1" dirty="0">
                <a:solidFill>
                  <a:srgbClr val="FFFFFF"/>
                </a:solidFill>
                <a:latin typeface="Calibri" pitchFamily="34" charset="0"/>
                <a:ea typeface="Calibri" pitchFamily="34" charset="-122"/>
                <a:cs typeface="Calibri" pitchFamily="34" charset="-120"/>
              </a:rPr>
              <a:t>3</a:t>
            </a:r>
            <a:endParaRPr lang="en-US" sz="1650" dirty="0"/>
          </a:p>
        </p:txBody>
      </p:sp>
      <p:sp>
        <p:nvSpPr>
          <p:cNvPr id="9" name="Text 6"/>
          <p:cNvSpPr txBox="1"/>
          <p:nvPr/>
        </p:nvSpPr>
        <p:spPr>
          <a:xfrm>
            <a:off x="617220" y="1549400"/>
            <a:ext cx="11430000" cy="279400"/>
          </a:xfrm>
          <a:prstGeom prst="rect">
            <a:avLst/>
          </a:prstGeom>
          <a:noFill/>
          <a:ln/>
        </p:spPr>
        <p:txBody>
          <a:bodyPr wrap="square" lIns="0" tIns="0" rIns="0" bIns="0" rtlCol="0" anchor="t"/>
          <a:lstStyle/>
          <a:p>
            <a:pPr algn="l" indent="0" marL="0">
              <a:buNone/>
            </a:pPr>
            <a:r>
              <a:rPr lang="en-US" sz="1720" b="1" spc="300" kern="0" dirty="0">
                <a:solidFill>
                  <a:srgbClr val="2A4D88"/>
                </a:solidFill>
                <a:latin typeface="Calibri" pitchFamily="34" charset="0"/>
                <a:ea typeface="Calibri" pitchFamily="34" charset="-122"/>
                <a:cs typeface="Calibri" pitchFamily="34" charset="-120"/>
              </a:rPr>
              <a:t>SYSTEM ARCHITECTURE &amp; WORKFLOW</a:t>
            </a:r>
            <a:endParaRPr lang="en-US" sz="1720" dirty="0"/>
          </a:p>
        </p:txBody>
      </p:sp>
      <p:sp>
        <p:nvSpPr>
          <p:cNvPr id="10" name="Shape 7"/>
          <p:cNvSpPr/>
          <p:nvPr/>
        </p:nvSpPr>
        <p:spPr>
          <a:xfrm>
            <a:off x="607060" y="1905000"/>
            <a:ext cx="3050540" cy="2108200"/>
          </a:xfrm>
          <a:prstGeom prst="roundRect">
            <a:avLst>
              <a:gd name="adj" fmla="val 6627"/>
            </a:avLst>
          </a:prstGeom>
          <a:solidFill>
            <a:srgbClr val="EDF0F5"/>
          </a:solidFill>
          <a:ln/>
        </p:spPr>
      </p:sp>
      <p:sp>
        <p:nvSpPr>
          <p:cNvPr id="11" name="Shape 8"/>
          <p:cNvSpPr/>
          <p:nvPr/>
        </p:nvSpPr>
        <p:spPr>
          <a:xfrm>
            <a:off x="810260" y="2082800"/>
            <a:ext cx="609600" cy="609600"/>
          </a:xfrm>
          <a:prstGeom prst="ellipse">
            <a:avLst/>
          </a:prstGeom>
          <a:solidFill>
            <a:srgbClr val="2A4D88"/>
          </a:solidFill>
          <a:ln/>
        </p:spPr>
      </p:sp>
      <p:pic>
        <p:nvPicPr>
          <p:cNvPr id="12" name="Image 1" descr="C:\Users\abhim\drishti\docs\deck\assets\icons\database_w.png">    </p:cNvPr>
          <p:cNvPicPr>
            <a:picLocks noChangeAspect="1"/>
          </p:cNvPicPr>
          <p:nvPr/>
        </p:nvPicPr>
        <p:blipFill>
          <a:blip r:embed="rId2"/>
          <a:stretch>
            <a:fillRect/>
          </a:stretch>
        </p:blipFill>
        <p:spPr>
          <a:xfrm>
            <a:off x="962660" y="2235200"/>
            <a:ext cx="304800" cy="304800"/>
          </a:xfrm>
          <a:prstGeom prst="rect">
            <a:avLst/>
          </a:prstGeom>
        </p:spPr>
      </p:pic>
      <p:sp>
        <p:nvSpPr>
          <p:cNvPr id="13" name="Text 9"/>
          <p:cNvSpPr txBox="1"/>
          <p:nvPr/>
        </p:nvSpPr>
        <p:spPr>
          <a:xfrm>
            <a:off x="2768600" y="2082800"/>
            <a:ext cx="685800" cy="431800"/>
          </a:xfrm>
          <a:prstGeom prst="rect">
            <a:avLst/>
          </a:prstGeom>
          <a:noFill/>
          <a:ln/>
        </p:spPr>
        <p:txBody>
          <a:bodyPr wrap="square" lIns="0" tIns="0" rIns="0" bIns="0" rtlCol="0" anchor="t"/>
          <a:lstStyle/>
          <a:p>
            <a:pPr algn="r" indent="0" marL="0">
              <a:buNone/>
            </a:pPr>
            <a:r>
              <a:rPr lang="en-US" sz="2600" b="1" dirty="0">
                <a:solidFill>
                  <a:srgbClr val="7C94B8"/>
                </a:solidFill>
                <a:latin typeface="Cambria" pitchFamily="34" charset="0"/>
                <a:ea typeface="Cambria" pitchFamily="34" charset="-122"/>
                <a:cs typeface="Cambria" pitchFamily="34" charset="-120"/>
              </a:rPr>
              <a:t>01</a:t>
            </a:r>
            <a:endParaRPr lang="en-US" sz="2600" dirty="0"/>
          </a:p>
        </p:txBody>
      </p:sp>
      <p:sp>
        <p:nvSpPr>
          <p:cNvPr id="14" name="Text 10"/>
          <p:cNvSpPr txBox="1"/>
          <p:nvPr/>
        </p:nvSpPr>
        <p:spPr>
          <a:xfrm>
            <a:off x="810260" y="2794000"/>
            <a:ext cx="2669540" cy="304800"/>
          </a:xfrm>
          <a:prstGeom prst="rect">
            <a:avLst/>
          </a:prstGeom>
          <a:noFill/>
          <a:ln/>
        </p:spPr>
        <p:txBody>
          <a:bodyPr wrap="square" lIns="0" tIns="0" rIns="0" bIns="0" rtlCol="0" anchor="t"/>
          <a:lstStyle/>
          <a:p>
            <a:pPr algn="l" indent="0" marL="0">
              <a:buNone/>
            </a:pPr>
            <a:r>
              <a:rPr lang="en-US" sz="1800" b="1" dirty="0">
                <a:solidFill>
                  <a:srgbClr val="2A4D88"/>
                </a:solidFill>
                <a:latin typeface="Calibri" pitchFamily="34" charset="0"/>
                <a:ea typeface="Calibri" pitchFamily="34" charset="-122"/>
                <a:cs typeface="Calibri" pitchFamily="34" charset="-120"/>
              </a:rPr>
              <a:t>Data Ingestion</a:t>
            </a:r>
            <a:endParaRPr lang="en-US" sz="1800" dirty="0"/>
          </a:p>
        </p:txBody>
      </p:sp>
      <p:sp>
        <p:nvSpPr>
          <p:cNvPr id="15" name="Text 11"/>
          <p:cNvSpPr txBox="1"/>
          <p:nvPr/>
        </p:nvSpPr>
        <p:spPr>
          <a:xfrm>
            <a:off x="810260" y="3136900"/>
            <a:ext cx="2720340" cy="787400"/>
          </a:xfrm>
          <a:prstGeom prst="rect">
            <a:avLst/>
          </a:prstGeom>
          <a:noFill/>
          <a:ln/>
        </p:spPr>
        <p:txBody>
          <a:bodyPr wrap="square" lIns="0" tIns="0" rIns="0" bIns="0" rtlCol="0" anchor="t"/>
          <a:lstStyle/>
          <a:p>
            <a:pPr algn="l" marL="177800" indent="-177800">
              <a:buSzPct val="100000"/>
              <a:buChar char="•"/>
            </a:pPr>
            <a:r>
              <a:rPr lang="en-US" sz="1450" dirty="0">
                <a:solidFill>
                  <a:srgbClr val="1A2F57"/>
                </a:solidFill>
                <a:latin typeface="Calibri" pitchFamily="34" charset="0"/>
                <a:ea typeface="Calibri" pitchFamily="34" charset="-122"/>
                <a:cs typeface="Calibri" pitchFamily="34" charset="-120"/>
              </a:rPr>
              <a:t>2.1 lakh eSAKSHI works</a:t>
            </a:r>
            <a:endParaRPr lang="en-US" sz="1450" dirty="0"/>
          </a:p>
          <a:p>
            <a:pPr algn="l" marL="177800" indent="-177800">
              <a:buSzPct val="100000"/>
              <a:buChar char="•"/>
            </a:pPr>
            <a:r>
              <a:rPr lang="en-US" sz="1450" dirty="0">
                <a:solidFill>
                  <a:srgbClr val="1A2F57"/>
                </a:solidFill>
                <a:latin typeface="Calibri" pitchFamily="34" charset="0"/>
                <a:ea typeface="Calibri" pitchFamily="34" charset="-122"/>
                <a:cs typeface="Calibri" pitchFamily="34" charset="-120"/>
              </a:rPr>
              <a:t>Certificates, bills &amp; photos</a:t>
            </a:r>
            <a:endParaRPr lang="en-US" sz="1450" dirty="0"/>
          </a:p>
          <a:p>
            <a:pPr algn="l" marL="177800" indent="-177800">
              <a:buSzPct val="100000"/>
              <a:buChar char="•"/>
            </a:pPr>
            <a:r>
              <a:rPr lang="en-US" sz="1450" dirty="0">
                <a:solidFill>
                  <a:srgbClr val="1A2F57"/>
                </a:solidFill>
                <a:latin typeface="Calibri" pitchFamily="34" charset="0"/>
                <a:ea typeface="Calibri" pitchFamily="34" charset="-122"/>
                <a:cs typeface="Calibri" pitchFamily="34" charset="-120"/>
              </a:rPr>
              <a:t>Field app &amp; citizen uploads</a:t>
            </a:r>
            <a:endParaRPr lang="en-US" sz="1450" dirty="0"/>
          </a:p>
        </p:txBody>
      </p:sp>
      <p:pic>
        <p:nvPicPr>
          <p:cNvPr id="16" name="Image 2" descr="C:\Users\abhim\drishti\docs\deck\assets\icons\arrow-right_n.png">    </p:cNvPr>
          <p:cNvPicPr>
            <a:picLocks noChangeAspect="1"/>
          </p:cNvPicPr>
          <p:nvPr/>
        </p:nvPicPr>
        <p:blipFill>
          <a:blip r:embed="rId3"/>
          <a:stretch>
            <a:fillRect/>
          </a:stretch>
        </p:blipFill>
        <p:spPr>
          <a:xfrm>
            <a:off x="3746500" y="2819400"/>
            <a:ext cx="279400" cy="279400"/>
          </a:xfrm>
          <a:prstGeom prst="rect">
            <a:avLst/>
          </a:prstGeom>
        </p:spPr>
      </p:pic>
      <p:sp>
        <p:nvSpPr>
          <p:cNvPr id="17" name="Shape 12"/>
          <p:cNvSpPr/>
          <p:nvPr/>
        </p:nvSpPr>
        <p:spPr>
          <a:xfrm>
            <a:off x="4114800" y="1905000"/>
            <a:ext cx="3050540" cy="2108200"/>
          </a:xfrm>
          <a:prstGeom prst="roundRect">
            <a:avLst>
              <a:gd name="adj" fmla="val 6627"/>
            </a:avLst>
          </a:prstGeom>
          <a:solidFill>
            <a:srgbClr val="EDF0F5"/>
          </a:solidFill>
          <a:ln/>
        </p:spPr>
      </p:sp>
      <p:sp>
        <p:nvSpPr>
          <p:cNvPr id="18" name="Shape 13"/>
          <p:cNvSpPr/>
          <p:nvPr/>
        </p:nvSpPr>
        <p:spPr>
          <a:xfrm>
            <a:off x="4318000" y="2082800"/>
            <a:ext cx="609600" cy="609600"/>
          </a:xfrm>
          <a:prstGeom prst="ellipse">
            <a:avLst/>
          </a:prstGeom>
          <a:solidFill>
            <a:srgbClr val="2A4D88"/>
          </a:solidFill>
          <a:ln/>
        </p:spPr>
      </p:sp>
      <p:pic>
        <p:nvPicPr>
          <p:cNvPr id="19" name="Image 3" descr="C:\Users\abhim\drishti\docs\deck\assets\icons\filter_w.png">    </p:cNvPr>
          <p:cNvPicPr>
            <a:picLocks noChangeAspect="1"/>
          </p:cNvPicPr>
          <p:nvPr/>
        </p:nvPicPr>
        <p:blipFill>
          <a:blip r:embed="rId4"/>
          <a:stretch>
            <a:fillRect/>
          </a:stretch>
        </p:blipFill>
        <p:spPr>
          <a:xfrm>
            <a:off x="4470400" y="2235200"/>
            <a:ext cx="304800" cy="304800"/>
          </a:xfrm>
          <a:prstGeom prst="rect">
            <a:avLst/>
          </a:prstGeom>
        </p:spPr>
      </p:pic>
      <p:sp>
        <p:nvSpPr>
          <p:cNvPr id="20" name="Text 14"/>
          <p:cNvSpPr txBox="1"/>
          <p:nvPr/>
        </p:nvSpPr>
        <p:spPr>
          <a:xfrm>
            <a:off x="6276340" y="2082800"/>
            <a:ext cx="685800" cy="431800"/>
          </a:xfrm>
          <a:prstGeom prst="rect">
            <a:avLst/>
          </a:prstGeom>
          <a:noFill/>
          <a:ln/>
        </p:spPr>
        <p:txBody>
          <a:bodyPr wrap="square" lIns="0" tIns="0" rIns="0" bIns="0" rtlCol="0" anchor="t"/>
          <a:lstStyle/>
          <a:p>
            <a:pPr algn="r" indent="0" marL="0">
              <a:buNone/>
            </a:pPr>
            <a:r>
              <a:rPr lang="en-US" sz="2600" b="1" dirty="0">
                <a:solidFill>
                  <a:srgbClr val="7C94B8"/>
                </a:solidFill>
                <a:latin typeface="Cambria" pitchFamily="34" charset="0"/>
                <a:ea typeface="Cambria" pitchFamily="34" charset="-122"/>
                <a:cs typeface="Cambria" pitchFamily="34" charset="-120"/>
              </a:rPr>
              <a:t>02</a:t>
            </a:r>
            <a:endParaRPr lang="en-US" sz="2600" dirty="0"/>
          </a:p>
        </p:txBody>
      </p:sp>
      <p:sp>
        <p:nvSpPr>
          <p:cNvPr id="21" name="Text 15"/>
          <p:cNvSpPr txBox="1"/>
          <p:nvPr/>
        </p:nvSpPr>
        <p:spPr>
          <a:xfrm>
            <a:off x="4318000" y="2794000"/>
            <a:ext cx="2669540" cy="304800"/>
          </a:xfrm>
          <a:prstGeom prst="rect">
            <a:avLst/>
          </a:prstGeom>
          <a:noFill/>
          <a:ln/>
        </p:spPr>
        <p:txBody>
          <a:bodyPr wrap="square" lIns="0" tIns="0" rIns="0" bIns="0" rtlCol="0" anchor="t"/>
          <a:lstStyle/>
          <a:p>
            <a:pPr algn="l" indent="0" marL="0">
              <a:buNone/>
            </a:pPr>
            <a:r>
              <a:rPr lang="en-US" sz="1800" b="1" dirty="0">
                <a:solidFill>
                  <a:srgbClr val="2A4D88"/>
                </a:solidFill>
                <a:latin typeface="Calibri" pitchFamily="34" charset="0"/>
                <a:ea typeface="Calibri" pitchFamily="34" charset="-122"/>
                <a:cs typeface="Calibri" pitchFamily="34" charset="-120"/>
              </a:rPr>
              <a:t>Data Validation</a:t>
            </a:r>
            <a:endParaRPr lang="en-US" sz="1800" dirty="0"/>
          </a:p>
        </p:txBody>
      </p:sp>
      <p:sp>
        <p:nvSpPr>
          <p:cNvPr id="22" name="Text 16"/>
          <p:cNvSpPr txBox="1"/>
          <p:nvPr/>
        </p:nvSpPr>
        <p:spPr>
          <a:xfrm>
            <a:off x="4318000" y="3136900"/>
            <a:ext cx="2720340" cy="787400"/>
          </a:xfrm>
          <a:prstGeom prst="rect">
            <a:avLst/>
          </a:prstGeom>
          <a:noFill/>
          <a:ln/>
        </p:spPr>
        <p:txBody>
          <a:bodyPr wrap="square" lIns="0" tIns="0" rIns="0" bIns="0" rtlCol="0" anchor="t"/>
          <a:lstStyle/>
          <a:p>
            <a:pPr algn="l" marL="177800" indent="-177800">
              <a:buSzPct val="100000"/>
              <a:buChar char="•"/>
            </a:pPr>
            <a:r>
              <a:rPr lang="en-US" sz="1450" dirty="0">
                <a:solidFill>
                  <a:srgbClr val="1A2F57"/>
                </a:solidFill>
                <a:latin typeface="Calibri" pitchFamily="34" charset="0"/>
                <a:ea typeface="Calibri" pitchFamily="34" charset="-122"/>
                <a:cs typeface="Calibri" pitchFamily="34" charset="-120"/>
              </a:rPr>
              <a:t>Date &amp; amount checks</a:t>
            </a:r>
            <a:endParaRPr lang="en-US" sz="1450" dirty="0"/>
          </a:p>
          <a:p>
            <a:pPr algn="l" marL="177800" indent="-177800">
              <a:buSzPct val="100000"/>
              <a:buChar char="•"/>
            </a:pPr>
            <a:r>
              <a:rPr lang="en-US" sz="1450" dirty="0">
                <a:solidFill>
                  <a:srgbClr val="1A2F57"/>
                </a:solidFill>
                <a:latin typeface="Calibri" pitchFamily="34" charset="0"/>
                <a:ea typeface="Calibri" pitchFamily="34" charset="-122"/>
                <a:cs typeface="Calibri" pitchFamily="34" charset="-120"/>
              </a:rPr>
              <a:t>Read documents &amp; photo stamps</a:t>
            </a:r>
            <a:endParaRPr lang="en-US" sz="1450" dirty="0"/>
          </a:p>
          <a:p>
            <a:pPr algn="l" marL="177800" indent="-177800">
              <a:buSzPct val="100000"/>
              <a:buChar char="•"/>
            </a:pPr>
            <a:r>
              <a:rPr lang="en-US" sz="1450" dirty="0">
                <a:solidFill>
                  <a:srgbClr val="1A2F57"/>
                </a:solidFill>
                <a:latin typeface="Calibri" pitchFamily="34" charset="0"/>
                <a:ea typeface="Calibri" pitchFamily="34" charset="-122"/>
                <a:cs typeface="Calibri" pitchFamily="34" charset="-120"/>
              </a:rPr>
              <a:t>Mask names &amp; phone numbers</a:t>
            </a:r>
            <a:endParaRPr lang="en-US" sz="1450" dirty="0"/>
          </a:p>
        </p:txBody>
      </p:sp>
      <p:pic>
        <p:nvPicPr>
          <p:cNvPr id="23" name="Image 4" descr="C:\Users\abhim\drishti\docs\deck\assets\icons\arrow-right_n.png">    </p:cNvPr>
          <p:cNvPicPr>
            <a:picLocks noChangeAspect="1"/>
          </p:cNvPicPr>
          <p:nvPr/>
        </p:nvPicPr>
        <p:blipFill>
          <a:blip r:embed="rId5"/>
          <a:stretch>
            <a:fillRect/>
          </a:stretch>
        </p:blipFill>
        <p:spPr>
          <a:xfrm>
            <a:off x="7254240" y="2819400"/>
            <a:ext cx="279400" cy="279400"/>
          </a:xfrm>
          <a:prstGeom prst="rect">
            <a:avLst/>
          </a:prstGeom>
        </p:spPr>
      </p:pic>
      <p:sp>
        <p:nvSpPr>
          <p:cNvPr id="24" name="Shape 17"/>
          <p:cNvSpPr/>
          <p:nvPr/>
        </p:nvSpPr>
        <p:spPr>
          <a:xfrm>
            <a:off x="7621270" y="1905000"/>
            <a:ext cx="3050540" cy="2108200"/>
          </a:xfrm>
          <a:prstGeom prst="roundRect">
            <a:avLst>
              <a:gd name="adj" fmla="val 6627"/>
            </a:avLst>
          </a:prstGeom>
          <a:solidFill>
            <a:srgbClr val="2A4D88"/>
          </a:solidFill>
          <a:ln/>
        </p:spPr>
      </p:sp>
      <p:sp>
        <p:nvSpPr>
          <p:cNvPr id="25" name="Shape 18"/>
          <p:cNvSpPr/>
          <p:nvPr/>
        </p:nvSpPr>
        <p:spPr>
          <a:xfrm>
            <a:off x="7824470" y="2082800"/>
            <a:ext cx="609600" cy="609600"/>
          </a:xfrm>
          <a:prstGeom prst="ellipse">
            <a:avLst/>
          </a:prstGeom>
          <a:solidFill>
            <a:srgbClr val="FFFFFF"/>
          </a:solidFill>
          <a:ln/>
        </p:spPr>
      </p:sp>
      <p:pic>
        <p:nvPicPr>
          <p:cNvPr id="26" name="Image 5" descr="C:\Users\abhim\drishti\docs\deck\assets\icons\brain_n.png">    </p:cNvPr>
          <p:cNvPicPr>
            <a:picLocks noChangeAspect="1"/>
          </p:cNvPicPr>
          <p:nvPr/>
        </p:nvPicPr>
        <p:blipFill>
          <a:blip r:embed="rId6"/>
          <a:stretch>
            <a:fillRect/>
          </a:stretch>
        </p:blipFill>
        <p:spPr>
          <a:xfrm>
            <a:off x="7976870" y="2235200"/>
            <a:ext cx="304800" cy="304800"/>
          </a:xfrm>
          <a:prstGeom prst="rect">
            <a:avLst/>
          </a:prstGeom>
        </p:spPr>
      </p:pic>
      <p:sp>
        <p:nvSpPr>
          <p:cNvPr id="27" name="Text 19"/>
          <p:cNvSpPr txBox="1"/>
          <p:nvPr/>
        </p:nvSpPr>
        <p:spPr>
          <a:xfrm>
            <a:off x="9782810" y="2082800"/>
            <a:ext cx="685800" cy="431800"/>
          </a:xfrm>
          <a:prstGeom prst="rect">
            <a:avLst/>
          </a:prstGeom>
          <a:noFill/>
          <a:ln/>
        </p:spPr>
        <p:txBody>
          <a:bodyPr wrap="square" lIns="0" tIns="0" rIns="0" bIns="0" rtlCol="0" anchor="t"/>
          <a:lstStyle/>
          <a:p>
            <a:pPr algn="r" indent="0" marL="0">
              <a:buNone/>
            </a:pPr>
            <a:r>
              <a:rPr lang="en-US" sz="2600" b="1" dirty="0">
                <a:solidFill>
                  <a:srgbClr val="B1BBC8"/>
                </a:solidFill>
                <a:latin typeface="Cambria" pitchFamily="34" charset="0"/>
                <a:ea typeface="Cambria" pitchFamily="34" charset="-122"/>
                <a:cs typeface="Cambria" pitchFamily="34" charset="-120"/>
              </a:rPr>
              <a:t>03</a:t>
            </a:r>
            <a:endParaRPr lang="en-US" sz="2600" dirty="0"/>
          </a:p>
        </p:txBody>
      </p:sp>
      <p:sp>
        <p:nvSpPr>
          <p:cNvPr id="28" name="Text 20"/>
          <p:cNvSpPr txBox="1"/>
          <p:nvPr/>
        </p:nvSpPr>
        <p:spPr>
          <a:xfrm>
            <a:off x="7824470" y="2794000"/>
            <a:ext cx="2669540" cy="304800"/>
          </a:xfrm>
          <a:prstGeom prst="rect">
            <a:avLst/>
          </a:prstGeom>
          <a:noFill/>
          <a:ln/>
        </p:spPr>
        <p:txBody>
          <a:bodyPr wrap="square" lIns="0" tIns="0" rIns="0" bIns="0" rtlCol="0" anchor="t"/>
          <a:lstStyle/>
          <a:p>
            <a:pPr algn="l" indent="0" marL="0">
              <a:buNone/>
            </a:pPr>
            <a:r>
              <a:rPr lang="en-US" sz="1800" b="1" dirty="0">
                <a:solidFill>
                  <a:srgbClr val="FFFFFF"/>
                </a:solidFill>
                <a:latin typeface="Calibri" pitchFamily="34" charset="0"/>
                <a:ea typeface="Calibri" pitchFamily="34" charset="-122"/>
                <a:cs typeface="Calibri" pitchFamily="34" charset="-120"/>
              </a:rPr>
              <a:t>12 AI Agents</a:t>
            </a:r>
            <a:endParaRPr lang="en-US" sz="1800" dirty="0"/>
          </a:p>
        </p:txBody>
      </p:sp>
      <p:sp>
        <p:nvSpPr>
          <p:cNvPr id="29" name="Text 21"/>
          <p:cNvSpPr txBox="1"/>
          <p:nvPr/>
        </p:nvSpPr>
        <p:spPr>
          <a:xfrm>
            <a:off x="7824470" y="3136900"/>
            <a:ext cx="2720340" cy="787400"/>
          </a:xfrm>
          <a:prstGeom prst="rect">
            <a:avLst/>
          </a:prstGeom>
          <a:noFill/>
          <a:ln/>
        </p:spPr>
        <p:txBody>
          <a:bodyPr wrap="square" lIns="0" tIns="0" rIns="0" bIns="0" rtlCol="0" anchor="t"/>
          <a:lstStyle/>
          <a:p>
            <a:pPr algn="l" marL="177800" indent="-177800">
              <a:buSzPct val="100000"/>
              <a:buChar char="•"/>
            </a:pPr>
            <a:r>
              <a:rPr lang="en-US" sz="1450" dirty="0">
                <a:solidFill>
                  <a:srgbClr val="FFFFFF"/>
                </a:solidFill>
                <a:latin typeface="Calibri" pitchFamily="34" charset="0"/>
                <a:ea typeface="Calibri" pitchFamily="34" charset="-122"/>
                <a:cs typeface="Calibri" pitchFamily="34" charset="-120"/>
              </a:rPr>
              <a:t>Before sanction (3)</a:t>
            </a:r>
            <a:endParaRPr lang="en-US" sz="1450" dirty="0"/>
          </a:p>
          <a:p>
            <a:pPr algn="l" marL="177800" indent="-177800">
              <a:buSzPct val="100000"/>
              <a:buChar char="•"/>
            </a:pPr>
            <a:r>
              <a:rPr lang="en-US" sz="1450" dirty="0">
                <a:solidFill>
                  <a:srgbClr val="FFFFFF"/>
                </a:solidFill>
                <a:latin typeface="Calibri" pitchFamily="34" charset="0"/>
                <a:ea typeface="Calibri" pitchFamily="34" charset="-122"/>
                <a:cs typeface="Calibri" pitchFamily="34" charset="-120"/>
              </a:rPr>
              <a:t>During construction (5)</a:t>
            </a:r>
            <a:endParaRPr lang="en-US" sz="1450" dirty="0"/>
          </a:p>
          <a:p>
            <a:pPr algn="l" marL="177800" indent="-177800">
              <a:buSzPct val="100000"/>
              <a:buChar char="•"/>
            </a:pPr>
            <a:r>
              <a:rPr lang="en-US" sz="1450" dirty="0">
                <a:solidFill>
                  <a:srgbClr val="FFFFFF"/>
                </a:solidFill>
                <a:latin typeface="Calibri" pitchFamily="34" charset="0"/>
                <a:ea typeface="Calibri" pitchFamily="34" charset="-122"/>
                <a:cs typeface="Calibri" pitchFamily="34" charset="-120"/>
              </a:rPr>
              <a:t>Money &amp; time (3), after (1)</a:t>
            </a:r>
            <a:endParaRPr lang="en-US" sz="1450" dirty="0"/>
          </a:p>
        </p:txBody>
      </p:sp>
      <p:pic>
        <p:nvPicPr>
          <p:cNvPr id="30" name="Image 6" descr="C:\Users\abhim\drishti\docs\deck\assets\icons\arrow-right_n.png">    </p:cNvPr>
          <p:cNvPicPr>
            <a:picLocks noChangeAspect="1"/>
          </p:cNvPicPr>
          <p:nvPr/>
        </p:nvPicPr>
        <p:blipFill>
          <a:blip r:embed="rId7"/>
          <a:stretch>
            <a:fillRect/>
          </a:stretch>
        </p:blipFill>
        <p:spPr>
          <a:xfrm>
            <a:off x="10760710" y="2819400"/>
            <a:ext cx="279400" cy="279400"/>
          </a:xfrm>
          <a:prstGeom prst="rect">
            <a:avLst/>
          </a:prstGeom>
        </p:spPr>
      </p:pic>
      <p:sp>
        <p:nvSpPr>
          <p:cNvPr id="31" name="Shape 22"/>
          <p:cNvSpPr/>
          <p:nvPr/>
        </p:nvSpPr>
        <p:spPr>
          <a:xfrm>
            <a:off x="11127740" y="1905000"/>
            <a:ext cx="3050540" cy="2108200"/>
          </a:xfrm>
          <a:prstGeom prst="roundRect">
            <a:avLst>
              <a:gd name="adj" fmla="val 6627"/>
            </a:avLst>
          </a:prstGeom>
          <a:solidFill>
            <a:srgbClr val="EDF0F5"/>
          </a:solidFill>
          <a:ln/>
        </p:spPr>
      </p:sp>
      <p:sp>
        <p:nvSpPr>
          <p:cNvPr id="32" name="Shape 23"/>
          <p:cNvSpPr/>
          <p:nvPr/>
        </p:nvSpPr>
        <p:spPr>
          <a:xfrm>
            <a:off x="11330940" y="2082800"/>
            <a:ext cx="609600" cy="609600"/>
          </a:xfrm>
          <a:prstGeom prst="ellipse">
            <a:avLst/>
          </a:prstGeom>
          <a:solidFill>
            <a:srgbClr val="2A4D88"/>
          </a:solidFill>
          <a:ln/>
        </p:spPr>
      </p:sp>
      <p:pic>
        <p:nvPicPr>
          <p:cNvPr id="33" name="Image 7" descr="C:\Users\abhim\drishti\docs\deck\assets\icons\shield-halved_w.png">    </p:cNvPr>
          <p:cNvPicPr>
            <a:picLocks noChangeAspect="1"/>
          </p:cNvPicPr>
          <p:nvPr/>
        </p:nvPicPr>
        <p:blipFill>
          <a:blip r:embed="rId8"/>
          <a:stretch>
            <a:fillRect/>
          </a:stretch>
        </p:blipFill>
        <p:spPr>
          <a:xfrm>
            <a:off x="11483340" y="2235200"/>
            <a:ext cx="304800" cy="304800"/>
          </a:xfrm>
          <a:prstGeom prst="rect">
            <a:avLst/>
          </a:prstGeom>
        </p:spPr>
      </p:pic>
      <p:sp>
        <p:nvSpPr>
          <p:cNvPr id="34" name="Text 24"/>
          <p:cNvSpPr txBox="1"/>
          <p:nvPr/>
        </p:nvSpPr>
        <p:spPr>
          <a:xfrm>
            <a:off x="13289280" y="2082800"/>
            <a:ext cx="685800" cy="431800"/>
          </a:xfrm>
          <a:prstGeom prst="rect">
            <a:avLst/>
          </a:prstGeom>
          <a:noFill/>
          <a:ln/>
        </p:spPr>
        <p:txBody>
          <a:bodyPr wrap="square" lIns="0" tIns="0" rIns="0" bIns="0" rtlCol="0" anchor="t"/>
          <a:lstStyle/>
          <a:p>
            <a:pPr algn="r" indent="0" marL="0">
              <a:buNone/>
            </a:pPr>
            <a:r>
              <a:rPr lang="en-US" sz="2600" b="1" dirty="0">
                <a:solidFill>
                  <a:srgbClr val="7C94B8"/>
                </a:solidFill>
                <a:latin typeface="Cambria" pitchFamily="34" charset="0"/>
                <a:ea typeface="Cambria" pitchFamily="34" charset="-122"/>
                <a:cs typeface="Cambria" pitchFamily="34" charset="-120"/>
              </a:rPr>
              <a:t>04</a:t>
            </a:r>
            <a:endParaRPr lang="en-US" sz="2600" dirty="0"/>
          </a:p>
        </p:txBody>
      </p:sp>
      <p:sp>
        <p:nvSpPr>
          <p:cNvPr id="35" name="Text 25"/>
          <p:cNvSpPr txBox="1"/>
          <p:nvPr/>
        </p:nvSpPr>
        <p:spPr>
          <a:xfrm>
            <a:off x="11330940" y="2794000"/>
            <a:ext cx="2669540" cy="304800"/>
          </a:xfrm>
          <a:prstGeom prst="rect">
            <a:avLst/>
          </a:prstGeom>
          <a:noFill/>
          <a:ln/>
        </p:spPr>
        <p:txBody>
          <a:bodyPr wrap="square" lIns="0" tIns="0" rIns="0" bIns="0" rtlCol="0" anchor="t"/>
          <a:lstStyle/>
          <a:p>
            <a:pPr algn="l" indent="0" marL="0">
              <a:buNone/>
            </a:pPr>
            <a:r>
              <a:rPr lang="en-US" sz="1800" b="1" dirty="0">
                <a:solidFill>
                  <a:srgbClr val="2A4D88"/>
                </a:solidFill>
                <a:latin typeface="Calibri" pitchFamily="34" charset="0"/>
                <a:ea typeface="Calibri" pitchFamily="34" charset="-122"/>
                <a:cs typeface="Calibri" pitchFamily="34" charset="-120"/>
              </a:rPr>
              <a:t>Risk Fusion</a:t>
            </a:r>
            <a:endParaRPr lang="en-US" sz="1800" dirty="0"/>
          </a:p>
        </p:txBody>
      </p:sp>
      <p:sp>
        <p:nvSpPr>
          <p:cNvPr id="36" name="Text 26"/>
          <p:cNvSpPr txBox="1"/>
          <p:nvPr/>
        </p:nvSpPr>
        <p:spPr>
          <a:xfrm>
            <a:off x="11330940" y="3136900"/>
            <a:ext cx="2720340" cy="787400"/>
          </a:xfrm>
          <a:prstGeom prst="rect">
            <a:avLst/>
          </a:prstGeom>
          <a:noFill/>
          <a:ln/>
        </p:spPr>
        <p:txBody>
          <a:bodyPr wrap="square" lIns="0" tIns="0" rIns="0" bIns="0" rtlCol="0" anchor="t"/>
          <a:lstStyle/>
          <a:p>
            <a:pPr algn="l" marL="177800" indent="-177800">
              <a:buSzPct val="100000"/>
              <a:buChar char="•"/>
            </a:pPr>
            <a:r>
              <a:rPr lang="en-US" sz="1450" dirty="0">
                <a:solidFill>
                  <a:srgbClr val="1A2F57"/>
                </a:solidFill>
                <a:latin typeface="Calibri" pitchFamily="34" charset="0"/>
                <a:ea typeface="Calibri" pitchFamily="34" charset="-122"/>
                <a:cs typeface="Calibri" pitchFamily="34" charset="-120"/>
              </a:rPr>
              <a:t>Weighted fusion → 0–100</a:t>
            </a:r>
            <a:endParaRPr lang="en-US" sz="1450" dirty="0"/>
          </a:p>
          <a:p>
            <a:pPr algn="l" marL="177800" indent="-177800">
              <a:buSzPct val="100000"/>
              <a:buChar char="•"/>
            </a:pPr>
            <a:r>
              <a:rPr lang="en-US" sz="1450" dirty="0">
                <a:solidFill>
                  <a:srgbClr val="1A2F57"/>
                </a:solidFill>
                <a:latin typeface="Calibri" pitchFamily="34" charset="0"/>
                <a:ea typeface="Calibri" pitchFamily="34" charset="-122"/>
                <a:cs typeface="Calibri" pitchFamily="34" charset="-120"/>
              </a:rPr>
              <a:t>Top-3 reasons + evidence</a:t>
            </a:r>
            <a:endParaRPr lang="en-US" sz="1450" dirty="0"/>
          </a:p>
          <a:p>
            <a:pPr algn="l" marL="177800" indent="-177800">
              <a:buSzPct val="100000"/>
              <a:buChar char="•"/>
            </a:pPr>
            <a:r>
              <a:rPr lang="en-US" sz="1450" dirty="0">
                <a:solidFill>
                  <a:srgbClr val="1A2F57"/>
                </a:solidFill>
                <a:latin typeface="Calibri" pitchFamily="34" charset="0"/>
                <a:ea typeface="Calibri" pitchFamily="34" charset="-122"/>
                <a:cs typeface="Calibri" pitchFamily="34" charset="-120"/>
              </a:rPr>
              <a:t>Low / Med / High / Critical</a:t>
            </a:r>
            <a:endParaRPr lang="en-US" sz="1450" dirty="0"/>
          </a:p>
        </p:txBody>
      </p:sp>
      <p:pic>
        <p:nvPicPr>
          <p:cNvPr id="37" name="Image 8" descr="C:\Users\abhim\drishti\docs\deck\assets\icons\arrow-right_n.png">    </p:cNvPr>
          <p:cNvPicPr>
            <a:picLocks noChangeAspect="1"/>
          </p:cNvPicPr>
          <p:nvPr/>
        </p:nvPicPr>
        <p:blipFill>
          <a:blip r:embed="rId9"/>
          <a:stretch>
            <a:fillRect/>
          </a:stretch>
        </p:blipFill>
        <p:spPr>
          <a:xfrm>
            <a:off x="14267180" y="2819400"/>
            <a:ext cx="279400" cy="279400"/>
          </a:xfrm>
          <a:prstGeom prst="rect">
            <a:avLst/>
          </a:prstGeom>
        </p:spPr>
      </p:pic>
      <p:sp>
        <p:nvSpPr>
          <p:cNvPr id="38" name="Shape 27"/>
          <p:cNvSpPr/>
          <p:nvPr/>
        </p:nvSpPr>
        <p:spPr>
          <a:xfrm>
            <a:off x="14634210" y="1905000"/>
            <a:ext cx="3050540" cy="2108200"/>
          </a:xfrm>
          <a:prstGeom prst="roundRect">
            <a:avLst>
              <a:gd name="adj" fmla="val 6627"/>
            </a:avLst>
          </a:prstGeom>
          <a:solidFill>
            <a:srgbClr val="EDF0F5"/>
          </a:solidFill>
          <a:ln/>
        </p:spPr>
      </p:sp>
      <p:sp>
        <p:nvSpPr>
          <p:cNvPr id="39" name="Shape 28"/>
          <p:cNvSpPr/>
          <p:nvPr/>
        </p:nvSpPr>
        <p:spPr>
          <a:xfrm>
            <a:off x="14837410" y="2082800"/>
            <a:ext cx="609600" cy="609600"/>
          </a:xfrm>
          <a:prstGeom prst="ellipse">
            <a:avLst/>
          </a:prstGeom>
          <a:solidFill>
            <a:srgbClr val="2A4D88"/>
          </a:solidFill>
          <a:ln/>
        </p:spPr>
      </p:sp>
      <p:pic>
        <p:nvPicPr>
          <p:cNvPr id="40" name="Image 9" descr="C:\Users\abhim\drishti\docs\deck\assets\icons\desktop_w.png">    </p:cNvPr>
          <p:cNvPicPr>
            <a:picLocks noChangeAspect="1"/>
          </p:cNvPicPr>
          <p:nvPr/>
        </p:nvPicPr>
        <p:blipFill>
          <a:blip r:embed="rId10"/>
          <a:stretch>
            <a:fillRect/>
          </a:stretch>
        </p:blipFill>
        <p:spPr>
          <a:xfrm>
            <a:off x="14989810" y="2235200"/>
            <a:ext cx="304800" cy="304800"/>
          </a:xfrm>
          <a:prstGeom prst="rect">
            <a:avLst/>
          </a:prstGeom>
        </p:spPr>
      </p:pic>
      <p:sp>
        <p:nvSpPr>
          <p:cNvPr id="41" name="Text 29"/>
          <p:cNvSpPr txBox="1"/>
          <p:nvPr/>
        </p:nvSpPr>
        <p:spPr>
          <a:xfrm>
            <a:off x="16795750" y="2082800"/>
            <a:ext cx="685800" cy="431800"/>
          </a:xfrm>
          <a:prstGeom prst="rect">
            <a:avLst/>
          </a:prstGeom>
          <a:noFill/>
          <a:ln/>
        </p:spPr>
        <p:txBody>
          <a:bodyPr wrap="square" lIns="0" tIns="0" rIns="0" bIns="0" rtlCol="0" anchor="t"/>
          <a:lstStyle/>
          <a:p>
            <a:pPr algn="r" indent="0" marL="0">
              <a:buNone/>
            </a:pPr>
            <a:r>
              <a:rPr lang="en-US" sz="2600" b="1" dirty="0">
                <a:solidFill>
                  <a:srgbClr val="7C94B8"/>
                </a:solidFill>
                <a:latin typeface="Cambria" pitchFamily="34" charset="0"/>
                <a:ea typeface="Cambria" pitchFamily="34" charset="-122"/>
                <a:cs typeface="Cambria" pitchFamily="34" charset="-120"/>
              </a:rPr>
              <a:t>05</a:t>
            </a:r>
            <a:endParaRPr lang="en-US" sz="2600" dirty="0"/>
          </a:p>
        </p:txBody>
      </p:sp>
      <p:sp>
        <p:nvSpPr>
          <p:cNvPr id="42" name="Text 30"/>
          <p:cNvSpPr txBox="1"/>
          <p:nvPr/>
        </p:nvSpPr>
        <p:spPr>
          <a:xfrm>
            <a:off x="14837410" y="2794000"/>
            <a:ext cx="2669540" cy="304800"/>
          </a:xfrm>
          <a:prstGeom prst="rect">
            <a:avLst/>
          </a:prstGeom>
          <a:noFill/>
          <a:ln/>
        </p:spPr>
        <p:txBody>
          <a:bodyPr wrap="square" lIns="0" tIns="0" rIns="0" bIns="0" rtlCol="0" anchor="t"/>
          <a:lstStyle/>
          <a:p>
            <a:pPr algn="l" indent="0" marL="0">
              <a:buNone/>
            </a:pPr>
            <a:r>
              <a:rPr lang="en-US" sz="1800" b="1" dirty="0">
                <a:solidFill>
                  <a:srgbClr val="2A4D88"/>
                </a:solidFill>
                <a:latin typeface="Calibri" pitchFamily="34" charset="0"/>
                <a:ea typeface="Calibri" pitchFamily="34" charset="-122"/>
                <a:cs typeface="Calibri" pitchFamily="34" charset="-120"/>
              </a:rPr>
              <a:t>Alerts &amp; Dashboards</a:t>
            </a:r>
            <a:endParaRPr lang="en-US" sz="1800" dirty="0"/>
          </a:p>
        </p:txBody>
      </p:sp>
      <p:sp>
        <p:nvSpPr>
          <p:cNvPr id="43" name="Text 31"/>
          <p:cNvSpPr txBox="1"/>
          <p:nvPr/>
        </p:nvSpPr>
        <p:spPr>
          <a:xfrm>
            <a:off x="14837410" y="3136900"/>
            <a:ext cx="2720340" cy="787400"/>
          </a:xfrm>
          <a:prstGeom prst="rect">
            <a:avLst/>
          </a:prstGeom>
          <a:noFill/>
          <a:ln/>
        </p:spPr>
        <p:txBody>
          <a:bodyPr wrap="square" lIns="0" tIns="0" rIns="0" bIns="0" rtlCol="0" anchor="t"/>
          <a:lstStyle/>
          <a:p>
            <a:pPr algn="l" marL="177800" indent="-177800">
              <a:buSzPct val="100000"/>
              <a:buChar char="•"/>
            </a:pPr>
            <a:r>
              <a:rPr lang="en-US" sz="1450" dirty="0">
                <a:solidFill>
                  <a:srgbClr val="1A2F57"/>
                </a:solidFill>
                <a:latin typeface="Calibri" pitchFamily="34" charset="0"/>
                <a:ea typeface="Calibri" pitchFamily="34" charset="-122"/>
                <a:cs typeface="Calibri" pitchFamily="34" charset="-120"/>
              </a:rPr>
              <a:t>4 role-based views</a:t>
            </a:r>
            <a:endParaRPr lang="en-US" sz="1450" dirty="0"/>
          </a:p>
          <a:p>
            <a:pPr algn="l" marL="177800" indent="-177800">
              <a:buSzPct val="100000"/>
              <a:buChar char="•"/>
            </a:pPr>
            <a:r>
              <a:rPr lang="en-US" sz="1450" dirty="0">
                <a:solidFill>
                  <a:srgbClr val="1A2F57"/>
                </a:solidFill>
                <a:latin typeface="Calibri" pitchFamily="34" charset="0"/>
                <a:ea typeface="Calibri" pitchFamily="34" charset="-122"/>
                <a:cs typeface="Calibri" pitchFamily="34" charset="-120"/>
              </a:rPr>
              <a:t>Inspection plan + field app</a:t>
            </a:r>
            <a:endParaRPr lang="en-US" sz="1450" dirty="0"/>
          </a:p>
          <a:p>
            <a:pPr algn="l" marL="177800" indent="-177800">
              <a:buSzPct val="100000"/>
              <a:buChar char="•"/>
            </a:pPr>
            <a:r>
              <a:rPr lang="en-US" sz="1450" dirty="0">
                <a:solidFill>
                  <a:srgbClr val="1A2F57"/>
                </a:solidFill>
                <a:latin typeface="Calibri" pitchFamily="34" charset="0"/>
                <a:ea typeface="Calibri" pitchFamily="34" charset="-122"/>
                <a:cs typeface="Calibri" pitchFamily="34" charset="-120"/>
              </a:rPr>
              <a:t>SMS / email / PDF brief</a:t>
            </a:r>
            <a:endParaRPr lang="en-US" sz="1450" dirty="0"/>
          </a:p>
        </p:txBody>
      </p:sp>
      <p:sp>
        <p:nvSpPr>
          <p:cNvPr id="44" name="Text 32"/>
          <p:cNvSpPr txBox="1"/>
          <p:nvPr/>
        </p:nvSpPr>
        <p:spPr>
          <a:xfrm>
            <a:off x="617220" y="4191000"/>
            <a:ext cx="11430000" cy="279400"/>
          </a:xfrm>
          <a:prstGeom prst="rect">
            <a:avLst/>
          </a:prstGeom>
          <a:noFill/>
          <a:ln/>
        </p:spPr>
        <p:txBody>
          <a:bodyPr wrap="square" lIns="0" tIns="0" rIns="0" bIns="0" rtlCol="0" anchor="t"/>
          <a:lstStyle/>
          <a:p>
            <a:pPr algn="l" indent="0" marL="0">
              <a:buNone/>
            </a:pPr>
            <a:r>
              <a:rPr lang="en-US" sz="1720" b="1" spc="300" kern="0" dirty="0">
                <a:solidFill>
                  <a:srgbClr val="2A4D88"/>
                </a:solidFill>
                <a:latin typeface="Calibri" pitchFamily="34" charset="0"/>
                <a:ea typeface="Calibri" pitchFamily="34" charset="-122"/>
                <a:cs typeface="Calibri" pitchFamily="34" charset="-120"/>
              </a:rPr>
              <a:t>12 AI AGENTS  —  HOW EACH ONE WORKS</a:t>
            </a:r>
            <a:endParaRPr lang="en-US" sz="1720" dirty="0"/>
          </a:p>
        </p:txBody>
      </p:sp>
      <p:sp>
        <p:nvSpPr>
          <p:cNvPr id="45" name="Text 33"/>
          <p:cNvSpPr txBox="1"/>
          <p:nvPr/>
        </p:nvSpPr>
        <p:spPr>
          <a:xfrm>
            <a:off x="12344400" y="4191000"/>
            <a:ext cx="5334000" cy="279400"/>
          </a:xfrm>
          <a:prstGeom prst="rect">
            <a:avLst/>
          </a:prstGeom>
          <a:noFill/>
          <a:ln/>
        </p:spPr>
        <p:txBody>
          <a:bodyPr wrap="square" lIns="0" tIns="0" rIns="0" bIns="0" rtlCol="0" anchor="t"/>
          <a:lstStyle/>
          <a:p>
            <a:pPr algn="l" indent="0" marL="0">
              <a:buNone/>
            </a:pPr>
            <a:r>
              <a:rPr lang="en-US" sz="1720" b="1" spc="300" kern="0" dirty="0">
                <a:solidFill>
                  <a:srgbClr val="2A4D88"/>
                </a:solidFill>
                <a:latin typeface="Calibri" pitchFamily="34" charset="0"/>
                <a:ea typeface="Calibri" pitchFamily="34" charset="-122"/>
                <a:cs typeface="Calibri" pitchFamily="34" charset="-120"/>
              </a:rPr>
              <a:t>TECHNOLOGY STACK</a:t>
            </a:r>
            <a:endParaRPr lang="en-US" sz="1720" dirty="0"/>
          </a:p>
        </p:txBody>
      </p:sp>
      <p:sp>
        <p:nvSpPr>
          <p:cNvPr id="46" name="Shape 34"/>
          <p:cNvSpPr/>
          <p:nvPr/>
        </p:nvSpPr>
        <p:spPr>
          <a:xfrm>
            <a:off x="607060" y="4546600"/>
            <a:ext cx="2731135" cy="1600200"/>
          </a:xfrm>
          <a:prstGeom prst="roundRect">
            <a:avLst>
              <a:gd name="adj" fmla="val 7143"/>
            </a:avLst>
          </a:prstGeom>
          <a:solidFill>
            <a:srgbClr val="FFFFFF"/>
          </a:solidFill>
          <a:ln w="19050">
            <a:solidFill>
              <a:srgbClr val="B1BBC8"/>
            </a:solidFill>
            <a:prstDash val="solid"/>
          </a:ln>
        </p:spPr>
      </p:sp>
      <p:sp>
        <p:nvSpPr>
          <p:cNvPr id="47" name="Shape 35"/>
          <p:cNvSpPr/>
          <p:nvPr/>
        </p:nvSpPr>
        <p:spPr>
          <a:xfrm>
            <a:off x="734060" y="4673600"/>
            <a:ext cx="457200" cy="457200"/>
          </a:xfrm>
          <a:prstGeom prst="ellipse">
            <a:avLst/>
          </a:prstGeom>
          <a:solidFill>
            <a:srgbClr val="2A4D88"/>
          </a:solidFill>
          <a:ln/>
        </p:spPr>
      </p:sp>
      <p:pic>
        <p:nvPicPr>
          <p:cNvPr id="48" name="Image 10" descr="C:\Users\abhim\drishti\docs\deck\assets\icons\scale-balanced_w.png">    </p:cNvPr>
          <p:cNvPicPr>
            <a:picLocks noChangeAspect="1"/>
          </p:cNvPicPr>
          <p:nvPr/>
        </p:nvPicPr>
        <p:blipFill>
          <a:blip r:embed="rId11"/>
          <a:stretch>
            <a:fillRect/>
          </a:stretch>
        </p:blipFill>
        <p:spPr>
          <a:xfrm>
            <a:off x="848360" y="4787900"/>
            <a:ext cx="228600" cy="228600"/>
          </a:xfrm>
          <a:prstGeom prst="rect">
            <a:avLst/>
          </a:prstGeom>
        </p:spPr>
      </p:pic>
      <p:sp>
        <p:nvSpPr>
          <p:cNvPr id="49" name="Text 36"/>
          <p:cNvSpPr txBox="1"/>
          <p:nvPr/>
        </p:nvSpPr>
        <p:spPr>
          <a:xfrm>
            <a:off x="1292860" y="4673600"/>
            <a:ext cx="1943735" cy="457200"/>
          </a:xfrm>
          <a:prstGeom prst="rect">
            <a:avLst/>
          </a:prstGeom>
          <a:noFill/>
          <a:ln/>
        </p:spPr>
        <p:txBody>
          <a:bodyPr wrap="square" lIns="0" tIns="0" rIns="0" bIns="0" rtlCol="0" anchor="ctr"/>
          <a:lstStyle/>
          <a:p>
            <a:pPr algn="l" indent="0" marL="0">
              <a:buNone/>
            </a:pPr>
            <a:r>
              <a:rPr lang="en-US" sz="1550" b="1" dirty="0">
                <a:solidFill>
                  <a:srgbClr val="2A4D88"/>
                </a:solidFill>
                <a:latin typeface="Calibri" pitchFamily="34" charset="0"/>
                <a:ea typeface="Calibri" pitchFamily="34" charset="-122"/>
                <a:cs typeface="Calibri" pitchFamily="34" charset="-120"/>
              </a:rPr>
              <a:t>Eligibility</a:t>
            </a:r>
            <a:endParaRPr lang="en-US" sz="1550" dirty="0"/>
          </a:p>
        </p:txBody>
      </p:sp>
      <p:sp>
        <p:nvSpPr>
          <p:cNvPr id="50" name="Text 37"/>
          <p:cNvSpPr txBox="1"/>
          <p:nvPr/>
        </p:nvSpPr>
        <p:spPr>
          <a:xfrm>
            <a:off x="759460" y="5207000"/>
            <a:ext cx="2451735" cy="863600"/>
          </a:xfrm>
          <a:prstGeom prst="rect">
            <a:avLst/>
          </a:prstGeom>
          <a:noFill/>
          <a:ln/>
        </p:spPr>
        <p:txBody>
          <a:bodyPr wrap="square" lIns="0" tIns="0" rIns="0" bIns="0" rtlCol="0" anchor="t"/>
          <a:lstStyle/>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How: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guideline rules + AI that reads the clause</a:t>
            </a:r>
            <a:endParaRPr lang="en-US" sz="1350" dirty="0"/>
          </a:p>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Catches: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works the guidelines don't allow</a:t>
            </a:r>
            <a:endParaRPr lang="en-US" sz="1350" dirty="0"/>
          </a:p>
        </p:txBody>
      </p:sp>
      <p:sp>
        <p:nvSpPr>
          <p:cNvPr id="51" name="Shape 38"/>
          <p:cNvSpPr/>
          <p:nvPr/>
        </p:nvSpPr>
        <p:spPr>
          <a:xfrm>
            <a:off x="3490595" y="4546600"/>
            <a:ext cx="2731135" cy="1600200"/>
          </a:xfrm>
          <a:prstGeom prst="roundRect">
            <a:avLst>
              <a:gd name="adj" fmla="val 7143"/>
            </a:avLst>
          </a:prstGeom>
          <a:solidFill>
            <a:srgbClr val="FFFFFF"/>
          </a:solidFill>
          <a:ln w="19050">
            <a:solidFill>
              <a:srgbClr val="B1BBC8"/>
            </a:solidFill>
            <a:prstDash val="solid"/>
          </a:ln>
        </p:spPr>
      </p:sp>
      <p:sp>
        <p:nvSpPr>
          <p:cNvPr id="52" name="Shape 39"/>
          <p:cNvSpPr/>
          <p:nvPr/>
        </p:nvSpPr>
        <p:spPr>
          <a:xfrm>
            <a:off x="3617595" y="4673600"/>
            <a:ext cx="457200" cy="457200"/>
          </a:xfrm>
          <a:prstGeom prst="ellipse">
            <a:avLst/>
          </a:prstGeom>
          <a:solidFill>
            <a:srgbClr val="2A4D88"/>
          </a:solidFill>
          <a:ln/>
        </p:spPr>
      </p:sp>
      <p:pic>
        <p:nvPicPr>
          <p:cNvPr id="53" name="Image 11" descr="C:\Users\abhim\drishti\docs\deck\assets\icons\clone_w.png">    </p:cNvPr>
          <p:cNvPicPr>
            <a:picLocks noChangeAspect="1"/>
          </p:cNvPicPr>
          <p:nvPr/>
        </p:nvPicPr>
        <p:blipFill>
          <a:blip r:embed="rId12"/>
          <a:stretch>
            <a:fillRect/>
          </a:stretch>
        </p:blipFill>
        <p:spPr>
          <a:xfrm>
            <a:off x="3731895" y="4787900"/>
            <a:ext cx="228600" cy="228600"/>
          </a:xfrm>
          <a:prstGeom prst="rect">
            <a:avLst/>
          </a:prstGeom>
        </p:spPr>
      </p:pic>
      <p:sp>
        <p:nvSpPr>
          <p:cNvPr id="54" name="Text 40"/>
          <p:cNvSpPr txBox="1"/>
          <p:nvPr/>
        </p:nvSpPr>
        <p:spPr>
          <a:xfrm>
            <a:off x="4176395" y="4673600"/>
            <a:ext cx="1943735" cy="457200"/>
          </a:xfrm>
          <a:prstGeom prst="rect">
            <a:avLst/>
          </a:prstGeom>
          <a:noFill/>
          <a:ln/>
        </p:spPr>
        <p:txBody>
          <a:bodyPr wrap="square" lIns="0" tIns="0" rIns="0" bIns="0" rtlCol="0" anchor="ctr"/>
          <a:lstStyle/>
          <a:p>
            <a:pPr algn="l" indent="0" marL="0">
              <a:buNone/>
            </a:pPr>
            <a:r>
              <a:rPr lang="en-US" sz="1550" b="1" dirty="0">
                <a:solidFill>
                  <a:srgbClr val="2A4D88"/>
                </a:solidFill>
                <a:latin typeface="Calibri" pitchFamily="34" charset="0"/>
                <a:ea typeface="Calibri" pitchFamily="34" charset="-122"/>
                <a:cs typeface="Calibri" pitchFamily="34" charset="-120"/>
              </a:rPr>
              <a:t>Duplicate &amp; Split</a:t>
            </a:r>
            <a:endParaRPr lang="en-US" sz="1550" dirty="0"/>
          </a:p>
        </p:txBody>
      </p:sp>
      <p:sp>
        <p:nvSpPr>
          <p:cNvPr id="55" name="Text 41"/>
          <p:cNvSpPr txBox="1"/>
          <p:nvPr/>
        </p:nvSpPr>
        <p:spPr>
          <a:xfrm>
            <a:off x="3642995" y="5207000"/>
            <a:ext cx="2451735" cy="863600"/>
          </a:xfrm>
          <a:prstGeom prst="rect">
            <a:avLst/>
          </a:prstGeom>
          <a:noFill/>
          <a:ln/>
        </p:spPr>
        <p:txBody>
          <a:bodyPr wrap="square" lIns="0" tIns="0" rIns="0" bIns="0" rtlCol="0" anchor="t"/>
          <a:lstStyle/>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How: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DIGIPIN map grid + Hindi &amp; English text match</a:t>
            </a:r>
            <a:endParaRPr lang="en-US" sz="1350" dirty="0"/>
          </a:p>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Catches: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same work funded twice, or split up</a:t>
            </a:r>
            <a:endParaRPr lang="en-US" sz="1350" dirty="0"/>
          </a:p>
        </p:txBody>
      </p:sp>
      <p:sp>
        <p:nvSpPr>
          <p:cNvPr id="56" name="Shape 42"/>
          <p:cNvSpPr/>
          <p:nvPr/>
        </p:nvSpPr>
        <p:spPr>
          <a:xfrm>
            <a:off x="6374130" y="4546600"/>
            <a:ext cx="2731135" cy="1600200"/>
          </a:xfrm>
          <a:prstGeom prst="roundRect">
            <a:avLst>
              <a:gd name="adj" fmla="val 7143"/>
            </a:avLst>
          </a:prstGeom>
          <a:solidFill>
            <a:srgbClr val="FFFFFF"/>
          </a:solidFill>
          <a:ln w="19050">
            <a:solidFill>
              <a:srgbClr val="B1BBC8"/>
            </a:solidFill>
            <a:prstDash val="solid"/>
          </a:ln>
        </p:spPr>
      </p:sp>
      <p:sp>
        <p:nvSpPr>
          <p:cNvPr id="57" name="Shape 43"/>
          <p:cNvSpPr/>
          <p:nvPr/>
        </p:nvSpPr>
        <p:spPr>
          <a:xfrm>
            <a:off x="6501130" y="4673600"/>
            <a:ext cx="457200" cy="457200"/>
          </a:xfrm>
          <a:prstGeom prst="ellipse">
            <a:avLst/>
          </a:prstGeom>
          <a:solidFill>
            <a:srgbClr val="2A4D88"/>
          </a:solidFill>
          <a:ln/>
        </p:spPr>
      </p:sp>
      <p:pic>
        <p:nvPicPr>
          <p:cNvPr id="58" name="Image 12" descr="C:\Users\abhim\drishti\docs\deck\assets\icons\indian-rupee-sign_w.png">    </p:cNvPr>
          <p:cNvPicPr>
            <a:picLocks noChangeAspect="1"/>
          </p:cNvPicPr>
          <p:nvPr/>
        </p:nvPicPr>
        <p:blipFill>
          <a:blip r:embed="rId13"/>
          <a:stretch>
            <a:fillRect/>
          </a:stretch>
        </p:blipFill>
        <p:spPr>
          <a:xfrm>
            <a:off x="6615430" y="4787900"/>
            <a:ext cx="228600" cy="228600"/>
          </a:xfrm>
          <a:prstGeom prst="rect">
            <a:avLst/>
          </a:prstGeom>
        </p:spPr>
      </p:pic>
      <p:sp>
        <p:nvSpPr>
          <p:cNvPr id="59" name="Text 44"/>
          <p:cNvSpPr txBox="1"/>
          <p:nvPr/>
        </p:nvSpPr>
        <p:spPr>
          <a:xfrm>
            <a:off x="7059930" y="4673600"/>
            <a:ext cx="1943735" cy="457200"/>
          </a:xfrm>
          <a:prstGeom prst="rect">
            <a:avLst/>
          </a:prstGeom>
          <a:noFill/>
          <a:ln/>
        </p:spPr>
        <p:txBody>
          <a:bodyPr wrap="square" lIns="0" tIns="0" rIns="0" bIns="0" rtlCol="0" anchor="ctr"/>
          <a:lstStyle/>
          <a:p>
            <a:pPr algn="l" indent="0" marL="0">
              <a:buNone/>
            </a:pPr>
            <a:r>
              <a:rPr lang="en-US" sz="1550" b="1" dirty="0">
                <a:solidFill>
                  <a:srgbClr val="2A4D88"/>
                </a:solidFill>
                <a:latin typeface="Calibri" pitchFamily="34" charset="0"/>
                <a:ea typeface="Calibri" pitchFamily="34" charset="-122"/>
                <a:cs typeface="Calibri" pitchFamily="34" charset="-120"/>
              </a:rPr>
              <a:t>Cost</a:t>
            </a:r>
            <a:endParaRPr lang="en-US" sz="1550" dirty="0"/>
          </a:p>
        </p:txBody>
      </p:sp>
      <p:sp>
        <p:nvSpPr>
          <p:cNvPr id="60" name="Text 45"/>
          <p:cNvSpPr txBox="1"/>
          <p:nvPr/>
        </p:nvSpPr>
        <p:spPr>
          <a:xfrm>
            <a:off x="6526530" y="5207000"/>
            <a:ext cx="2451735" cy="863600"/>
          </a:xfrm>
          <a:prstGeom prst="rect">
            <a:avLst/>
          </a:prstGeom>
          <a:noFill/>
          <a:ln/>
        </p:spPr>
        <p:txBody>
          <a:bodyPr wrap="square" lIns="0" tIns="0" rIns="0" bIns="0" rtlCol="0" anchor="t"/>
          <a:lstStyle/>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How: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cost range of similar works in the district</a:t>
            </a:r>
            <a:endParaRPr lang="en-US" sz="1350" dirty="0"/>
          </a:p>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Catches: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estimates far above similar works</a:t>
            </a:r>
            <a:endParaRPr lang="en-US" sz="1350" dirty="0"/>
          </a:p>
        </p:txBody>
      </p:sp>
      <p:sp>
        <p:nvSpPr>
          <p:cNvPr id="61" name="Shape 46"/>
          <p:cNvSpPr/>
          <p:nvPr/>
        </p:nvSpPr>
        <p:spPr>
          <a:xfrm>
            <a:off x="9257665" y="4546600"/>
            <a:ext cx="2731135" cy="1600200"/>
          </a:xfrm>
          <a:prstGeom prst="roundRect">
            <a:avLst>
              <a:gd name="adj" fmla="val 7143"/>
            </a:avLst>
          </a:prstGeom>
          <a:solidFill>
            <a:srgbClr val="FFFFFF"/>
          </a:solidFill>
          <a:ln w="19050">
            <a:solidFill>
              <a:srgbClr val="B1BBC8"/>
            </a:solidFill>
            <a:prstDash val="solid"/>
          </a:ln>
        </p:spPr>
      </p:sp>
      <p:sp>
        <p:nvSpPr>
          <p:cNvPr id="62" name="Shape 47"/>
          <p:cNvSpPr/>
          <p:nvPr/>
        </p:nvSpPr>
        <p:spPr>
          <a:xfrm>
            <a:off x="9384665" y="4673600"/>
            <a:ext cx="457200" cy="457200"/>
          </a:xfrm>
          <a:prstGeom prst="ellipse">
            <a:avLst/>
          </a:prstGeom>
          <a:solidFill>
            <a:srgbClr val="2A4D88"/>
          </a:solidFill>
          <a:ln/>
        </p:spPr>
      </p:sp>
      <p:pic>
        <p:nvPicPr>
          <p:cNvPr id="63" name="Image 13" descr="C:\Users\abhim\drishti\docs\deck\assets\icons\camera_w.png">    </p:cNvPr>
          <p:cNvPicPr>
            <a:picLocks noChangeAspect="1"/>
          </p:cNvPicPr>
          <p:nvPr/>
        </p:nvPicPr>
        <p:blipFill>
          <a:blip r:embed="rId14"/>
          <a:stretch>
            <a:fillRect/>
          </a:stretch>
        </p:blipFill>
        <p:spPr>
          <a:xfrm>
            <a:off x="9498965" y="4787900"/>
            <a:ext cx="228600" cy="228600"/>
          </a:xfrm>
          <a:prstGeom prst="rect">
            <a:avLst/>
          </a:prstGeom>
        </p:spPr>
      </p:pic>
      <p:sp>
        <p:nvSpPr>
          <p:cNvPr id="64" name="Text 48"/>
          <p:cNvSpPr txBox="1"/>
          <p:nvPr/>
        </p:nvSpPr>
        <p:spPr>
          <a:xfrm>
            <a:off x="9943465" y="4673600"/>
            <a:ext cx="1943735" cy="457200"/>
          </a:xfrm>
          <a:prstGeom prst="rect">
            <a:avLst/>
          </a:prstGeom>
          <a:noFill/>
          <a:ln/>
        </p:spPr>
        <p:txBody>
          <a:bodyPr wrap="square" lIns="0" tIns="0" rIns="0" bIns="0" rtlCol="0" anchor="ctr"/>
          <a:lstStyle/>
          <a:p>
            <a:pPr algn="l" indent="0" marL="0">
              <a:buNone/>
            </a:pPr>
            <a:r>
              <a:rPr lang="en-US" sz="1550" b="1" dirty="0">
                <a:solidFill>
                  <a:srgbClr val="2A4D88"/>
                </a:solidFill>
                <a:latin typeface="Calibri" pitchFamily="34" charset="0"/>
                <a:ea typeface="Calibri" pitchFamily="34" charset="-122"/>
                <a:cs typeface="Calibri" pitchFamily="34" charset="-120"/>
              </a:rPr>
              <a:t>Site Progress</a:t>
            </a:r>
            <a:endParaRPr lang="en-US" sz="1550" dirty="0"/>
          </a:p>
        </p:txBody>
      </p:sp>
      <p:sp>
        <p:nvSpPr>
          <p:cNvPr id="65" name="Text 49"/>
          <p:cNvSpPr txBox="1"/>
          <p:nvPr/>
        </p:nvSpPr>
        <p:spPr>
          <a:xfrm>
            <a:off x="9410065" y="5207000"/>
            <a:ext cx="2451735" cy="863600"/>
          </a:xfrm>
          <a:prstGeom prst="rect">
            <a:avLst/>
          </a:prstGeom>
          <a:noFill/>
          <a:ln/>
        </p:spPr>
        <p:txBody>
          <a:bodyPr wrap="square" lIns="0" tIns="0" rIns="0" bIns="0" rtlCol="0" anchor="t"/>
          <a:lstStyle/>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How: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vision AI checks each claim against photos</a:t>
            </a:r>
            <a:endParaRPr lang="en-US" sz="1350" dirty="0"/>
          </a:p>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Catches: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“roof done” with no roof; no plaque</a:t>
            </a:r>
            <a:endParaRPr lang="en-US" sz="1350" dirty="0"/>
          </a:p>
        </p:txBody>
      </p:sp>
      <p:sp>
        <p:nvSpPr>
          <p:cNvPr id="66" name="Shape 50"/>
          <p:cNvSpPr/>
          <p:nvPr/>
        </p:nvSpPr>
        <p:spPr>
          <a:xfrm>
            <a:off x="607060" y="6273800"/>
            <a:ext cx="2731135" cy="1600200"/>
          </a:xfrm>
          <a:prstGeom prst="roundRect">
            <a:avLst>
              <a:gd name="adj" fmla="val 7143"/>
            </a:avLst>
          </a:prstGeom>
          <a:solidFill>
            <a:srgbClr val="FFFFFF"/>
          </a:solidFill>
          <a:ln w="19050">
            <a:solidFill>
              <a:srgbClr val="B1BBC8"/>
            </a:solidFill>
            <a:prstDash val="solid"/>
          </a:ln>
        </p:spPr>
      </p:sp>
      <p:sp>
        <p:nvSpPr>
          <p:cNvPr id="67" name="Shape 51"/>
          <p:cNvSpPr/>
          <p:nvPr/>
        </p:nvSpPr>
        <p:spPr>
          <a:xfrm>
            <a:off x="734060" y="6400800"/>
            <a:ext cx="457200" cy="457200"/>
          </a:xfrm>
          <a:prstGeom prst="ellipse">
            <a:avLst/>
          </a:prstGeom>
          <a:solidFill>
            <a:srgbClr val="2A4D88"/>
          </a:solidFill>
          <a:ln/>
        </p:spPr>
      </p:sp>
      <p:pic>
        <p:nvPicPr>
          <p:cNvPr id="68" name="Image 14" descr="C:\Users\abhim\drishti\docs\deck\assets\icons\fingerprint_w.png">    </p:cNvPr>
          <p:cNvPicPr>
            <a:picLocks noChangeAspect="1"/>
          </p:cNvPicPr>
          <p:nvPr/>
        </p:nvPicPr>
        <p:blipFill>
          <a:blip r:embed="rId15"/>
          <a:stretch>
            <a:fillRect/>
          </a:stretch>
        </p:blipFill>
        <p:spPr>
          <a:xfrm>
            <a:off x="848360" y="6515100"/>
            <a:ext cx="228600" cy="228600"/>
          </a:xfrm>
          <a:prstGeom prst="rect">
            <a:avLst/>
          </a:prstGeom>
        </p:spPr>
      </p:pic>
      <p:sp>
        <p:nvSpPr>
          <p:cNvPr id="69" name="Text 52"/>
          <p:cNvSpPr txBox="1"/>
          <p:nvPr/>
        </p:nvSpPr>
        <p:spPr>
          <a:xfrm>
            <a:off x="1292860" y="6400800"/>
            <a:ext cx="1943735" cy="457200"/>
          </a:xfrm>
          <a:prstGeom prst="rect">
            <a:avLst/>
          </a:prstGeom>
          <a:noFill/>
          <a:ln/>
        </p:spPr>
        <p:txBody>
          <a:bodyPr wrap="square" lIns="0" tIns="0" rIns="0" bIns="0" rtlCol="0" anchor="ctr"/>
          <a:lstStyle/>
          <a:p>
            <a:pPr algn="l" indent="0" marL="0">
              <a:buNone/>
            </a:pPr>
            <a:r>
              <a:rPr lang="en-US" sz="1550" b="1" dirty="0">
                <a:solidFill>
                  <a:srgbClr val="2A4D88"/>
                </a:solidFill>
                <a:latin typeface="Calibri" pitchFamily="34" charset="0"/>
                <a:ea typeface="Calibri" pitchFamily="34" charset="-122"/>
                <a:cs typeface="Calibri" pitchFamily="34" charset="-120"/>
              </a:rPr>
              <a:t>Photo Forensics</a:t>
            </a:r>
            <a:endParaRPr lang="en-US" sz="1550" dirty="0"/>
          </a:p>
        </p:txBody>
      </p:sp>
      <p:sp>
        <p:nvSpPr>
          <p:cNvPr id="70" name="Text 53"/>
          <p:cNvSpPr txBox="1"/>
          <p:nvPr/>
        </p:nvSpPr>
        <p:spPr>
          <a:xfrm>
            <a:off x="759460" y="6934200"/>
            <a:ext cx="2451735" cy="863600"/>
          </a:xfrm>
          <a:prstGeom prst="rect">
            <a:avLst/>
          </a:prstGeom>
          <a:noFill/>
          <a:ln/>
        </p:spPr>
        <p:txBody>
          <a:bodyPr wrap="square" lIns="0" tIns="0" rIns="0" bIns="0" rtlCol="0" anchor="t"/>
          <a:lstStyle/>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How: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image fingerprints across all works</a:t>
            </a:r>
            <a:endParaRPr lang="en-US" sz="1350" dirty="0"/>
          </a:p>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Catches: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same photo or certificate reused</a:t>
            </a:r>
            <a:endParaRPr lang="en-US" sz="1350" dirty="0"/>
          </a:p>
        </p:txBody>
      </p:sp>
      <p:sp>
        <p:nvSpPr>
          <p:cNvPr id="71" name="Shape 54"/>
          <p:cNvSpPr/>
          <p:nvPr/>
        </p:nvSpPr>
        <p:spPr>
          <a:xfrm>
            <a:off x="3490595" y="6273800"/>
            <a:ext cx="2731135" cy="1600200"/>
          </a:xfrm>
          <a:prstGeom prst="roundRect">
            <a:avLst>
              <a:gd name="adj" fmla="val 7143"/>
            </a:avLst>
          </a:prstGeom>
          <a:solidFill>
            <a:srgbClr val="FFFFFF"/>
          </a:solidFill>
          <a:ln w="19050">
            <a:solidFill>
              <a:srgbClr val="B1BBC8"/>
            </a:solidFill>
            <a:prstDash val="solid"/>
          </a:ln>
        </p:spPr>
      </p:sp>
      <p:sp>
        <p:nvSpPr>
          <p:cNvPr id="72" name="Shape 55"/>
          <p:cNvSpPr/>
          <p:nvPr/>
        </p:nvSpPr>
        <p:spPr>
          <a:xfrm>
            <a:off x="3617595" y="6400800"/>
            <a:ext cx="457200" cy="457200"/>
          </a:xfrm>
          <a:prstGeom prst="ellipse">
            <a:avLst/>
          </a:prstGeom>
          <a:solidFill>
            <a:srgbClr val="2A4D88"/>
          </a:solidFill>
          <a:ln/>
        </p:spPr>
      </p:sp>
      <p:pic>
        <p:nvPicPr>
          <p:cNvPr id="73" name="Image 15" descr="C:\Users\abhim\drishti\docs\deck\assets\icons\location-dot_w.png">    </p:cNvPr>
          <p:cNvPicPr>
            <a:picLocks noChangeAspect="1"/>
          </p:cNvPicPr>
          <p:nvPr/>
        </p:nvPicPr>
        <p:blipFill>
          <a:blip r:embed="rId16"/>
          <a:stretch>
            <a:fillRect/>
          </a:stretch>
        </p:blipFill>
        <p:spPr>
          <a:xfrm>
            <a:off x="3731895" y="6515100"/>
            <a:ext cx="228600" cy="228600"/>
          </a:xfrm>
          <a:prstGeom prst="rect">
            <a:avLst/>
          </a:prstGeom>
        </p:spPr>
      </p:pic>
      <p:sp>
        <p:nvSpPr>
          <p:cNvPr id="74" name="Text 56"/>
          <p:cNvSpPr txBox="1"/>
          <p:nvPr/>
        </p:nvSpPr>
        <p:spPr>
          <a:xfrm>
            <a:off x="4176395" y="6400800"/>
            <a:ext cx="1943735" cy="457200"/>
          </a:xfrm>
          <a:prstGeom prst="rect">
            <a:avLst/>
          </a:prstGeom>
          <a:noFill/>
          <a:ln/>
        </p:spPr>
        <p:txBody>
          <a:bodyPr wrap="square" lIns="0" tIns="0" rIns="0" bIns="0" rtlCol="0" anchor="ctr"/>
          <a:lstStyle/>
          <a:p>
            <a:pPr algn="l" indent="0" marL="0">
              <a:buNone/>
            </a:pPr>
            <a:r>
              <a:rPr lang="en-US" sz="1550" b="1" dirty="0">
                <a:solidFill>
                  <a:srgbClr val="2A4D88"/>
                </a:solidFill>
                <a:latin typeface="Calibri" pitchFamily="34" charset="0"/>
                <a:ea typeface="Calibri" pitchFamily="34" charset="-122"/>
                <a:cs typeface="Calibri" pitchFamily="34" charset="-120"/>
              </a:rPr>
              <a:t>Geo-Location</a:t>
            </a:r>
            <a:endParaRPr lang="en-US" sz="1550" dirty="0"/>
          </a:p>
        </p:txBody>
      </p:sp>
      <p:sp>
        <p:nvSpPr>
          <p:cNvPr id="75" name="Text 57"/>
          <p:cNvSpPr txBox="1"/>
          <p:nvPr/>
        </p:nvSpPr>
        <p:spPr>
          <a:xfrm>
            <a:off x="3642995" y="6934200"/>
            <a:ext cx="2451735" cy="863600"/>
          </a:xfrm>
          <a:prstGeom prst="rect">
            <a:avLst/>
          </a:prstGeom>
          <a:noFill/>
          <a:ln/>
        </p:spPr>
        <p:txBody>
          <a:bodyPr wrap="square" lIns="0" tIns="0" rIns="0" bIns="0" rtlCol="0" anchor="t"/>
          <a:lstStyle/>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How: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photo GPS &amp; stamp vs district map</a:t>
            </a:r>
            <a:endParaRPr lang="en-US" sz="1350" dirty="0"/>
          </a:p>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Catches: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photos taken elsewhere, or too early</a:t>
            </a:r>
            <a:endParaRPr lang="en-US" sz="1350" dirty="0"/>
          </a:p>
        </p:txBody>
      </p:sp>
      <p:sp>
        <p:nvSpPr>
          <p:cNvPr id="76" name="Shape 58"/>
          <p:cNvSpPr/>
          <p:nvPr/>
        </p:nvSpPr>
        <p:spPr>
          <a:xfrm>
            <a:off x="6374130" y="6273800"/>
            <a:ext cx="2731135" cy="1600200"/>
          </a:xfrm>
          <a:prstGeom prst="roundRect">
            <a:avLst>
              <a:gd name="adj" fmla="val 7143"/>
            </a:avLst>
          </a:prstGeom>
          <a:solidFill>
            <a:srgbClr val="FFFFFF"/>
          </a:solidFill>
          <a:ln w="19050">
            <a:solidFill>
              <a:srgbClr val="B1BBC8"/>
            </a:solidFill>
            <a:prstDash val="solid"/>
          </a:ln>
        </p:spPr>
      </p:sp>
      <p:sp>
        <p:nvSpPr>
          <p:cNvPr id="77" name="Shape 59"/>
          <p:cNvSpPr/>
          <p:nvPr/>
        </p:nvSpPr>
        <p:spPr>
          <a:xfrm>
            <a:off x="6501130" y="6400800"/>
            <a:ext cx="457200" cy="457200"/>
          </a:xfrm>
          <a:prstGeom prst="ellipse">
            <a:avLst/>
          </a:prstGeom>
          <a:solidFill>
            <a:srgbClr val="2A4D88"/>
          </a:solidFill>
          <a:ln/>
        </p:spPr>
      </p:sp>
      <p:pic>
        <p:nvPicPr>
          <p:cNvPr id="78" name="Image 16" descr="C:\Users\abhim\drishti\docs\deck\assets\icons\file-invoice_w.png">    </p:cNvPr>
          <p:cNvPicPr>
            <a:picLocks noChangeAspect="1"/>
          </p:cNvPicPr>
          <p:nvPr/>
        </p:nvPicPr>
        <p:blipFill>
          <a:blip r:embed="rId17"/>
          <a:stretch>
            <a:fillRect/>
          </a:stretch>
        </p:blipFill>
        <p:spPr>
          <a:xfrm>
            <a:off x="6615430" y="6515100"/>
            <a:ext cx="228600" cy="228600"/>
          </a:xfrm>
          <a:prstGeom prst="rect">
            <a:avLst/>
          </a:prstGeom>
        </p:spPr>
      </p:pic>
      <p:sp>
        <p:nvSpPr>
          <p:cNvPr id="79" name="Text 60"/>
          <p:cNvSpPr txBox="1"/>
          <p:nvPr/>
        </p:nvSpPr>
        <p:spPr>
          <a:xfrm>
            <a:off x="7059930" y="6400800"/>
            <a:ext cx="1943735" cy="457200"/>
          </a:xfrm>
          <a:prstGeom prst="rect">
            <a:avLst/>
          </a:prstGeom>
          <a:noFill/>
          <a:ln/>
        </p:spPr>
        <p:txBody>
          <a:bodyPr wrap="square" lIns="0" tIns="0" rIns="0" bIns="0" rtlCol="0" anchor="ctr"/>
          <a:lstStyle/>
          <a:p>
            <a:pPr algn="l" indent="0" marL="0">
              <a:buNone/>
            </a:pPr>
            <a:r>
              <a:rPr lang="en-US" sz="1550" b="1" dirty="0">
                <a:solidFill>
                  <a:srgbClr val="2A4D88"/>
                </a:solidFill>
                <a:latin typeface="Calibri" pitchFamily="34" charset="0"/>
                <a:ea typeface="Calibri" pitchFamily="34" charset="-122"/>
                <a:cs typeface="Calibri" pitchFamily="34" charset="-120"/>
              </a:rPr>
              <a:t>Document</a:t>
            </a:r>
            <a:endParaRPr lang="en-US" sz="1550" dirty="0"/>
          </a:p>
        </p:txBody>
      </p:sp>
      <p:sp>
        <p:nvSpPr>
          <p:cNvPr id="80" name="Text 61"/>
          <p:cNvSpPr txBox="1"/>
          <p:nvPr/>
        </p:nvSpPr>
        <p:spPr>
          <a:xfrm>
            <a:off x="6526530" y="6934200"/>
            <a:ext cx="2451735" cy="863600"/>
          </a:xfrm>
          <a:prstGeom prst="rect">
            <a:avLst/>
          </a:prstGeom>
          <a:noFill/>
          <a:ln/>
        </p:spPr>
        <p:txBody>
          <a:bodyPr wrap="square" lIns="0" tIns="0" rIns="0" bIns="0" rtlCol="0" anchor="t"/>
          <a:lstStyle/>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How: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AI reads certificates, bills &amp; UCs</a:t>
            </a:r>
            <a:endParaRPr lang="en-US" sz="1350" dirty="0"/>
          </a:p>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Catches: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amounts &amp; dates that don't add up</a:t>
            </a:r>
            <a:endParaRPr lang="en-US" sz="1350" dirty="0"/>
          </a:p>
        </p:txBody>
      </p:sp>
      <p:sp>
        <p:nvSpPr>
          <p:cNvPr id="81" name="Shape 62"/>
          <p:cNvSpPr/>
          <p:nvPr/>
        </p:nvSpPr>
        <p:spPr>
          <a:xfrm>
            <a:off x="9257665" y="6273800"/>
            <a:ext cx="2731135" cy="1600200"/>
          </a:xfrm>
          <a:prstGeom prst="roundRect">
            <a:avLst>
              <a:gd name="adj" fmla="val 7143"/>
            </a:avLst>
          </a:prstGeom>
          <a:solidFill>
            <a:srgbClr val="FFFFFF"/>
          </a:solidFill>
          <a:ln w="19050">
            <a:solidFill>
              <a:srgbClr val="B1BBC8"/>
            </a:solidFill>
            <a:prstDash val="solid"/>
          </a:ln>
        </p:spPr>
      </p:sp>
      <p:sp>
        <p:nvSpPr>
          <p:cNvPr id="82" name="Shape 63"/>
          <p:cNvSpPr/>
          <p:nvPr/>
        </p:nvSpPr>
        <p:spPr>
          <a:xfrm>
            <a:off x="9384665" y="6400800"/>
            <a:ext cx="457200" cy="457200"/>
          </a:xfrm>
          <a:prstGeom prst="ellipse">
            <a:avLst/>
          </a:prstGeom>
          <a:solidFill>
            <a:srgbClr val="2A4D88"/>
          </a:solidFill>
          <a:ln/>
        </p:spPr>
      </p:sp>
      <p:pic>
        <p:nvPicPr>
          <p:cNvPr id="83" name="Image 17" descr="C:\Users\abhim\drishti\docs\deck\assets\icons\satellite_w.png">    </p:cNvPr>
          <p:cNvPicPr>
            <a:picLocks noChangeAspect="1"/>
          </p:cNvPicPr>
          <p:nvPr/>
        </p:nvPicPr>
        <p:blipFill>
          <a:blip r:embed="rId18"/>
          <a:stretch>
            <a:fillRect/>
          </a:stretch>
        </p:blipFill>
        <p:spPr>
          <a:xfrm>
            <a:off x="9498965" y="6515100"/>
            <a:ext cx="228600" cy="228600"/>
          </a:xfrm>
          <a:prstGeom prst="rect">
            <a:avLst/>
          </a:prstGeom>
        </p:spPr>
      </p:pic>
      <p:sp>
        <p:nvSpPr>
          <p:cNvPr id="84" name="Text 64"/>
          <p:cNvSpPr txBox="1"/>
          <p:nvPr/>
        </p:nvSpPr>
        <p:spPr>
          <a:xfrm>
            <a:off x="9943465" y="6400800"/>
            <a:ext cx="1943735" cy="457200"/>
          </a:xfrm>
          <a:prstGeom prst="rect">
            <a:avLst/>
          </a:prstGeom>
          <a:noFill/>
          <a:ln/>
        </p:spPr>
        <p:txBody>
          <a:bodyPr wrap="square" lIns="0" tIns="0" rIns="0" bIns="0" rtlCol="0" anchor="ctr"/>
          <a:lstStyle/>
          <a:p>
            <a:pPr algn="l" indent="0" marL="0">
              <a:buNone/>
            </a:pPr>
            <a:r>
              <a:rPr lang="en-US" sz="1550" b="1" dirty="0">
                <a:solidFill>
                  <a:srgbClr val="2A4D88"/>
                </a:solidFill>
                <a:latin typeface="Calibri" pitchFamily="34" charset="0"/>
                <a:ea typeface="Calibri" pitchFamily="34" charset="-122"/>
                <a:cs typeface="Calibri" pitchFamily="34" charset="-120"/>
              </a:rPr>
              <a:t>Satellite</a:t>
            </a:r>
            <a:endParaRPr lang="en-US" sz="1550" dirty="0"/>
          </a:p>
        </p:txBody>
      </p:sp>
      <p:sp>
        <p:nvSpPr>
          <p:cNvPr id="85" name="Text 65"/>
          <p:cNvSpPr txBox="1"/>
          <p:nvPr/>
        </p:nvSpPr>
        <p:spPr>
          <a:xfrm>
            <a:off x="9410065" y="6934200"/>
            <a:ext cx="2451735" cy="863600"/>
          </a:xfrm>
          <a:prstGeom prst="rect">
            <a:avLst/>
          </a:prstGeom>
          <a:noFill/>
          <a:ln/>
        </p:spPr>
        <p:txBody>
          <a:bodyPr wrap="square" lIns="0" tIns="0" rIns="0" bIns="0" rtlCol="0" anchor="t"/>
          <a:lstStyle/>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How: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Sentinel-2 before/after, big works only</a:t>
            </a:r>
            <a:endParaRPr lang="en-US" sz="1350" dirty="0"/>
          </a:p>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Catches: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ponds &amp; long roads never built</a:t>
            </a:r>
            <a:endParaRPr lang="en-US" sz="1350" dirty="0"/>
          </a:p>
        </p:txBody>
      </p:sp>
      <p:sp>
        <p:nvSpPr>
          <p:cNvPr id="86" name="Shape 66"/>
          <p:cNvSpPr/>
          <p:nvPr/>
        </p:nvSpPr>
        <p:spPr>
          <a:xfrm>
            <a:off x="607060" y="8001000"/>
            <a:ext cx="2731135" cy="1600200"/>
          </a:xfrm>
          <a:prstGeom prst="roundRect">
            <a:avLst>
              <a:gd name="adj" fmla="val 7143"/>
            </a:avLst>
          </a:prstGeom>
          <a:solidFill>
            <a:srgbClr val="FFFFFF"/>
          </a:solidFill>
          <a:ln w="19050">
            <a:solidFill>
              <a:srgbClr val="B1BBC8"/>
            </a:solidFill>
            <a:prstDash val="solid"/>
          </a:ln>
        </p:spPr>
      </p:sp>
      <p:sp>
        <p:nvSpPr>
          <p:cNvPr id="87" name="Shape 67"/>
          <p:cNvSpPr/>
          <p:nvPr/>
        </p:nvSpPr>
        <p:spPr>
          <a:xfrm>
            <a:off x="734060" y="8128000"/>
            <a:ext cx="457200" cy="457200"/>
          </a:xfrm>
          <a:prstGeom prst="ellipse">
            <a:avLst/>
          </a:prstGeom>
          <a:solidFill>
            <a:srgbClr val="2A4D88"/>
          </a:solidFill>
          <a:ln/>
        </p:spPr>
      </p:sp>
      <p:pic>
        <p:nvPicPr>
          <p:cNvPr id="88" name="Image 18" descr="C:\Users\abhim\drishti\docs\deck\assets\icons\hourglass-half_w.png">    </p:cNvPr>
          <p:cNvPicPr>
            <a:picLocks noChangeAspect="1"/>
          </p:cNvPicPr>
          <p:nvPr/>
        </p:nvPicPr>
        <p:blipFill>
          <a:blip r:embed="rId19"/>
          <a:stretch>
            <a:fillRect/>
          </a:stretch>
        </p:blipFill>
        <p:spPr>
          <a:xfrm>
            <a:off x="848360" y="8242300"/>
            <a:ext cx="228600" cy="228600"/>
          </a:xfrm>
          <a:prstGeom prst="rect">
            <a:avLst/>
          </a:prstGeom>
        </p:spPr>
      </p:pic>
      <p:sp>
        <p:nvSpPr>
          <p:cNvPr id="89" name="Text 68"/>
          <p:cNvSpPr txBox="1"/>
          <p:nvPr/>
        </p:nvSpPr>
        <p:spPr>
          <a:xfrm>
            <a:off x="1292860" y="8128000"/>
            <a:ext cx="1943735" cy="457200"/>
          </a:xfrm>
          <a:prstGeom prst="rect">
            <a:avLst/>
          </a:prstGeom>
          <a:noFill/>
          <a:ln/>
        </p:spPr>
        <p:txBody>
          <a:bodyPr wrap="square" lIns="0" tIns="0" rIns="0" bIns="0" rtlCol="0" anchor="ctr"/>
          <a:lstStyle/>
          <a:p>
            <a:pPr algn="l" indent="0" marL="0">
              <a:buNone/>
            </a:pPr>
            <a:r>
              <a:rPr lang="en-US" sz="1550" b="1" dirty="0">
                <a:solidFill>
                  <a:srgbClr val="2A4D88"/>
                </a:solidFill>
                <a:latin typeface="Calibri" pitchFamily="34" charset="0"/>
                <a:ea typeface="Calibri" pitchFamily="34" charset="-122"/>
                <a:cs typeface="Calibri" pitchFamily="34" charset="-120"/>
              </a:rPr>
              <a:t>Delay Prediction</a:t>
            </a:r>
            <a:endParaRPr lang="en-US" sz="1550" dirty="0"/>
          </a:p>
        </p:txBody>
      </p:sp>
      <p:sp>
        <p:nvSpPr>
          <p:cNvPr id="90" name="Text 69"/>
          <p:cNvSpPr txBox="1"/>
          <p:nvPr/>
        </p:nvSpPr>
        <p:spPr>
          <a:xfrm>
            <a:off x="759460" y="8661400"/>
            <a:ext cx="2451735" cy="863600"/>
          </a:xfrm>
          <a:prstGeom prst="rect">
            <a:avLst/>
          </a:prstGeom>
          <a:noFill/>
          <a:ln/>
        </p:spPr>
        <p:txBody>
          <a:bodyPr wrap="square" lIns="0" tIns="0" rIns="0" bIns="0" rtlCol="0" anchor="t"/>
          <a:lstStyle/>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How: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model trained on real completion history</a:t>
            </a:r>
            <a:endParaRPr lang="en-US" sz="1350" dirty="0"/>
          </a:p>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Catches: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works likely to miss 12 months</a:t>
            </a:r>
            <a:endParaRPr lang="en-US" sz="1350" dirty="0"/>
          </a:p>
        </p:txBody>
      </p:sp>
      <p:sp>
        <p:nvSpPr>
          <p:cNvPr id="91" name="Shape 70"/>
          <p:cNvSpPr/>
          <p:nvPr/>
        </p:nvSpPr>
        <p:spPr>
          <a:xfrm>
            <a:off x="3490595" y="8001000"/>
            <a:ext cx="2731135" cy="1600200"/>
          </a:xfrm>
          <a:prstGeom prst="roundRect">
            <a:avLst>
              <a:gd name="adj" fmla="val 7143"/>
            </a:avLst>
          </a:prstGeom>
          <a:solidFill>
            <a:srgbClr val="FFFFFF"/>
          </a:solidFill>
          <a:ln w="19050">
            <a:solidFill>
              <a:srgbClr val="B1BBC8"/>
            </a:solidFill>
            <a:prstDash val="solid"/>
          </a:ln>
        </p:spPr>
      </p:sp>
      <p:sp>
        <p:nvSpPr>
          <p:cNvPr id="92" name="Shape 71"/>
          <p:cNvSpPr/>
          <p:nvPr/>
        </p:nvSpPr>
        <p:spPr>
          <a:xfrm>
            <a:off x="3617595" y="8128000"/>
            <a:ext cx="457200" cy="457200"/>
          </a:xfrm>
          <a:prstGeom prst="ellipse">
            <a:avLst/>
          </a:prstGeom>
          <a:solidFill>
            <a:srgbClr val="2A4D88"/>
          </a:solidFill>
          <a:ln/>
        </p:spPr>
      </p:sp>
      <p:pic>
        <p:nvPicPr>
          <p:cNvPr id="93" name="Image 19" descr="C:\Users\abhim\drishti\docs\deck\assets\icons\money-bill-trend-up_w.png">    </p:cNvPr>
          <p:cNvPicPr>
            <a:picLocks noChangeAspect="1"/>
          </p:cNvPicPr>
          <p:nvPr/>
        </p:nvPicPr>
        <p:blipFill>
          <a:blip r:embed="rId20"/>
          <a:stretch>
            <a:fillRect/>
          </a:stretch>
        </p:blipFill>
        <p:spPr>
          <a:xfrm>
            <a:off x="3731895" y="8242300"/>
            <a:ext cx="228600" cy="228600"/>
          </a:xfrm>
          <a:prstGeom prst="rect">
            <a:avLst/>
          </a:prstGeom>
        </p:spPr>
      </p:pic>
      <p:sp>
        <p:nvSpPr>
          <p:cNvPr id="94" name="Text 72"/>
          <p:cNvSpPr txBox="1"/>
          <p:nvPr/>
        </p:nvSpPr>
        <p:spPr>
          <a:xfrm>
            <a:off x="4176395" y="8128000"/>
            <a:ext cx="1943735" cy="457200"/>
          </a:xfrm>
          <a:prstGeom prst="rect">
            <a:avLst/>
          </a:prstGeom>
          <a:noFill/>
          <a:ln/>
        </p:spPr>
        <p:txBody>
          <a:bodyPr wrap="square" lIns="0" tIns="0" rIns="0" bIns="0" rtlCol="0" anchor="ctr"/>
          <a:lstStyle/>
          <a:p>
            <a:pPr algn="l" indent="0" marL="0">
              <a:buNone/>
            </a:pPr>
            <a:r>
              <a:rPr lang="en-US" sz="1550" b="1" dirty="0">
                <a:solidFill>
                  <a:srgbClr val="2A4D88"/>
                </a:solidFill>
                <a:latin typeface="Calibri" pitchFamily="34" charset="0"/>
                <a:ea typeface="Calibri" pitchFamily="34" charset="-122"/>
                <a:cs typeface="Calibri" pitchFamily="34" charset="-120"/>
              </a:rPr>
              <a:t>Fund Flow</a:t>
            </a:r>
            <a:endParaRPr lang="en-US" sz="1550" dirty="0"/>
          </a:p>
        </p:txBody>
      </p:sp>
      <p:sp>
        <p:nvSpPr>
          <p:cNvPr id="95" name="Text 73"/>
          <p:cNvSpPr txBox="1"/>
          <p:nvPr/>
        </p:nvSpPr>
        <p:spPr>
          <a:xfrm>
            <a:off x="3642995" y="8661400"/>
            <a:ext cx="2451735" cy="863600"/>
          </a:xfrm>
          <a:prstGeom prst="rect">
            <a:avLst/>
          </a:prstGeom>
          <a:noFill/>
          <a:ln/>
        </p:spPr>
        <p:txBody>
          <a:bodyPr wrap="square" lIns="0" tIns="0" rIns="0" bIns="0" rtlCol="0" anchor="t"/>
          <a:lstStyle/>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How: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MP &amp; district money funnel over time</a:t>
            </a:r>
            <a:endParaRPr lang="en-US" sz="1350" dirty="0"/>
          </a:p>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Catches: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idle funds, year-end rush</a:t>
            </a:r>
            <a:endParaRPr lang="en-US" sz="1350" dirty="0"/>
          </a:p>
        </p:txBody>
      </p:sp>
      <p:sp>
        <p:nvSpPr>
          <p:cNvPr id="96" name="Shape 74"/>
          <p:cNvSpPr/>
          <p:nvPr/>
        </p:nvSpPr>
        <p:spPr>
          <a:xfrm>
            <a:off x="6374130" y="8001000"/>
            <a:ext cx="2731135" cy="1600200"/>
          </a:xfrm>
          <a:prstGeom prst="roundRect">
            <a:avLst>
              <a:gd name="adj" fmla="val 7143"/>
            </a:avLst>
          </a:prstGeom>
          <a:solidFill>
            <a:srgbClr val="FFFFFF"/>
          </a:solidFill>
          <a:ln w="19050">
            <a:solidFill>
              <a:srgbClr val="B1BBC8"/>
            </a:solidFill>
            <a:prstDash val="solid"/>
          </a:ln>
        </p:spPr>
      </p:sp>
      <p:sp>
        <p:nvSpPr>
          <p:cNvPr id="97" name="Shape 75"/>
          <p:cNvSpPr/>
          <p:nvPr/>
        </p:nvSpPr>
        <p:spPr>
          <a:xfrm>
            <a:off x="6501130" y="8128000"/>
            <a:ext cx="457200" cy="457200"/>
          </a:xfrm>
          <a:prstGeom prst="ellipse">
            <a:avLst/>
          </a:prstGeom>
          <a:solidFill>
            <a:srgbClr val="2A4D88"/>
          </a:solidFill>
          <a:ln/>
        </p:spPr>
      </p:sp>
      <p:pic>
        <p:nvPicPr>
          <p:cNvPr id="98" name="Image 20" descr="C:\Users\abhim\drishti\docs\deck\assets\icons\diagram-project_w.png">    </p:cNvPr>
          <p:cNvPicPr>
            <a:picLocks noChangeAspect="1"/>
          </p:cNvPicPr>
          <p:nvPr/>
        </p:nvPicPr>
        <p:blipFill>
          <a:blip r:embed="rId21"/>
          <a:stretch>
            <a:fillRect/>
          </a:stretch>
        </p:blipFill>
        <p:spPr>
          <a:xfrm>
            <a:off x="6615430" y="8242300"/>
            <a:ext cx="228600" cy="228600"/>
          </a:xfrm>
          <a:prstGeom prst="rect">
            <a:avLst/>
          </a:prstGeom>
        </p:spPr>
      </p:pic>
      <p:sp>
        <p:nvSpPr>
          <p:cNvPr id="99" name="Text 76"/>
          <p:cNvSpPr txBox="1"/>
          <p:nvPr/>
        </p:nvSpPr>
        <p:spPr>
          <a:xfrm>
            <a:off x="7059930" y="8128000"/>
            <a:ext cx="1943735" cy="457200"/>
          </a:xfrm>
          <a:prstGeom prst="rect">
            <a:avLst/>
          </a:prstGeom>
          <a:noFill/>
          <a:ln/>
        </p:spPr>
        <p:txBody>
          <a:bodyPr wrap="square" lIns="0" tIns="0" rIns="0" bIns="0" rtlCol="0" anchor="ctr"/>
          <a:lstStyle/>
          <a:p>
            <a:pPr algn="l" indent="0" marL="0">
              <a:buNone/>
            </a:pPr>
            <a:r>
              <a:rPr lang="en-US" sz="1550" b="1" dirty="0">
                <a:solidFill>
                  <a:srgbClr val="2A4D88"/>
                </a:solidFill>
                <a:latin typeface="Calibri" pitchFamily="34" charset="0"/>
                <a:ea typeface="Calibri" pitchFamily="34" charset="-122"/>
                <a:cs typeface="Calibri" pitchFamily="34" charset="-120"/>
              </a:rPr>
              <a:t>Contractor Network</a:t>
            </a:r>
            <a:endParaRPr lang="en-US" sz="1550" dirty="0"/>
          </a:p>
        </p:txBody>
      </p:sp>
      <p:sp>
        <p:nvSpPr>
          <p:cNvPr id="100" name="Text 77"/>
          <p:cNvSpPr txBox="1"/>
          <p:nvPr/>
        </p:nvSpPr>
        <p:spPr>
          <a:xfrm>
            <a:off x="6526530" y="8661400"/>
            <a:ext cx="2451735" cy="863600"/>
          </a:xfrm>
          <a:prstGeom prst="rect">
            <a:avLst/>
          </a:prstGeom>
          <a:noFill/>
          <a:ln/>
        </p:spPr>
        <p:txBody>
          <a:bodyPr wrap="square" lIns="0" tIns="0" rIns="0" bIns="0" rtlCol="0" anchor="t"/>
          <a:lstStyle/>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How: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contractor–agency–district graph</a:t>
            </a:r>
            <a:endParaRPr lang="en-US" sz="1350" dirty="0"/>
          </a:p>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Catches: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a few firms winning most works</a:t>
            </a:r>
            <a:endParaRPr lang="en-US" sz="1350" dirty="0"/>
          </a:p>
        </p:txBody>
      </p:sp>
      <p:sp>
        <p:nvSpPr>
          <p:cNvPr id="101" name="Shape 78"/>
          <p:cNvSpPr/>
          <p:nvPr/>
        </p:nvSpPr>
        <p:spPr>
          <a:xfrm>
            <a:off x="9257665" y="8001000"/>
            <a:ext cx="2731135" cy="1600200"/>
          </a:xfrm>
          <a:prstGeom prst="roundRect">
            <a:avLst>
              <a:gd name="adj" fmla="val 7143"/>
            </a:avLst>
          </a:prstGeom>
          <a:solidFill>
            <a:srgbClr val="FFFFFF"/>
          </a:solidFill>
          <a:ln w="19050">
            <a:solidFill>
              <a:srgbClr val="B1BBC8"/>
            </a:solidFill>
            <a:prstDash val="solid"/>
          </a:ln>
        </p:spPr>
      </p:sp>
      <p:sp>
        <p:nvSpPr>
          <p:cNvPr id="102" name="Shape 79"/>
          <p:cNvSpPr/>
          <p:nvPr/>
        </p:nvSpPr>
        <p:spPr>
          <a:xfrm>
            <a:off x="9384665" y="8128000"/>
            <a:ext cx="457200" cy="457200"/>
          </a:xfrm>
          <a:prstGeom prst="ellipse">
            <a:avLst/>
          </a:prstGeom>
          <a:solidFill>
            <a:srgbClr val="2A4D88"/>
          </a:solidFill>
          <a:ln/>
        </p:spPr>
      </p:sp>
      <p:pic>
        <p:nvPicPr>
          <p:cNvPr id="103" name="Image 21" descr="C:\Users\abhim\drishti\docs\deck\assets\icons\users_w.png">    </p:cNvPr>
          <p:cNvPicPr>
            <a:picLocks noChangeAspect="1"/>
          </p:cNvPicPr>
          <p:nvPr/>
        </p:nvPicPr>
        <p:blipFill>
          <a:blip r:embed="rId22"/>
          <a:stretch>
            <a:fillRect/>
          </a:stretch>
        </p:blipFill>
        <p:spPr>
          <a:xfrm>
            <a:off x="9498965" y="8242300"/>
            <a:ext cx="228600" cy="228600"/>
          </a:xfrm>
          <a:prstGeom prst="rect">
            <a:avLst/>
          </a:prstGeom>
        </p:spPr>
      </p:pic>
      <p:sp>
        <p:nvSpPr>
          <p:cNvPr id="104" name="Text 80"/>
          <p:cNvSpPr txBox="1"/>
          <p:nvPr/>
        </p:nvSpPr>
        <p:spPr>
          <a:xfrm>
            <a:off x="9943465" y="8128000"/>
            <a:ext cx="1943735" cy="457200"/>
          </a:xfrm>
          <a:prstGeom prst="rect">
            <a:avLst/>
          </a:prstGeom>
          <a:noFill/>
          <a:ln/>
        </p:spPr>
        <p:txBody>
          <a:bodyPr wrap="square" lIns="0" tIns="0" rIns="0" bIns="0" rtlCol="0" anchor="ctr"/>
          <a:lstStyle/>
          <a:p>
            <a:pPr algn="l" indent="0" marL="0">
              <a:buNone/>
            </a:pPr>
            <a:r>
              <a:rPr lang="en-US" sz="1550" b="1" dirty="0">
                <a:solidFill>
                  <a:srgbClr val="2A4D88"/>
                </a:solidFill>
                <a:latin typeface="Calibri" pitchFamily="34" charset="0"/>
                <a:ea typeface="Calibri" pitchFamily="34" charset="-122"/>
                <a:cs typeface="Calibri" pitchFamily="34" charset="-120"/>
              </a:rPr>
              <a:t>Citizen Verification</a:t>
            </a:r>
            <a:endParaRPr lang="en-US" sz="1550" dirty="0"/>
          </a:p>
        </p:txBody>
      </p:sp>
      <p:sp>
        <p:nvSpPr>
          <p:cNvPr id="105" name="Text 81"/>
          <p:cNvSpPr txBox="1"/>
          <p:nvPr/>
        </p:nvSpPr>
        <p:spPr>
          <a:xfrm>
            <a:off x="9410065" y="8661400"/>
            <a:ext cx="2451735" cy="863600"/>
          </a:xfrm>
          <a:prstGeom prst="rect">
            <a:avLst/>
          </a:prstGeom>
          <a:noFill/>
          <a:ln/>
        </p:spPr>
        <p:txBody>
          <a:bodyPr wrap="square" lIns="0" tIns="0" rIns="0" bIns="0" rtlCol="0" anchor="t"/>
          <a:lstStyle/>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How: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QR code at site → photo + GPS</a:t>
            </a:r>
            <a:endParaRPr lang="en-US" sz="1350" dirty="0"/>
          </a:p>
          <a:p>
            <a:pPr algn="l" indent="0" marL="0">
              <a:spcAft>
                <a:spcPts val="300"/>
              </a:spcAft>
              <a:buNone/>
            </a:pPr>
            <a:r>
              <a:rPr lang="en-US" sz="1350" b="1" dirty="0">
                <a:solidFill>
                  <a:srgbClr val="2A4D88"/>
                </a:solidFill>
                <a:latin typeface="Calibri" pitchFamily="34" charset="0"/>
                <a:ea typeface="Calibri" pitchFamily="34" charset="-122"/>
                <a:cs typeface="Calibri" pitchFamily="34" charset="-120"/>
              </a:rPr>
              <a:t>Catches: </a:t>
            </a:r>
            <a:pPr algn="l" indent="0" marL="0">
              <a:spcAft>
                <a:spcPts val="300"/>
              </a:spcAft>
              <a:buNone/>
            </a:pPr>
            <a:r>
              <a:rPr lang="en-US" sz="1350" dirty="0">
                <a:solidFill>
                  <a:srgbClr val="1A2F57"/>
                </a:solidFill>
                <a:latin typeface="Calibri" pitchFamily="34" charset="0"/>
                <a:ea typeface="Calibri" pitchFamily="34" charset="-122"/>
                <a:cs typeface="Calibri" pitchFamily="34" charset="-120"/>
              </a:rPr>
              <a:t>assets missing or not in use</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2344400" y="4546600"/>
          <a:ext cx="13716000" cy="914400"/>
        </p:xfrm>
        <a:graphic>
          <a:graphicData uri="http://schemas.openxmlformats.org/drawingml/2006/table">
            <a:tbl>
              <a:tblPr/>
              <a:tblGrid>
                <a:gridCol w="1879600"/>
                <a:gridCol w="3454400"/>
              </a:tblGrid>
              <a:tr h="842433">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Frontend</a:t>
                      </a:r>
                      <a:endParaRPr lang="en-US" sz="1500" dirty="0">
                        <a:latin typeface="Calibri" charset="0"/>
                        <a:ea typeface="Calibri" charset="0"/>
                        <a:cs typeface="Calibri" charset="0"/>
                      </a:endParaRPr>
                    </a:p>
                  </a:txBody>
                  <a:tcPr marL="101600" marR="10160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4D88"/>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Next.js (React), Tailwind CSS, MapLibre maps</a:t>
                      </a:r>
                      <a:endParaRPr lang="en-US" sz="1450" dirty="0">
                        <a:latin typeface="Calibri" charset="0"/>
                        <a:ea typeface="Calibri" charset="0"/>
                        <a:cs typeface="Calibri" charset="0"/>
                      </a:endParaRPr>
                    </a:p>
                  </a:txBody>
                  <a:tcPr marL="127000" marR="10160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F0F5"/>
                    </a:solidFill>
                  </a:tcPr>
                </a:tc>
              </a:tr>
              <a:tr h="842433">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Backend / APIs</a:t>
                      </a:r>
                      <a:endParaRPr lang="en-US" sz="1500" dirty="0">
                        <a:latin typeface="Calibri" charset="0"/>
                        <a:ea typeface="Calibri" charset="0"/>
                        <a:cs typeface="Calibri" charset="0"/>
                      </a:endParaRPr>
                    </a:p>
                  </a:txBody>
                  <a:tcPr marL="101600" marR="10160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4D88"/>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Python FastAPI, role-based access (JWT)</a:t>
                      </a:r>
                      <a:endParaRPr lang="en-US" sz="1450" dirty="0">
                        <a:latin typeface="Calibri" charset="0"/>
                        <a:ea typeface="Calibri" charset="0"/>
                        <a:cs typeface="Calibri" charset="0"/>
                      </a:endParaRPr>
                    </a:p>
                  </a:txBody>
                  <a:tcPr marL="127000" marR="10160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F0F5"/>
                    </a:solidFill>
                  </a:tcPr>
                </a:tc>
              </a:tr>
              <a:tr h="842433">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AI / ML</a:t>
                      </a:r>
                      <a:endParaRPr lang="en-US" sz="1500" dirty="0">
                        <a:latin typeface="Calibri" charset="0"/>
                        <a:ea typeface="Calibri" charset="0"/>
                        <a:cs typeface="Calibri" charset="0"/>
                      </a:endParaRPr>
                    </a:p>
                  </a:txBody>
                  <a:tcPr marL="101600" marR="10160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4D88"/>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LightGBM, scikit-learn, sentence-transformers</a:t>
                      </a:r>
                      <a:endParaRPr lang="en-US" sz="1450" dirty="0">
                        <a:latin typeface="Calibri" charset="0"/>
                        <a:ea typeface="Calibri" charset="0"/>
                        <a:cs typeface="Calibri" charset="0"/>
                      </a:endParaRPr>
                    </a:p>
                  </a:txBody>
                  <a:tcPr marL="127000" marR="10160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F0F5"/>
                    </a:solidFill>
                  </a:tcPr>
                </a:tc>
              </a:tr>
              <a:tr h="842433">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Vision &amp; Documents</a:t>
                      </a:r>
                      <a:endParaRPr lang="en-US" sz="1500" dirty="0">
                        <a:latin typeface="Calibri" charset="0"/>
                        <a:ea typeface="Calibri" charset="0"/>
                        <a:cs typeface="Calibri" charset="0"/>
                      </a:endParaRPr>
                    </a:p>
                  </a:txBody>
                  <a:tcPr marL="101600" marR="10160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4D88"/>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Vision AI (Gemini; open-weight option), OpenCV</a:t>
                      </a:r>
                      <a:endParaRPr lang="en-US" sz="1450" dirty="0">
                        <a:latin typeface="Calibri" charset="0"/>
                        <a:ea typeface="Calibri" charset="0"/>
                        <a:cs typeface="Calibri" charset="0"/>
                      </a:endParaRPr>
                    </a:p>
                  </a:txBody>
                  <a:tcPr marL="127000" marR="10160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F0F5"/>
                    </a:solidFill>
                  </a:tcPr>
                </a:tc>
              </a:tr>
              <a:tr h="842433">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Maps &amp; Satellite</a:t>
                      </a:r>
                      <a:endParaRPr lang="en-US" sz="1500" dirty="0">
                        <a:latin typeface="Calibri" charset="0"/>
                        <a:ea typeface="Calibri" charset="0"/>
                        <a:cs typeface="Calibri" charset="0"/>
                      </a:endParaRPr>
                    </a:p>
                  </a:txBody>
                  <a:tcPr marL="101600" marR="10160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4D88"/>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LGD boundaries, DIGIPIN, Sentinel-2</a:t>
                      </a:r>
                      <a:endParaRPr lang="en-US" sz="1450" dirty="0">
                        <a:latin typeface="Calibri" charset="0"/>
                        <a:ea typeface="Calibri" charset="0"/>
                        <a:cs typeface="Calibri" charset="0"/>
                      </a:endParaRPr>
                    </a:p>
                  </a:txBody>
                  <a:tcPr marL="127000" marR="10160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F0F5"/>
                    </a:solidFill>
                  </a:tcPr>
                </a:tc>
              </a:tr>
              <a:tr h="842433">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Data &amp; Security</a:t>
                      </a:r>
                      <a:endParaRPr lang="en-US" sz="1500" dirty="0">
                        <a:latin typeface="Calibri" charset="0"/>
                        <a:ea typeface="Calibri" charset="0"/>
                        <a:cs typeface="Calibri" charset="0"/>
                      </a:endParaRPr>
                    </a:p>
                  </a:txBody>
                  <a:tcPr marL="101600" marR="10160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4D88"/>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PostgreSQL + pgvector, hash-chained audit log</a:t>
                      </a:r>
                      <a:endParaRPr lang="en-US" sz="1450" dirty="0">
                        <a:latin typeface="Calibri" charset="0"/>
                        <a:ea typeface="Calibri" charset="0"/>
                        <a:cs typeface="Calibri" charset="0"/>
                      </a:endParaRPr>
                    </a:p>
                  </a:txBody>
                  <a:tcPr marL="127000" marR="10160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F0F5"/>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66090" y="287020"/>
            <a:ext cx="2153920" cy="934720"/>
          </a:xfrm>
          <a:prstGeom prst="ellipse">
            <a:avLst/>
          </a:prstGeom>
          <a:solidFill>
            <a:srgbClr val="FFFFFF"/>
          </a:solidFill>
          <a:ln w="57150">
            <a:solidFill>
              <a:srgbClr val="2A4D88"/>
            </a:solidFill>
            <a:prstDash val="solid"/>
          </a:ln>
        </p:spPr>
      </p:sp>
      <p:sp>
        <p:nvSpPr>
          <p:cNvPr id="3" name="Text 1"/>
          <p:cNvSpPr txBox="1"/>
          <p:nvPr/>
        </p:nvSpPr>
        <p:spPr>
          <a:xfrm>
            <a:off x="466090" y="287020"/>
            <a:ext cx="2153920" cy="934720"/>
          </a:xfrm>
          <a:prstGeom prst="rect">
            <a:avLst/>
          </a:prstGeom>
          <a:noFill/>
          <a:ln/>
        </p:spPr>
        <p:txBody>
          <a:bodyPr wrap="square" lIns="0" tIns="0" rIns="0" bIns="0" rtlCol="0" anchor="ctr"/>
          <a:lstStyle/>
          <a:p>
            <a:pPr algn="ctr" indent="0" marL="0">
              <a:buNone/>
            </a:pPr>
            <a:r>
              <a:rPr lang="en-US" sz="2050" b="1" dirty="0">
                <a:solidFill>
                  <a:srgbClr val="2A4D88"/>
                </a:solidFill>
                <a:latin typeface="Calibri" pitchFamily="34" charset="0"/>
                <a:ea typeface="Calibri" pitchFamily="34" charset="-122"/>
                <a:cs typeface="Calibri" pitchFamily="34" charset="-120"/>
              </a:rPr>
              <a:t>NeuralNexus</a:t>
            </a:r>
            <a:endParaRPr lang="en-US" sz="2050" dirty="0"/>
          </a:p>
        </p:txBody>
      </p:sp>
      <p:sp>
        <p:nvSpPr>
          <p:cNvPr id="4" name="Text 2"/>
          <p:cNvSpPr txBox="1"/>
          <p:nvPr/>
        </p:nvSpPr>
        <p:spPr>
          <a:xfrm>
            <a:off x="3131820" y="381000"/>
            <a:ext cx="11430000" cy="787400"/>
          </a:xfrm>
          <a:prstGeom prst="rect">
            <a:avLst/>
          </a:prstGeom>
          <a:noFill/>
          <a:ln/>
        </p:spPr>
        <p:txBody>
          <a:bodyPr wrap="square" lIns="0" tIns="0" rIns="0" bIns="0" rtlCol="0" anchor="ctr"/>
          <a:lstStyle/>
          <a:p>
            <a:pPr algn="ctr" indent="0" marL="0">
              <a:buNone/>
            </a:pPr>
            <a:r>
              <a:rPr lang="en-US" sz="4200" b="1" dirty="0">
                <a:solidFill>
                  <a:srgbClr val="2A4D88"/>
                </a:solidFill>
                <a:latin typeface="Cambria" pitchFamily="34" charset="0"/>
                <a:ea typeface="Cambria" pitchFamily="34" charset="-122"/>
                <a:cs typeface="Cambria" pitchFamily="34" charset="-120"/>
              </a:rPr>
              <a:t>FEASIBILITY AND VIABILITY</a:t>
            </a:r>
            <a:endParaRPr lang="en-US" sz="4200" dirty="0"/>
          </a:p>
        </p:txBody>
      </p:sp>
      <p:pic>
        <p:nvPicPr>
          <p:cNvPr id="5" name="Image 0" descr="C:\Users\abhim\drishti\docs\deck\assets\sih_logo_wide.png">    </p:cNvPr>
          <p:cNvPicPr>
            <a:picLocks noChangeAspect="1"/>
          </p:cNvPicPr>
          <p:nvPr/>
        </p:nvPicPr>
        <p:blipFill>
          <a:blip r:embed="rId1"/>
          <a:stretch>
            <a:fillRect/>
          </a:stretch>
        </p:blipFill>
        <p:spPr>
          <a:xfrm>
            <a:off x="15392400" y="76200"/>
            <a:ext cx="2705100" cy="1277620"/>
          </a:xfrm>
          <a:prstGeom prst="rect">
            <a:avLst/>
          </a:prstGeom>
        </p:spPr>
      </p:pic>
      <p:sp>
        <p:nvSpPr>
          <p:cNvPr id="6" name="Shape 3"/>
          <p:cNvSpPr/>
          <p:nvPr/>
        </p:nvSpPr>
        <p:spPr>
          <a:xfrm>
            <a:off x="0" y="9756140"/>
            <a:ext cx="18288000" cy="533400"/>
          </a:xfrm>
          <a:prstGeom prst="rect">
            <a:avLst/>
          </a:prstGeom>
          <a:solidFill>
            <a:srgbClr val="2A4D88"/>
          </a:solidFill>
          <a:ln/>
        </p:spPr>
      </p:sp>
      <p:sp>
        <p:nvSpPr>
          <p:cNvPr id="7" name="Text 4"/>
          <p:cNvSpPr txBox="1"/>
          <p:nvPr/>
        </p:nvSpPr>
        <p:spPr>
          <a:xfrm>
            <a:off x="5969000" y="9880600"/>
            <a:ext cx="6350000" cy="27940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@SIH Idea submission – Template</a:t>
            </a:r>
            <a:endParaRPr lang="en-US" sz="1500" dirty="0"/>
          </a:p>
        </p:txBody>
      </p:sp>
      <p:sp>
        <p:nvSpPr>
          <p:cNvPr id="8" name="Text 5"/>
          <p:cNvSpPr txBox="1"/>
          <p:nvPr/>
        </p:nvSpPr>
        <p:spPr>
          <a:xfrm>
            <a:off x="17018000" y="9880600"/>
            <a:ext cx="673100" cy="279400"/>
          </a:xfrm>
          <a:prstGeom prst="rect">
            <a:avLst/>
          </a:prstGeom>
          <a:noFill/>
          <a:ln/>
        </p:spPr>
        <p:txBody>
          <a:bodyPr wrap="square" lIns="0" tIns="0" rIns="0" bIns="0" rtlCol="0" anchor="ctr"/>
          <a:lstStyle/>
          <a:p>
            <a:pPr algn="r" indent="0" marL="0">
              <a:buNone/>
            </a:pPr>
            <a:r>
              <a:rPr lang="en-US" sz="1650" b="1" dirty="0">
                <a:solidFill>
                  <a:srgbClr val="FFFFFF"/>
                </a:solidFill>
                <a:latin typeface="Calibri" pitchFamily="34" charset="0"/>
                <a:ea typeface="Calibri" pitchFamily="34" charset="-122"/>
                <a:cs typeface="Calibri" pitchFamily="34" charset="-120"/>
              </a:rPr>
              <a:t>4</a:t>
            </a:r>
            <a:endParaRPr lang="en-US" sz="1650" dirty="0"/>
          </a:p>
        </p:txBody>
      </p:sp>
      <p:sp>
        <p:nvSpPr>
          <p:cNvPr id="9" name="Text 6"/>
          <p:cNvSpPr txBox="1"/>
          <p:nvPr/>
        </p:nvSpPr>
        <p:spPr>
          <a:xfrm>
            <a:off x="617220" y="1574800"/>
            <a:ext cx="11430000" cy="279400"/>
          </a:xfrm>
          <a:prstGeom prst="rect">
            <a:avLst/>
          </a:prstGeom>
          <a:noFill/>
          <a:ln/>
        </p:spPr>
        <p:txBody>
          <a:bodyPr wrap="square" lIns="0" tIns="0" rIns="0" bIns="0" rtlCol="0" anchor="t"/>
          <a:lstStyle/>
          <a:p>
            <a:pPr algn="l" indent="0" marL="0">
              <a:buNone/>
            </a:pPr>
            <a:r>
              <a:rPr lang="en-US" sz="1720" b="1" spc="300" kern="0" dirty="0">
                <a:solidFill>
                  <a:srgbClr val="2A4D88"/>
                </a:solidFill>
                <a:latin typeface="Calibri" pitchFamily="34" charset="0"/>
                <a:ea typeface="Calibri" pitchFamily="34" charset="-122"/>
                <a:cs typeface="Calibri" pitchFamily="34" charset="-120"/>
              </a:rPr>
              <a:t>FEASIBILITY ANALYSIS</a:t>
            </a:r>
            <a:endParaRPr lang="en-US" sz="1720" dirty="0"/>
          </a:p>
        </p:txBody>
      </p:sp>
      <p:sp>
        <p:nvSpPr>
          <p:cNvPr id="10" name="Shape 7"/>
          <p:cNvSpPr/>
          <p:nvPr/>
        </p:nvSpPr>
        <p:spPr>
          <a:xfrm>
            <a:off x="609600" y="2044700"/>
            <a:ext cx="3860800" cy="2108200"/>
          </a:xfrm>
          <a:prstGeom prst="roundRect">
            <a:avLst>
              <a:gd name="adj" fmla="val 6627"/>
            </a:avLst>
          </a:prstGeom>
          <a:solidFill>
            <a:srgbClr val="EDF0F5"/>
          </a:solidFill>
          <a:ln/>
        </p:spPr>
      </p:sp>
      <p:sp>
        <p:nvSpPr>
          <p:cNvPr id="11" name="Shape 8"/>
          <p:cNvSpPr/>
          <p:nvPr/>
        </p:nvSpPr>
        <p:spPr>
          <a:xfrm>
            <a:off x="812800" y="2247900"/>
            <a:ext cx="647700" cy="647700"/>
          </a:xfrm>
          <a:prstGeom prst="ellipse">
            <a:avLst/>
          </a:prstGeom>
          <a:solidFill>
            <a:srgbClr val="2A4D88"/>
          </a:solidFill>
          <a:ln/>
        </p:spPr>
      </p:sp>
      <p:pic>
        <p:nvPicPr>
          <p:cNvPr id="12" name="Image 1" descr="C:\Users\abhim\drishti\docs\deck\assets\icons\gears_w.png">    </p:cNvPr>
          <p:cNvPicPr>
            <a:picLocks noChangeAspect="1"/>
          </p:cNvPicPr>
          <p:nvPr/>
        </p:nvPicPr>
        <p:blipFill>
          <a:blip r:embed="rId2"/>
          <a:stretch>
            <a:fillRect/>
          </a:stretch>
        </p:blipFill>
        <p:spPr>
          <a:xfrm>
            <a:off x="974725" y="2409825"/>
            <a:ext cx="323850" cy="323850"/>
          </a:xfrm>
          <a:prstGeom prst="rect">
            <a:avLst/>
          </a:prstGeom>
        </p:spPr>
      </p:pic>
      <p:sp>
        <p:nvSpPr>
          <p:cNvPr id="13" name="Text 9"/>
          <p:cNvSpPr txBox="1"/>
          <p:nvPr/>
        </p:nvSpPr>
        <p:spPr>
          <a:xfrm>
            <a:off x="1600200" y="2247900"/>
            <a:ext cx="2743200" cy="647700"/>
          </a:xfrm>
          <a:prstGeom prst="rect">
            <a:avLst/>
          </a:prstGeom>
          <a:noFill/>
          <a:ln/>
        </p:spPr>
        <p:txBody>
          <a:bodyPr wrap="square" lIns="0" tIns="0" rIns="0" bIns="0" rtlCol="0" anchor="ctr"/>
          <a:lstStyle/>
          <a:p>
            <a:pPr algn="l" indent="0" marL="0">
              <a:buNone/>
            </a:pPr>
            <a:r>
              <a:rPr lang="en-US" sz="1800" b="1" dirty="0">
                <a:solidFill>
                  <a:srgbClr val="2A4D88"/>
                </a:solidFill>
                <a:latin typeface="Calibri" pitchFamily="34" charset="0"/>
                <a:ea typeface="Calibri" pitchFamily="34" charset="-122"/>
                <a:cs typeface="Calibri" pitchFamily="34" charset="-120"/>
              </a:rPr>
              <a:t>Technical Feasibility</a:t>
            </a:r>
            <a:endParaRPr lang="en-US" sz="1800" dirty="0"/>
          </a:p>
        </p:txBody>
      </p:sp>
      <p:sp>
        <p:nvSpPr>
          <p:cNvPr id="14" name="Text 10"/>
          <p:cNvSpPr txBox="1"/>
          <p:nvPr/>
        </p:nvSpPr>
        <p:spPr>
          <a:xfrm>
            <a:off x="889000" y="3009900"/>
            <a:ext cx="3378200" cy="1066800"/>
          </a:xfrm>
          <a:prstGeom prst="rect">
            <a:avLst/>
          </a:prstGeom>
          <a:noFill/>
          <a:ln/>
        </p:spPr>
        <p:txBody>
          <a:bodyPr wrap="square" lIns="0" tIns="0" rIns="0" bIns="0" rtlCol="0" anchor="t"/>
          <a:lstStyle/>
          <a:p>
            <a:pPr algn="l" indent="0" marL="0">
              <a:buNone/>
            </a:pPr>
            <a:r>
              <a:rPr lang="en-US" sz="1600" b="1" dirty="0">
                <a:solidFill>
                  <a:srgbClr val="1A2F57"/>
                </a:solidFill>
                <a:latin typeface="Calibri" pitchFamily="34" charset="0"/>
                <a:ea typeface="Calibri" pitchFamily="34" charset="-122"/>
                <a:cs typeface="Calibri" pitchFamily="34" charset="-120"/>
              </a:rPr>
              <a:t>Proven Methods</a:t>
            </a:r>
            <a:endParaRPr lang="en-US" sz="1600" dirty="0"/>
          </a:p>
          <a:p>
            <a:pPr algn="l" indent="0" marL="0">
              <a:buNone/>
            </a:pPr>
            <a:r>
              <a:rPr lang="en-US" sz="1600" dirty="0">
                <a:solidFill>
                  <a:srgbClr val="1A2F57"/>
                </a:solidFill>
                <a:latin typeface="Calibri" pitchFamily="34" charset="0"/>
                <a:ea typeface="Calibri" pitchFamily="34" charset="-122"/>
                <a:cs typeface="Calibri" pitchFamily="34" charset="-120"/>
              </a:rPr>
              <a:t>Every agent reuses a method India already runs at scale: PMAY-G geo-tagged photos, Amrit Sarovar ponds.</a:t>
            </a:r>
            <a:endParaRPr lang="en-US" sz="1600" dirty="0"/>
          </a:p>
        </p:txBody>
      </p:sp>
      <p:sp>
        <p:nvSpPr>
          <p:cNvPr id="15" name="Shape 11"/>
          <p:cNvSpPr/>
          <p:nvPr/>
        </p:nvSpPr>
        <p:spPr>
          <a:xfrm>
            <a:off x="4724400" y="2044700"/>
            <a:ext cx="3860800" cy="2108200"/>
          </a:xfrm>
          <a:prstGeom prst="roundRect">
            <a:avLst>
              <a:gd name="adj" fmla="val 6627"/>
            </a:avLst>
          </a:prstGeom>
          <a:solidFill>
            <a:srgbClr val="EDF0F5"/>
          </a:solidFill>
          <a:ln/>
        </p:spPr>
      </p:sp>
      <p:sp>
        <p:nvSpPr>
          <p:cNvPr id="16" name="Shape 12"/>
          <p:cNvSpPr/>
          <p:nvPr/>
        </p:nvSpPr>
        <p:spPr>
          <a:xfrm>
            <a:off x="4927600" y="2247900"/>
            <a:ext cx="647700" cy="647700"/>
          </a:xfrm>
          <a:prstGeom prst="ellipse">
            <a:avLst/>
          </a:prstGeom>
          <a:solidFill>
            <a:srgbClr val="2A4D88"/>
          </a:solidFill>
          <a:ln/>
        </p:spPr>
      </p:sp>
      <p:pic>
        <p:nvPicPr>
          <p:cNvPr id="17" name="Image 2" descr="C:\Users\abhim\drishti\docs\deck\assets\icons\database_w.png">    </p:cNvPr>
          <p:cNvPicPr>
            <a:picLocks noChangeAspect="1"/>
          </p:cNvPicPr>
          <p:nvPr/>
        </p:nvPicPr>
        <p:blipFill>
          <a:blip r:embed="rId3"/>
          <a:stretch>
            <a:fillRect/>
          </a:stretch>
        </p:blipFill>
        <p:spPr>
          <a:xfrm>
            <a:off x="5089525" y="2409825"/>
            <a:ext cx="323850" cy="323850"/>
          </a:xfrm>
          <a:prstGeom prst="rect">
            <a:avLst/>
          </a:prstGeom>
        </p:spPr>
      </p:pic>
      <p:sp>
        <p:nvSpPr>
          <p:cNvPr id="18" name="Text 13"/>
          <p:cNvSpPr txBox="1"/>
          <p:nvPr/>
        </p:nvSpPr>
        <p:spPr>
          <a:xfrm>
            <a:off x="5715000" y="2247900"/>
            <a:ext cx="2743200" cy="647700"/>
          </a:xfrm>
          <a:prstGeom prst="rect">
            <a:avLst/>
          </a:prstGeom>
          <a:noFill/>
          <a:ln/>
        </p:spPr>
        <p:txBody>
          <a:bodyPr wrap="square" lIns="0" tIns="0" rIns="0" bIns="0" rtlCol="0" anchor="ctr"/>
          <a:lstStyle/>
          <a:p>
            <a:pPr algn="l" indent="0" marL="0">
              <a:buNone/>
            </a:pPr>
            <a:r>
              <a:rPr lang="en-US" sz="1800" b="1" dirty="0">
                <a:solidFill>
                  <a:srgbClr val="2A4D88"/>
                </a:solidFill>
                <a:latin typeface="Calibri" pitchFamily="34" charset="0"/>
                <a:ea typeface="Calibri" pitchFamily="34" charset="-122"/>
                <a:cs typeface="Calibri" pitchFamily="34" charset="-120"/>
              </a:rPr>
              <a:t>Data Feasibility</a:t>
            </a:r>
            <a:endParaRPr lang="en-US" sz="1800" dirty="0"/>
          </a:p>
        </p:txBody>
      </p:sp>
      <p:sp>
        <p:nvSpPr>
          <p:cNvPr id="19" name="Text 14"/>
          <p:cNvSpPr txBox="1"/>
          <p:nvPr/>
        </p:nvSpPr>
        <p:spPr>
          <a:xfrm>
            <a:off x="5003800" y="3009900"/>
            <a:ext cx="3378200" cy="1066800"/>
          </a:xfrm>
          <a:prstGeom prst="rect">
            <a:avLst/>
          </a:prstGeom>
          <a:noFill/>
          <a:ln/>
        </p:spPr>
        <p:txBody>
          <a:bodyPr wrap="square" lIns="0" tIns="0" rIns="0" bIns="0" rtlCol="0" anchor="t"/>
          <a:lstStyle/>
          <a:p>
            <a:pPr algn="l" indent="0" marL="0">
              <a:buNone/>
            </a:pPr>
            <a:r>
              <a:rPr lang="en-US" sz="1600" b="1" dirty="0">
                <a:solidFill>
                  <a:srgbClr val="1A2F57"/>
                </a:solidFill>
                <a:latin typeface="Calibri" pitchFamily="34" charset="0"/>
                <a:ea typeface="Calibri" pitchFamily="34" charset="-122"/>
                <a:cs typeface="Calibri" pitchFamily="34" charset="-120"/>
              </a:rPr>
              <a:t>Real eSAKSHI Data</a:t>
            </a:r>
            <a:endParaRPr lang="en-US" sz="1600" dirty="0"/>
          </a:p>
          <a:p>
            <a:pPr algn="l" indent="0" marL="0">
              <a:buNone/>
            </a:pPr>
            <a:r>
              <a:rPr lang="en-US" sz="1600" dirty="0">
                <a:solidFill>
                  <a:srgbClr val="1A2F57"/>
                </a:solidFill>
                <a:latin typeface="Calibri" pitchFamily="34" charset="0"/>
                <a:ea typeface="Calibri" pitchFamily="34" charset="-122"/>
                <a:cs typeface="Calibri" pitchFamily="34" charset="-120"/>
              </a:rPr>
              <a:t>2,09,993 works already loaded; 2 in 3 completed works carry certificates or photos to check.</a:t>
            </a:r>
            <a:endParaRPr lang="en-US" sz="1600" dirty="0"/>
          </a:p>
        </p:txBody>
      </p:sp>
      <p:sp>
        <p:nvSpPr>
          <p:cNvPr id="20" name="Shape 15"/>
          <p:cNvSpPr/>
          <p:nvPr/>
        </p:nvSpPr>
        <p:spPr>
          <a:xfrm>
            <a:off x="609600" y="4406900"/>
            <a:ext cx="3860800" cy="2108200"/>
          </a:xfrm>
          <a:prstGeom prst="roundRect">
            <a:avLst>
              <a:gd name="adj" fmla="val 6627"/>
            </a:avLst>
          </a:prstGeom>
          <a:solidFill>
            <a:srgbClr val="EDF0F5"/>
          </a:solidFill>
          <a:ln/>
        </p:spPr>
      </p:sp>
      <p:sp>
        <p:nvSpPr>
          <p:cNvPr id="21" name="Shape 16"/>
          <p:cNvSpPr/>
          <p:nvPr/>
        </p:nvSpPr>
        <p:spPr>
          <a:xfrm>
            <a:off x="812800" y="4610100"/>
            <a:ext cx="647700" cy="647700"/>
          </a:xfrm>
          <a:prstGeom prst="ellipse">
            <a:avLst/>
          </a:prstGeom>
          <a:solidFill>
            <a:srgbClr val="2A4D88"/>
          </a:solidFill>
          <a:ln/>
        </p:spPr>
      </p:sp>
      <p:pic>
        <p:nvPicPr>
          <p:cNvPr id="22" name="Image 3" descr="C:\Users\abhim\drishti\docs\deck\assets\icons\users-gear_w.png">    </p:cNvPr>
          <p:cNvPicPr>
            <a:picLocks noChangeAspect="1"/>
          </p:cNvPicPr>
          <p:nvPr/>
        </p:nvPicPr>
        <p:blipFill>
          <a:blip r:embed="rId4"/>
          <a:stretch>
            <a:fillRect/>
          </a:stretch>
        </p:blipFill>
        <p:spPr>
          <a:xfrm>
            <a:off x="974725" y="4772025"/>
            <a:ext cx="323850" cy="323850"/>
          </a:xfrm>
          <a:prstGeom prst="rect">
            <a:avLst/>
          </a:prstGeom>
        </p:spPr>
      </p:pic>
      <p:sp>
        <p:nvSpPr>
          <p:cNvPr id="23" name="Text 17"/>
          <p:cNvSpPr txBox="1"/>
          <p:nvPr/>
        </p:nvSpPr>
        <p:spPr>
          <a:xfrm>
            <a:off x="1600200" y="4610100"/>
            <a:ext cx="2743200" cy="647700"/>
          </a:xfrm>
          <a:prstGeom prst="rect">
            <a:avLst/>
          </a:prstGeom>
          <a:noFill/>
          <a:ln/>
        </p:spPr>
        <p:txBody>
          <a:bodyPr wrap="square" lIns="0" tIns="0" rIns="0" bIns="0" rtlCol="0" anchor="ctr"/>
          <a:lstStyle/>
          <a:p>
            <a:pPr algn="l" indent="0" marL="0">
              <a:buNone/>
            </a:pPr>
            <a:r>
              <a:rPr lang="en-US" sz="1800" b="1" dirty="0">
                <a:solidFill>
                  <a:srgbClr val="2A4D88"/>
                </a:solidFill>
                <a:latin typeface="Calibri" pitchFamily="34" charset="0"/>
                <a:ea typeface="Calibri" pitchFamily="34" charset="-122"/>
                <a:cs typeface="Calibri" pitchFamily="34" charset="-120"/>
              </a:rPr>
              <a:t>Operational Feasibility</a:t>
            </a:r>
            <a:endParaRPr lang="en-US" sz="1800" dirty="0"/>
          </a:p>
        </p:txBody>
      </p:sp>
      <p:sp>
        <p:nvSpPr>
          <p:cNvPr id="24" name="Text 18"/>
          <p:cNvSpPr txBox="1"/>
          <p:nvPr/>
        </p:nvSpPr>
        <p:spPr>
          <a:xfrm>
            <a:off x="889000" y="5372100"/>
            <a:ext cx="3378200" cy="1066800"/>
          </a:xfrm>
          <a:prstGeom prst="rect">
            <a:avLst/>
          </a:prstGeom>
          <a:noFill/>
          <a:ln/>
        </p:spPr>
        <p:txBody>
          <a:bodyPr wrap="square" lIns="0" tIns="0" rIns="0" bIns="0" rtlCol="0" anchor="t"/>
          <a:lstStyle/>
          <a:p>
            <a:pPr algn="l" indent="0" marL="0">
              <a:buNone/>
            </a:pPr>
            <a:r>
              <a:rPr lang="en-US" sz="1600" b="1" dirty="0">
                <a:solidFill>
                  <a:srgbClr val="1A2F57"/>
                </a:solidFill>
                <a:latin typeface="Calibri" pitchFamily="34" charset="0"/>
                <a:ea typeface="Calibri" pitchFamily="34" charset="-122"/>
                <a:cs typeface="Calibri" pitchFamily="34" charset="-120"/>
              </a:rPr>
              <a:t>Workflow Fit</a:t>
            </a:r>
            <a:endParaRPr lang="en-US" sz="1600" dirty="0"/>
          </a:p>
          <a:p>
            <a:pPr algn="l" indent="0" marL="0">
              <a:buNone/>
            </a:pPr>
            <a:r>
              <a:rPr lang="en-US" sz="1600" dirty="0">
                <a:solidFill>
                  <a:srgbClr val="1A2F57"/>
                </a:solidFill>
                <a:latin typeface="Calibri" pitchFamily="34" charset="0"/>
                <a:ea typeface="Calibri" pitchFamily="34" charset="-122"/>
                <a:cs typeface="Calibri" pitchFamily="34" charset="-120"/>
              </a:rPr>
              <a:t>Read-only layer on eSAKSHI; fits the MP → District → Agency flow, no new data entry.</a:t>
            </a:r>
            <a:endParaRPr lang="en-US" sz="1600" dirty="0"/>
          </a:p>
        </p:txBody>
      </p:sp>
      <p:sp>
        <p:nvSpPr>
          <p:cNvPr id="25" name="Shape 19"/>
          <p:cNvSpPr/>
          <p:nvPr/>
        </p:nvSpPr>
        <p:spPr>
          <a:xfrm>
            <a:off x="4724400" y="4406900"/>
            <a:ext cx="3860800" cy="2108200"/>
          </a:xfrm>
          <a:prstGeom prst="roundRect">
            <a:avLst>
              <a:gd name="adj" fmla="val 6627"/>
            </a:avLst>
          </a:prstGeom>
          <a:solidFill>
            <a:srgbClr val="EDF0F5"/>
          </a:solidFill>
          <a:ln/>
        </p:spPr>
      </p:sp>
      <p:sp>
        <p:nvSpPr>
          <p:cNvPr id="26" name="Shape 20"/>
          <p:cNvSpPr/>
          <p:nvPr/>
        </p:nvSpPr>
        <p:spPr>
          <a:xfrm>
            <a:off x="4927600" y="4610100"/>
            <a:ext cx="647700" cy="647700"/>
          </a:xfrm>
          <a:prstGeom prst="ellipse">
            <a:avLst/>
          </a:prstGeom>
          <a:solidFill>
            <a:srgbClr val="2A4D88"/>
          </a:solidFill>
          <a:ln/>
        </p:spPr>
      </p:sp>
      <p:pic>
        <p:nvPicPr>
          <p:cNvPr id="27" name="Image 4" descr="C:\Users\abhim\drishti\docs\deck\assets\icons\coins_w.png">    </p:cNvPr>
          <p:cNvPicPr>
            <a:picLocks noChangeAspect="1"/>
          </p:cNvPicPr>
          <p:nvPr/>
        </p:nvPicPr>
        <p:blipFill>
          <a:blip r:embed="rId5"/>
          <a:stretch>
            <a:fillRect/>
          </a:stretch>
        </p:blipFill>
        <p:spPr>
          <a:xfrm>
            <a:off x="5089525" y="4772025"/>
            <a:ext cx="323850" cy="323850"/>
          </a:xfrm>
          <a:prstGeom prst="rect">
            <a:avLst/>
          </a:prstGeom>
        </p:spPr>
      </p:pic>
      <p:sp>
        <p:nvSpPr>
          <p:cNvPr id="28" name="Text 21"/>
          <p:cNvSpPr txBox="1"/>
          <p:nvPr/>
        </p:nvSpPr>
        <p:spPr>
          <a:xfrm>
            <a:off x="5715000" y="4610100"/>
            <a:ext cx="2743200" cy="647700"/>
          </a:xfrm>
          <a:prstGeom prst="rect">
            <a:avLst/>
          </a:prstGeom>
          <a:noFill/>
          <a:ln/>
        </p:spPr>
        <p:txBody>
          <a:bodyPr wrap="square" lIns="0" tIns="0" rIns="0" bIns="0" rtlCol="0" anchor="ctr"/>
          <a:lstStyle/>
          <a:p>
            <a:pPr algn="l" indent="0" marL="0">
              <a:buNone/>
            </a:pPr>
            <a:r>
              <a:rPr lang="en-US" sz="1800" b="1" dirty="0">
                <a:solidFill>
                  <a:srgbClr val="2A4D88"/>
                </a:solidFill>
                <a:latin typeface="Calibri" pitchFamily="34" charset="0"/>
                <a:ea typeface="Calibri" pitchFamily="34" charset="-122"/>
                <a:cs typeface="Calibri" pitchFamily="34" charset="-120"/>
              </a:rPr>
              <a:t>Economic Feasibility</a:t>
            </a:r>
            <a:endParaRPr lang="en-US" sz="1800" dirty="0"/>
          </a:p>
        </p:txBody>
      </p:sp>
      <p:sp>
        <p:nvSpPr>
          <p:cNvPr id="29" name="Text 22"/>
          <p:cNvSpPr txBox="1"/>
          <p:nvPr/>
        </p:nvSpPr>
        <p:spPr>
          <a:xfrm>
            <a:off x="5003800" y="5372100"/>
            <a:ext cx="3378200" cy="1066800"/>
          </a:xfrm>
          <a:prstGeom prst="rect">
            <a:avLst/>
          </a:prstGeom>
          <a:noFill/>
          <a:ln/>
        </p:spPr>
        <p:txBody>
          <a:bodyPr wrap="square" lIns="0" tIns="0" rIns="0" bIns="0" rtlCol="0" anchor="t"/>
          <a:lstStyle/>
          <a:p>
            <a:pPr algn="l" indent="0" marL="0">
              <a:buNone/>
            </a:pPr>
            <a:r>
              <a:rPr lang="en-US" sz="1600" b="1" dirty="0">
                <a:solidFill>
                  <a:srgbClr val="1A2F57"/>
                </a:solidFill>
                <a:latin typeface="Calibri" pitchFamily="34" charset="0"/>
                <a:ea typeface="Calibri" pitchFamily="34" charset="-122"/>
                <a:cs typeface="Calibri" pitchFamily="34" charset="-120"/>
              </a:rPr>
              <a:t>Low Cost</a:t>
            </a:r>
            <a:endParaRPr lang="en-US" sz="1600" dirty="0"/>
          </a:p>
          <a:p>
            <a:pPr algn="l" indent="0" marL="0">
              <a:buNone/>
            </a:pPr>
            <a:r>
              <a:rPr lang="en-US" sz="1600" dirty="0">
                <a:solidFill>
                  <a:srgbClr val="1A2F57"/>
                </a:solidFill>
                <a:latin typeface="Calibri" pitchFamily="34" charset="0"/>
                <a:ea typeface="Calibri" pitchFamily="34" charset="-122"/>
                <a:cs typeface="Calibri" pitchFamily="34" charset="-120"/>
              </a:rPr>
              <a:t>Open-source tools; pay-per-use AI at well under ₹1 a document; no licence fees.</a:t>
            </a:r>
            <a:endParaRPr lang="en-US" sz="1600" dirty="0"/>
          </a:p>
        </p:txBody>
      </p:sp>
      <p:sp>
        <p:nvSpPr>
          <p:cNvPr id="30" name="Text 23"/>
          <p:cNvSpPr txBox="1"/>
          <p:nvPr/>
        </p:nvSpPr>
        <p:spPr>
          <a:xfrm>
            <a:off x="9118600" y="1574800"/>
            <a:ext cx="4064000" cy="279400"/>
          </a:xfrm>
          <a:prstGeom prst="rect">
            <a:avLst/>
          </a:prstGeom>
          <a:noFill/>
          <a:ln/>
        </p:spPr>
        <p:txBody>
          <a:bodyPr wrap="square" lIns="0" tIns="0" rIns="0" bIns="0" rtlCol="0" anchor="t"/>
          <a:lstStyle/>
          <a:p>
            <a:pPr algn="l" indent="0" marL="0">
              <a:buNone/>
            </a:pPr>
            <a:r>
              <a:rPr lang="en-US" sz="1720" b="1" spc="300" kern="0" dirty="0">
                <a:solidFill>
                  <a:srgbClr val="2A4D88"/>
                </a:solidFill>
                <a:latin typeface="Calibri" pitchFamily="34" charset="0"/>
                <a:ea typeface="Calibri" pitchFamily="34" charset="-122"/>
                <a:cs typeface="Calibri" pitchFamily="34" charset="-120"/>
              </a:rPr>
              <a:t>CHALLENGES &amp; RISKS</a:t>
            </a:r>
            <a:endParaRPr lang="en-US" sz="1720" dirty="0"/>
          </a:p>
        </p:txBody>
      </p:sp>
      <p:sp>
        <p:nvSpPr>
          <p:cNvPr id="31" name="Text 24"/>
          <p:cNvSpPr txBox="1"/>
          <p:nvPr/>
        </p:nvSpPr>
        <p:spPr>
          <a:xfrm>
            <a:off x="13779500" y="1574800"/>
            <a:ext cx="4064000" cy="279400"/>
          </a:xfrm>
          <a:prstGeom prst="rect">
            <a:avLst/>
          </a:prstGeom>
          <a:noFill/>
          <a:ln/>
        </p:spPr>
        <p:txBody>
          <a:bodyPr wrap="square" lIns="0" tIns="0" rIns="0" bIns="0" rtlCol="0" anchor="t"/>
          <a:lstStyle/>
          <a:p>
            <a:pPr algn="l" indent="0" marL="0">
              <a:buNone/>
            </a:pPr>
            <a:r>
              <a:rPr lang="en-US" sz="1720" b="1" spc="300" kern="0" dirty="0">
                <a:solidFill>
                  <a:srgbClr val="2A4D88"/>
                </a:solidFill>
                <a:latin typeface="Calibri" pitchFamily="34" charset="0"/>
                <a:ea typeface="Calibri" pitchFamily="34" charset="-122"/>
                <a:cs typeface="Calibri" pitchFamily="34" charset="-120"/>
              </a:rPr>
              <a:t>STRATEGIES TO OVERCOME</a:t>
            </a:r>
            <a:endParaRPr lang="en-US" sz="1720" dirty="0"/>
          </a:p>
        </p:txBody>
      </p:sp>
      <p:sp>
        <p:nvSpPr>
          <p:cNvPr id="32" name="Shape 25"/>
          <p:cNvSpPr/>
          <p:nvPr/>
        </p:nvSpPr>
        <p:spPr>
          <a:xfrm>
            <a:off x="9118600" y="2044700"/>
            <a:ext cx="3924300" cy="977900"/>
          </a:xfrm>
          <a:prstGeom prst="roundRect">
            <a:avLst>
              <a:gd name="adj" fmla="val 11688"/>
            </a:avLst>
          </a:prstGeom>
          <a:solidFill>
            <a:srgbClr val="D9D9D8"/>
          </a:solidFill>
          <a:ln/>
        </p:spPr>
      </p:sp>
      <p:pic>
        <p:nvPicPr>
          <p:cNvPr id="33" name="Image 5" descr="C:\Users\abhim\drishti\docs\deck\assets\icons\triangle-exclamation_g.png">    </p:cNvPr>
          <p:cNvPicPr>
            <a:picLocks noChangeAspect="1"/>
          </p:cNvPicPr>
          <p:nvPr/>
        </p:nvPicPr>
        <p:blipFill>
          <a:blip r:embed="rId6"/>
          <a:stretch>
            <a:fillRect/>
          </a:stretch>
        </p:blipFill>
        <p:spPr>
          <a:xfrm>
            <a:off x="9283700" y="2349500"/>
            <a:ext cx="355600" cy="355600"/>
          </a:xfrm>
          <a:prstGeom prst="rect">
            <a:avLst/>
          </a:prstGeom>
        </p:spPr>
      </p:pic>
      <p:sp>
        <p:nvSpPr>
          <p:cNvPr id="34" name="Text 26"/>
          <p:cNvSpPr txBox="1"/>
          <p:nvPr/>
        </p:nvSpPr>
        <p:spPr>
          <a:xfrm>
            <a:off x="9753600" y="2146300"/>
            <a:ext cx="3200400" cy="812800"/>
          </a:xfrm>
          <a:prstGeom prst="rect">
            <a:avLst/>
          </a:prstGeom>
          <a:noFill/>
          <a:ln/>
        </p:spPr>
        <p:txBody>
          <a:bodyPr wrap="square" lIns="0" tIns="0" rIns="0" bIns="0" rtlCol="0" anchor="ctr"/>
          <a:lstStyle/>
          <a:p>
            <a:pPr algn="l" indent="0" marL="0">
              <a:buNone/>
            </a:pPr>
            <a:r>
              <a:rPr lang="en-US" sz="1530" b="1" dirty="0">
                <a:solidFill>
                  <a:srgbClr val="1A2F57"/>
                </a:solidFill>
                <a:latin typeface="Calibri" pitchFamily="34" charset="0"/>
                <a:ea typeface="Calibri" pitchFamily="34" charset="-122"/>
                <a:cs typeface="Calibri" pitchFamily="34" charset="-120"/>
              </a:rPr>
              <a:t>No Confirmed Fraud Labels</a:t>
            </a:r>
            <a:endParaRPr lang="en-US" sz="1530" dirty="0"/>
          </a:p>
          <a:p>
            <a:pPr algn="l" indent="0" marL="0">
              <a:buNone/>
            </a:pPr>
            <a:r>
              <a:rPr lang="en-US" sz="1530" dirty="0">
                <a:solidFill>
                  <a:srgbClr val="1A2F57"/>
                </a:solidFill>
                <a:latin typeface="Calibri" pitchFamily="34" charset="0"/>
                <a:ea typeface="Calibri" pitchFamily="34" charset="-122"/>
                <a:cs typeface="Calibri" pitchFamily="34" charset="-120"/>
              </a:rPr>
              <a:t>Few proven cases to learn from.</a:t>
            </a:r>
            <a:endParaRPr lang="en-US" sz="1530" dirty="0"/>
          </a:p>
        </p:txBody>
      </p:sp>
      <p:pic>
        <p:nvPicPr>
          <p:cNvPr id="35" name="Image 6" descr="C:\Users\abhim\drishti\docs\deck\assets\icons\arrow-right_n.png">    </p:cNvPr>
          <p:cNvPicPr>
            <a:picLocks noChangeAspect="1"/>
          </p:cNvPicPr>
          <p:nvPr/>
        </p:nvPicPr>
        <p:blipFill>
          <a:blip r:embed="rId7"/>
          <a:stretch>
            <a:fillRect/>
          </a:stretch>
        </p:blipFill>
        <p:spPr>
          <a:xfrm>
            <a:off x="13246100" y="2387600"/>
            <a:ext cx="292100" cy="292100"/>
          </a:xfrm>
          <a:prstGeom prst="rect">
            <a:avLst/>
          </a:prstGeom>
        </p:spPr>
      </p:pic>
      <p:sp>
        <p:nvSpPr>
          <p:cNvPr id="36" name="Shape 27"/>
          <p:cNvSpPr/>
          <p:nvPr/>
        </p:nvSpPr>
        <p:spPr>
          <a:xfrm>
            <a:off x="13779500" y="2044700"/>
            <a:ext cx="3898900" cy="977900"/>
          </a:xfrm>
          <a:prstGeom prst="roundRect">
            <a:avLst>
              <a:gd name="adj" fmla="val 11688"/>
            </a:avLst>
          </a:prstGeom>
          <a:solidFill>
            <a:srgbClr val="FFFFFF"/>
          </a:solidFill>
          <a:ln w="19050">
            <a:solidFill>
              <a:srgbClr val="7C94B8"/>
            </a:solidFill>
            <a:prstDash val="solid"/>
          </a:ln>
        </p:spPr>
      </p:sp>
      <p:pic>
        <p:nvPicPr>
          <p:cNvPr id="37" name="Image 7" descr="C:\Users\abhim\drishti\docs\deck\assets\icons\circle-check_n.png">    </p:cNvPr>
          <p:cNvPicPr>
            <a:picLocks noChangeAspect="1"/>
          </p:cNvPicPr>
          <p:nvPr/>
        </p:nvPicPr>
        <p:blipFill>
          <a:blip r:embed="rId8"/>
          <a:stretch>
            <a:fillRect/>
          </a:stretch>
        </p:blipFill>
        <p:spPr>
          <a:xfrm>
            <a:off x="13944600" y="2349500"/>
            <a:ext cx="355600" cy="355600"/>
          </a:xfrm>
          <a:prstGeom prst="rect">
            <a:avLst/>
          </a:prstGeom>
        </p:spPr>
      </p:pic>
      <p:sp>
        <p:nvSpPr>
          <p:cNvPr id="38" name="Text 28"/>
          <p:cNvSpPr txBox="1"/>
          <p:nvPr/>
        </p:nvSpPr>
        <p:spPr>
          <a:xfrm>
            <a:off x="14414500" y="2146300"/>
            <a:ext cx="3175000" cy="812800"/>
          </a:xfrm>
          <a:prstGeom prst="rect">
            <a:avLst/>
          </a:prstGeom>
          <a:noFill/>
          <a:ln/>
        </p:spPr>
        <p:txBody>
          <a:bodyPr wrap="square" lIns="0" tIns="0" rIns="0" bIns="0" rtlCol="0" anchor="ctr"/>
          <a:lstStyle/>
          <a:p>
            <a:pPr algn="l" indent="0" marL="0">
              <a:buNone/>
            </a:pPr>
            <a:r>
              <a:rPr lang="en-US" sz="1530" b="1" dirty="0">
                <a:solidFill>
                  <a:srgbClr val="1A2F57"/>
                </a:solidFill>
                <a:latin typeface="Calibri" pitchFamily="34" charset="0"/>
                <a:ea typeface="Calibri" pitchFamily="34" charset="-122"/>
                <a:cs typeface="Calibri" pitchFamily="34" charset="-120"/>
              </a:rPr>
              <a:t>Real Outcomes as Labels</a:t>
            </a:r>
            <a:endParaRPr lang="en-US" sz="1530" dirty="0"/>
          </a:p>
          <a:p>
            <a:pPr algn="l" indent="0" marL="0">
              <a:buNone/>
            </a:pPr>
            <a:r>
              <a:rPr lang="en-US" sz="1530" dirty="0">
                <a:solidFill>
                  <a:srgbClr val="1A2F57"/>
                </a:solidFill>
                <a:latin typeface="Calibri" pitchFamily="34" charset="0"/>
                <a:ea typeface="Calibri" pitchFamily="34" charset="-122"/>
                <a:cs typeface="Calibri" pitchFamily="34" charset="-120"/>
              </a:rPr>
              <a:t>Completion history &amp; planted tests; officer verdicts retrain.</a:t>
            </a:r>
            <a:endParaRPr lang="en-US" sz="1530" dirty="0"/>
          </a:p>
        </p:txBody>
      </p:sp>
      <p:sp>
        <p:nvSpPr>
          <p:cNvPr id="39" name="Shape 29"/>
          <p:cNvSpPr/>
          <p:nvPr/>
        </p:nvSpPr>
        <p:spPr>
          <a:xfrm>
            <a:off x="9118600" y="3175000"/>
            <a:ext cx="3924300" cy="977900"/>
          </a:xfrm>
          <a:prstGeom prst="roundRect">
            <a:avLst>
              <a:gd name="adj" fmla="val 11688"/>
            </a:avLst>
          </a:prstGeom>
          <a:solidFill>
            <a:srgbClr val="D9D9D8"/>
          </a:solidFill>
          <a:ln/>
        </p:spPr>
      </p:sp>
      <p:pic>
        <p:nvPicPr>
          <p:cNvPr id="40" name="Image 8" descr="C:\Users\abhim\drishti\docs\deck\assets\icons\triangle-exclamation_g.png">    </p:cNvPr>
          <p:cNvPicPr>
            <a:picLocks noChangeAspect="1"/>
          </p:cNvPicPr>
          <p:nvPr/>
        </p:nvPicPr>
        <p:blipFill>
          <a:blip r:embed="rId9"/>
          <a:stretch>
            <a:fillRect/>
          </a:stretch>
        </p:blipFill>
        <p:spPr>
          <a:xfrm>
            <a:off x="9283700" y="3479800"/>
            <a:ext cx="355600" cy="355600"/>
          </a:xfrm>
          <a:prstGeom prst="rect">
            <a:avLst/>
          </a:prstGeom>
        </p:spPr>
      </p:pic>
      <p:sp>
        <p:nvSpPr>
          <p:cNvPr id="41" name="Text 30"/>
          <p:cNvSpPr txBox="1"/>
          <p:nvPr/>
        </p:nvSpPr>
        <p:spPr>
          <a:xfrm>
            <a:off x="9753600" y="3276600"/>
            <a:ext cx="3200400" cy="812800"/>
          </a:xfrm>
          <a:prstGeom prst="rect">
            <a:avLst/>
          </a:prstGeom>
          <a:noFill/>
          <a:ln/>
        </p:spPr>
        <p:txBody>
          <a:bodyPr wrap="square" lIns="0" tIns="0" rIns="0" bIns="0" rtlCol="0" anchor="ctr"/>
          <a:lstStyle/>
          <a:p>
            <a:pPr algn="l" indent="0" marL="0">
              <a:buNone/>
            </a:pPr>
            <a:r>
              <a:rPr lang="en-US" sz="1530" b="1" dirty="0">
                <a:solidFill>
                  <a:srgbClr val="1A2F57"/>
                </a:solidFill>
                <a:latin typeface="Calibri" pitchFamily="34" charset="0"/>
                <a:ea typeface="Calibri" pitchFamily="34" charset="-122"/>
                <a:cs typeface="Calibri" pitchFamily="34" charset="-120"/>
              </a:rPr>
              <a:t>False Alerts</a:t>
            </a:r>
            <a:endParaRPr lang="en-US" sz="1530" dirty="0"/>
          </a:p>
          <a:p>
            <a:pPr algn="l" indent="0" marL="0">
              <a:buNone/>
            </a:pPr>
            <a:r>
              <a:rPr lang="en-US" sz="1530" dirty="0">
                <a:solidFill>
                  <a:srgbClr val="1A2F57"/>
                </a:solidFill>
                <a:latin typeface="Calibri" pitchFamily="34" charset="0"/>
                <a:ea typeface="Calibri" pitchFamily="34" charset="-122"/>
                <a:cs typeface="Calibri" pitchFamily="34" charset="-120"/>
              </a:rPr>
              <a:t>Terrain, rates or bulk orders can look like overpricing.</a:t>
            </a:r>
            <a:endParaRPr lang="en-US" sz="1530" dirty="0"/>
          </a:p>
        </p:txBody>
      </p:sp>
      <p:pic>
        <p:nvPicPr>
          <p:cNvPr id="42" name="Image 9" descr="C:\Users\abhim\drishti\docs\deck\assets\icons\arrow-right_n.png">    </p:cNvPr>
          <p:cNvPicPr>
            <a:picLocks noChangeAspect="1"/>
          </p:cNvPicPr>
          <p:nvPr/>
        </p:nvPicPr>
        <p:blipFill>
          <a:blip r:embed="rId10"/>
          <a:stretch>
            <a:fillRect/>
          </a:stretch>
        </p:blipFill>
        <p:spPr>
          <a:xfrm>
            <a:off x="13246100" y="3517900"/>
            <a:ext cx="292100" cy="292100"/>
          </a:xfrm>
          <a:prstGeom prst="rect">
            <a:avLst/>
          </a:prstGeom>
        </p:spPr>
      </p:pic>
      <p:sp>
        <p:nvSpPr>
          <p:cNvPr id="43" name="Shape 31"/>
          <p:cNvSpPr/>
          <p:nvPr/>
        </p:nvSpPr>
        <p:spPr>
          <a:xfrm>
            <a:off x="13779500" y="3175000"/>
            <a:ext cx="3898900" cy="977900"/>
          </a:xfrm>
          <a:prstGeom prst="roundRect">
            <a:avLst>
              <a:gd name="adj" fmla="val 11688"/>
            </a:avLst>
          </a:prstGeom>
          <a:solidFill>
            <a:srgbClr val="FFFFFF"/>
          </a:solidFill>
          <a:ln w="19050">
            <a:solidFill>
              <a:srgbClr val="7C94B8"/>
            </a:solidFill>
            <a:prstDash val="solid"/>
          </a:ln>
        </p:spPr>
      </p:sp>
      <p:pic>
        <p:nvPicPr>
          <p:cNvPr id="44" name="Image 10" descr="C:\Users\abhim\drishti\docs\deck\assets\icons\circle-check_n.png">    </p:cNvPr>
          <p:cNvPicPr>
            <a:picLocks noChangeAspect="1"/>
          </p:cNvPicPr>
          <p:nvPr/>
        </p:nvPicPr>
        <p:blipFill>
          <a:blip r:embed="rId11"/>
          <a:stretch>
            <a:fillRect/>
          </a:stretch>
        </p:blipFill>
        <p:spPr>
          <a:xfrm>
            <a:off x="13944600" y="3479800"/>
            <a:ext cx="355600" cy="355600"/>
          </a:xfrm>
          <a:prstGeom prst="rect">
            <a:avLst/>
          </a:prstGeom>
        </p:spPr>
      </p:pic>
      <p:sp>
        <p:nvSpPr>
          <p:cNvPr id="45" name="Text 32"/>
          <p:cNvSpPr txBox="1"/>
          <p:nvPr/>
        </p:nvSpPr>
        <p:spPr>
          <a:xfrm>
            <a:off x="14414500" y="3276600"/>
            <a:ext cx="3175000" cy="812800"/>
          </a:xfrm>
          <a:prstGeom prst="rect">
            <a:avLst/>
          </a:prstGeom>
          <a:noFill/>
          <a:ln/>
        </p:spPr>
        <p:txBody>
          <a:bodyPr wrap="square" lIns="0" tIns="0" rIns="0" bIns="0" rtlCol="0" anchor="ctr"/>
          <a:lstStyle/>
          <a:p>
            <a:pPr algn="l" indent="0" marL="0">
              <a:buNone/>
            </a:pPr>
            <a:r>
              <a:rPr lang="en-US" sz="1530" b="1" dirty="0">
                <a:solidFill>
                  <a:srgbClr val="1A2F57"/>
                </a:solidFill>
                <a:latin typeface="Calibri" pitchFamily="34" charset="0"/>
                <a:ea typeface="Calibri" pitchFamily="34" charset="-122"/>
                <a:cs typeface="Calibri" pitchFamily="34" charset="-120"/>
              </a:rPr>
              <a:t>Independent Checks Must Agree</a:t>
            </a:r>
            <a:endParaRPr lang="en-US" sz="1530" dirty="0"/>
          </a:p>
          <a:p>
            <a:pPr algn="l" indent="0" marL="0">
              <a:buNone/>
            </a:pPr>
            <a:r>
              <a:rPr lang="en-US" sz="1530" dirty="0">
                <a:solidFill>
                  <a:srgbClr val="1A2F57"/>
                </a:solidFill>
                <a:latin typeface="Calibri" pitchFamily="34" charset="0"/>
                <a:ea typeface="Calibri" pitchFamily="34" charset="-122"/>
                <a:cs typeface="Calibri" pitchFamily="34" charset="-120"/>
              </a:rPr>
              <a:t>High risk needs separate agents to agree.</a:t>
            </a:r>
            <a:endParaRPr lang="en-US" sz="1530" dirty="0"/>
          </a:p>
        </p:txBody>
      </p:sp>
      <p:sp>
        <p:nvSpPr>
          <p:cNvPr id="46" name="Shape 33"/>
          <p:cNvSpPr/>
          <p:nvPr/>
        </p:nvSpPr>
        <p:spPr>
          <a:xfrm>
            <a:off x="9118600" y="4292600"/>
            <a:ext cx="3924300" cy="977900"/>
          </a:xfrm>
          <a:prstGeom prst="roundRect">
            <a:avLst>
              <a:gd name="adj" fmla="val 11688"/>
            </a:avLst>
          </a:prstGeom>
          <a:solidFill>
            <a:srgbClr val="D9D9D8"/>
          </a:solidFill>
          <a:ln/>
        </p:spPr>
      </p:sp>
      <p:pic>
        <p:nvPicPr>
          <p:cNvPr id="47" name="Image 11" descr="C:\Users\abhim\drishti\docs\deck\assets\icons\triangle-exclamation_g.png">    </p:cNvPr>
          <p:cNvPicPr>
            <a:picLocks noChangeAspect="1"/>
          </p:cNvPicPr>
          <p:nvPr/>
        </p:nvPicPr>
        <p:blipFill>
          <a:blip r:embed="rId12"/>
          <a:stretch>
            <a:fillRect/>
          </a:stretch>
        </p:blipFill>
        <p:spPr>
          <a:xfrm>
            <a:off x="9283700" y="4597400"/>
            <a:ext cx="355600" cy="355600"/>
          </a:xfrm>
          <a:prstGeom prst="rect">
            <a:avLst/>
          </a:prstGeom>
        </p:spPr>
      </p:pic>
      <p:sp>
        <p:nvSpPr>
          <p:cNvPr id="48" name="Text 34"/>
          <p:cNvSpPr txBox="1"/>
          <p:nvPr/>
        </p:nvSpPr>
        <p:spPr>
          <a:xfrm>
            <a:off x="9753600" y="4394200"/>
            <a:ext cx="3200400" cy="812800"/>
          </a:xfrm>
          <a:prstGeom prst="rect">
            <a:avLst/>
          </a:prstGeom>
          <a:noFill/>
          <a:ln/>
        </p:spPr>
        <p:txBody>
          <a:bodyPr wrap="square" lIns="0" tIns="0" rIns="0" bIns="0" rtlCol="0" anchor="ctr"/>
          <a:lstStyle/>
          <a:p>
            <a:pPr algn="l" indent="0" marL="0">
              <a:buNone/>
            </a:pPr>
            <a:r>
              <a:rPr lang="en-US" sz="1530" b="1" dirty="0">
                <a:solidFill>
                  <a:srgbClr val="1A2F57"/>
                </a:solidFill>
                <a:latin typeface="Calibri" pitchFamily="34" charset="0"/>
                <a:ea typeface="Calibri" pitchFamily="34" charset="-122"/>
                <a:cs typeface="Calibri" pitchFamily="34" charset="-120"/>
              </a:rPr>
              <a:t>Handwritten &amp; Hinglish Records</a:t>
            </a:r>
            <a:endParaRPr lang="en-US" sz="1530" dirty="0"/>
          </a:p>
          <a:p>
            <a:pPr algn="l" indent="0" marL="0">
              <a:buNone/>
            </a:pPr>
            <a:r>
              <a:rPr lang="en-US" sz="1530" dirty="0">
                <a:solidFill>
                  <a:srgbClr val="1A2F57"/>
                </a:solidFill>
                <a:latin typeface="Calibri" pitchFamily="34" charset="0"/>
                <a:ea typeface="Calibri" pitchFamily="34" charset="-122"/>
                <a:cs typeface="Calibri" pitchFamily="34" charset="-120"/>
              </a:rPr>
              <a:t>Hindi certificates and messy text are hard to read.</a:t>
            </a:r>
            <a:endParaRPr lang="en-US" sz="1530" dirty="0"/>
          </a:p>
        </p:txBody>
      </p:sp>
      <p:pic>
        <p:nvPicPr>
          <p:cNvPr id="49" name="Image 12" descr="C:\Users\abhim\drishti\docs\deck\assets\icons\arrow-right_n.png">    </p:cNvPr>
          <p:cNvPicPr>
            <a:picLocks noChangeAspect="1"/>
          </p:cNvPicPr>
          <p:nvPr/>
        </p:nvPicPr>
        <p:blipFill>
          <a:blip r:embed="rId13"/>
          <a:stretch>
            <a:fillRect/>
          </a:stretch>
        </p:blipFill>
        <p:spPr>
          <a:xfrm>
            <a:off x="13246100" y="4635500"/>
            <a:ext cx="292100" cy="292100"/>
          </a:xfrm>
          <a:prstGeom prst="rect">
            <a:avLst/>
          </a:prstGeom>
        </p:spPr>
      </p:pic>
      <p:sp>
        <p:nvSpPr>
          <p:cNvPr id="50" name="Shape 35"/>
          <p:cNvSpPr/>
          <p:nvPr/>
        </p:nvSpPr>
        <p:spPr>
          <a:xfrm>
            <a:off x="13779500" y="4292600"/>
            <a:ext cx="3898900" cy="977900"/>
          </a:xfrm>
          <a:prstGeom prst="roundRect">
            <a:avLst>
              <a:gd name="adj" fmla="val 11688"/>
            </a:avLst>
          </a:prstGeom>
          <a:solidFill>
            <a:srgbClr val="FFFFFF"/>
          </a:solidFill>
          <a:ln w="19050">
            <a:solidFill>
              <a:srgbClr val="7C94B8"/>
            </a:solidFill>
            <a:prstDash val="solid"/>
          </a:ln>
        </p:spPr>
      </p:sp>
      <p:pic>
        <p:nvPicPr>
          <p:cNvPr id="51" name="Image 13" descr="C:\Users\abhim\drishti\docs\deck\assets\icons\circle-check_n.png">    </p:cNvPr>
          <p:cNvPicPr>
            <a:picLocks noChangeAspect="1"/>
          </p:cNvPicPr>
          <p:nvPr/>
        </p:nvPicPr>
        <p:blipFill>
          <a:blip r:embed="rId14"/>
          <a:stretch>
            <a:fillRect/>
          </a:stretch>
        </p:blipFill>
        <p:spPr>
          <a:xfrm>
            <a:off x="13944600" y="4597400"/>
            <a:ext cx="355600" cy="355600"/>
          </a:xfrm>
          <a:prstGeom prst="rect">
            <a:avLst/>
          </a:prstGeom>
        </p:spPr>
      </p:pic>
      <p:sp>
        <p:nvSpPr>
          <p:cNvPr id="52" name="Text 36"/>
          <p:cNvSpPr txBox="1"/>
          <p:nvPr/>
        </p:nvSpPr>
        <p:spPr>
          <a:xfrm>
            <a:off x="14414500" y="4394200"/>
            <a:ext cx="3175000" cy="812800"/>
          </a:xfrm>
          <a:prstGeom prst="rect">
            <a:avLst/>
          </a:prstGeom>
          <a:noFill/>
          <a:ln/>
        </p:spPr>
        <p:txBody>
          <a:bodyPr wrap="square" lIns="0" tIns="0" rIns="0" bIns="0" rtlCol="0" anchor="ctr"/>
          <a:lstStyle/>
          <a:p>
            <a:pPr algn="l" indent="0" marL="0">
              <a:buNone/>
            </a:pPr>
            <a:r>
              <a:rPr lang="en-US" sz="1530" b="1" dirty="0">
                <a:solidFill>
                  <a:srgbClr val="1A2F57"/>
                </a:solidFill>
                <a:latin typeface="Calibri" pitchFamily="34" charset="0"/>
                <a:ea typeface="Calibri" pitchFamily="34" charset="-122"/>
                <a:cs typeface="Calibri" pitchFamily="34" charset="-120"/>
              </a:rPr>
              <a:t>Confidence Gate</a:t>
            </a:r>
            <a:endParaRPr lang="en-US" sz="1530" dirty="0"/>
          </a:p>
          <a:p>
            <a:pPr algn="l" indent="0" marL="0">
              <a:buNone/>
            </a:pPr>
            <a:r>
              <a:rPr lang="en-US" sz="1530" dirty="0">
                <a:solidFill>
                  <a:srgbClr val="1A2F57"/>
                </a:solidFill>
                <a:latin typeface="Calibri" pitchFamily="34" charset="0"/>
                <a:ea typeface="Calibri" pitchFamily="34" charset="-122"/>
                <a:cs typeface="Calibri" pitchFamily="34" charset="-120"/>
              </a:rPr>
              <a:t>Unclear readings become “can't tell”, never an alert.</a:t>
            </a:r>
            <a:endParaRPr lang="en-US" sz="1530" dirty="0"/>
          </a:p>
        </p:txBody>
      </p:sp>
      <p:sp>
        <p:nvSpPr>
          <p:cNvPr id="53" name="Shape 37"/>
          <p:cNvSpPr/>
          <p:nvPr/>
        </p:nvSpPr>
        <p:spPr>
          <a:xfrm>
            <a:off x="9118600" y="5422900"/>
            <a:ext cx="3924300" cy="977900"/>
          </a:xfrm>
          <a:prstGeom prst="roundRect">
            <a:avLst>
              <a:gd name="adj" fmla="val 11688"/>
            </a:avLst>
          </a:prstGeom>
          <a:solidFill>
            <a:srgbClr val="D9D9D8"/>
          </a:solidFill>
          <a:ln/>
        </p:spPr>
      </p:sp>
      <p:pic>
        <p:nvPicPr>
          <p:cNvPr id="54" name="Image 14" descr="C:\Users\abhim\drishti\docs\deck\assets\icons\triangle-exclamation_g.png">    </p:cNvPr>
          <p:cNvPicPr>
            <a:picLocks noChangeAspect="1"/>
          </p:cNvPicPr>
          <p:nvPr/>
        </p:nvPicPr>
        <p:blipFill>
          <a:blip r:embed="rId15"/>
          <a:stretch>
            <a:fillRect/>
          </a:stretch>
        </p:blipFill>
        <p:spPr>
          <a:xfrm>
            <a:off x="9283700" y="5727700"/>
            <a:ext cx="355600" cy="355600"/>
          </a:xfrm>
          <a:prstGeom prst="rect">
            <a:avLst/>
          </a:prstGeom>
        </p:spPr>
      </p:pic>
      <p:sp>
        <p:nvSpPr>
          <p:cNvPr id="55" name="Text 38"/>
          <p:cNvSpPr txBox="1"/>
          <p:nvPr/>
        </p:nvSpPr>
        <p:spPr>
          <a:xfrm>
            <a:off x="9753600" y="5524500"/>
            <a:ext cx="3200400" cy="812800"/>
          </a:xfrm>
          <a:prstGeom prst="rect">
            <a:avLst/>
          </a:prstGeom>
          <a:noFill/>
          <a:ln/>
        </p:spPr>
        <p:txBody>
          <a:bodyPr wrap="square" lIns="0" tIns="0" rIns="0" bIns="0" rtlCol="0" anchor="ctr"/>
          <a:lstStyle/>
          <a:p>
            <a:pPr algn="l" indent="0" marL="0">
              <a:buNone/>
            </a:pPr>
            <a:r>
              <a:rPr lang="en-US" sz="1530" b="1" dirty="0">
                <a:solidFill>
                  <a:srgbClr val="1A2F57"/>
                </a:solidFill>
                <a:latin typeface="Calibri" pitchFamily="34" charset="0"/>
                <a:ea typeface="Calibri" pitchFamily="34" charset="-122"/>
                <a:cs typeface="Calibri" pitchFamily="34" charset="-120"/>
              </a:rPr>
              <a:t>Sensitive Data</a:t>
            </a:r>
            <a:endParaRPr lang="en-US" sz="1530" dirty="0"/>
          </a:p>
          <a:p>
            <a:pPr algn="l" indent="0" marL="0">
              <a:buNone/>
            </a:pPr>
            <a:r>
              <a:rPr lang="en-US" sz="1530" dirty="0">
                <a:solidFill>
                  <a:srgbClr val="1A2F57"/>
                </a:solidFill>
                <a:latin typeface="Calibri" pitchFamily="34" charset="0"/>
                <a:ea typeface="Calibri" pitchFamily="34" charset="-122"/>
                <a:cs typeface="Calibri" pitchFamily="34" charset="-120"/>
              </a:rPr>
              <a:t>Named officials, contractors and personal details.</a:t>
            </a:r>
            <a:endParaRPr lang="en-US" sz="1530" dirty="0"/>
          </a:p>
        </p:txBody>
      </p:sp>
      <p:pic>
        <p:nvPicPr>
          <p:cNvPr id="56" name="Image 15" descr="C:\Users\abhim\drishti\docs\deck\assets\icons\arrow-right_n.png">    </p:cNvPr>
          <p:cNvPicPr>
            <a:picLocks noChangeAspect="1"/>
          </p:cNvPicPr>
          <p:nvPr/>
        </p:nvPicPr>
        <p:blipFill>
          <a:blip r:embed="rId16"/>
          <a:stretch>
            <a:fillRect/>
          </a:stretch>
        </p:blipFill>
        <p:spPr>
          <a:xfrm>
            <a:off x="13246100" y="5765800"/>
            <a:ext cx="292100" cy="292100"/>
          </a:xfrm>
          <a:prstGeom prst="rect">
            <a:avLst/>
          </a:prstGeom>
        </p:spPr>
      </p:pic>
      <p:sp>
        <p:nvSpPr>
          <p:cNvPr id="57" name="Shape 39"/>
          <p:cNvSpPr/>
          <p:nvPr/>
        </p:nvSpPr>
        <p:spPr>
          <a:xfrm>
            <a:off x="13779500" y="5422900"/>
            <a:ext cx="3898900" cy="977900"/>
          </a:xfrm>
          <a:prstGeom prst="roundRect">
            <a:avLst>
              <a:gd name="adj" fmla="val 11688"/>
            </a:avLst>
          </a:prstGeom>
          <a:solidFill>
            <a:srgbClr val="FFFFFF"/>
          </a:solidFill>
          <a:ln w="19050">
            <a:solidFill>
              <a:srgbClr val="7C94B8"/>
            </a:solidFill>
            <a:prstDash val="solid"/>
          </a:ln>
        </p:spPr>
      </p:sp>
      <p:pic>
        <p:nvPicPr>
          <p:cNvPr id="58" name="Image 16" descr="C:\Users\abhim\drishti\docs\deck\assets\icons\circle-check_n.png">    </p:cNvPr>
          <p:cNvPicPr>
            <a:picLocks noChangeAspect="1"/>
          </p:cNvPicPr>
          <p:nvPr/>
        </p:nvPicPr>
        <p:blipFill>
          <a:blip r:embed="rId17"/>
          <a:stretch>
            <a:fillRect/>
          </a:stretch>
        </p:blipFill>
        <p:spPr>
          <a:xfrm>
            <a:off x="13944600" y="5727700"/>
            <a:ext cx="355600" cy="355600"/>
          </a:xfrm>
          <a:prstGeom prst="rect">
            <a:avLst/>
          </a:prstGeom>
        </p:spPr>
      </p:pic>
      <p:sp>
        <p:nvSpPr>
          <p:cNvPr id="59" name="Text 40"/>
          <p:cNvSpPr txBox="1"/>
          <p:nvPr/>
        </p:nvSpPr>
        <p:spPr>
          <a:xfrm>
            <a:off x="14414500" y="5524500"/>
            <a:ext cx="3175000" cy="812800"/>
          </a:xfrm>
          <a:prstGeom prst="rect">
            <a:avLst/>
          </a:prstGeom>
          <a:noFill/>
          <a:ln/>
        </p:spPr>
        <p:txBody>
          <a:bodyPr wrap="square" lIns="0" tIns="0" rIns="0" bIns="0" rtlCol="0" anchor="ctr"/>
          <a:lstStyle/>
          <a:p>
            <a:pPr algn="l" indent="0" marL="0">
              <a:buNone/>
            </a:pPr>
            <a:r>
              <a:rPr lang="en-US" sz="1530" b="1" dirty="0">
                <a:solidFill>
                  <a:srgbClr val="1A2F57"/>
                </a:solidFill>
                <a:latin typeface="Calibri" pitchFamily="34" charset="0"/>
                <a:ea typeface="Calibri" pitchFamily="34" charset="-122"/>
                <a:cs typeface="Calibri" pitchFamily="34" charset="-120"/>
              </a:rPr>
              <a:t>Fair &amp; Secure by Design</a:t>
            </a:r>
            <a:endParaRPr lang="en-US" sz="1530" dirty="0"/>
          </a:p>
          <a:p>
            <a:pPr algn="l" indent="0" marL="0">
              <a:buNone/>
            </a:pPr>
            <a:r>
              <a:rPr lang="en-US" sz="1530" dirty="0">
                <a:solidFill>
                  <a:srgbClr val="1A2F57"/>
                </a:solidFill>
                <a:latin typeface="Calibri" pitchFamily="34" charset="0"/>
                <a:ea typeface="Calibri" pitchFamily="34" charset="-122"/>
                <a:cs typeface="Calibri" pitchFamily="34" charset="-120"/>
              </a:rPr>
              <a:t>“Needs verification”, never “fraud”; role-based access.</a:t>
            </a:r>
            <a:endParaRPr lang="en-US" sz="1530" dirty="0"/>
          </a:p>
        </p:txBody>
      </p:sp>
      <p:sp>
        <p:nvSpPr>
          <p:cNvPr id="60" name="Text 41"/>
          <p:cNvSpPr txBox="1"/>
          <p:nvPr/>
        </p:nvSpPr>
        <p:spPr>
          <a:xfrm>
            <a:off x="617220" y="6921500"/>
            <a:ext cx="11430000" cy="279400"/>
          </a:xfrm>
          <a:prstGeom prst="rect">
            <a:avLst/>
          </a:prstGeom>
          <a:noFill/>
          <a:ln/>
        </p:spPr>
        <p:txBody>
          <a:bodyPr wrap="square" lIns="0" tIns="0" rIns="0" bIns="0" rtlCol="0" anchor="t"/>
          <a:lstStyle/>
          <a:p>
            <a:pPr algn="l" indent="0" marL="0">
              <a:buNone/>
            </a:pPr>
            <a:r>
              <a:rPr lang="en-US" sz="1720" b="1" spc="300" kern="0" dirty="0">
                <a:solidFill>
                  <a:srgbClr val="2A4D88"/>
                </a:solidFill>
                <a:latin typeface="Calibri" pitchFamily="34" charset="0"/>
                <a:ea typeface="Calibri" pitchFamily="34" charset="-122"/>
                <a:cs typeface="Calibri" pitchFamily="34" charset="-120"/>
              </a:rPr>
              <a:t>VIABILITY</a:t>
            </a:r>
            <a:endParaRPr lang="en-US" sz="1720" dirty="0"/>
          </a:p>
        </p:txBody>
      </p:sp>
      <p:sp>
        <p:nvSpPr>
          <p:cNvPr id="61" name="Shape 42"/>
          <p:cNvSpPr/>
          <p:nvPr/>
        </p:nvSpPr>
        <p:spPr>
          <a:xfrm>
            <a:off x="609600" y="7391400"/>
            <a:ext cx="2692400" cy="2082800"/>
          </a:xfrm>
          <a:prstGeom prst="roundRect">
            <a:avLst>
              <a:gd name="adj" fmla="val 6707"/>
            </a:avLst>
          </a:prstGeom>
          <a:solidFill>
            <a:srgbClr val="EDF0F5"/>
          </a:solidFill>
          <a:ln/>
        </p:spPr>
      </p:sp>
      <p:sp>
        <p:nvSpPr>
          <p:cNvPr id="62" name="Shape 43"/>
          <p:cNvSpPr/>
          <p:nvPr/>
        </p:nvSpPr>
        <p:spPr>
          <a:xfrm>
            <a:off x="774700" y="7556500"/>
            <a:ext cx="2362200" cy="520700"/>
          </a:xfrm>
          <a:prstGeom prst="roundRect">
            <a:avLst>
              <a:gd name="adj" fmla="val 50000"/>
            </a:avLst>
          </a:prstGeom>
          <a:solidFill>
            <a:srgbClr val="2A4D88"/>
          </a:solidFill>
          <a:ln/>
        </p:spPr>
      </p:sp>
      <p:sp>
        <p:nvSpPr>
          <p:cNvPr id="63" name="Text 44"/>
          <p:cNvSpPr txBox="1"/>
          <p:nvPr/>
        </p:nvSpPr>
        <p:spPr>
          <a:xfrm>
            <a:off x="774700" y="7556500"/>
            <a:ext cx="2362200" cy="52070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Human Control</a:t>
            </a:r>
            <a:endParaRPr lang="en-US" sz="1650" dirty="0"/>
          </a:p>
        </p:txBody>
      </p:sp>
      <p:sp>
        <p:nvSpPr>
          <p:cNvPr id="64" name="Text 45"/>
          <p:cNvSpPr txBox="1"/>
          <p:nvPr/>
        </p:nvSpPr>
        <p:spPr>
          <a:xfrm>
            <a:off x="787400" y="8204200"/>
            <a:ext cx="2387600" cy="1193800"/>
          </a:xfrm>
          <a:prstGeom prst="rect">
            <a:avLst/>
          </a:prstGeom>
          <a:noFill/>
          <a:ln/>
        </p:spPr>
        <p:txBody>
          <a:bodyPr wrap="square" lIns="0" tIns="0" rIns="0" bIns="0" rtlCol="0" anchor="t"/>
          <a:lstStyle/>
          <a:p>
            <a:pPr algn="l" indent="0" marL="0">
              <a:buNone/>
            </a:pPr>
            <a:r>
              <a:rPr lang="en-US" sz="1650" b="1" dirty="0">
                <a:solidFill>
                  <a:srgbClr val="1A2F57"/>
                </a:solidFill>
                <a:latin typeface="Calibri" pitchFamily="34" charset="0"/>
                <a:ea typeface="Calibri" pitchFamily="34" charset="-122"/>
                <a:cs typeface="Calibri" pitchFamily="34" charset="-120"/>
              </a:rPr>
              <a:t>Human-in-the-Loop</a:t>
            </a:r>
            <a:endParaRPr lang="en-US" sz="1650" dirty="0"/>
          </a:p>
          <a:p>
            <a:pPr algn="l" indent="0" marL="0">
              <a:buNone/>
            </a:pPr>
            <a:r>
              <a:rPr lang="en-US" sz="1650" dirty="0">
                <a:solidFill>
                  <a:srgbClr val="1A2F57"/>
                </a:solidFill>
                <a:latin typeface="Calibri" pitchFamily="34" charset="0"/>
                <a:ea typeface="Calibri" pitchFamily="34" charset="-122"/>
                <a:cs typeface="Calibri" pitchFamily="34" charset="-120"/>
              </a:rPr>
              <a:t>AI flags risks; officials verify and decide.</a:t>
            </a:r>
            <a:endParaRPr lang="en-US" sz="1650" dirty="0"/>
          </a:p>
        </p:txBody>
      </p:sp>
      <p:pic>
        <p:nvPicPr>
          <p:cNvPr id="65" name="Image 17" descr="C:\Users\abhim\drishti\docs\deck\assets\icons\arrow-right_n.png">    </p:cNvPr>
          <p:cNvPicPr>
            <a:picLocks noChangeAspect="1"/>
          </p:cNvPicPr>
          <p:nvPr/>
        </p:nvPicPr>
        <p:blipFill>
          <a:blip r:embed="rId18"/>
          <a:stretch>
            <a:fillRect/>
          </a:stretch>
        </p:blipFill>
        <p:spPr>
          <a:xfrm>
            <a:off x="3327400" y="7670800"/>
            <a:ext cx="254000" cy="254000"/>
          </a:xfrm>
          <a:prstGeom prst="rect">
            <a:avLst/>
          </a:prstGeom>
        </p:spPr>
      </p:pic>
      <p:sp>
        <p:nvSpPr>
          <p:cNvPr id="66" name="Shape 46"/>
          <p:cNvSpPr/>
          <p:nvPr/>
        </p:nvSpPr>
        <p:spPr>
          <a:xfrm>
            <a:off x="3619500" y="7391400"/>
            <a:ext cx="2692400" cy="2082800"/>
          </a:xfrm>
          <a:prstGeom prst="roundRect">
            <a:avLst>
              <a:gd name="adj" fmla="val 6707"/>
            </a:avLst>
          </a:prstGeom>
          <a:solidFill>
            <a:srgbClr val="EDF0F5"/>
          </a:solidFill>
          <a:ln/>
        </p:spPr>
      </p:sp>
      <p:sp>
        <p:nvSpPr>
          <p:cNvPr id="67" name="Shape 47"/>
          <p:cNvSpPr/>
          <p:nvPr/>
        </p:nvSpPr>
        <p:spPr>
          <a:xfrm>
            <a:off x="3784600" y="7556500"/>
            <a:ext cx="2362200" cy="520700"/>
          </a:xfrm>
          <a:prstGeom prst="roundRect">
            <a:avLst>
              <a:gd name="adj" fmla="val 50000"/>
            </a:avLst>
          </a:prstGeom>
          <a:solidFill>
            <a:srgbClr val="2A4D88"/>
          </a:solidFill>
          <a:ln/>
        </p:spPr>
      </p:sp>
      <p:sp>
        <p:nvSpPr>
          <p:cNvPr id="68" name="Text 48"/>
          <p:cNvSpPr txBox="1"/>
          <p:nvPr/>
        </p:nvSpPr>
        <p:spPr>
          <a:xfrm>
            <a:off x="3784600" y="7556500"/>
            <a:ext cx="2362200" cy="52070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Existing Workflow</a:t>
            </a:r>
            <a:endParaRPr lang="en-US" sz="1650" dirty="0"/>
          </a:p>
        </p:txBody>
      </p:sp>
      <p:sp>
        <p:nvSpPr>
          <p:cNvPr id="69" name="Text 49"/>
          <p:cNvSpPr txBox="1"/>
          <p:nvPr/>
        </p:nvSpPr>
        <p:spPr>
          <a:xfrm>
            <a:off x="3797300" y="8204200"/>
            <a:ext cx="2387600" cy="1193800"/>
          </a:xfrm>
          <a:prstGeom prst="rect">
            <a:avLst/>
          </a:prstGeom>
          <a:noFill/>
          <a:ln/>
        </p:spPr>
        <p:txBody>
          <a:bodyPr wrap="square" lIns="0" tIns="0" rIns="0" bIns="0" rtlCol="0" anchor="t"/>
          <a:lstStyle/>
          <a:p>
            <a:pPr algn="l" indent="0" marL="0">
              <a:buNone/>
            </a:pPr>
            <a:r>
              <a:rPr lang="en-US" sz="1650" b="1" dirty="0">
                <a:solidFill>
                  <a:srgbClr val="1A2F57"/>
                </a:solidFill>
                <a:latin typeface="Calibri" pitchFamily="34" charset="0"/>
                <a:ea typeface="Calibri" pitchFamily="34" charset="-122"/>
                <a:cs typeface="Calibri" pitchFamily="34" charset="-120"/>
              </a:rPr>
              <a:t>Workflow Compatibility</a:t>
            </a:r>
            <a:endParaRPr lang="en-US" sz="1650" dirty="0"/>
          </a:p>
          <a:p>
            <a:pPr algn="l" indent="0" marL="0">
              <a:buNone/>
            </a:pPr>
            <a:r>
              <a:rPr lang="en-US" sz="1650" dirty="0">
                <a:solidFill>
                  <a:srgbClr val="1A2F57"/>
                </a:solidFill>
                <a:latin typeface="Calibri" pitchFamily="34" charset="0"/>
                <a:ea typeface="Calibri" pitchFamily="34" charset="-122"/>
                <a:cs typeface="Calibri" pitchFamily="34" charset="-120"/>
              </a:rPr>
              <a:t>Works alongside existing eSAKSHI workflows.</a:t>
            </a:r>
            <a:endParaRPr lang="en-US" sz="1650" dirty="0"/>
          </a:p>
        </p:txBody>
      </p:sp>
      <p:pic>
        <p:nvPicPr>
          <p:cNvPr id="70" name="Image 18" descr="C:\Users\abhim\drishti\docs\deck\assets\icons\arrow-right_n.png">    </p:cNvPr>
          <p:cNvPicPr>
            <a:picLocks noChangeAspect="1"/>
          </p:cNvPicPr>
          <p:nvPr/>
        </p:nvPicPr>
        <p:blipFill>
          <a:blip r:embed="rId19"/>
          <a:stretch>
            <a:fillRect/>
          </a:stretch>
        </p:blipFill>
        <p:spPr>
          <a:xfrm>
            <a:off x="6337300" y="7670800"/>
            <a:ext cx="254000" cy="254000"/>
          </a:xfrm>
          <a:prstGeom prst="rect">
            <a:avLst/>
          </a:prstGeom>
        </p:spPr>
      </p:pic>
      <p:sp>
        <p:nvSpPr>
          <p:cNvPr id="71" name="Shape 50"/>
          <p:cNvSpPr/>
          <p:nvPr/>
        </p:nvSpPr>
        <p:spPr>
          <a:xfrm>
            <a:off x="6642100" y="7391400"/>
            <a:ext cx="2692400" cy="2082800"/>
          </a:xfrm>
          <a:prstGeom prst="roundRect">
            <a:avLst>
              <a:gd name="adj" fmla="val 6707"/>
            </a:avLst>
          </a:prstGeom>
          <a:solidFill>
            <a:srgbClr val="EDF0F5"/>
          </a:solidFill>
          <a:ln/>
        </p:spPr>
      </p:sp>
      <p:sp>
        <p:nvSpPr>
          <p:cNvPr id="72" name="Shape 51"/>
          <p:cNvSpPr/>
          <p:nvPr/>
        </p:nvSpPr>
        <p:spPr>
          <a:xfrm>
            <a:off x="6807200" y="7556500"/>
            <a:ext cx="2362200" cy="520700"/>
          </a:xfrm>
          <a:prstGeom prst="roundRect">
            <a:avLst>
              <a:gd name="adj" fmla="val 50000"/>
            </a:avLst>
          </a:prstGeom>
          <a:solidFill>
            <a:srgbClr val="2A4D88"/>
          </a:solidFill>
          <a:ln/>
        </p:spPr>
      </p:sp>
      <p:sp>
        <p:nvSpPr>
          <p:cNvPr id="73" name="Text 52"/>
          <p:cNvSpPr txBox="1"/>
          <p:nvPr/>
        </p:nvSpPr>
        <p:spPr>
          <a:xfrm>
            <a:off x="6807200" y="7556500"/>
            <a:ext cx="2362200" cy="52070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Priority-Based Action</a:t>
            </a:r>
            <a:endParaRPr lang="en-US" sz="1650" dirty="0"/>
          </a:p>
        </p:txBody>
      </p:sp>
      <p:sp>
        <p:nvSpPr>
          <p:cNvPr id="74" name="Text 53"/>
          <p:cNvSpPr txBox="1"/>
          <p:nvPr/>
        </p:nvSpPr>
        <p:spPr>
          <a:xfrm>
            <a:off x="6819900" y="8204200"/>
            <a:ext cx="2387600" cy="1193800"/>
          </a:xfrm>
          <a:prstGeom prst="rect">
            <a:avLst/>
          </a:prstGeom>
          <a:noFill/>
          <a:ln/>
        </p:spPr>
        <p:txBody>
          <a:bodyPr wrap="square" lIns="0" tIns="0" rIns="0" bIns="0" rtlCol="0" anchor="t"/>
          <a:lstStyle/>
          <a:p>
            <a:pPr algn="l" indent="0" marL="0">
              <a:buNone/>
            </a:pPr>
            <a:r>
              <a:rPr lang="en-US" sz="1650" b="1" dirty="0">
                <a:solidFill>
                  <a:srgbClr val="1A2F57"/>
                </a:solidFill>
                <a:latin typeface="Calibri" pitchFamily="34" charset="0"/>
                <a:ea typeface="Calibri" pitchFamily="34" charset="-122"/>
                <a:cs typeface="Calibri" pitchFamily="34" charset="-120"/>
              </a:rPr>
              <a:t>Risk-Based Verification</a:t>
            </a:r>
            <a:endParaRPr lang="en-US" sz="1650" dirty="0"/>
          </a:p>
          <a:p>
            <a:pPr algn="l" indent="0" marL="0">
              <a:buNone/>
            </a:pPr>
            <a:r>
              <a:rPr lang="en-US" sz="1650" dirty="0">
                <a:solidFill>
                  <a:srgbClr val="1A2F57"/>
                </a:solidFill>
                <a:latin typeface="Calibri" pitchFamily="34" charset="0"/>
                <a:ea typeface="Calibri" pitchFamily="34" charset="-122"/>
                <a:cs typeface="Calibri" pitchFamily="34" charset="-120"/>
              </a:rPr>
              <a:t>Picks higher-risk works for mandatory inspections.</a:t>
            </a:r>
            <a:endParaRPr lang="en-US" sz="1650" dirty="0"/>
          </a:p>
        </p:txBody>
      </p:sp>
      <p:pic>
        <p:nvPicPr>
          <p:cNvPr id="75" name="Image 19" descr="C:\Users\abhim\drishti\docs\deck\assets\icons\arrow-right_n.png">    </p:cNvPr>
          <p:cNvPicPr>
            <a:picLocks noChangeAspect="1"/>
          </p:cNvPicPr>
          <p:nvPr/>
        </p:nvPicPr>
        <p:blipFill>
          <a:blip r:embed="rId20"/>
          <a:stretch>
            <a:fillRect/>
          </a:stretch>
        </p:blipFill>
        <p:spPr>
          <a:xfrm>
            <a:off x="9359900" y="7670800"/>
            <a:ext cx="254000" cy="254000"/>
          </a:xfrm>
          <a:prstGeom prst="rect">
            <a:avLst/>
          </a:prstGeom>
        </p:spPr>
      </p:pic>
      <p:sp>
        <p:nvSpPr>
          <p:cNvPr id="76" name="Shape 54"/>
          <p:cNvSpPr/>
          <p:nvPr/>
        </p:nvSpPr>
        <p:spPr>
          <a:xfrm>
            <a:off x="9664700" y="7391400"/>
            <a:ext cx="2692400" cy="2082800"/>
          </a:xfrm>
          <a:prstGeom prst="roundRect">
            <a:avLst>
              <a:gd name="adj" fmla="val 6707"/>
            </a:avLst>
          </a:prstGeom>
          <a:solidFill>
            <a:srgbClr val="EDF0F5"/>
          </a:solidFill>
          <a:ln/>
        </p:spPr>
      </p:sp>
      <p:sp>
        <p:nvSpPr>
          <p:cNvPr id="77" name="Shape 55"/>
          <p:cNvSpPr/>
          <p:nvPr/>
        </p:nvSpPr>
        <p:spPr>
          <a:xfrm>
            <a:off x="9829800" y="7556500"/>
            <a:ext cx="2362200" cy="520700"/>
          </a:xfrm>
          <a:prstGeom prst="roundRect">
            <a:avLst>
              <a:gd name="adj" fmla="val 50000"/>
            </a:avLst>
          </a:prstGeom>
          <a:solidFill>
            <a:srgbClr val="D9962B"/>
          </a:solidFill>
          <a:ln/>
        </p:spPr>
      </p:sp>
      <p:sp>
        <p:nvSpPr>
          <p:cNvPr id="78" name="Text 56"/>
          <p:cNvSpPr txBox="1"/>
          <p:nvPr/>
        </p:nvSpPr>
        <p:spPr>
          <a:xfrm>
            <a:off x="9829800" y="7556500"/>
            <a:ext cx="2362200" cy="520700"/>
          </a:xfrm>
          <a:prstGeom prst="rect">
            <a:avLst/>
          </a:prstGeom>
          <a:noFill/>
          <a:ln/>
        </p:spPr>
        <p:txBody>
          <a:bodyPr wrap="square" lIns="0" tIns="0" rIns="0" bIns="0" rtlCol="0" anchor="ctr"/>
          <a:lstStyle/>
          <a:p>
            <a:pPr algn="ctr" indent="0" marL="0">
              <a:buNone/>
            </a:pPr>
            <a:r>
              <a:rPr lang="en-US" sz="1650" b="1" dirty="0">
                <a:solidFill>
                  <a:srgbClr val="FFFFFF"/>
                </a:solidFill>
                <a:latin typeface="Calibri" pitchFamily="34" charset="0"/>
                <a:ea typeface="Calibri" pitchFamily="34" charset="-122"/>
                <a:cs typeface="Calibri" pitchFamily="34" charset="-120"/>
              </a:rPr>
              <a:t>Future Expansion</a:t>
            </a:r>
            <a:endParaRPr lang="en-US" sz="1650" dirty="0"/>
          </a:p>
        </p:txBody>
      </p:sp>
      <p:sp>
        <p:nvSpPr>
          <p:cNvPr id="79" name="Text 57"/>
          <p:cNvSpPr txBox="1"/>
          <p:nvPr/>
        </p:nvSpPr>
        <p:spPr>
          <a:xfrm>
            <a:off x="9842500" y="8204200"/>
            <a:ext cx="2387600" cy="1193800"/>
          </a:xfrm>
          <a:prstGeom prst="rect">
            <a:avLst/>
          </a:prstGeom>
          <a:noFill/>
          <a:ln/>
        </p:spPr>
        <p:txBody>
          <a:bodyPr wrap="square" lIns="0" tIns="0" rIns="0" bIns="0" rtlCol="0" anchor="t"/>
          <a:lstStyle/>
          <a:p>
            <a:pPr algn="l" indent="0" marL="0">
              <a:buNone/>
            </a:pPr>
            <a:r>
              <a:rPr lang="en-US" sz="1650" b="1" dirty="0">
                <a:solidFill>
                  <a:srgbClr val="1A2F57"/>
                </a:solidFill>
                <a:latin typeface="Calibri" pitchFamily="34" charset="0"/>
                <a:ea typeface="Calibri" pitchFamily="34" charset="-122"/>
                <a:cs typeface="Calibri" pitchFamily="34" charset="-120"/>
              </a:rPr>
              <a:t>Modular and Expandable</a:t>
            </a:r>
            <a:endParaRPr lang="en-US" sz="1650" dirty="0"/>
          </a:p>
          <a:p>
            <a:pPr algn="l" indent="0" marL="0">
              <a:buNone/>
            </a:pPr>
            <a:r>
              <a:rPr lang="en-US" sz="1650" dirty="0">
                <a:solidFill>
                  <a:srgbClr val="1A2F57"/>
                </a:solidFill>
                <a:latin typeface="Calibri" pitchFamily="34" charset="0"/>
                <a:ea typeface="Calibri" pitchFamily="34" charset="-122"/>
                <a:cs typeface="Calibri" pitchFamily="34" charset="-120"/>
              </a:rPr>
              <a:t>Agents added one by one; fits PMAY-G &amp; MGNREGA.</a:t>
            </a:r>
            <a:endParaRPr lang="en-US" sz="1650" dirty="0"/>
          </a:p>
        </p:txBody>
      </p:sp>
      <p:sp>
        <p:nvSpPr>
          <p:cNvPr id="80" name="Shape 58"/>
          <p:cNvSpPr/>
          <p:nvPr/>
        </p:nvSpPr>
        <p:spPr>
          <a:xfrm>
            <a:off x="12674600" y="7391400"/>
            <a:ext cx="5003800" cy="2082800"/>
          </a:xfrm>
          <a:prstGeom prst="roundRect">
            <a:avLst>
              <a:gd name="adj" fmla="val 6707"/>
            </a:avLst>
          </a:prstGeom>
          <a:solidFill>
            <a:srgbClr val="2A4D88"/>
          </a:solidFill>
          <a:ln/>
        </p:spPr>
      </p:sp>
      <p:sp>
        <p:nvSpPr>
          <p:cNvPr id="81" name="Shape 59"/>
          <p:cNvSpPr/>
          <p:nvPr/>
        </p:nvSpPr>
        <p:spPr>
          <a:xfrm>
            <a:off x="12903200" y="7594600"/>
            <a:ext cx="558800" cy="558800"/>
          </a:xfrm>
          <a:prstGeom prst="ellipse">
            <a:avLst/>
          </a:prstGeom>
          <a:solidFill>
            <a:srgbClr val="FFFFFF"/>
          </a:solidFill>
          <a:ln/>
        </p:spPr>
      </p:sp>
      <p:pic>
        <p:nvPicPr>
          <p:cNvPr id="82" name="Image 20" descr="C:\Users\abhim\drishti\docs\deck\assets\icons\flask-vial_n.png">    </p:cNvPr>
          <p:cNvPicPr>
            <a:picLocks noChangeAspect="1"/>
          </p:cNvPicPr>
          <p:nvPr/>
        </p:nvPicPr>
        <p:blipFill>
          <a:blip r:embed="rId21"/>
          <a:stretch>
            <a:fillRect/>
          </a:stretch>
        </p:blipFill>
        <p:spPr>
          <a:xfrm>
            <a:off x="13042900" y="7734300"/>
            <a:ext cx="279400" cy="279400"/>
          </a:xfrm>
          <a:prstGeom prst="rect">
            <a:avLst/>
          </a:prstGeom>
        </p:spPr>
      </p:pic>
      <p:sp>
        <p:nvSpPr>
          <p:cNvPr id="83" name="Text 60"/>
          <p:cNvSpPr txBox="1"/>
          <p:nvPr/>
        </p:nvSpPr>
        <p:spPr>
          <a:xfrm>
            <a:off x="13614400" y="7594600"/>
            <a:ext cx="3937000" cy="55880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PROOF BEFORE LAUNCH</a:t>
            </a:r>
            <a:endParaRPr lang="en-US" sz="1800" dirty="0"/>
          </a:p>
        </p:txBody>
      </p:sp>
      <p:sp>
        <p:nvSpPr>
          <p:cNvPr id="84" name="Text 61"/>
          <p:cNvSpPr txBox="1"/>
          <p:nvPr/>
        </p:nvSpPr>
        <p:spPr>
          <a:xfrm>
            <a:off x="12903200" y="8280400"/>
            <a:ext cx="4597400" cy="1117600"/>
          </a:xfrm>
          <a:prstGeom prst="rect">
            <a:avLst/>
          </a:prstGeom>
          <a:noFill/>
          <a:ln/>
        </p:spPr>
        <p:txBody>
          <a:bodyPr wrap="square" lIns="0" tIns="0" rIns="0" bIns="0" rtlCol="0" anchor="t"/>
          <a:lstStyle/>
          <a:p>
            <a:pPr algn="l" indent="0" marL="0">
              <a:buNone/>
            </a:pPr>
            <a:r>
              <a:rPr lang="en-US" sz="1600" dirty="0">
                <a:solidFill>
                  <a:srgbClr val="FFFFFF"/>
                </a:solidFill>
                <a:latin typeface="Calibri" pitchFamily="34" charset="0"/>
                <a:ea typeface="Calibri" pitchFamily="34" charset="-122"/>
                <a:cs typeface="Calibri" pitchFamily="34" charset="-120"/>
              </a:rPr>
              <a:t>Every agent is tested on real eSAKSHI data and must meet its accuracy target before it goes live. If it fails, it stays switched off.</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66090" y="287020"/>
            <a:ext cx="2153920" cy="934720"/>
          </a:xfrm>
          <a:prstGeom prst="ellipse">
            <a:avLst/>
          </a:prstGeom>
          <a:solidFill>
            <a:srgbClr val="FFFFFF"/>
          </a:solidFill>
          <a:ln w="57150">
            <a:solidFill>
              <a:srgbClr val="2A4D88"/>
            </a:solidFill>
            <a:prstDash val="solid"/>
          </a:ln>
        </p:spPr>
      </p:sp>
      <p:sp>
        <p:nvSpPr>
          <p:cNvPr id="3" name="Text 1"/>
          <p:cNvSpPr txBox="1"/>
          <p:nvPr/>
        </p:nvSpPr>
        <p:spPr>
          <a:xfrm>
            <a:off x="466090" y="287020"/>
            <a:ext cx="2153920" cy="934720"/>
          </a:xfrm>
          <a:prstGeom prst="rect">
            <a:avLst/>
          </a:prstGeom>
          <a:noFill/>
          <a:ln/>
        </p:spPr>
        <p:txBody>
          <a:bodyPr wrap="square" lIns="0" tIns="0" rIns="0" bIns="0" rtlCol="0" anchor="ctr"/>
          <a:lstStyle/>
          <a:p>
            <a:pPr algn="ctr" indent="0" marL="0">
              <a:buNone/>
            </a:pPr>
            <a:r>
              <a:rPr lang="en-US" sz="2050" b="1" dirty="0">
                <a:solidFill>
                  <a:srgbClr val="2A4D88"/>
                </a:solidFill>
                <a:latin typeface="Calibri" pitchFamily="34" charset="0"/>
                <a:ea typeface="Calibri" pitchFamily="34" charset="-122"/>
                <a:cs typeface="Calibri" pitchFamily="34" charset="-120"/>
              </a:rPr>
              <a:t>NeuralNexus</a:t>
            </a:r>
            <a:endParaRPr lang="en-US" sz="2050" dirty="0"/>
          </a:p>
        </p:txBody>
      </p:sp>
      <p:sp>
        <p:nvSpPr>
          <p:cNvPr id="4" name="Text 2"/>
          <p:cNvSpPr txBox="1"/>
          <p:nvPr/>
        </p:nvSpPr>
        <p:spPr>
          <a:xfrm>
            <a:off x="3131820" y="381000"/>
            <a:ext cx="11430000" cy="787400"/>
          </a:xfrm>
          <a:prstGeom prst="rect">
            <a:avLst/>
          </a:prstGeom>
          <a:noFill/>
          <a:ln/>
        </p:spPr>
        <p:txBody>
          <a:bodyPr wrap="square" lIns="0" tIns="0" rIns="0" bIns="0" rtlCol="0" anchor="ctr"/>
          <a:lstStyle/>
          <a:p>
            <a:pPr algn="ctr" indent="0" marL="0">
              <a:buNone/>
            </a:pPr>
            <a:r>
              <a:rPr lang="en-US" sz="4200" b="1" dirty="0">
                <a:solidFill>
                  <a:srgbClr val="2A4D88"/>
                </a:solidFill>
                <a:latin typeface="Cambria" pitchFamily="34" charset="0"/>
                <a:ea typeface="Cambria" pitchFamily="34" charset="-122"/>
                <a:cs typeface="Cambria" pitchFamily="34" charset="-120"/>
              </a:rPr>
              <a:t>IMPACT AND BENEFITS</a:t>
            </a:r>
            <a:endParaRPr lang="en-US" sz="4200" dirty="0"/>
          </a:p>
        </p:txBody>
      </p:sp>
      <p:pic>
        <p:nvPicPr>
          <p:cNvPr id="5" name="Image 0" descr="C:\Users\abhim\drishti\docs\deck\assets\sih_logo_wide.png">    </p:cNvPr>
          <p:cNvPicPr>
            <a:picLocks noChangeAspect="1"/>
          </p:cNvPicPr>
          <p:nvPr/>
        </p:nvPicPr>
        <p:blipFill>
          <a:blip r:embed="rId1"/>
          <a:stretch>
            <a:fillRect/>
          </a:stretch>
        </p:blipFill>
        <p:spPr>
          <a:xfrm>
            <a:off x="15392400" y="76200"/>
            <a:ext cx="2705100" cy="1277620"/>
          </a:xfrm>
          <a:prstGeom prst="rect">
            <a:avLst/>
          </a:prstGeom>
        </p:spPr>
      </p:pic>
      <p:sp>
        <p:nvSpPr>
          <p:cNvPr id="6" name="Shape 3"/>
          <p:cNvSpPr/>
          <p:nvPr/>
        </p:nvSpPr>
        <p:spPr>
          <a:xfrm>
            <a:off x="0" y="9756140"/>
            <a:ext cx="18288000" cy="533400"/>
          </a:xfrm>
          <a:prstGeom prst="rect">
            <a:avLst/>
          </a:prstGeom>
          <a:solidFill>
            <a:srgbClr val="2A4D88"/>
          </a:solidFill>
          <a:ln/>
        </p:spPr>
      </p:sp>
      <p:sp>
        <p:nvSpPr>
          <p:cNvPr id="7" name="Text 4"/>
          <p:cNvSpPr txBox="1"/>
          <p:nvPr/>
        </p:nvSpPr>
        <p:spPr>
          <a:xfrm>
            <a:off x="5969000" y="9880600"/>
            <a:ext cx="6350000" cy="27940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@SIH Idea submission – Template</a:t>
            </a:r>
            <a:endParaRPr lang="en-US" sz="1500" dirty="0"/>
          </a:p>
        </p:txBody>
      </p:sp>
      <p:sp>
        <p:nvSpPr>
          <p:cNvPr id="8" name="Text 5"/>
          <p:cNvSpPr txBox="1"/>
          <p:nvPr/>
        </p:nvSpPr>
        <p:spPr>
          <a:xfrm>
            <a:off x="17018000" y="9880600"/>
            <a:ext cx="673100" cy="279400"/>
          </a:xfrm>
          <a:prstGeom prst="rect">
            <a:avLst/>
          </a:prstGeom>
          <a:noFill/>
          <a:ln/>
        </p:spPr>
        <p:txBody>
          <a:bodyPr wrap="square" lIns="0" tIns="0" rIns="0" bIns="0" rtlCol="0" anchor="ctr"/>
          <a:lstStyle/>
          <a:p>
            <a:pPr algn="r" indent="0" marL="0">
              <a:buNone/>
            </a:pPr>
            <a:r>
              <a:rPr lang="en-US" sz="1650" b="1" dirty="0">
                <a:solidFill>
                  <a:srgbClr val="FFFFFF"/>
                </a:solidFill>
                <a:latin typeface="Calibri" pitchFamily="34" charset="0"/>
                <a:ea typeface="Calibri" pitchFamily="34" charset="-122"/>
                <a:cs typeface="Calibri" pitchFamily="34" charset="-120"/>
              </a:rPr>
              <a:t>5</a:t>
            </a:r>
            <a:endParaRPr lang="en-US" sz="1650" dirty="0"/>
          </a:p>
        </p:txBody>
      </p:sp>
      <p:sp>
        <p:nvSpPr>
          <p:cNvPr id="9" name="Text 6"/>
          <p:cNvSpPr txBox="1"/>
          <p:nvPr/>
        </p:nvSpPr>
        <p:spPr>
          <a:xfrm>
            <a:off x="617220" y="1574800"/>
            <a:ext cx="11430000" cy="279400"/>
          </a:xfrm>
          <a:prstGeom prst="rect">
            <a:avLst/>
          </a:prstGeom>
          <a:noFill/>
          <a:ln/>
        </p:spPr>
        <p:txBody>
          <a:bodyPr wrap="square" lIns="0" tIns="0" rIns="0" bIns="0" rtlCol="0" anchor="t"/>
          <a:lstStyle/>
          <a:p>
            <a:pPr algn="l" indent="0" marL="0">
              <a:buNone/>
            </a:pPr>
            <a:r>
              <a:rPr lang="en-US" sz="1720" b="1" spc="300" kern="0" dirty="0">
                <a:solidFill>
                  <a:srgbClr val="2A4D88"/>
                </a:solidFill>
                <a:latin typeface="Calibri" pitchFamily="34" charset="0"/>
                <a:ea typeface="Calibri" pitchFamily="34" charset="-122"/>
                <a:cs typeface="Calibri" pitchFamily="34" charset="-120"/>
              </a:rPr>
              <a:t>IMPACT ON TARGET STAKEHOLDERS</a:t>
            </a:r>
            <a:endParaRPr lang="en-US" sz="1720" dirty="0"/>
          </a:p>
        </p:txBody>
      </p:sp>
      <p:sp>
        <p:nvSpPr>
          <p:cNvPr id="10" name="Shape 7"/>
          <p:cNvSpPr/>
          <p:nvPr/>
        </p:nvSpPr>
        <p:spPr>
          <a:xfrm>
            <a:off x="609600" y="2044700"/>
            <a:ext cx="4025900" cy="3378200"/>
          </a:xfrm>
          <a:prstGeom prst="roundRect">
            <a:avLst>
              <a:gd name="adj" fmla="val 4135"/>
            </a:avLst>
          </a:prstGeom>
          <a:solidFill>
            <a:srgbClr val="EDF0F5"/>
          </a:solidFill>
          <a:ln/>
        </p:spPr>
      </p:sp>
      <p:sp>
        <p:nvSpPr>
          <p:cNvPr id="11" name="Shape 8"/>
          <p:cNvSpPr/>
          <p:nvPr/>
        </p:nvSpPr>
        <p:spPr>
          <a:xfrm>
            <a:off x="850900" y="2298700"/>
            <a:ext cx="812800" cy="812800"/>
          </a:xfrm>
          <a:prstGeom prst="ellipse">
            <a:avLst/>
          </a:prstGeom>
          <a:solidFill>
            <a:srgbClr val="2A4D88"/>
          </a:solidFill>
          <a:ln/>
        </p:spPr>
      </p:sp>
      <p:pic>
        <p:nvPicPr>
          <p:cNvPr id="12" name="Image 1" descr="C:\Users\abhim\drishti\docs\deck\assets\icons\landmark_w.png">    </p:cNvPr>
          <p:cNvPicPr>
            <a:picLocks noChangeAspect="1"/>
          </p:cNvPicPr>
          <p:nvPr/>
        </p:nvPicPr>
        <p:blipFill>
          <a:blip r:embed="rId2"/>
          <a:stretch>
            <a:fillRect/>
          </a:stretch>
        </p:blipFill>
        <p:spPr>
          <a:xfrm>
            <a:off x="1054100" y="2501900"/>
            <a:ext cx="406400" cy="406400"/>
          </a:xfrm>
          <a:prstGeom prst="rect">
            <a:avLst/>
          </a:prstGeom>
        </p:spPr>
      </p:pic>
      <p:sp>
        <p:nvSpPr>
          <p:cNvPr id="13" name="Text 9"/>
          <p:cNvSpPr txBox="1"/>
          <p:nvPr/>
        </p:nvSpPr>
        <p:spPr>
          <a:xfrm>
            <a:off x="1828800" y="2298700"/>
            <a:ext cx="2692400" cy="812800"/>
          </a:xfrm>
          <a:prstGeom prst="rect">
            <a:avLst/>
          </a:prstGeom>
          <a:noFill/>
          <a:ln/>
        </p:spPr>
        <p:txBody>
          <a:bodyPr wrap="square" lIns="0" tIns="0" rIns="0" bIns="0" rtlCol="0" anchor="ctr"/>
          <a:lstStyle/>
          <a:p>
            <a:pPr algn="l" indent="0" marL="0">
              <a:buNone/>
            </a:pPr>
            <a:r>
              <a:rPr lang="en-US" sz="1970" b="1" dirty="0">
                <a:solidFill>
                  <a:srgbClr val="2A4D88"/>
                </a:solidFill>
                <a:latin typeface="Calibri" pitchFamily="34" charset="0"/>
                <a:ea typeface="Calibri" pitchFamily="34" charset="-122"/>
                <a:cs typeface="Calibri" pitchFamily="34" charset="-120"/>
              </a:rPr>
              <a:t>Ministry (MoSPI)</a:t>
            </a:r>
            <a:endParaRPr lang="en-US" sz="1970" dirty="0"/>
          </a:p>
        </p:txBody>
      </p:sp>
      <p:sp>
        <p:nvSpPr>
          <p:cNvPr id="14" name="Text 10"/>
          <p:cNvSpPr txBox="1"/>
          <p:nvPr/>
        </p:nvSpPr>
        <p:spPr>
          <a:xfrm>
            <a:off x="990600" y="3327400"/>
            <a:ext cx="3505200" cy="2032000"/>
          </a:xfrm>
          <a:prstGeom prst="rect">
            <a:avLst/>
          </a:prstGeom>
          <a:noFill/>
          <a:ln/>
        </p:spPr>
        <p:txBody>
          <a:bodyPr wrap="square" lIns="0" tIns="0" rIns="0" bIns="0" rtlCol="0" anchor="t"/>
          <a:lstStyle/>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National risk heat-map by state &amp; district</a:t>
            </a:r>
            <a:endParaRPr lang="en-US" sz="1750" dirty="0"/>
          </a:p>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Spot systemic issues &amp; guideline gaps</a:t>
            </a:r>
            <a:endParaRPr lang="en-US" sz="1750" dirty="0"/>
          </a:p>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Evidence-backed reports for Parliament</a:t>
            </a:r>
            <a:endParaRPr lang="en-US" sz="1750" dirty="0"/>
          </a:p>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Agent accuracy tracked openly</a:t>
            </a:r>
            <a:endParaRPr lang="en-US" sz="1750" dirty="0"/>
          </a:p>
        </p:txBody>
      </p:sp>
      <p:sp>
        <p:nvSpPr>
          <p:cNvPr id="15" name="Shape 11"/>
          <p:cNvSpPr/>
          <p:nvPr/>
        </p:nvSpPr>
        <p:spPr>
          <a:xfrm>
            <a:off x="4953000" y="2044700"/>
            <a:ext cx="4025900" cy="3378200"/>
          </a:xfrm>
          <a:prstGeom prst="roundRect">
            <a:avLst>
              <a:gd name="adj" fmla="val 4135"/>
            </a:avLst>
          </a:prstGeom>
          <a:solidFill>
            <a:srgbClr val="EDF0F5"/>
          </a:solidFill>
          <a:ln/>
        </p:spPr>
      </p:sp>
      <p:sp>
        <p:nvSpPr>
          <p:cNvPr id="16" name="Shape 12"/>
          <p:cNvSpPr/>
          <p:nvPr/>
        </p:nvSpPr>
        <p:spPr>
          <a:xfrm>
            <a:off x="5194300" y="2298700"/>
            <a:ext cx="812800" cy="812800"/>
          </a:xfrm>
          <a:prstGeom prst="ellipse">
            <a:avLst/>
          </a:prstGeom>
          <a:solidFill>
            <a:srgbClr val="2A4D88"/>
          </a:solidFill>
          <a:ln/>
        </p:spPr>
      </p:sp>
      <p:pic>
        <p:nvPicPr>
          <p:cNvPr id="17" name="Image 2" descr="C:\Users\abhim\drishti\docs\deck\assets\icons\sitemap_w.png">    </p:cNvPr>
          <p:cNvPicPr>
            <a:picLocks noChangeAspect="1"/>
          </p:cNvPicPr>
          <p:nvPr/>
        </p:nvPicPr>
        <p:blipFill>
          <a:blip r:embed="rId3"/>
          <a:stretch>
            <a:fillRect/>
          </a:stretch>
        </p:blipFill>
        <p:spPr>
          <a:xfrm>
            <a:off x="5397500" y="2501900"/>
            <a:ext cx="406400" cy="406400"/>
          </a:xfrm>
          <a:prstGeom prst="rect">
            <a:avLst/>
          </a:prstGeom>
        </p:spPr>
      </p:pic>
      <p:sp>
        <p:nvSpPr>
          <p:cNvPr id="18" name="Text 13"/>
          <p:cNvSpPr txBox="1"/>
          <p:nvPr/>
        </p:nvSpPr>
        <p:spPr>
          <a:xfrm>
            <a:off x="6172200" y="2298700"/>
            <a:ext cx="2692400" cy="812800"/>
          </a:xfrm>
          <a:prstGeom prst="rect">
            <a:avLst/>
          </a:prstGeom>
          <a:noFill/>
          <a:ln/>
        </p:spPr>
        <p:txBody>
          <a:bodyPr wrap="square" lIns="0" tIns="0" rIns="0" bIns="0" rtlCol="0" anchor="ctr"/>
          <a:lstStyle/>
          <a:p>
            <a:pPr algn="l" indent="0" marL="0">
              <a:buNone/>
            </a:pPr>
            <a:r>
              <a:rPr lang="en-US" sz="1970" b="1" dirty="0">
                <a:solidFill>
                  <a:srgbClr val="2A4D88"/>
                </a:solidFill>
                <a:latin typeface="Calibri" pitchFamily="34" charset="0"/>
                <a:ea typeface="Calibri" pitchFamily="34" charset="-122"/>
                <a:cs typeface="Calibri" pitchFamily="34" charset="-120"/>
              </a:rPr>
              <a:t>State Nodal Authorities</a:t>
            </a:r>
            <a:endParaRPr lang="en-US" sz="1970" dirty="0"/>
          </a:p>
        </p:txBody>
      </p:sp>
      <p:sp>
        <p:nvSpPr>
          <p:cNvPr id="19" name="Text 14"/>
          <p:cNvSpPr txBox="1"/>
          <p:nvPr/>
        </p:nvSpPr>
        <p:spPr>
          <a:xfrm>
            <a:off x="5334000" y="3327400"/>
            <a:ext cx="3505200" cy="2032000"/>
          </a:xfrm>
          <a:prstGeom prst="rect">
            <a:avLst/>
          </a:prstGeom>
          <a:noFill/>
          <a:ln/>
        </p:spPr>
        <p:txBody>
          <a:bodyPr wrap="square" lIns="0" tIns="0" rIns="0" bIns="0" rtlCol="0" anchor="t"/>
          <a:lstStyle/>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District &amp; agency league tables</a:t>
            </a:r>
            <a:endParaRPr lang="en-US" sz="1750" dirty="0"/>
          </a:p>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Escalate stalled or high-risk works</a:t>
            </a:r>
            <a:endParaRPr lang="en-US" sz="1750" dirty="0"/>
          </a:p>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Track follow-up on every alert</a:t>
            </a:r>
            <a:endParaRPr lang="en-US" sz="1750" dirty="0"/>
          </a:p>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Spot contractor concentration</a:t>
            </a:r>
            <a:endParaRPr lang="en-US" sz="1750" dirty="0"/>
          </a:p>
        </p:txBody>
      </p:sp>
      <p:sp>
        <p:nvSpPr>
          <p:cNvPr id="20" name="Shape 15"/>
          <p:cNvSpPr/>
          <p:nvPr/>
        </p:nvSpPr>
        <p:spPr>
          <a:xfrm>
            <a:off x="9309100" y="2044700"/>
            <a:ext cx="4025900" cy="3378200"/>
          </a:xfrm>
          <a:prstGeom prst="roundRect">
            <a:avLst>
              <a:gd name="adj" fmla="val 4135"/>
            </a:avLst>
          </a:prstGeom>
          <a:solidFill>
            <a:srgbClr val="EDF0F5"/>
          </a:solidFill>
          <a:ln/>
        </p:spPr>
      </p:sp>
      <p:sp>
        <p:nvSpPr>
          <p:cNvPr id="21" name="Shape 16"/>
          <p:cNvSpPr/>
          <p:nvPr/>
        </p:nvSpPr>
        <p:spPr>
          <a:xfrm>
            <a:off x="9550400" y="2298700"/>
            <a:ext cx="812800" cy="812800"/>
          </a:xfrm>
          <a:prstGeom prst="ellipse">
            <a:avLst/>
          </a:prstGeom>
          <a:solidFill>
            <a:srgbClr val="2A4D88"/>
          </a:solidFill>
          <a:ln/>
        </p:spPr>
      </p:sp>
      <p:pic>
        <p:nvPicPr>
          <p:cNvPr id="22" name="Image 3" descr="C:\Users\abhim\drishti\docs\deck\assets\icons\map-location-dot_w.png">    </p:cNvPr>
          <p:cNvPicPr>
            <a:picLocks noChangeAspect="1"/>
          </p:cNvPicPr>
          <p:nvPr/>
        </p:nvPicPr>
        <p:blipFill>
          <a:blip r:embed="rId4"/>
          <a:stretch>
            <a:fillRect/>
          </a:stretch>
        </p:blipFill>
        <p:spPr>
          <a:xfrm>
            <a:off x="9753600" y="2501900"/>
            <a:ext cx="406400" cy="406400"/>
          </a:xfrm>
          <a:prstGeom prst="rect">
            <a:avLst/>
          </a:prstGeom>
        </p:spPr>
      </p:pic>
      <p:sp>
        <p:nvSpPr>
          <p:cNvPr id="23" name="Text 17"/>
          <p:cNvSpPr txBox="1"/>
          <p:nvPr/>
        </p:nvSpPr>
        <p:spPr>
          <a:xfrm>
            <a:off x="10528300" y="2298700"/>
            <a:ext cx="2692400" cy="812800"/>
          </a:xfrm>
          <a:prstGeom prst="rect">
            <a:avLst/>
          </a:prstGeom>
          <a:noFill/>
          <a:ln/>
        </p:spPr>
        <p:txBody>
          <a:bodyPr wrap="square" lIns="0" tIns="0" rIns="0" bIns="0" rtlCol="0" anchor="ctr"/>
          <a:lstStyle/>
          <a:p>
            <a:pPr algn="l" indent="0" marL="0">
              <a:buNone/>
            </a:pPr>
            <a:r>
              <a:rPr lang="en-US" sz="1970" b="1" dirty="0">
                <a:solidFill>
                  <a:srgbClr val="2A4D88"/>
                </a:solidFill>
                <a:latin typeface="Calibri" pitchFamily="34" charset="0"/>
                <a:ea typeface="Calibri" pitchFamily="34" charset="-122"/>
                <a:cs typeface="Calibri" pitchFamily="34" charset="-120"/>
              </a:rPr>
              <a:t>District Authorities</a:t>
            </a:r>
            <a:endParaRPr lang="en-US" sz="1970" dirty="0"/>
          </a:p>
        </p:txBody>
      </p:sp>
      <p:sp>
        <p:nvSpPr>
          <p:cNvPr id="24" name="Text 18"/>
          <p:cNvSpPr txBox="1"/>
          <p:nvPr/>
        </p:nvSpPr>
        <p:spPr>
          <a:xfrm>
            <a:off x="9690100" y="3327400"/>
            <a:ext cx="3505200" cy="2032000"/>
          </a:xfrm>
          <a:prstGeom prst="rect">
            <a:avLst/>
          </a:prstGeom>
          <a:noFill/>
          <a:ln/>
        </p:spPr>
        <p:txBody>
          <a:bodyPr wrap="square" lIns="0" tIns="0" rIns="0" bIns="0" rtlCol="0" anchor="t"/>
          <a:lstStyle/>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Daily ranked alert queue with evidence</a:t>
            </a:r>
            <a:endParaRPr lang="en-US" sz="1750" dirty="0"/>
          </a:p>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Inspection plan with optimised route</a:t>
            </a:r>
            <a:endParaRPr lang="en-US" sz="1750" dirty="0"/>
          </a:p>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Pre-sanction check in the 45-day window</a:t>
            </a:r>
            <a:endParaRPr lang="en-US" sz="1750" dirty="0"/>
          </a:p>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One-click PDF evidence brief</a:t>
            </a:r>
            <a:endParaRPr lang="en-US" sz="1750" dirty="0"/>
          </a:p>
        </p:txBody>
      </p:sp>
      <p:sp>
        <p:nvSpPr>
          <p:cNvPr id="25" name="Shape 19"/>
          <p:cNvSpPr/>
          <p:nvPr/>
        </p:nvSpPr>
        <p:spPr>
          <a:xfrm>
            <a:off x="13652500" y="2044700"/>
            <a:ext cx="4025900" cy="3378200"/>
          </a:xfrm>
          <a:prstGeom prst="roundRect">
            <a:avLst>
              <a:gd name="adj" fmla="val 4135"/>
            </a:avLst>
          </a:prstGeom>
          <a:solidFill>
            <a:srgbClr val="EDF0F5"/>
          </a:solidFill>
          <a:ln/>
        </p:spPr>
      </p:sp>
      <p:sp>
        <p:nvSpPr>
          <p:cNvPr id="26" name="Shape 20"/>
          <p:cNvSpPr/>
          <p:nvPr/>
        </p:nvSpPr>
        <p:spPr>
          <a:xfrm>
            <a:off x="13893800" y="2298700"/>
            <a:ext cx="812800" cy="812800"/>
          </a:xfrm>
          <a:prstGeom prst="ellipse">
            <a:avLst/>
          </a:prstGeom>
          <a:solidFill>
            <a:srgbClr val="2A4D88"/>
          </a:solidFill>
          <a:ln/>
        </p:spPr>
      </p:sp>
      <p:pic>
        <p:nvPicPr>
          <p:cNvPr id="27" name="Image 4" descr="C:\Users\abhim\drishti\docs\deck\assets\icons\user-tie_w.png">    </p:cNvPr>
          <p:cNvPicPr>
            <a:picLocks noChangeAspect="1"/>
          </p:cNvPicPr>
          <p:nvPr/>
        </p:nvPicPr>
        <p:blipFill>
          <a:blip r:embed="rId5"/>
          <a:stretch>
            <a:fillRect/>
          </a:stretch>
        </p:blipFill>
        <p:spPr>
          <a:xfrm>
            <a:off x="14097000" y="2501900"/>
            <a:ext cx="406400" cy="406400"/>
          </a:xfrm>
          <a:prstGeom prst="rect">
            <a:avLst/>
          </a:prstGeom>
        </p:spPr>
      </p:pic>
      <p:sp>
        <p:nvSpPr>
          <p:cNvPr id="28" name="Text 21"/>
          <p:cNvSpPr txBox="1"/>
          <p:nvPr/>
        </p:nvSpPr>
        <p:spPr>
          <a:xfrm>
            <a:off x="14871700" y="2298700"/>
            <a:ext cx="2692400" cy="812800"/>
          </a:xfrm>
          <a:prstGeom prst="rect">
            <a:avLst/>
          </a:prstGeom>
          <a:noFill/>
          <a:ln/>
        </p:spPr>
        <p:txBody>
          <a:bodyPr wrap="square" lIns="0" tIns="0" rIns="0" bIns="0" rtlCol="0" anchor="ctr"/>
          <a:lstStyle/>
          <a:p>
            <a:pPr algn="l" indent="0" marL="0">
              <a:buNone/>
            </a:pPr>
            <a:r>
              <a:rPr lang="en-US" sz="1970" b="1" dirty="0">
                <a:solidFill>
                  <a:srgbClr val="2A4D88"/>
                </a:solidFill>
                <a:latin typeface="Calibri" pitchFamily="34" charset="0"/>
                <a:ea typeface="Calibri" pitchFamily="34" charset="-122"/>
                <a:cs typeface="Calibri" pitchFamily="34" charset="-120"/>
              </a:rPr>
              <a:t>Members of Parliament</a:t>
            </a:r>
            <a:endParaRPr lang="en-US" sz="1970" dirty="0"/>
          </a:p>
        </p:txBody>
      </p:sp>
      <p:sp>
        <p:nvSpPr>
          <p:cNvPr id="29" name="Text 22"/>
          <p:cNvSpPr txBox="1"/>
          <p:nvPr/>
        </p:nvSpPr>
        <p:spPr>
          <a:xfrm>
            <a:off x="14033500" y="3327400"/>
            <a:ext cx="3505200" cy="2032000"/>
          </a:xfrm>
          <a:prstGeom prst="rect">
            <a:avLst/>
          </a:prstGeom>
          <a:noFill/>
          <a:ln/>
        </p:spPr>
        <p:txBody>
          <a:bodyPr wrap="square" lIns="0" tIns="0" rIns="0" bIns="0" rtlCol="0" anchor="t"/>
          <a:lstStyle/>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Live status of recommended works</a:t>
            </a:r>
            <a:endParaRPr lang="en-US" sz="1750" dirty="0"/>
          </a:p>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Early warning on delays &amp; idle funds</a:t>
            </a:r>
            <a:endParaRPr lang="en-US" sz="1750" dirty="0"/>
          </a:p>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Citizens confirm completed assets</a:t>
            </a:r>
            <a:endParaRPr lang="en-US" sz="1750" dirty="0"/>
          </a:p>
          <a:p>
            <a:pPr algn="l" marL="177800" indent="-177800">
              <a:spcAft>
                <a:spcPts val="200"/>
              </a:spcAft>
              <a:buSzPct val="100000"/>
              <a:buChar char="•"/>
            </a:pPr>
            <a:r>
              <a:rPr lang="en-US" sz="1750" dirty="0">
                <a:solidFill>
                  <a:srgbClr val="1A2F57"/>
                </a:solidFill>
                <a:latin typeface="Calibri" pitchFamily="34" charset="0"/>
                <a:ea typeface="Calibri" pitchFamily="34" charset="-122"/>
                <a:cs typeface="Calibri" pitchFamily="34" charset="-120"/>
              </a:rPr>
              <a:t>Transparent record builds public trust</a:t>
            </a:r>
            <a:endParaRPr lang="en-US" sz="1750" dirty="0"/>
          </a:p>
        </p:txBody>
      </p:sp>
      <p:sp>
        <p:nvSpPr>
          <p:cNvPr id="30" name="Text 23"/>
          <p:cNvSpPr txBox="1"/>
          <p:nvPr/>
        </p:nvSpPr>
        <p:spPr>
          <a:xfrm>
            <a:off x="617220" y="5803900"/>
            <a:ext cx="11430000" cy="279400"/>
          </a:xfrm>
          <a:prstGeom prst="rect">
            <a:avLst/>
          </a:prstGeom>
          <a:noFill/>
          <a:ln/>
        </p:spPr>
        <p:txBody>
          <a:bodyPr wrap="square" lIns="0" tIns="0" rIns="0" bIns="0" rtlCol="0" anchor="t"/>
          <a:lstStyle/>
          <a:p>
            <a:pPr algn="l" indent="0" marL="0">
              <a:buNone/>
            </a:pPr>
            <a:r>
              <a:rPr lang="en-US" sz="1720" b="1" spc="300" kern="0" dirty="0">
                <a:solidFill>
                  <a:srgbClr val="2A4D88"/>
                </a:solidFill>
                <a:latin typeface="Calibri" pitchFamily="34" charset="0"/>
                <a:ea typeface="Calibri" pitchFamily="34" charset="-122"/>
                <a:cs typeface="Calibri" pitchFamily="34" charset="-120"/>
              </a:rPr>
              <a:t>BENEFITS</a:t>
            </a:r>
            <a:endParaRPr lang="en-US" sz="1720" dirty="0"/>
          </a:p>
        </p:txBody>
      </p:sp>
      <p:sp>
        <p:nvSpPr>
          <p:cNvPr id="31" name="Shape 24"/>
          <p:cNvSpPr/>
          <p:nvPr/>
        </p:nvSpPr>
        <p:spPr>
          <a:xfrm>
            <a:off x="609600" y="6464300"/>
            <a:ext cx="3492500" cy="3035300"/>
          </a:xfrm>
          <a:prstGeom prst="roundRect">
            <a:avLst>
              <a:gd name="adj" fmla="val 4603"/>
            </a:avLst>
          </a:prstGeom>
          <a:solidFill>
            <a:srgbClr val="FFFFFF"/>
          </a:solidFill>
          <a:ln w="19050">
            <a:solidFill>
              <a:srgbClr val="B1BBC8"/>
            </a:solidFill>
            <a:prstDash val="solid"/>
          </a:ln>
        </p:spPr>
      </p:sp>
      <p:sp>
        <p:nvSpPr>
          <p:cNvPr id="32" name="Shape 25"/>
          <p:cNvSpPr/>
          <p:nvPr/>
        </p:nvSpPr>
        <p:spPr>
          <a:xfrm>
            <a:off x="850900" y="6184900"/>
            <a:ext cx="3009900" cy="571500"/>
          </a:xfrm>
          <a:prstGeom prst="roundRect">
            <a:avLst>
              <a:gd name="adj" fmla="val 50000"/>
            </a:avLst>
          </a:prstGeom>
          <a:solidFill>
            <a:srgbClr val="2A4D88"/>
          </a:solidFill>
          <a:ln/>
        </p:spPr>
      </p:sp>
      <p:pic>
        <p:nvPicPr>
          <p:cNvPr id="33" name="Image 5" descr="C:\Users\abhim\drishti\docs\deck\assets\icons\handshake_w.png">    </p:cNvPr>
          <p:cNvPicPr>
            <a:picLocks noChangeAspect="1"/>
          </p:cNvPicPr>
          <p:nvPr/>
        </p:nvPicPr>
        <p:blipFill>
          <a:blip r:embed="rId6"/>
          <a:stretch>
            <a:fillRect/>
          </a:stretch>
        </p:blipFill>
        <p:spPr>
          <a:xfrm>
            <a:off x="1028700" y="6299200"/>
            <a:ext cx="317500" cy="317500"/>
          </a:xfrm>
          <a:prstGeom prst="rect">
            <a:avLst/>
          </a:prstGeom>
        </p:spPr>
      </p:pic>
      <p:sp>
        <p:nvSpPr>
          <p:cNvPr id="34" name="Text 26"/>
          <p:cNvSpPr txBox="1"/>
          <p:nvPr/>
        </p:nvSpPr>
        <p:spPr>
          <a:xfrm>
            <a:off x="1498600" y="6184900"/>
            <a:ext cx="2286000" cy="571500"/>
          </a:xfrm>
          <a:prstGeom prst="rect">
            <a:avLst/>
          </a:prstGeom>
          <a:noFill/>
          <a:ln/>
        </p:spPr>
        <p:txBody>
          <a:bodyPr wrap="square" lIns="0" tIns="0" rIns="0" bIns="0" rtlCol="0" anchor="ctr"/>
          <a:lstStyle/>
          <a:p>
            <a:pPr algn="l" indent="0" marL="0">
              <a:buNone/>
            </a:pPr>
            <a:r>
              <a:rPr lang="en-US" sz="1670" b="1" dirty="0">
                <a:solidFill>
                  <a:srgbClr val="FFFFFF"/>
                </a:solidFill>
                <a:latin typeface="Calibri" pitchFamily="34" charset="0"/>
                <a:ea typeface="Calibri" pitchFamily="34" charset="-122"/>
                <a:cs typeface="Calibri" pitchFamily="34" charset="-120"/>
              </a:rPr>
              <a:t>SOCIAL</a:t>
            </a:r>
            <a:endParaRPr lang="en-US" sz="1670" dirty="0"/>
          </a:p>
        </p:txBody>
      </p:sp>
      <p:sp>
        <p:nvSpPr>
          <p:cNvPr id="35" name="Text 27"/>
          <p:cNvSpPr txBox="1"/>
          <p:nvPr/>
        </p:nvSpPr>
        <p:spPr>
          <a:xfrm>
            <a:off x="990600" y="6921500"/>
            <a:ext cx="2997200" cy="2489200"/>
          </a:xfrm>
          <a:prstGeom prst="rect">
            <a:avLst/>
          </a:prstGeom>
          <a:noFill/>
          <a:ln/>
        </p:spPr>
        <p:txBody>
          <a:bodyPr wrap="square" lIns="0" tIns="0" rIns="0" bIns="0" rtlCol="0" anchor="t"/>
          <a:lstStyle/>
          <a:p>
            <a:pPr algn="l" marL="177800" indent="-177800">
              <a:buSzPct val="100000"/>
              <a:buChar char="•"/>
            </a:pPr>
            <a:r>
              <a:rPr lang="en-US" sz="1700" dirty="0">
                <a:solidFill>
                  <a:srgbClr val="1A2F57"/>
                </a:solidFill>
                <a:latin typeface="Calibri" pitchFamily="34" charset="0"/>
                <a:ea typeface="Calibri" pitchFamily="34" charset="-122"/>
                <a:cs typeface="Calibri" pitchFamily="34" charset="-120"/>
              </a:rPr>
              <a:t>Faster delivery of community assets</a:t>
            </a:r>
            <a:endParaRPr lang="en-US" sz="1700" dirty="0"/>
          </a:p>
          <a:p>
            <a:pPr algn="l" marL="177800" indent="-177800">
              <a:buSzPct val="100000"/>
              <a:buChar char="•"/>
            </a:pPr>
            <a:r>
              <a:rPr lang="en-US" sz="1700" dirty="0">
                <a:solidFill>
                  <a:srgbClr val="1A2F57"/>
                </a:solidFill>
                <a:latin typeface="Calibri" pitchFamily="34" charset="0"/>
                <a:ea typeface="Calibri" pitchFamily="34" charset="-122"/>
                <a:cs typeface="Calibri" pitchFamily="34" charset="-120"/>
              </a:rPr>
              <a:t>Public trust through transparency</a:t>
            </a:r>
            <a:endParaRPr lang="en-US" sz="1700" dirty="0"/>
          </a:p>
          <a:p>
            <a:pPr algn="l" marL="177800" indent="-177800">
              <a:buSzPct val="100000"/>
              <a:buChar char="•"/>
            </a:pPr>
            <a:r>
              <a:rPr lang="en-US" sz="1700" dirty="0">
                <a:solidFill>
                  <a:srgbClr val="1A2F57"/>
                </a:solidFill>
                <a:latin typeface="Calibri" pitchFamily="34" charset="0"/>
                <a:ea typeface="Calibri" pitchFamily="34" charset="-122"/>
                <a:cs typeface="Calibri" pitchFamily="34" charset="-120"/>
              </a:rPr>
              <a:t>Citizens get assets that truly exist</a:t>
            </a:r>
            <a:endParaRPr lang="en-US" sz="1700" dirty="0"/>
          </a:p>
          <a:p>
            <a:pPr algn="l" marL="177800" indent="-177800">
              <a:buSzPct val="100000"/>
              <a:buChar char="•"/>
            </a:pPr>
            <a:r>
              <a:rPr lang="en-US" sz="1700" dirty="0">
                <a:solidFill>
                  <a:srgbClr val="1A2F57"/>
                </a:solidFill>
                <a:latin typeface="Calibri" pitchFamily="34" charset="0"/>
                <a:ea typeface="Calibri" pitchFamily="34" charset="-122"/>
                <a:cs typeface="Calibri" pitchFamily="34" charset="-120"/>
              </a:rPr>
              <a:t>Fairer spread of works across areas</a:t>
            </a:r>
            <a:endParaRPr lang="en-US" sz="1700" dirty="0"/>
          </a:p>
        </p:txBody>
      </p:sp>
      <p:sp>
        <p:nvSpPr>
          <p:cNvPr id="36" name="Shape 28"/>
          <p:cNvSpPr/>
          <p:nvPr/>
        </p:nvSpPr>
        <p:spPr>
          <a:xfrm>
            <a:off x="4419600" y="6464300"/>
            <a:ext cx="3492500" cy="3035300"/>
          </a:xfrm>
          <a:prstGeom prst="roundRect">
            <a:avLst>
              <a:gd name="adj" fmla="val 4603"/>
            </a:avLst>
          </a:prstGeom>
          <a:solidFill>
            <a:srgbClr val="FFFFFF"/>
          </a:solidFill>
          <a:ln w="19050">
            <a:solidFill>
              <a:srgbClr val="B1BBC8"/>
            </a:solidFill>
            <a:prstDash val="solid"/>
          </a:ln>
        </p:spPr>
      </p:sp>
      <p:sp>
        <p:nvSpPr>
          <p:cNvPr id="37" name="Shape 29"/>
          <p:cNvSpPr/>
          <p:nvPr/>
        </p:nvSpPr>
        <p:spPr>
          <a:xfrm>
            <a:off x="4660900" y="6184900"/>
            <a:ext cx="3009900" cy="571500"/>
          </a:xfrm>
          <a:prstGeom prst="roundRect">
            <a:avLst>
              <a:gd name="adj" fmla="val 50000"/>
            </a:avLst>
          </a:prstGeom>
          <a:solidFill>
            <a:srgbClr val="2A4D88"/>
          </a:solidFill>
          <a:ln/>
        </p:spPr>
      </p:sp>
      <p:pic>
        <p:nvPicPr>
          <p:cNvPr id="38" name="Image 6" descr="C:\Users\abhim\drishti\docs\deck\assets\icons\coins_w.png">    </p:cNvPr>
          <p:cNvPicPr>
            <a:picLocks noChangeAspect="1"/>
          </p:cNvPicPr>
          <p:nvPr/>
        </p:nvPicPr>
        <p:blipFill>
          <a:blip r:embed="rId7"/>
          <a:stretch>
            <a:fillRect/>
          </a:stretch>
        </p:blipFill>
        <p:spPr>
          <a:xfrm>
            <a:off x="4838700" y="6299200"/>
            <a:ext cx="317500" cy="317500"/>
          </a:xfrm>
          <a:prstGeom prst="rect">
            <a:avLst/>
          </a:prstGeom>
        </p:spPr>
      </p:pic>
      <p:sp>
        <p:nvSpPr>
          <p:cNvPr id="39" name="Text 30"/>
          <p:cNvSpPr txBox="1"/>
          <p:nvPr/>
        </p:nvSpPr>
        <p:spPr>
          <a:xfrm>
            <a:off x="5308600" y="6184900"/>
            <a:ext cx="2286000" cy="571500"/>
          </a:xfrm>
          <a:prstGeom prst="rect">
            <a:avLst/>
          </a:prstGeom>
          <a:noFill/>
          <a:ln/>
        </p:spPr>
        <p:txBody>
          <a:bodyPr wrap="square" lIns="0" tIns="0" rIns="0" bIns="0" rtlCol="0" anchor="ctr"/>
          <a:lstStyle/>
          <a:p>
            <a:pPr algn="l" indent="0" marL="0">
              <a:buNone/>
            </a:pPr>
            <a:r>
              <a:rPr lang="en-US" sz="1670" b="1" dirty="0">
                <a:solidFill>
                  <a:srgbClr val="FFFFFF"/>
                </a:solidFill>
                <a:latin typeface="Calibri" pitchFamily="34" charset="0"/>
                <a:ea typeface="Calibri" pitchFamily="34" charset="-122"/>
                <a:cs typeface="Calibri" pitchFamily="34" charset="-120"/>
              </a:rPr>
              <a:t>ECONOMIC</a:t>
            </a:r>
            <a:endParaRPr lang="en-US" sz="1670" dirty="0"/>
          </a:p>
        </p:txBody>
      </p:sp>
      <p:sp>
        <p:nvSpPr>
          <p:cNvPr id="40" name="Text 31"/>
          <p:cNvSpPr txBox="1"/>
          <p:nvPr/>
        </p:nvSpPr>
        <p:spPr>
          <a:xfrm>
            <a:off x="4800600" y="6921500"/>
            <a:ext cx="2997200" cy="2489200"/>
          </a:xfrm>
          <a:prstGeom prst="rect">
            <a:avLst/>
          </a:prstGeom>
          <a:noFill/>
          <a:ln/>
        </p:spPr>
        <p:txBody>
          <a:bodyPr wrap="square" lIns="0" tIns="0" rIns="0" bIns="0" rtlCol="0" anchor="t"/>
          <a:lstStyle/>
          <a:p>
            <a:pPr algn="l" marL="177800" indent="-177800">
              <a:buSzPct val="100000"/>
              <a:buChar char="•"/>
            </a:pPr>
            <a:r>
              <a:rPr lang="en-US" sz="1700" dirty="0">
                <a:solidFill>
                  <a:srgbClr val="1A2F57"/>
                </a:solidFill>
                <a:latin typeface="Calibri" pitchFamily="34" charset="0"/>
                <a:ea typeface="Calibri" pitchFamily="34" charset="-122"/>
                <a:cs typeface="Calibri" pitchFamily="34" charset="-120"/>
              </a:rPr>
              <a:t>Flag risks before funds move</a:t>
            </a:r>
            <a:endParaRPr lang="en-US" sz="1700" dirty="0"/>
          </a:p>
          <a:p>
            <a:pPr algn="l" marL="177800" indent="-177800">
              <a:buSzPct val="100000"/>
              <a:buChar char="•"/>
            </a:pPr>
            <a:r>
              <a:rPr lang="en-US" sz="1700" dirty="0">
                <a:solidFill>
                  <a:srgbClr val="1A2F57"/>
                </a:solidFill>
                <a:latin typeface="Calibri" pitchFamily="34" charset="0"/>
                <a:ea typeface="Calibri" pitchFamily="34" charset="-122"/>
                <a:cs typeface="Calibri" pitchFamily="34" charset="-120"/>
              </a:rPr>
              <a:t>Targeted visits save officer time</a:t>
            </a:r>
            <a:endParaRPr lang="en-US" sz="1700" dirty="0"/>
          </a:p>
          <a:p>
            <a:pPr algn="l" marL="177800" indent="-177800">
              <a:buSzPct val="100000"/>
              <a:buChar char="•"/>
            </a:pPr>
            <a:r>
              <a:rPr lang="en-US" sz="1700" dirty="0">
                <a:solidFill>
                  <a:srgbClr val="1A2F57"/>
                </a:solidFill>
                <a:latin typeface="Calibri" pitchFamily="34" charset="0"/>
                <a:ea typeface="Calibri" pitchFamily="34" charset="-122"/>
                <a:cs typeface="Calibri" pitchFamily="34" charset="-120"/>
              </a:rPr>
              <a:t>Catch reused photos &amp; padded bills</a:t>
            </a:r>
            <a:endParaRPr lang="en-US" sz="1700" dirty="0"/>
          </a:p>
          <a:p>
            <a:pPr algn="l" marL="177800" indent="-177800">
              <a:buSzPct val="100000"/>
              <a:buChar char="•"/>
            </a:pPr>
            <a:r>
              <a:rPr lang="en-US" sz="1700" dirty="0">
                <a:solidFill>
                  <a:srgbClr val="1A2F57"/>
                </a:solidFill>
                <a:latin typeface="Calibri" pitchFamily="34" charset="0"/>
                <a:ea typeface="Calibri" pitchFamily="34" charset="-122"/>
                <a:cs typeface="Calibri" pitchFamily="34" charset="-120"/>
              </a:rPr>
              <a:t>Fewer cost overruns and rework</a:t>
            </a:r>
            <a:endParaRPr lang="en-US" sz="1700" dirty="0"/>
          </a:p>
        </p:txBody>
      </p:sp>
      <p:sp>
        <p:nvSpPr>
          <p:cNvPr id="41" name="Shape 32"/>
          <p:cNvSpPr/>
          <p:nvPr/>
        </p:nvSpPr>
        <p:spPr>
          <a:xfrm>
            <a:off x="8242300" y="6464300"/>
            <a:ext cx="3492500" cy="3035300"/>
          </a:xfrm>
          <a:prstGeom prst="roundRect">
            <a:avLst>
              <a:gd name="adj" fmla="val 4603"/>
            </a:avLst>
          </a:prstGeom>
          <a:solidFill>
            <a:srgbClr val="FFFFFF"/>
          </a:solidFill>
          <a:ln w="19050">
            <a:solidFill>
              <a:srgbClr val="B1BBC8"/>
            </a:solidFill>
            <a:prstDash val="solid"/>
          </a:ln>
        </p:spPr>
      </p:sp>
      <p:sp>
        <p:nvSpPr>
          <p:cNvPr id="42" name="Shape 33"/>
          <p:cNvSpPr/>
          <p:nvPr/>
        </p:nvSpPr>
        <p:spPr>
          <a:xfrm>
            <a:off x="8483600" y="6184900"/>
            <a:ext cx="3009900" cy="571500"/>
          </a:xfrm>
          <a:prstGeom prst="roundRect">
            <a:avLst>
              <a:gd name="adj" fmla="val 50000"/>
            </a:avLst>
          </a:prstGeom>
          <a:solidFill>
            <a:srgbClr val="2A4D88"/>
          </a:solidFill>
          <a:ln/>
        </p:spPr>
      </p:sp>
      <p:pic>
        <p:nvPicPr>
          <p:cNvPr id="43" name="Image 7" descr="C:\Users\abhim\drishti\docs\deck\assets\icons\leaf_w.png">    </p:cNvPr>
          <p:cNvPicPr>
            <a:picLocks noChangeAspect="1"/>
          </p:cNvPicPr>
          <p:nvPr/>
        </p:nvPicPr>
        <p:blipFill>
          <a:blip r:embed="rId8"/>
          <a:stretch>
            <a:fillRect/>
          </a:stretch>
        </p:blipFill>
        <p:spPr>
          <a:xfrm>
            <a:off x="8661400" y="6299200"/>
            <a:ext cx="317500" cy="317500"/>
          </a:xfrm>
          <a:prstGeom prst="rect">
            <a:avLst/>
          </a:prstGeom>
        </p:spPr>
      </p:pic>
      <p:sp>
        <p:nvSpPr>
          <p:cNvPr id="44" name="Text 34"/>
          <p:cNvSpPr txBox="1"/>
          <p:nvPr/>
        </p:nvSpPr>
        <p:spPr>
          <a:xfrm>
            <a:off x="9131300" y="6184900"/>
            <a:ext cx="2286000" cy="571500"/>
          </a:xfrm>
          <a:prstGeom prst="rect">
            <a:avLst/>
          </a:prstGeom>
          <a:noFill/>
          <a:ln/>
        </p:spPr>
        <p:txBody>
          <a:bodyPr wrap="square" lIns="0" tIns="0" rIns="0" bIns="0" rtlCol="0" anchor="ctr"/>
          <a:lstStyle/>
          <a:p>
            <a:pPr algn="l" indent="0" marL="0">
              <a:buNone/>
            </a:pPr>
            <a:r>
              <a:rPr lang="en-US" sz="1670" b="1" dirty="0">
                <a:solidFill>
                  <a:srgbClr val="FFFFFF"/>
                </a:solidFill>
                <a:latin typeface="Calibri" pitchFamily="34" charset="0"/>
                <a:ea typeface="Calibri" pitchFamily="34" charset="-122"/>
                <a:cs typeface="Calibri" pitchFamily="34" charset="-120"/>
              </a:rPr>
              <a:t>ENVIRONMENTAL</a:t>
            </a:r>
            <a:endParaRPr lang="en-US" sz="1670" dirty="0"/>
          </a:p>
        </p:txBody>
      </p:sp>
      <p:sp>
        <p:nvSpPr>
          <p:cNvPr id="45" name="Text 35"/>
          <p:cNvSpPr txBox="1"/>
          <p:nvPr/>
        </p:nvSpPr>
        <p:spPr>
          <a:xfrm>
            <a:off x="8623300" y="6921500"/>
            <a:ext cx="2997200" cy="2489200"/>
          </a:xfrm>
          <a:prstGeom prst="rect">
            <a:avLst/>
          </a:prstGeom>
          <a:noFill/>
          <a:ln/>
        </p:spPr>
        <p:txBody>
          <a:bodyPr wrap="square" lIns="0" tIns="0" rIns="0" bIns="0" rtlCol="0" anchor="t"/>
          <a:lstStyle/>
          <a:p>
            <a:pPr algn="l" marL="177800" indent="-177800">
              <a:buSzPct val="100000"/>
              <a:buChar char="•"/>
            </a:pPr>
            <a:r>
              <a:rPr lang="en-US" sz="1700" dirty="0">
                <a:solidFill>
                  <a:srgbClr val="1A2F57"/>
                </a:solidFill>
                <a:latin typeface="Calibri" pitchFamily="34" charset="0"/>
                <a:ea typeface="Calibri" pitchFamily="34" charset="-122"/>
                <a:cs typeface="Calibri" pitchFamily="34" charset="-120"/>
              </a:rPr>
              <a:t>Paperless, digital monitoring</a:t>
            </a:r>
            <a:endParaRPr lang="en-US" sz="1700" dirty="0"/>
          </a:p>
          <a:p>
            <a:pPr algn="l" marL="177800" indent="-177800">
              <a:buSzPct val="100000"/>
              <a:buChar char="•"/>
            </a:pPr>
            <a:r>
              <a:rPr lang="en-US" sz="1700" dirty="0">
                <a:solidFill>
                  <a:srgbClr val="1A2F57"/>
                </a:solidFill>
                <a:latin typeface="Calibri" pitchFamily="34" charset="0"/>
                <a:ea typeface="Calibri" pitchFamily="34" charset="-122"/>
                <a:cs typeface="Calibri" pitchFamily="34" charset="-120"/>
              </a:rPr>
              <a:t>Fewer wasted site trips and fuel</a:t>
            </a:r>
            <a:endParaRPr lang="en-US" sz="1700" dirty="0"/>
          </a:p>
          <a:p>
            <a:pPr algn="l" marL="177800" indent="-177800">
              <a:buSzPct val="100000"/>
              <a:buChar char="•"/>
            </a:pPr>
            <a:r>
              <a:rPr lang="en-US" sz="1700" dirty="0">
                <a:solidFill>
                  <a:srgbClr val="1A2F57"/>
                </a:solidFill>
                <a:latin typeface="Calibri" pitchFamily="34" charset="0"/>
                <a:ea typeface="Calibri" pitchFamily="34" charset="-122"/>
                <a:cs typeface="Calibri" pitchFamily="34" charset="-120"/>
              </a:rPr>
              <a:t>Durable assets built right first time</a:t>
            </a:r>
            <a:endParaRPr lang="en-US" sz="1700" dirty="0"/>
          </a:p>
          <a:p>
            <a:pPr algn="l" marL="177800" indent="-177800">
              <a:buSzPct val="100000"/>
              <a:buChar char="•"/>
            </a:pPr>
            <a:r>
              <a:rPr lang="en-US" sz="1700" dirty="0">
                <a:solidFill>
                  <a:srgbClr val="1A2F57"/>
                </a:solidFill>
                <a:latin typeface="Calibri" pitchFamily="34" charset="0"/>
                <a:ea typeface="Calibri" pitchFamily="34" charset="-122"/>
                <a:cs typeface="Calibri" pitchFamily="34" charset="-120"/>
              </a:rPr>
              <a:t>Assets tracked through their life cycle</a:t>
            </a:r>
            <a:endParaRPr lang="en-US" sz="1700" dirty="0"/>
          </a:p>
        </p:txBody>
      </p:sp>
      <p:sp>
        <p:nvSpPr>
          <p:cNvPr id="46" name="Text 36"/>
          <p:cNvSpPr txBox="1"/>
          <p:nvPr/>
        </p:nvSpPr>
        <p:spPr>
          <a:xfrm>
            <a:off x="12204700" y="5803900"/>
            <a:ext cx="5461000" cy="279400"/>
          </a:xfrm>
          <a:prstGeom prst="rect">
            <a:avLst/>
          </a:prstGeom>
          <a:noFill/>
          <a:ln/>
        </p:spPr>
        <p:txBody>
          <a:bodyPr wrap="square" lIns="0" tIns="0" rIns="0" bIns="0" rtlCol="0" anchor="t"/>
          <a:lstStyle/>
          <a:p>
            <a:pPr algn="l" indent="0" marL="0">
              <a:buNone/>
            </a:pPr>
            <a:r>
              <a:rPr lang="en-US" sz="1720" b="1" spc="300" kern="0" dirty="0">
                <a:solidFill>
                  <a:srgbClr val="2A4D88"/>
                </a:solidFill>
                <a:latin typeface="Calibri" pitchFamily="34" charset="0"/>
                <a:ea typeface="Calibri" pitchFamily="34" charset="-122"/>
                <a:cs typeface="Calibri" pitchFamily="34" charset="-120"/>
              </a:rPr>
              <a:t>EXPECTED OUTCOMES</a:t>
            </a:r>
            <a:endParaRPr lang="en-US" sz="1720" dirty="0"/>
          </a:p>
        </p:txBody>
      </p:sp>
      <p:sp>
        <p:nvSpPr>
          <p:cNvPr id="47" name="Shape 37"/>
          <p:cNvSpPr/>
          <p:nvPr/>
        </p:nvSpPr>
        <p:spPr>
          <a:xfrm>
            <a:off x="12192000" y="6184900"/>
            <a:ext cx="5486400" cy="952500"/>
          </a:xfrm>
          <a:prstGeom prst="roundRect">
            <a:avLst>
              <a:gd name="adj" fmla="val 12000"/>
            </a:avLst>
          </a:prstGeom>
          <a:solidFill>
            <a:srgbClr val="2A4D88"/>
          </a:solidFill>
          <a:ln/>
        </p:spPr>
      </p:sp>
      <p:sp>
        <p:nvSpPr>
          <p:cNvPr id="48" name="Text 38"/>
          <p:cNvSpPr txBox="1"/>
          <p:nvPr/>
        </p:nvSpPr>
        <p:spPr>
          <a:xfrm>
            <a:off x="12407900" y="6184900"/>
            <a:ext cx="1524000" cy="952500"/>
          </a:xfrm>
          <a:prstGeom prst="rect">
            <a:avLst/>
          </a:prstGeom>
          <a:noFill/>
          <a:ln/>
        </p:spPr>
        <p:txBody>
          <a:bodyPr wrap="square" lIns="0" tIns="0" rIns="0" bIns="0" rtlCol="0" anchor="ctr"/>
          <a:lstStyle/>
          <a:p>
            <a:pPr algn="l" indent="0" marL="0">
              <a:buNone/>
            </a:pPr>
            <a:r>
              <a:rPr lang="en-US" sz="3150" b="1" dirty="0">
                <a:solidFill>
                  <a:srgbClr val="FFFFFF"/>
                </a:solidFill>
                <a:latin typeface="Cambria" pitchFamily="34" charset="0"/>
                <a:ea typeface="Cambria" pitchFamily="34" charset="-122"/>
                <a:cs typeface="Cambria" pitchFamily="34" charset="-120"/>
              </a:rPr>
              <a:t>100%</a:t>
            </a:r>
            <a:endParaRPr lang="en-US" sz="3150" dirty="0"/>
          </a:p>
        </p:txBody>
      </p:sp>
      <p:sp>
        <p:nvSpPr>
          <p:cNvPr id="49" name="Text 39"/>
          <p:cNvSpPr txBox="1"/>
          <p:nvPr/>
        </p:nvSpPr>
        <p:spPr>
          <a:xfrm>
            <a:off x="14173200" y="6261100"/>
            <a:ext cx="3378200" cy="800100"/>
          </a:xfrm>
          <a:prstGeom prst="rect">
            <a:avLst/>
          </a:prstGeom>
          <a:noFill/>
          <a:ln/>
        </p:spPr>
        <p:txBody>
          <a:bodyPr wrap="square" lIns="0" tIns="0" rIns="0" bIns="0" rtlCol="0" anchor="ctr"/>
          <a:lstStyle/>
          <a:p>
            <a:pPr algn="l" indent="0" marL="0">
              <a:buNone/>
            </a:pPr>
            <a:r>
              <a:rPr lang="en-US" sz="1650" dirty="0">
                <a:solidFill>
                  <a:srgbClr val="D9D9D8"/>
                </a:solidFill>
                <a:latin typeface="Calibri" pitchFamily="34" charset="0"/>
                <a:ea typeface="Calibri" pitchFamily="34" charset="-122"/>
                <a:cs typeface="Calibri" pitchFamily="34" charset="-120"/>
              </a:rPr>
              <a:t>of works screened daily; 2,09,993 real works already done</a:t>
            </a:r>
            <a:endParaRPr lang="en-US" sz="1650" dirty="0"/>
          </a:p>
        </p:txBody>
      </p:sp>
      <p:sp>
        <p:nvSpPr>
          <p:cNvPr id="50" name="Shape 40"/>
          <p:cNvSpPr/>
          <p:nvPr/>
        </p:nvSpPr>
        <p:spPr>
          <a:xfrm>
            <a:off x="12192000" y="7366000"/>
            <a:ext cx="5486400" cy="952500"/>
          </a:xfrm>
          <a:prstGeom prst="roundRect">
            <a:avLst>
              <a:gd name="adj" fmla="val 12000"/>
            </a:avLst>
          </a:prstGeom>
          <a:solidFill>
            <a:srgbClr val="EDF0F5"/>
          </a:solidFill>
          <a:ln/>
        </p:spPr>
      </p:sp>
      <p:sp>
        <p:nvSpPr>
          <p:cNvPr id="51" name="Text 41"/>
          <p:cNvSpPr txBox="1"/>
          <p:nvPr/>
        </p:nvSpPr>
        <p:spPr>
          <a:xfrm>
            <a:off x="12407900" y="7366000"/>
            <a:ext cx="1524000" cy="952500"/>
          </a:xfrm>
          <a:prstGeom prst="rect">
            <a:avLst/>
          </a:prstGeom>
          <a:noFill/>
          <a:ln/>
        </p:spPr>
        <p:txBody>
          <a:bodyPr wrap="square" lIns="0" tIns="0" rIns="0" bIns="0" rtlCol="0" anchor="ctr"/>
          <a:lstStyle/>
          <a:p>
            <a:pPr algn="l" indent="0" marL="0">
              <a:buNone/>
            </a:pPr>
            <a:r>
              <a:rPr lang="en-US" sz="3150" b="1" dirty="0">
                <a:solidFill>
                  <a:srgbClr val="2A4D88"/>
                </a:solidFill>
                <a:latin typeface="Cambria" pitchFamily="34" charset="0"/>
                <a:ea typeface="Cambria" pitchFamily="34" charset="-122"/>
                <a:cs typeface="Cambria" pitchFamily="34" charset="-120"/>
              </a:rPr>
              <a:t>0.13%</a:t>
            </a:r>
            <a:endParaRPr lang="en-US" sz="3150" dirty="0"/>
          </a:p>
        </p:txBody>
      </p:sp>
      <p:sp>
        <p:nvSpPr>
          <p:cNvPr id="52" name="Shape 42"/>
          <p:cNvSpPr/>
          <p:nvPr/>
        </p:nvSpPr>
        <p:spPr>
          <a:xfrm>
            <a:off x="13970000" y="7505700"/>
            <a:ext cx="0" cy="673100"/>
          </a:xfrm>
          <a:prstGeom prst="line">
            <a:avLst/>
          </a:prstGeom>
          <a:noFill/>
          <a:ln w="19050">
            <a:solidFill>
              <a:srgbClr val="C2CCDA"/>
            </a:solidFill>
            <a:prstDash val="solid"/>
          </a:ln>
        </p:spPr>
      </p:sp>
      <p:sp>
        <p:nvSpPr>
          <p:cNvPr id="53" name="Text 43"/>
          <p:cNvSpPr txBox="1"/>
          <p:nvPr/>
        </p:nvSpPr>
        <p:spPr>
          <a:xfrm>
            <a:off x="14173200" y="7442200"/>
            <a:ext cx="3378200" cy="800100"/>
          </a:xfrm>
          <a:prstGeom prst="rect">
            <a:avLst/>
          </a:prstGeom>
          <a:noFill/>
          <a:ln/>
        </p:spPr>
        <p:txBody>
          <a:bodyPr wrap="square" lIns="0" tIns="0" rIns="0" bIns="0" rtlCol="0" anchor="ctr"/>
          <a:lstStyle/>
          <a:p>
            <a:pPr algn="l" indent="0" marL="0">
              <a:buNone/>
            </a:pPr>
            <a:r>
              <a:rPr lang="en-US" sz="1650" dirty="0">
                <a:solidFill>
                  <a:srgbClr val="1A2F57"/>
                </a:solidFill>
                <a:latin typeface="Calibri" pitchFamily="34" charset="0"/>
                <a:ea typeface="Calibri" pitchFamily="34" charset="-122"/>
                <a:cs typeface="Calibri" pitchFamily="34" charset="-120"/>
              </a:rPr>
              <a:t>flagged for review: a queue District Authorities can clear</a:t>
            </a:r>
            <a:endParaRPr lang="en-US" sz="1650" dirty="0"/>
          </a:p>
        </p:txBody>
      </p:sp>
      <p:sp>
        <p:nvSpPr>
          <p:cNvPr id="54" name="Shape 44"/>
          <p:cNvSpPr/>
          <p:nvPr/>
        </p:nvSpPr>
        <p:spPr>
          <a:xfrm>
            <a:off x="12192000" y="8547100"/>
            <a:ext cx="5486400" cy="952500"/>
          </a:xfrm>
          <a:prstGeom prst="roundRect">
            <a:avLst>
              <a:gd name="adj" fmla="val 12000"/>
            </a:avLst>
          </a:prstGeom>
          <a:solidFill>
            <a:srgbClr val="EDF0F5"/>
          </a:solidFill>
          <a:ln/>
        </p:spPr>
      </p:sp>
      <p:sp>
        <p:nvSpPr>
          <p:cNvPr id="55" name="Text 45"/>
          <p:cNvSpPr txBox="1"/>
          <p:nvPr/>
        </p:nvSpPr>
        <p:spPr>
          <a:xfrm>
            <a:off x="12407900" y="8547100"/>
            <a:ext cx="1524000" cy="952500"/>
          </a:xfrm>
          <a:prstGeom prst="rect">
            <a:avLst/>
          </a:prstGeom>
          <a:noFill/>
          <a:ln/>
        </p:spPr>
        <p:txBody>
          <a:bodyPr wrap="square" lIns="0" tIns="0" rIns="0" bIns="0" rtlCol="0" anchor="ctr"/>
          <a:lstStyle/>
          <a:p>
            <a:pPr algn="l" indent="0" marL="0">
              <a:buNone/>
            </a:pPr>
            <a:r>
              <a:rPr lang="en-US" sz="3150" b="1" dirty="0">
                <a:solidFill>
                  <a:srgbClr val="2A4D88"/>
                </a:solidFill>
                <a:latin typeface="Cambria" pitchFamily="34" charset="0"/>
                <a:ea typeface="Cambria" pitchFamily="34" charset="-122"/>
                <a:cs typeface="Cambria" pitchFamily="34" charset="-120"/>
              </a:rPr>
              <a:t>2 in 3</a:t>
            </a:r>
            <a:endParaRPr lang="en-US" sz="3150" dirty="0"/>
          </a:p>
        </p:txBody>
      </p:sp>
      <p:sp>
        <p:nvSpPr>
          <p:cNvPr id="56" name="Shape 46"/>
          <p:cNvSpPr/>
          <p:nvPr/>
        </p:nvSpPr>
        <p:spPr>
          <a:xfrm>
            <a:off x="13970000" y="8686800"/>
            <a:ext cx="0" cy="673100"/>
          </a:xfrm>
          <a:prstGeom prst="line">
            <a:avLst/>
          </a:prstGeom>
          <a:noFill/>
          <a:ln w="19050">
            <a:solidFill>
              <a:srgbClr val="C2CCDA"/>
            </a:solidFill>
            <a:prstDash val="solid"/>
          </a:ln>
        </p:spPr>
      </p:sp>
      <p:sp>
        <p:nvSpPr>
          <p:cNvPr id="57" name="Text 47"/>
          <p:cNvSpPr txBox="1"/>
          <p:nvPr/>
        </p:nvSpPr>
        <p:spPr>
          <a:xfrm>
            <a:off x="14173200" y="8623300"/>
            <a:ext cx="3378200" cy="800100"/>
          </a:xfrm>
          <a:prstGeom prst="rect">
            <a:avLst/>
          </a:prstGeom>
          <a:noFill/>
          <a:ln/>
        </p:spPr>
        <p:txBody>
          <a:bodyPr wrap="square" lIns="0" tIns="0" rIns="0" bIns="0" rtlCol="0" anchor="ctr"/>
          <a:lstStyle/>
          <a:p>
            <a:pPr algn="l" indent="0" marL="0">
              <a:buNone/>
            </a:pPr>
            <a:r>
              <a:rPr lang="en-US" sz="1650" dirty="0">
                <a:solidFill>
                  <a:srgbClr val="1A2F57"/>
                </a:solidFill>
                <a:latin typeface="Calibri" pitchFamily="34" charset="0"/>
                <a:ea typeface="Calibri" pitchFamily="34" charset="-122"/>
                <a:cs typeface="Calibri" pitchFamily="34" charset="-120"/>
              </a:rPr>
              <a:t>completed works have certificates or photos DRISHTI can verify</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66090" y="287020"/>
            <a:ext cx="2153920" cy="934720"/>
          </a:xfrm>
          <a:prstGeom prst="ellipse">
            <a:avLst/>
          </a:prstGeom>
          <a:solidFill>
            <a:srgbClr val="FFFFFF"/>
          </a:solidFill>
          <a:ln w="57150">
            <a:solidFill>
              <a:srgbClr val="2A4D88"/>
            </a:solidFill>
            <a:prstDash val="solid"/>
          </a:ln>
        </p:spPr>
      </p:sp>
      <p:sp>
        <p:nvSpPr>
          <p:cNvPr id="3" name="Text 1"/>
          <p:cNvSpPr txBox="1"/>
          <p:nvPr/>
        </p:nvSpPr>
        <p:spPr>
          <a:xfrm>
            <a:off x="466090" y="287020"/>
            <a:ext cx="2153920" cy="934720"/>
          </a:xfrm>
          <a:prstGeom prst="rect">
            <a:avLst/>
          </a:prstGeom>
          <a:noFill/>
          <a:ln/>
        </p:spPr>
        <p:txBody>
          <a:bodyPr wrap="square" lIns="0" tIns="0" rIns="0" bIns="0" rtlCol="0" anchor="ctr"/>
          <a:lstStyle/>
          <a:p>
            <a:pPr algn="ctr" indent="0" marL="0">
              <a:buNone/>
            </a:pPr>
            <a:r>
              <a:rPr lang="en-US" sz="2050" b="1" dirty="0">
                <a:solidFill>
                  <a:srgbClr val="2A4D88"/>
                </a:solidFill>
                <a:latin typeface="Calibri" pitchFamily="34" charset="0"/>
                <a:ea typeface="Calibri" pitchFamily="34" charset="-122"/>
                <a:cs typeface="Calibri" pitchFamily="34" charset="-120"/>
              </a:rPr>
              <a:t>NeuralNexus</a:t>
            </a:r>
            <a:endParaRPr lang="en-US" sz="2050" dirty="0"/>
          </a:p>
        </p:txBody>
      </p:sp>
      <p:sp>
        <p:nvSpPr>
          <p:cNvPr id="4" name="Text 2"/>
          <p:cNvSpPr txBox="1"/>
          <p:nvPr/>
        </p:nvSpPr>
        <p:spPr>
          <a:xfrm>
            <a:off x="3131820" y="381000"/>
            <a:ext cx="11430000" cy="787400"/>
          </a:xfrm>
          <a:prstGeom prst="rect">
            <a:avLst/>
          </a:prstGeom>
          <a:noFill/>
          <a:ln/>
        </p:spPr>
        <p:txBody>
          <a:bodyPr wrap="square" lIns="0" tIns="0" rIns="0" bIns="0" rtlCol="0" anchor="ctr"/>
          <a:lstStyle/>
          <a:p>
            <a:pPr algn="ctr" indent="0" marL="0">
              <a:buNone/>
            </a:pPr>
            <a:r>
              <a:rPr lang="en-US" sz="4200" b="1" dirty="0">
                <a:solidFill>
                  <a:srgbClr val="2A4D88"/>
                </a:solidFill>
                <a:latin typeface="Cambria" pitchFamily="34" charset="0"/>
                <a:ea typeface="Cambria" pitchFamily="34" charset="-122"/>
                <a:cs typeface="Cambria" pitchFamily="34" charset="-120"/>
              </a:rPr>
              <a:t>RESEARCH AND REFERENCES</a:t>
            </a:r>
            <a:endParaRPr lang="en-US" sz="4200" dirty="0"/>
          </a:p>
        </p:txBody>
      </p:sp>
      <p:pic>
        <p:nvPicPr>
          <p:cNvPr id="5" name="Image 0" descr="C:\Users\abhim\drishti\docs\deck\assets\sih_logo_wide.png">    </p:cNvPr>
          <p:cNvPicPr>
            <a:picLocks noChangeAspect="1"/>
          </p:cNvPicPr>
          <p:nvPr/>
        </p:nvPicPr>
        <p:blipFill>
          <a:blip r:embed="rId1"/>
          <a:stretch>
            <a:fillRect/>
          </a:stretch>
        </p:blipFill>
        <p:spPr>
          <a:xfrm>
            <a:off x="15392400" y="76200"/>
            <a:ext cx="2705100" cy="1277620"/>
          </a:xfrm>
          <a:prstGeom prst="rect">
            <a:avLst/>
          </a:prstGeom>
        </p:spPr>
      </p:pic>
      <p:sp>
        <p:nvSpPr>
          <p:cNvPr id="6" name="Shape 3"/>
          <p:cNvSpPr/>
          <p:nvPr/>
        </p:nvSpPr>
        <p:spPr>
          <a:xfrm>
            <a:off x="0" y="9756140"/>
            <a:ext cx="18288000" cy="533400"/>
          </a:xfrm>
          <a:prstGeom prst="rect">
            <a:avLst/>
          </a:prstGeom>
          <a:solidFill>
            <a:srgbClr val="2A4D88"/>
          </a:solidFill>
          <a:ln/>
        </p:spPr>
      </p:sp>
      <p:sp>
        <p:nvSpPr>
          <p:cNvPr id="7" name="Text 4"/>
          <p:cNvSpPr txBox="1"/>
          <p:nvPr/>
        </p:nvSpPr>
        <p:spPr>
          <a:xfrm>
            <a:off x="5969000" y="9880600"/>
            <a:ext cx="6350000" cy="27940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@SIH Idea submission – Template</a:t>
            </a:r>
            <a:endParaRPr lang="en-US" sz="1500" dirty="0"/>
          </a:p>
        </p:txBody>
      </p:sp>
      <p:sp>
        <p:nvSpPr>
          <p:cNvPr id="8" name="Text 5"/>
          <p:cNvSpPr txBox="1"/>
          <p:nvPr/>
        </p:nvSpPr>
        <p:spPr>
          <a:xfrm>
            <a:off x="17018000" y="9880600"/>
            <a:ext cx="673100" cy="279400"/>
          </a:xfrm>
          <a:prstGeom prst="rect">
            <a:avLst/>
          </a:prstGeom>
          <a:noFill/>
          <a:ln/>
        </p:spPr>
        <p:txBody>
          <a:bodyPr wrap="square" lIns="0" tIns="0" rIns="0" bIns="0" rtlCol="0" anchor="ctr"/>
          <a:lstStyle/>
          <a:p>
            <a:pPr algn="r" indent="0" marL="0">
              <a:buNone/>
            </a:pPr>
            <a:r>
              <a:rPr lang="en-US" sz="1650" b="1" dirty="0">
                <a:solidFill>
                  <a:srgbClr val="FFFFFF"/>
                </a:solidFill>
                <a:latin typeface="Calibri" pitchFamily="34" charset="0"/>
                <a:ea typeface="Calibri" pitchFamily="34" charset="-122"/>
                <a:cs typeface="Calibri" pitchFamily="34" charset="-120"/>
              </a:rPr>
              <a:t>6</a:t>
            </a:r>
            <a:endParaRPr lang="en-US" sz="1650" dirty="0"/>
          </a:p>
        </p:txBody>
      </p:sp>
      <p:sp>
        <p:nvSpPr>
          <p:cNvPr id="9" name="Text 6"/>
          <p:cNvSpPr txBox="1"/>
          <p:nvPr/>
        </p:nvSpPr>
        <p:spPr>
          <a:xfrm>
            <a:off x="617220" y="1574800"/>
            <a:ext cx="11430000" cy="279400"/>
          </a:xfrm>
          <a:prstGeom prst="rect">
            <a:avLst/>
          </a:prstGeom>
          <a:noFill/>
          <a:ln/>
        </p:spPr>
        <p:txBody>
          <a:bodyPr wrap="square" lIns="0" tIns="0" rIns="0" bIns="0" rtlCol="0" anchor="t"/>
          <a:lstStyle/>
          <a:p>
            <a:pPr algn="l" indent="0" marL="0">
              <a:buNone/>
            </a:pPr>
            <a:r>
              <a:rPr lang="en-US" sz="1720" b="1" spc="300" kern="0" dirty="0">
                <a:solidFill>
                  <a:srgbClr val="2A4D88"/>
                </a:solidFill>
                <a:latin typeface="Calibri" pitchFamily="34" charset="0"/>
                <a:ea typeface="Calibri" pitchFamily="34" charset="-122"/>
                <a:cs typeface="Calibri" pitchFamily="34" charset="-120"/>
              </a:rPr>
              <a:t>WHAT DRISHTI CHECKS — AND HOW</a:t>
            </a:r>
            <a:endParaRPr lang="en-US" sz="172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2300" y="1981200"/>
          <a:ext cx="13716000" cy="914400"/>
        </p:xfrm>
        <a:graphic>
          <a:graphicData uri="http://schemas.openxmlformats.org/drawingml/2006/table">
            <a:tbl>
              <a:tblPr/>
              <a:tblGrid>
                <a:gridCol w="3810000"/>
                <a:gridCol w="4572000"/>
                <a:gridCol w="1917700"/>
              </a:tblGrid>
              <a:tr h="609600">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Capability</a:t>
                      </a:r>
                      <a:endParaRPr lang="en-US" sz="155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2A4D88"/>
                    </a:solidFill>
                  </a:tcPr>
                </a:tc>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How DRISHTI does it</a:t>
                      </a:r>
                      <a:endParaRPr lang="en-US" sz="155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D9962B"/>
                    </a:solidFill>
                  </a:tcPr>
                </a:tc>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Stage</a:t>
                      </a:r>
                      <a:endParaRPr lang="en-US" sz="155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2A4D88"/>
                    </a:solidFill>
                  </a:tcPr>
                </a:tc>
              </a:tr>
              <a:tr h="419100">
                <a:tc>
                  <a:txBody>
                    <a:bodyPr/>
                    <a:lstStyle/>
                    <a:p>
                      <a:pPr indent="0" marL="0">
                        <a:buNone/>
                      </a:pPr>
                      <a:r>
                        <a:rPr lang="en-US" sz="1450" b="1" dirty="0">
                          <a:solidFill>
                            <a:srgbClr val="1A2F57"/>
                          </a:solidFill>
                          <a:latin typeface="Calibri" pitchFamily="34" charset="0"/>
                          <a:ea typeface="Calibri" pitchFamily="34" charset="-122"/>
                          <a:cs typeface="Calibri" pitchFamily="34" charset="-120"/>
                        </a:rPr>
                        <a:t>AI anomaly detection in spending</a:t>
                      </a:r>
                      <a:endParaRPr lang="en-US" sz="1450" dirty="0">
                        <a:latin typeface="Calibri" charset="0"/>
                        <a:ea typeface="Calibri" charset="0"/>
                        <a:cs typeface="Calibri" charset="0"/>
                      </a:endParaRPr>
                    </a:p>
                  </a:txBody>
                  <a:tcPr marL="762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EDF0F5"/>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Cost range of similar works in the same district</a:t>
                      </a:r>
                      <a:endParaRPr lang="en-US" sz="145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BF3E6"/>
                    </a:solidFill>
                  </a:tcPr>
                </a:tc>
                <a:tc>
                  <a:txBody>
                    <a:bodyPr/>
                    <a:lstStyle/>
                    <a:p>
                      <a:pPr indent="0" marL="0">
                        <a:buNone/>
                      </a:pPr>
                      <a:r>
                        <a:rPr lang="en-US" sz="1400" b="1" dirty="0">
                          <a:solidFill>
                            <a:srgbClr val="2A4D88"/>
                          </a:solidFill>
                          <a:latin typeface="Calibri" pitchFamily="34" charset="0"/>
                          <a:ea typeface="Calibri" pitchFamily="34" charset="-122"/>
                          <a:cs typeface="Calibri" pitchFamily="34" charset="-120"/>
                        </a:rPr>
                        <a:t>Before sanction</a:t>
                      </a:r>
                      <a:endParaRPr lang="en-US" sz="140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419100">
                <a:tc>
                  <a:txBody>
                    <a:bodyPr/>
                    <a:lstStyle/>
                    <a:p>
                      <a:pPr indent="0" marL="0">
                        <a:buNone/>
                      </a:pPr>
                      <a:r>
                        <a:rPr lang="en-US" sz="1450" b="1" dirty="0">
                          <a:solidFill>
                            <a:srgbClr val="1A2F57"/>
                          </a:solidFill>
                          <a:latin typeface="Calibri" pitchFamily="34" charset="0"/>
                          <a:ea typeface="Calibri" pitchFamily="34" charset="-122"/>
                          <a:cs typeface="Calibri" pitchFamily="34" charset="-120"/>
                        </a:rPr>
                        <a:t>Duplicate &amp; split works (Hindi + English)</a:t>
                      </a:r>
                      <a:endParaRPr lang="en-US" sz="1450" dirty="0">
                        <a:latin typeface="Calibri" charset="0"/>
                        <a:ea typeface="Calibri" charset="0"/>
                        <a:cs typeface="Calibri" charset="0"/>
                      </a:endParaRPr>
                    </a:p>
                  </a:txBody>
                  <a:tcPr marL="762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EDF0F5"/>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Same-site and bulk-order patterns, meaning match</a:t>
                      </a:r>
                      <a:endParaRPr lang="en-US" sz="145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BF3E6"/>
                    </a:solidFill>
                  </a:tcPr>
                </a:tc>
                <a:tc>
                  <a:txBody>
                    <a:bodyPr/>
                    <a:lstStyle/>
                    <a:p>
                      <a:pPr indent="0" marL="0">
                        <a:buNone/>
                      </a:pPr>
                      <a:r>
                        <a:rPr lang="en-US" sz="1400" b="1" dirty="0">
                          <a:solidFill>
                            <a:srgbClr val="2A4D88"/>
                          </a:solidFill>
                          <a:latin typeface="Calibri" pitchFamily="34" charset="0"/>
                          <a:ea typeface="Calibri" pitchFamily="34" charset="-122"/>
                          <a:cs typeface="Calibri" pitchFamily="34" charset="-120"/>
                        </a:rPr>
                        <a:t>Before sanction</a:t>
                      </a:r>
                      <a:endParaRPr lang="en-US" sz="140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419100">
                <a:tc>
                  <a:txBody>
                    <a:bodyPr/>
                    <a:lstStyle/>
                    <a:p>
                      <a:pPr indent="0" marL="0">
                        <a:buNone/>
                      </a:pPr>
                      <a:r>
                        <a:rPr lang="en-US" sz="1450" b="1" dirty="0">
                          <a:solidFill>
                            <a:srgbClr val="1A2F57"/>
                          </a:solidFill>
                          <a:latin typeface="Calibri" pitchFamily="34" charset="0"/>
                          <a:ea typeface="Calibri" pitchFamily="34" charset="-122"/>
                          <a:cs typeface="Calibri" pitchFamily="34" charset="-120"/>
                        </a:rPr>
                        <a:t>Guideline compliance with para cited</a:t>
                      </a:r>
                      <a:endParaRPr lang="en-US" sz="1450" dirty="0">
                        <a:latin typeface="Calibri" charset="0"/>
                        <a:ea typeface="Calibri" charset="0"/>
                        <a:cs typeface="Calibri" charset="0"/>
                      </a:endParaRPr>
                    </a:p>
                  </a:txBody>
                  <a:tcPr marL="762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EDF0F5"/>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Rules + the clause quoted on every flag</a:t>
                      </a:r>
                      <a:endParaRPr lang="en-US" sz="145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BF3E6"/>
                    </a:solidFill>
                  </a:tcPr>
                </a:tc>
                <a:tc>
                  <a:txBody>
                    <a:bodyPr/>
                    <a:lstStyle/>
                    <a:p>
                      <a:pPr indent="0" marL="0">
                        <a:buNone/>
                      </a:pPr>
                      <a:r>
                        <a:rPr lang="en-US" sz="1400" b="1" dirty="0">
                          <a:solidFill>
                            <a:srgbClr val="2A4D88"/>
                          </a:solidFill>
                          <a:latin typeface="Calibri" pitchFamily="34" charset="0"/>
                          <a:ea typeface="Calibri" pitchFamily="34" charset="-122"/>
                          <a:cs typeface="Calibri" pitchFamily="34" charset="-120"/>
                        </a:rPr>
                        <a:t>Before sanction</a:t>
                      </a:r>
                      <a:endParaRPr lang="en-US" sz="140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419100">
                <a:tc>
                  <a:txBody>
                    <a:bodyPr/>
                    <a:lstStyle/>
                    <a:p>
                      <a:pPr indent="0" marL="0">
                        <a:buNone/>
                      </a:pPr>
                      <a:r>
                        <a:rPr lang="en-US" sz="1450" b="1" dirty="0">
                          <a:solidFill>
                            <a:srgbClr val="1A2F57"/>
                          </a:solidFill>
                          <a:latin typeface="Calibri" pitchFamily="34" charset="0"/>
                          <a:ea typeface="Calibri" pitchFamily="34" charset="-122"/>
                          <a:cs typeface="Calibri" pitchFamily="34" charset="-120"/>
                        </a:rPr>
                        <a:t>Reads certificates &amp; bills (Hindi/English)</a:t>
                      </a:r>
                      <a:endParaRPr lang="en-US" sz="1450" dirty="0">
                        <a:latin typeface="Calibri" charset="0"/>
                        <a:ea typeface="Calibri" charset="0"/>
                        <a:cs typeface="Calibri" charset="0"/>
                      </a:endParaRPr>
                    </a:p>
                  </a:txBody>
                  <a:tcPr marL="762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EDF0F5"/>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Sanction date, payments and contractor read</a:t>
                      </a:r>
                      <a:endParaRPr lang="en-US" sz="145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BF3E6"/>
                    </a:solidFill>
                  </a:tcPr>
                </a:tc>
                <a:tc>
                  <a:txBody>
                    <a:bodyPr/>
                    <a:lstStyle/>
                    <a:p>
                      <a:pPr indent="0" marL="0">
                        <a:buNone/>
                      </a:pPr>
                      <a:r>
                        <a:rPr lang="en-US" sz="1400" b="1" dirty="0">
                          <a:solidFill>
                            <a:srgbClr val="2A4D88"/>
                          </a:solidFill>
                          <a:latin typeface="Calibri" pitchFamily="34" charset="0"/>
                          <a:ea typeface="Calibri" pitchFamily="34" charset="-122"/>
                          <a:cs typeface="Calibri" pitchFamily="34" charset="-120"/>
                        </a:rPr>
                        <a:t>During work</a:t>
                      </a:r>
                      <a:endParaRPr lang="en-US" sz="140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419100">
                <a:tc>
                  <a:txBody>
                    <a:bodyPr/>
                    <a:lstStyle/>
                    <a:p>
                      <a:pPr indent="0" marL="0">
                        <a:buNone/>
                      </a:pPr>
                      <a:r>
                        <a:rPr lang="en-US" sz="1450" b="1" dirty="0">
                          <a:solidFill>
                            <a:srgbClr val="1A2F57"/>
                          </a:solidFill>
                          <a:latin typeface="Calibri" pitchFamily="34" charset="0"/>
                          <a:ea typeface="Calibri" pitchFamily="34" charset="-122"/>
                          <a:cs typeface="Calibri" pitchFamily="34" charset="-120"/>
                        </a:rPr>
                        <a:t>Spots reused or edited photos</a:t>
                      </a:r>
                      <a:endParaRPr lang="en-US" sz="1450" dirty="0">
                        <a:latin typeface="Calibri" charset="0"/>
                        <a:ea typeface="Calibri" charset="0"/>
                        <a:cs typeface="Calibri" charset="0"/>
                      </a:endParaRPr>
                    </a:p>
                  </a:txBody>
                  <a:tcPr marL="762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EDF0F5"/>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Image fingerprints + feature matching</a:t>
                      </a:r>
                      <a:endParaRPr lang="en-US" sz="145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BF3E6"/>
                    </a:solidFill>
                  </a:tcPr>
                </a:tc>
                <a:tc>
                  <a:txBody>
                    <a:bodyPr/>
                    <a:lstStyle/>
                    <a:p>
                      <a:pPr indent="0" marL="0">
                        <a:buNone/>
                      </a:pPr>
                      <a:r>
                        <a:rPr lang="en-US" sz="1400" b="1" dirty="0">
                          <a:solidFill>
                            <a:srgbClr val="2A4D88"/>
                          </a:solidFill>
                          <a:latin typeface="Calibri" pitchFamily="34" charset="0"/>
                          <a:ea typeface="Calibri" pitchFamily="34" charset="-122"/>
                          <a:cs typeface="Calibri" pitchFamily="34" charset="-120"/>
                        </a:rPr>
                        <a:t>During work</a:t>
                      </a:r>
                      <a:endParaRPr lang="en-US" sz="140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419100">
                <a:tc>
                  <a:txBody>
                    <a:bodyPr/>
                    <a:lstStyle/>
                    <a:p>
                      <a:pPr indent="0" marL="0">
                        <a:buNone/>
                      </a:pPr>
                      <a:r>
                        <a:rPr lang="en-US" sz="1450" b="1" dirty="0">
                          <a:solidFill>
                            <a:srgbClr val="1A2F57"/>
                          </a:solidFill>
                          <a:latin typeface="Calibri" pitchFamily="34" charset="0"/>
                          <a:ea typeface="Calibri" pitchFamily="34" charset="-122"/>
                          <a:cs typeface="Calibri" pitchFamily="34" charset="-120"/>
                        </a:rPr>
                        <a:t>Checks where &amp; when photos were taken</a:t>
                      </a:r>
                      <a:endParaRPr lang="en-US" sz="1450" dirty="0">
                        <a:latin typeface="Calibri" charset="0"/>
                        <a:ea typeface="Calibri" charset="0"/>
                        <a:cs typeface="Calibri" charset="0"/>
                      </a:endParaRPr>
                    </a:p>
                  </a:txBody>
                  <a:tcPr marL="762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EDF0F5"/>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GPS stamp read; district, PIN and date checked</a:t>
                      </a:r>
                      <a:endParaRPr lang="en-US" sz="145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BF3E6"/>
                    </a:solidFill>
                  </a:tcPr>
                </a:tc>
                <a:tc>
                  <a:txBody>
                    <a:bodyPr/>
                    <a:lstStyle/>
                    <a:p>
                      <a:pPr indent="0" marL="0">
                        <a:buNone/>
                      </a:pPr>
                      <a:r>
                        <a:rPr lang="en-US" sz="1400" b="1" dirty="0">
                          <a:solidFill>
                            <a:srgbClr val="2A4D88"/>
                          </a:solidFill>
                          <a:latin typeface="Calibri" pitchFamily="34" charset="0"/>
                          <a:ea typeface="Calibri" pitchFamily="34" charset="-122"/>
                          <a:cs typeface="Calibri" pitchFamily="34" charset="-120"/>
                        </a:rPr>
                        <a:t>During work</a:t>
                      </a:r>
                      <a:endParaRPr lang="en-US" sz="140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419100">
                <a:tc>
                  <a:txBody>
                    <a:bodyPr/>
                    <a:lstStyle/>
                    <a:p>
                      <a:pPr indent="0" marL="0">
                        <a:buNone/>
                      </a:pPr>
                      <a:r>
                        <a:rPr lang="en-US" sz="1450" b="1" dirty="0">
                          <a:solidFill>
                            <a:srgbClr val="1A2F57"/>
                          </a:solidFill>
                          <a:latin typeface="Calibri" pitchFamily="34" charset="0"/>
                          <a:ea typeface="Calibri" pitchFamily="34" charset="-122"/>
                          <a:cs typeface="Calibri" pitchFamily="34" charset="-120"/>
                        </a:rPr>
                        <a:t>Delay &amp; stuck-work early warning</a:t>
                      </a:r>
                      <a:endParaRPr lang="en-US" sz="1450" dirty="0">
                        <a:latin typeface="Calibri" charset="0"/>
                        <a:ea typeface="Calibri" charset="0"/>
                        <a:cs typeface="Calibri" charset="0"/>
                      </a:endParaRPr>
                    </a:p>
                  </a:txBody>
                  <a:tcPr marL="762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EDF0F5"/>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Stuck works + each office's track record</a:t>
                      </a:r>
                      <a:endParaRPr lang="en-US" sz="145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BF3E6"/>
                    </a:solidFill>
                  </a:tcPr>
                </a:tc>
                <a:tc>
                  <a:txBody>
                    <a:bodyPr/>
                    <a:lstStyle/>
                    <a:p>
                      <a:pPr indent="0" marL="0">
                        <a:buNone/>
                      </a:pPr>
                      <a:r>
                        <a:rPr lang="en-US" sz="1400" b="1" dirty="0">
                          <a:solidFill>
                            <a:srgbClr val="2A4D88"/>
                          </a:solidFill>
                          <a:latin typeface="Calibri" pitchFamily="34" charset="0"/>
                          <a:ea typeface="Calibri" pitchFamily="34" charset="-122"/>
                          <a:cs typeface="Calibri" pitchFamily="34" charset="-120"/>
                        </a:rPr>
                        <a:t>Money &amp; time</a:t>
                      </a:r>
                      <a:endParaRPr lang="en-US" sz="140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419100">
                <a:tc>
                  <a:txBody>
                    <a:bodyPr/>
                    <a:lstStyle/>
                    <a:p>
                      <a:pPr indent="0" marL="0">
                        <a:buNone/>
                      </a:pPr>
                      <a:r>
                        <a:rPr lang="en-US" sz="1450" b="1" dirty="0">
                          <a:solidFill>
                            <a:srgbClr val="1A2F57"/>
                          </a:solidFill>
                          <a:latin typeface="Calibri" pitchFamily="34" charset="0"/>
                          <a:ea typeface="Calibri" pitchFamily="34" charset="-122"/>
                          <a:cs typeface="Calibri" pitchFamily="34" charset="-120"/>
                        </a:rPr>
                        <a:t>Citizen confirmation &amp; field learning</a:t>
                      </a:r>
                      <a:endParaRPr lang="en-US" sz="1450" dirty="0">
                        <a:latin typeface="Calibri" charset="0"/>
                        <a:ea typeface="Calibri" charset="0"/>
                        <a:cs typeface="Calibri" charset="0"/>
                      </a:endParaRPr>
                    </a:p>
                  </a:txBody>
                  <a:tcPr marL="762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EDF0F5"/>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QR at site; officer verdicts retrain agents</a:t>
                      </a:r>
                      <a:endParaRPr lang="en-US" sz="145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BF3E6"/>
                    </a:solidFill>
                  </a:tcPr>
                </a:tc>
                <a:tc>
                  <a:txBody>
                    <a:bodyPr/>
                    <a:lstStyle/>
                    <a:p>
                      <a:pPr indent="0" marL="0">
                        <a:buNone/>
                      </a:pPr>
                      <a:r>
                        <a:rPr lang="en-US" sz="1400" b="1" dirty="0">
                          <a:solidFill>
                            <a:srgbClr val="2A4D88"/>
                          </a:solidFill>
                          <a:latin typeface="Calibri" pitchFamily="34" charset="0"/>
                          <a:ea typeface="Calibri" pitchFamily="34" charset="-122"/>
                          <a:cs typeface="Calibri" pitchFamily="34" charset="-120"/>
                        </a:rPr>
                        <a:t>After completion</a:t>
                      </a:r>
                      <a:endParaRPr lang="en-US" sz="140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419100">
                <a:tc>
                  <a:txBody>
                    <a:bodyPr/>
                    <a:lstStyle/>
                    <a:p>
                      <a:pPr indent="0" marL="0">
                        <a:buNone/>
                      </a:pPr>
                      <a:r>
                        <a:rPr lang="en-US" sz="1450" b="1" dirty="0">
                          <a:solidFill>
                            <a:srgbClr val="1A2F57"/>
                          </a:solidFill>
                          <a:latin typeface="Calibri" pitchFamily="34" charset="0"/>
                          <a:ea typeface="Calibri" pitchFamily="34" charset="-122"/>
                          <a:cs typeface="Calibri" pitchFamily="34" charset="-120"/>
                        </a:rPr>
                        <a:t>Explainable 0–100 risk score</a:t>
                      </a:r>
                      <a:endParaRPr lang="en-US" sz="1450" dirty="0">
                        <a:latin typeface="Calibri" charset="0"/>
                        <a:ea typeface="Calibri" charset="0"/>
                        <a:cs typeface="Calibri" charset="0"/>
                      </a:endParaRPr>
                    </a:p>
                  </a:txBody>
                  <a:tcPr marL="762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EDF0F5"/>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All agents fused + top-3 reasons</a:t>
                      </a:r>
                      <a:endParaRPr lang="en-US" sz="145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BF3E6"/>
                    </a:solidFill>
                  </a:tcPr>
                </a:tc>
                <a:tc>
                  <a:txBody>
                    <a:bodyPr/>
                    <a:lstStyle/>
                    <a:p>
                      <a:pPr indent="0" marL="0">
                        <a:buNone/>
                      </a:pPr>
                      <a:r>
                        <a:rPr lang="en-US" sz="1400" b="1" dirty="0">
                          <a:solidFill>
                            <a:srgbClr val="2A4D88"/>
                          </a:solidFill>
                          <a:latin typeface="Calibri" pitchFamily="34" charset="0"/>
                          <a:ea typeface="Calibri" pitchFamily="34" charset="-122"/>
                          <a:cs typeface="Calibri" pitchFamily="34" charset="-120"/>
                        </a:rPr>
                        <a:t>Every work</a:t>
                      </a:r>
                      <a:endParaRPr lang="en-US" sz="140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r h="419100">
                <a:tc>
                  <a:txBody>
                    <a:bodyPr/>
                    <a:lstStyle/>
                    <a:p>
                      <a:pPr indent="0" marL="0">
                        <a:buNone/>
                      </a:pPr>
                      <a:r>
                        <a:rPr lang="en-US" sz="1450" b="1" dirty="0">
                          <a:solidFill>
                            <a:srgbClr val="1A2F57"/>
                          </a:solidFill>
                          <a:latin typeface="Calibri" pitchFamily="34" charset="0"/>
                          <a:ea typeface="Calibri" pitchFamily="34" charset="-122"/>
                          <a:cs typeface="Calibri" pitchFamily="34" charset="-120"/>
                        </a:rPr>
                        <a:t>Risk-based inspection route plan</a:t>
                      </a:r>
                      <a:endParaRPr lang="en-US" sz="1450" dirty="0">
                        <a:latin typeface="Calibri" charset="0"/>
                        <a:ea typeface="Calibri" charset="0"/>
                        <a:cs typeface="Calibri" charset="0"/>
                      </a:endParaRPr>
                    </a:p>
                  </a:txBody>
                  <a:tcPr marL="762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EDF0F5"/>
                    </a:solidFill>
                  </a:tcPr>
                </a:tc>
                <a:tc>
                  <a:txBody>
                    <a:bodyPr/>
                    <a:lstStyle/>
                    <a:p>
                      <a:pPr indent="0" marL="0">
                        <a:buNone/>
                      </a:pPr>
                      <a:r>
                        <a:rPr lang="en-US" sz="1450" dirty="0">
                          <a:solidFill>
                            <a:srgbClr val="1A2F57"/>
                          </a:solidFill>
                          <a:latin typeface="Calibri" pitchFamily="34" charset="0"/>
                          <a:ea typeface="Calibri" pitchFamily="34" charset="-122"/>
                          <a:cs typeface="Calibri" pitchFamily="34" charset="-120"/>
                        </a:rPr>
                        <a:t>Picks the mandatory 10% of visits, routed</a:t>
                      </a:r>
                      <a:endParaRPr lang="en-US" sz="145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BF3E6"/>
                    </a:solidFill>
                  </a:tcPr>
                </a:tc>
                <a:tc>
                  <a:txBody>
                    <a:bodyPr/>
                    <a:lstStyle/>
                    <a:p>
                      <a:pPr indent="0" marL="0">
                        <a:buNone/>
                      </a:pPr>
                      <a:r>
                        <a:rPr lang="en-US" sz="1400" b="1" dirty="0">
                          <a:solidFill>
                            <a:srgbClr val="2A4D88"/>
                          </a:solidFill>
                          <a:latin typeface="Calibri" pitchFamily="34" charset="0"/>
                          <a:ea typeface="Calibri" pitchFamily="34" charset="-122"/>
                          <a:cs typeface="Calibri" pitchFamily="34" charset="-120"/>
                        </a:rPr>
                        <a:t>Every work</a:t>
                      </a:r>
                      <a:endParaRPr lang="en-US" sz="1400" dirty="0">
                        <a:latin typeface="Calibri" charset="0"/>
                        <a:ea typeface="Calibri" charset="0"/>
                        <a:cs typeface="Calibri" charset="0"/>
                      </a:endParaRPr>
                    </a:p>
                  </a:txBody>
                  <a:tcPr marL="101600" marR="76200" marT="0" marB="0" anchor="ctr">
                    <a:lnL w="12700" cap="flat" cmpd="sng" algn="ctr">
                      <a:solidFill>
                        <a:srgbClr val="B1BBC8"/>
                      </a:solidFill>
                      <a:prstDash val="solid"/>
                      <a:round/>
                      <a:headEnd type="none" w="med" len="med"/>
                      <a:tailEnd type="none" w="med" len="med"/>
                    </a:lnL>
                    <a:lnR w="12700" cap="flat" cmpd="sng" algn="ctr">
                      <a:solidFill>
                        <a:srgbClr val="B1BBC8"/>
                      </a:solidFill>
                      <a:prstDash val="solid"/>
                      <a:round/>
                      <a:headEnd type="none" w="med" len="med"/>
                      <a:tailEnd type="none" w="med" len="med"/>
                    </a:lnR>
                    <a:lnT w="12700" cap="flat" cmpd="sng" algn="ctr">
                      <a:solidFill>
                        <a:srgbClr val="B1BBC8"/>
                      </a:solidFill>
                      <a:prstDash val="solid"/>
                      <a:round/>
                      <a:headEnd type="none" w="med" len="med"/>
                      <a:tailEnd type="none" w="med" len="med"/>
                    </a:lnT>
                    <a:lnB w="12700" cap="flat" cmpd="sng" algn="ctr">
                      <a:solidFill>
                        <a:srgbClr val="B1BBC8"/>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617220" y="7023100"/>
            <a:ext cx="11430000" cy="279400"/>
          </a:xfrm>
          <a:prstGeom prst="rect">
            <a:avLst/>
          </a:prstGeom>
          <a:noFill/>
          <a:ln/>
        </p:spPr>
        <p:txBody>
          <a:bodyPr wrap="square" lIns="0" tIns="0" rIns="0" bIns="0" rtlCol="0" anchor="t"/>
          <a:lstStyle/>
          <a:p>
            <a:pPr algn="l" indent="0" marL="0">
              <a:buNone/>
            </a:pPr>
            <a:r>
              <a:rPr lang="en-US" sz="1720" b="1" spc="300" kern="0" dirty="0">
                <a:solidFill>
                  <a:srgbClr val="2A4D88"/>
                </a:solidFill>
                <a:latin typeface="Calibri" pitchFamily="34" charset="0"/>
                <a:ea typeface="Calibri" pitchFamily="34" charset="-122"/>
                <a:cs typeface="Calibri" pitchFamily="34" charset="-120"/>
              </a:rPr>
              <a:t>KEY RESEARCH INSIGHTS</a:t>
            </a:r>
            <a:endParaRPr lang="en-US" sz="1720" dirty="0"/>
          </a:p>
        </p:txBody>
      </p:sp>
      <p:sp>
        <p:nvSpPr>
          <p:cNvPr id="12" name="Shape 8"/>
          <p:cNvSpPr/>
          <p:nvPr/>
        </p:nvSpPr>
        <p:spPr>
          <a:xfrm>
            <a:off x="609600" y="7429500"/>
            <a:ext cx="2387600" cy="2070100"/>
          </a:xfrm>
          <a:prstGeom prst="roundRect">
            <a:avLst>
              <a:gd name="adj" fmla="val 6748"/>
            </a:avLst>
          </a:prstGeom>
          <a:solidFill>
            <a:srgbClr val="EDF0F5"/>
          </a:solidFill>
          <a:ln/>
        </p:spPr>
      </p:sp>
      <p:sp>
        <p:nvSpPr>
          <p:cNvPr id="13" name="Text 9"/>
          <p:cNvSpPr txBox="1"/>
          <p:nvPr/>
        </p:nvSpPr>
        <p:spPr>
          <a:xfrm>
            <a:off x="812800" y="7594600"/>
            <a:ext cx="2032000" cy="558800"/>
          </a:xfrm>
          <a:prstGeom prst="rect">
            <a:avLst/>
          </a:prstGeom>
          <a:noFill/>
          <a:ln/>
        </p:spPr>
        <p:txBody>
          <a:bodyPr wrap="square" lIns="0" tIns="0" rIns="0" bIns="0" rtlCol="0" anchor="ctr"/>
          <a:lstStyle/>
          <a:p>
            <a:pPr algn="l" indent="0" marL="0">
              <a:buNone/>
            </a:pPr>
            <a:r>
              <a:rPr lang="en-US" sz="2800" b="1" dirty="0">
                <a:solidFill>
                  <a:srgbClr val="2A4D88"/>
                </a:solidFill>
                <a:latin typeface="Cambria" pitchFamily="34" charset="0"/>
                <a:ea typeface="Cambria" pitchFamily="34" charset="-122"/>
                <a:cs typeface="Cambria" pitchFamily="34" charset="-120"/>
              </a:rPr>
              <a:t>₹5 Cr</a:t>
            </a:r>
            <a:endParaRPr lang="en-US" sz="2800" dirty="0"/>
          </a:p>
        </p:txBody>
      </p:sp>
      <p:sp>
        <p:nvSpPr>
          <p:cNvPr id="14" name="Text 10"/>
          <p:cNvSpPr txBox="1"/>
          <p:nvPr/>
        </p:nvSpPr>
        <p:spPr>
          <a:xfrm>
            <a:off x="812800" y="8255000"/>
            <a:ext cx="2032000" cy="1168400"/>
          </a:xfrm>
          <a:prstGeom prst="rect">
            <a:avLst/>
          </a:prstGeom>
          <a:noFill/>
          <a:ln/>
        </p:spPr>
        <p:txBody>
          <a:bodyPr wrap="square" lIns="0" tIns="0" rIns="0" bIns="0" rtlCol="0" anchor="t"/>
          <a:lstStyle/>
          <a:p>
            <a:pPr algn="l" indent="0" marL="0">
              <a:buNone/>
            </a:pPr>
            <a:r>
              <a:rPr lang="en-US" sz="1600" dirty="0">
                <a:solidFill>
                  <a:srgbClr val="1A2F57"/>
                </a:solidFill>
                <a:latin typeface="Calibri" pitchFamily="34" charset="0"/>
                <a:ea typeface="Calibri" pitchFamily="34" charset="-122"/>
                <a:cs typeface="Calibri" pitchFamily="34" charset="-120"/>
              </a:rPr>
              <a:t>per MP per year, non-lapsable funds (MoSPI)</a:t>
            </a:r>
            <a:endParaRPr lang="en-US" sz="1600" dirty="0"/>
          </a:p>
        </p:txBody>
      </p:sp>
      <p:sp>
        <p:nvSpPr>
          <p:cNvPr id="15" name="Shape 11"/>
          <p:cNvSpPr/>
          <p:nvPr/>
        </p:nvSpPr>
        <p:spPr>
          <a:xfrm>
            <a:off x="3251200" y="7429500"/>
            <a:ext cx="2387600" cy="2070100"/>
          </a:xfrm>
          <a:prstGeom prst="roundRect">
            <a:avLst>
              <a:gd name="adj" fmla="val 6748"/>
            </a:avLst>
          </a:prstGeom>
          <a:solidFill>
            <a:srgbClr val="EDF0F5"/>
          </a:solidFill>
          <a:ln/>
        </p:spPr>
      </p:sp>
      <p:sp>
        <p:nvSpPr>
          <p:cNvPr id="16" name="Text 12"/>
          <p:cNvSpPr txBox="1"/>
          <p:nvPr/>
        </p:nvSpPr>
        <p:spPr>
          <a:xfrm>
            <a:off x="3454400" y="7594600"/>
            <a:ext cx="2032000" cy="558800"/>
          </a:xfrm>
          <a:prstGeom prst="rect">
            <a:avLst/>
          </a:prstGeom>
          <a:noFill/>
          <a:ln/>
        </p:spPr>
        <p:txBody>
          <a:bodyPr wrap="square" lIns="0" tIns="0" rIns="0" bIns="0" rtlCol="0" anchor="ctr"/>
          <a:lstStyle/>
          <a:p>
            <a:pPr algn="l" indent="0" marL="0">
              <a:buNone/>
            </a:pPr>
            <a:r>
              <a:rPr lang="en-US" sz="2800" b="1" dirty="0">
                <a:solidFill>
                  <a:srgbClr val="2A4D88"/>
                </a:solidFill>
                <a:latin typeface="Cambria" pitchFamily="34" charset="0"/>
                <a:ea typeface="Cambria" pitchFamily="34" charset="-122"/>
                <a:cs typeface="Cambria" pitchFamily="34" charset="-120"/>
              </a:rPr>
              <a:t>~₹4,000 Cr</a:t>
            </a:r>
            <a:endParaRPr lang="en-US" sz="2800" dirty="0"/>
          </a:p>
        </p:txBody>
      </p:sp>
      <p:sp>
        <p:nvSpPr>
          <p:cNvPr id="17" name="Text 13"/>
          <p:cNvSpPr txBox="1"/>
          <p:nvPr/>
        </p:nvSpPr>
        <p:spPr>
          <a:xfrm>
            <a:off x="3454400" y="8255000"/>
            <a:ext cx="2032000" cy="1168400"/>
          </a:xfrm>
          <a:prstGeom prst="rect">
            <a:avLst/>
          </a:prstGeom>
          <a:noFill/>
          <a:ln/>
        </p:spPr>
        <p:txBody>
          <a:bodyPr wrap="square" lIns="0" tIns="0" rIns="0" bIns="0" rtlCol="0" anchor="t"/>
          <a:lstStyle/>
          <a:p>
            <a:pPr algn="l" indent="0" marL="0">
              <a:buNone/>
            </a:pPr>
            <a:r>
              <a:rPr lang="en-US" sz="1600" dirty="0">
                <a:solidFill>
                  <a:srgbClr val="1A2F57"/>
                </a:solidFill>
                <a:latin typeface="Calibri" pitchFamily="34" charset="0"/>
                <a:ea typeface="Calibri" pitchFamily="34" charset="-122"/>
                <a:cs typeface="Calibri" pitchFamily="34" charset="-120"/>
              </a:rPr>
              <a:t>annual outlay, run on eSAKSHI since Apr 2023 (PIB)</a:t>
            </a:r>
            <a:endParaRPr lang="en-US" sz="1600" dirty="0"/>
          </a:p>
        </p:txBody>
      </p:sp>
      <p:sp>
        <p:nvSpPr>
          <p:cNvPr id="18" name="Shape 14"/>
          <p:cNvSpPr/>
          <p:nvPr/>
        </p:nvSpPr>
        <p:spPr>
          <a:xfrm>
            <a:off x="5892800" y="7429500"/>
            <a:ext cx="2387600" cy="2070100"/>
          </a:xfrm>
          <a:prstGeom prst="roundRect">
            <a:avLst>
              <a:gd name="adj" fmla="val 6748"/>
            </a:avLst>
          </a:prstGeom>
          <a:solidFill>
            <a:srgbClr val="EDF0F5"/>
          </a:solidFill>
          <a:ln/>
        </p:spPr>
      </p:sp>
      <p:sp>
        <p:nvSpPr>
          <p:cNvPr id="19" name="Text 15"/>
          <p:cNvSpPr txBox="1"/>
          <p:nvPr/>
        </p:nvSpPr>
        <p:spPr>
          <a:xfrm>
            <a:off x="6096000" y="7594600"/>
            <a:ext cx="2032000" cy="558800"/>
          </a:xfrm>
          <a:prstGeom prst="rect">
            <a:avLst/>
          </a:prstGeom>
          <a:noFill/>
          <a:ln/>
        </p:spPr>
        <p:txBody>
          <a:bodyPr wrap="square" lIns="0" tIns="0" rIns="0" bIns="0" rtlCol="0" anchor="ctr"/>
          <a:lstStyle/>
          <a:p>
            <a:pPr algn="l" indent="0" marL="0">
              <a:buNone/>
            </a:pPr>
            <a:r>
              <a:rPr lang="en-US" sz="2800" b="1" dirty="0">
                <a:solidFill>
                  <a:srgbClr val="2A4D88"/>
                </a:solidFill>
                <a:latin typeface="Cambria" pitchFamily="34" charset="0"/>
                <a:ea typeface="Cambria" pitchFamily="34" charset="-122"/>
                <a:cs typeface="Cambria" pitchFamily="34" charset="-120"/>
              </a:rPr>
              <a:t>4,918</a:t>
            </a:r>
            <a:endParaRPr lang="en-US" sz="2800" dirty="0"/>
          </a:p>
        </p:txBody>
      </p:sp>
      <p:sp>
        <p:nvSpPr>
          <p:cNvPr id="20" name="Text 16"/>
          <p:cNvSpPr txBox="1"/>
          <p:nvPr/>
        </p:nvSpPr>
        <p:spPr>
          <a:xfrm>
            <a:off x="6096000" y="8255000"/>
            <a:ext cx="2032000" cy="1168400"/>
          </a:xfrm>
          <a:prstGeom prst="rect">
            <a:avLst/>
          </a:prstGeom>
          <a:noFill/>
          <a:ln/>
        </p:spPr>
        <p:txBody>
          <a:bodyPr wrap="square" lIns="0" tIns="0" rIns="0" bIns="0" rtlCol="0" anchor="t"/>
          <a:lstStyle/>
          <a:p>
            <a:pPr algn="l" indent="0" marL="0">
              <a:buNone/>
            </a:pPr>
            <a:r>
              <a:rPr lang="en-US" sz="1600" dirty="0">
                <a:solidFill>
                  <a:srgbClr val="1A2F57"/>
                </a:solidFill>
                <a:latin typeface="Calibri" pitchFamily="34" charset="0"/>
                <a:ea typeface="Calibri" pitchFamily="34" charset="-122"/>
                <a:cs typeface="Calibri" pitchFamily="34" charset="-120"/>
              </a:rPr>
              <a:t>works without the mandatory MPLADS plaque (CAG audit, 31 districts)</a:t>
            </a:r>
            <a:endParaRPr lang="en-US" sz="1600" dirty="0"/>
          </a:p>
        </p:txBody>
      </p:sp>
      <p:sp>
        <p:nvSpPr>
          <p:cNvPr id="21" name="Shape 17"/>
          <p:cNvSpPr/>
          <p:nvPr/>
        </p:nvSpPr>
        <p:spPr>
          <a:xfrm>
            <a:off x="8534400" y="7429500"/>
            <a:ext cx="2387600" cy="2070100"/>
          </a:xfrm>
          <a:prstGeom prst="roundRect">
            <a:avLst>
              <a:gd name="adj" fmla="val 6748"/>
            </a:avLst>
          </a:prstGeom>
          <a:solidFill>
            <a:srgbClr val="EDF0F5"/>
          </a:solidFill>
          <a:ln/>
        </p:spPr>
      </p:sp>
      <p:sp>
        <p:nvSpPr>
          <p:cNvPr id="22" name="Text 18"/>
          <p:cNvSpPr txBox="1"/>
          <p:nvPr/>
        </p:nvSpPr>
        <p:spPr>
          <a:xfrm>
            <a:off x="8737600" y="7594600"/>
            <a:ext cx="2032000" cy="558800"/>
          </a:xfrm>
          <a:prstGeom prst="rect">
            <a:avLst/>
          </a:prstGeom>
          <a:noFill/>
          <a:ln/>
        </p:spPr>
        <p:txBody>
          <a:bodyPr wrap="square" lIns="0" tIns="0" rIns="0" bIns="0" rtlCol="0" anchor="ctr"/>
          <a:lstStyle/>
          <a:p>
            <a:pPr algn="l" indent="0" marL="0">
              <a:buNone/>
            </a:pPr>
            <a:r>
              <a:rPr lang="en-US" sz="2800" b="1" dirty="0">
                <a:solidFill>
                  <a:srgbClr val="2A4D88"/>
                </a:solidFill>
                <a:latin typeface="Cambria" pitchFamily="34" charset="0"/>
                <a:ea typeface="Cambria" pitchFamily="34" charset="-122"/>
                <a:cs typeface="Cambria" pitchFamily="34" charset="-120"/>
              </a:rPr>
              <a:t>₹280 Cr</a:t>
            </a:r>
            <a:endParaRPr lang="en-US" sz="2800" dirty="0"/>
          </a:p>
        </p:txBody>
      </p:sp>
      <p:sp>
        <p:nvSpPr>
          <p:cNvPr id="23" name="Text 19"/>
          <p:cNvSpPr txBox="1"/>
          <p:nvPr/>
        </p:nvSpPr>
        <p:spPr>
          <a:xfrm>
            <a:off x="8737600" y="8255000"/>
            <a:ext cx="2032000" cy="1168400"/>
          </a:xfrm>
          <a:prstGeom prst="rect">
            <a:avLst/>
          </a:prstGeom>
          <a:noFill/>
          <a:ln/>
        </p:spPr>
        <p:txBody>
          <a:bodyPr wrap="square" lIns="0" tIns="0" rIns="0" bIns="0" rtlCol="0" anchor="t"/>
          <a:lstStyle/>
          <a:p>
            <a:pPr algn="l" indent="0" marL="0">
              <a:buNone/>
            </a:pPr>
            <a:r>
              <a:rPr lang="en-US" sz="1600" dirty="0">
                <a:solidFill>
                  <a:srgbClr val="1A2F57"/>
                </a:solidFill>
                <a:latin typeface="Calibri" pitchFamily="34" charset="0"/>
                <a:ea typeface="Calibri" pitchFamily="34" charset="-122"/>
                <a:cs typeface="Calibri" pitchFamily="34" charset="-120"/>
              </a:rPr>
              <a:t>in 12,006 works left incomplete (CAG audit, 71 districts)</a:t>
            </a:r>
            <a:endParaRPr lang="en-US" sz="1600" dirty="0"/>
          </a:p>
        </p:txBody>
      </p:sp>
      <p:sp>
        <p:nvSpPr>
          <p:cNvPr id="24" name="Text 20"/>
          <p:cNvSpPr txBox="1"/>
          <p:nvPr/>
        </p:nvSpPr>
        <p:spPr>
          <a:xfrm>
            <a:off x="11252200" y="1574800"/>
            <a:ext cx="6350000" cy="279400"/>
          </a:xfrm>
          <a:prstGeom prst="rect">
            <a:avLst/>
          </a:prstGeom>
          <a:noFill/>
          <a:ln/>
        </p:spPr>
        <p:txBody>
          <a:bodyPr wrap="square" lIns="0" tIns="0" rIns="0" bIns="0" rtlCol="0" anchor="t"/>
          <a:lstStyle/>
          <a:p>
            <a:pPr algn="l" indent="0" marL="0">
              <a:buNone/>
            </a:pPr>
            <a:r>
              <a:rPr lang="en-US" sz="1720" b="1" spc="300" kern="0" dirty="0">
                <a:solidFill>
                  <a:srgbClr val="2A4D88"/>
                </a:solidFill>
                <a:latin typeface="Calibri" pitchFamily="34" charset="0"/>
                <a:ea typeface="Calibri" pitchFamily="34" charset="-122"/>
                <a:cs typeface="Calibri" pitchFamily="34" charset="-120"/>
              </a:rPr>
              <a:t>REFERENCES</a:t>
            </a:r>
            <a:endParaRPr lang="en-US" sz="1720" dirty="0"/>
          </a:p>
        </p:txBody>
      </p:sp>
      <p:sp>
        <p:nvSpPr>
          <p:cNvPr id="25" name="Shape 21"/>
          <p:cNvSpPr/>
          <p:nvPr/>
        </p:nvSpPr>
        <p:spPr>
          <a:xfrm>
            <a:off x="11239500" y="2044700"/>
            <a:ext cx="6438900" cy="2374900"/>
          </a:xfrm>
          <a:prstGeom prst="roundRect">
            <a:avLst>
              <a:gd name="adj" fmla="val 5882"/>
            </a:avLst>
          </a:prstGeom>
          <a:solidFill>
            <a:srgbClr val="FFFFFF"/>
          </a:solidFill>
          <a:ln w="19050">
            <a:solidFill>
              <a:srgbClr val="B1BBC8"/>
            </a:solidFill>
            <a:prstDash val="solid"/>
          </a:ln>
        </p:spPr>
      </p:sp>
      <p:sp>
        <p:nvSpPr>
          <p:cNvPr id="26" name="Shape 22"/>
          <p:cNvSpPr/>
          <p:nvPr/>
        </p:nvSpPr>
        <p:spPr>
          <a:xfrm>
            <a:off x="11442700" y="2247900"/>
            <a:ext cx="596900" cy="596900"/>
          </a:xfrm>
          <a:prstGeom prst="ellipse">
            <a:avLst/>
          </a:prstGeom>
          <a:solidFill>
            <a:srgbClr val="2A4D88"/>
          </a:solidFill>
          <a:ln/>
        </p:spPr>
      </p:sp>
      <p:pic>
        <p:nvPicPr>
          <p:cNvPr id="27" name="Image 1" descr="C:\Users\abhim\drishti\docs\deck\assets\icons\landmark_w.png">    </p:cNvPr>
          <p:cNvPicPr>
            <a:picLocks noChangeAspect="1"/>
          </p:cNvPicPr>
          <p:nvPr/>
        </p:nvPicPr>
        <p:blipFill>
          <a:blip r:embed="rId2"/>
          <a:stretch>
            <a:fillRect/>
          </a:stretch>
        </p:blipFill>
        <p:spPr>
          <a:xfrm>
            <a:off x="11591925" y="2397125"/>
            <a:ext cx="298450" cy="298450"/>
          </a:xfrm>
          <a:prstGeom prst="rect">
            <a:avLst/>
          </a:prstGeom>
        </p:spPr>
      </p:pic>
      <p:sp>
        <p:nvSpPr>
          <p:cNvPr id="28" name="Text 23"/>
          <p:cNvSpPr txBox="1"/>
          <p:nvPr/>
        </p:nvSpPr>
        <p:spPr>
          <a:xfrm>
            <a:off x="12179300" y="2247900"/>
            <a:ext cx="5334000" cy="596900"/>
          </a:xfrm>
          <a:prstGeom prst="rect">
            <a:avLst/>
          </a:prstGeom>
          <a:noFill/>
          <a:ln/>
        </p:spPr>
        <p:txBody>
          <a:bodyPr wrap="square" lIns="0" tIns="0" rIns="0" bIns="0" rtlCol="0" anchor="ctr"/>
          <a:lstStyle/>
          <a:p>
            <a:pPr algn="l" indent="0" marL="0">
              <a:buNone/>
            </a:pPr>
            <a:r>
              <a:rPr lang="en-US" sz="1800" b="1" dirty="0">
                <a:solidFill>
                  <a:srgbClr val="2A4D88"/>
                </a:solidFill>
                <a:latin typeface="Calibri" pitchFamily="34" charset="0"/>
                <a:ea typeface="Calibri" pitchFamily="34" charset="-122"/>
                <a:cs typeface="Calibri" pitchFamily="34" charset="-120"/>
              </a:rPr>
              <a:t>Government &amp; Policy Sources</a:t>
            </a:r>
            <a:endParaRPr lang="en-US" sz="1800" dirty="0"/>
          </a:p>
        </p:txBody>
      </p:sp>
      <p:sp>
        <p:nvSpPr>
          <p:cNvPr id="29" name="Text 24"/>
          <p:cNvSpPr txBox="1"/>
          <p:nvPr/>
        </p:nvSpPr>
        <p:spPr>
          <a:xfrm>
            <a:off x="11633200" y="2984500"/>
            <a:ext cx="5867400" cy="1371600"/>
          </a:xfrm>
          <a:prstGeom prst="rect">
            <a:avLst/>
          </a:prstGeom>
          <a:noFill/>
          <a:ln/>
        </p:spPr>
        <p:txBody>
          <a:bodyPr wrap="square" lIns="0" tIns="0" rIns="0" bIns="0" rtlCol="0" anchor="t"/>
          <a:lstStyle/>
          <a:p>
            <a:pPr algn="l" indent="0" marL="0">
              <a:spcAft>
                <a:spcPts val="200"/>
              </a:spcAft>
              <a:buNone/>
            </a:pPr>
            <a:r>
              <a:rPr lang="en-US" sz="1530" b="1" dirty="0">
                <a:solidFill>
                  <a:srgbClr val="1A2F57"/>
                </a:solidFill>
                <a:latin typeface="Calibri" pitchFamily="34" charset="0"/>
                <a:ea typeface="Calibri" pitchFamily="34" charset="-122"/>
                <a:cs typeface="Calibri" pitchFamily="34" charset="-120"/>
              </a:rPr>
              <a:t>MPLADS Guidelines 2016 &amp; 2023</a:t>
            </a:r>
            <a:pPr algn="l" indent="0" marL="0">
              <a:spcAft>
                <a:spcPts val="200"/>
              </a:spcAft>
              <a:buNone/>
            </a:pPr>
            <a:r>
              <a:rPr lang="en-US" sz="1530" dirty="0">
                <a:solidFill>
                  <a:srgbClr val="5B6B84"/>
                </a:solidFill>
                <a:latin typeface="Calibri" pitchFamily="34" charset="0"/>
                <a:ea typeface="Calibri" pitchFamily="34" charset="-122"/>
                <a:cs typeface="Calibri" pitchFamily="34" charset="-120"/>
              </a:rPr>
              <a:t> — mplads.gov.in</a:t>
            </a:r>
            <a:endParaRPr lang="en-US" sz="1530" dirty="0"/>
          </a:p>
          <a:p>
            <a:pPr algn="l" indent="0" marL="0">
              <a:spcAft>
                <a:spcPts val="200"/>
              </a:spcAft>
              <a:buNone/>
            </a:pPr>
            <a:r>
              <a:rPr lang="en-US" sz="1530" b="1" dirty="0">
                <a:solidFill>
                  <a:srgbClr val="1A2F57"/>
                </a:solidFill>
                <a:latin typeface="Calibri" pitchFamily="34" charset="0"/>
                <a:ea typeface="Calibri" pitchFamily="34" charset="-122"/>
                <a:cs typeface="Calibri" pitchFamily="34" charset="-120"/>
              </a:rPr>
              <a:t>eSAKSHI portal &amp; revised fund flow</a:t>
            </a:r>
            <a:pPr algn="l" indent="0" marL="0">
              <a:spcAft>
                <a:spcPts val="200"/>
              </a:spcAft>
              <a:buNone/>
            </a:pPr>
            <a:r>
              <a:rPr lang="en-US" sz="1530" dirty="0">
                <a:solidFill>
                  <a:srgbClr val="5B6B84"/>
                </a:solidFill>
                <a:latin typeface="Calibri" pitchFamily="34" charset="0"/>
                <a:ea typeface="Calibri" pitchFamily="34" charset="-122"/>
                <a:cs typeface="Calibri" pitchFamily="34" charset="-120"/>
              </a:rPr>
              <a:t> — MoSPI / PIB</a:t>
            </a:r>
            <a:endParaRPr lang="en-US" sz="1530" dirty="0"/>
          </a:p>
          <a:p>
            <a:pPr algn="l" indent="0" marL="0">
              <a:spcAft>
                <a:spcPts val="200"/>
              </a:spcAft>
              <a:buNone/>
            </a:pPr>
            <a:r>
              <a:rPr lang="en-US" sz="1530" b="1" dirty="0">
                <a:solidFill>
                  <a:srgbClr val="1A2F57"/>
                </a:solidFill>
                <a:latin typeface="Calibri" pitchFamily="34" charset="0"/>
                <a:ea typeface="Calibri" pitchFamily="34" charset="-122"/>
                <a:cs typeface="Calibri" pitchFamily="34" charset="-120"/>
              </a:rPr>
              <a:t>CAG Performance Audit of MPLADS</a:t>
            </a:r>
            <a:pPr algn="l" indent="0" marL="0">
              <a:spcAft>
                <a:spcPts val="200"/>
              </a:spcAft>
              <a:buNone/>
            </a:pPr>
            <a:r>
              <a:rPr lang="en-US" sz="1530" dirty="0">
                <a:solidFill>
                  <a:srgbClr val="5B6B84"/>
                </a:solidFill>
                <a:latin typeface="Calibri" pitchFamily="34" charset="0"/>
                <a:ea typeface="Calibri" pitchFamily="34" charset="-122"/>
                <a:cs typeface="Calibri" pitchFamily="34" charset="-120"/>
              </a:rPr>
              <a:t> — Report 31 of 2010-11</a:t>
            </a:r>
            <a:endParaRPr lang="en-US" sz="1530" dirty="0"/>
          </a:p>
          <a:p>
            <a:pPr algn="l" indent="0" marL="0">
              <a:spcAft>
                <a:spcPts val="200"/>
              </a:spcAft>
              <a:buNone/>
            </a:pPr>
            <a:r>
              <a:rPr lang="en-US" sz="1530" b="1" dirty="0">
                <a:solidFill>
                  <a:srgbClr val="1A2F57"/>
                </a:solidFill>
                <a:latin typeface="Calibri" pitchFamily="34" charset="0"/>
                <a:ea typeface="Calibri" pitchFamily="34" charset="-122"/>
                <a:cs typeface="Calibri" pitchFamily="34" charset="-120"/>
              </a:rPr>
              <a:t>PMAY-G AwaasApp · Mission Amrit Sarovar</a:t>
            </a:r>
            <a:pPr algn="l" indent="0" marL="0">
              <a:spcAft>
                <a:spcPts val="200"/>
              </a:spcAft>
              <a:buNone/>
            </a:pPr>
            <a:r>
              <a:rPr lang="en-US" sz="1530" dirty="0">
                <a:solidFill>
                  <a:srgbClr val="5B6B84"/>
                </a:solidFill>
                <a:latin typeface="Calibri" pitchFamily="34" charset="0"/>
                <a:ea typeface="Calibri" pitchFamily="34" charset="-122"/>
                <a:cs typeface="Calibri" pitchFamily="34" charset="-120"/>
              </a:rPr>
              <a:t> — MoRD / BISAG-N</a:t>
            </a:r>
            <a:endParaRPr lang="en-US" sz="1530" dirty="0"/>
          </a:p>
        </p:txBody>
      </p:sp>
      <p:sp>
        <p:nvSpPr>
          <p:cNvPr id="30" name="Shape 25"/>
          <p:cNvSpPr/>
          <p:nvPr/>
        </p:nvSpPr>
        <p:spPr>
          <a:xfrm>
            <a:off x="11239500" y="4584700"/>
            <a:ext cx="6438900" cy="2374900"/>
          </a:xfrm>
          <a:prstGeom prst="roundRect">
            <a:avLst>
              <a:gd name="adj" fmla="val 5882"/>
            </a:avLst>
          </a:prstGeom>
          <a:solidFill>
            <a:srgbClr val="FFFFFF"/>
          </a:solidFill>
          <a:ln w="19050">
            <a:solidFill>
              <a:srgbClr val="B1BBC8"/>
            </a:solidFill>
            <a:prstDash val="solid"/>
          </a:ln>
        </p:spPr>
      </p:sp>
      <p:sp>
        <p:nvSpPr>
          <p:cNvPr id="31" name="Shape 26"/>
          <p:cNvSpPr/>
          <p:nvPr/>
        </p:nvSpPr>
        <p:spPr>
          <a:xfrm>
            <a:off x="11442700" y="4787900"/>
            <a:ext cx="596900" cy="596900"/>
          </a:xfrm>
          <a:prstGeom prst="ellipse">
            <a:avLst/>
          </a:prstGeom>
          <a:solidFill>
            <a:srgbClr val="2A4D88"/>
          </a:solidFill>
          <a:ln/>
        </p:spPr>
      </p:sp>
      <p:pic>
        <p:nvPicPr>
          <p:cNvPr id="32" name="Image 2" descr="C:\Users\abhim\drishti\docs\deck\assets\icons\book_w.png">    </p:cNvPr>
          <p:cNvPicPr>
            <a:picLocks noChangeAspect="1"/>
          </p:cNvPicPr>
          <p:nvPr/>
        </p:nvPicPr>
        <p:blipFill>
          <a:blip r:embed="rId3"/>
          <a:stretch>
            <a:fillRect/>
          </a:stretch>
        </p:blipFill>
        <p:spPr>
          <a:xfrm>
            <a:off x="11591925" y="4937125"/>
            <a:ext cx="298450" cy="298450"/>
          </a:xfrm>
          <a:prstGeom prst="rect">
            <a:avLst/>
          </a:prstGeom>
        </p:spPr>
      </p:pic>
      <p:sp>
        <p:nvSpPr>
          <p:cNvPr id="33" name="Text 27"/>
          <p:cNvSpPr txBox="1"/>
          <p:nvPr/>
        </p:nvSpPr>
        <p:spPr>
          <a:xfrm>
            <a:off x="12179300" y="4787900"/>
            <a:ext cx="5334000" cy="596900"/>
          </a:xfrm>
          <a:prstGeom prst="rect">
            <a:avLst/>
          </a:prstGeom>
          <a:noFill/>
          <a:ln/>
        </p:spPr>
        <p:txBody>
          <a:bodyPr wrap="square" lIns="0" tIns="0" rIns="0" bIns="0" rtlCol="0" anchor="ctr"/>
          <a:lstStyle/>
          <a:p>
            <a:pPr algn="l" indent="0" marL="0">
              <a:buNone/>
            </a:pPr>
            <a:r>
              <a:rPr lang="en-US" sz="1800" b="1" dirty="0">
                <a:solidFill>
                  <a:srgbClr val="2A4D88"/>
                </a:solidFill>
                <a:latin typeface="Calibri" pitchFamily="34" charset="0"/>
                <a:ea typeface="Calibri" pitchFamily="34" charset="-122"/>
                <a:cs typeface="Calibri" pitchFamily="34" charset="-120"/>
              </a:rPr>
              <a:t>Research Papers</a:t>
            </a:r>
            <a:endParaRPr lang="en-US" sz="1800" dirty="0"/>
          </a:p>
        </p:txBody>
      </p:sp>
      <p:sp>
        <p:nvSpPr>
          <p:cNvPr id="34" name="Text 28"/>
          <p:cNvSpPr txBox="1"/>
          <p:nvPr/>
        </p:nvSpPr>
        <p:spPr>
          <a:xfrm>
            <a:off x="11633200" y="5524500"/>
            <a:ext cx="5867400" cy="1371600"/>
          </a:xfrm>
          <a:prstGeom prst="rect">
            <a:avLst/>
          </a:prstGeom>
          <a:noFill/>
          <a:ln/>
        </p:spPr>
        <p:txBody>
          <a:bodyPr wrap="square" lIns="0" tIns="0" rIns="0" bIns="0" rtlCol="0" anchor="t"/>
          <a:lstStyle/>
          <a:p>
            <a:pPr algn="l" indent="0" marL="0">
              <a:spcAft>
                <a:spcPts val="200"/>
              </a:spcAft>
              <a:buNone/>
            </a:pPr>
            <a:r>
              <a:rPr lang="en-US" sz="1530" b="1" dirty="0">
                <a:solidFill>
                  <a:srgbClr val="1A2F57"/>
                </a:solidFill>
                <a:latin typeface="Calibri" pitchFamily="34" charset="0"/>
                <a:ea typeface="Calibri" pitchFamily="34" charset="-122"/>
                <a:cs typeface="Calibri" pitchFamily="34" charset="-120"/>
              </a:rPr>
              <a:t>Perceptual image hashing</a:t>
            </a:r>
            <a:pPr algn="l" indent="0" marL="0">
              <a:spcAft>
                <a:spcPts val="200"/>
              </a:spcAft>
              <a:buNone/>
            </a:pPr>
            <a:r>
              <a:rPr lang="en-US" sz="1530" dirty="0">
                <a:solidFill>
                  <a:srgbClr val="5B6B84"/>
                </a:solidFill>
                <a:latin typeface="Calibri" pitchFamily="34" charset="0"/>
                <a:ea typeface="Calibri" pitchFamily="34" charset="-122"/>
                <a:cs typeface="Calibri" pitchFamily="34" charset="-120"/>
              </a:rPr>
              <a:t> — Zauner, 2010</a:t>
            </a:r>
            <a:endParaRPr lang="en-US" sz="1530" dirty="0"/>
          </a:p>
          <a:p>
            <a:pPr algn="l" indent="0" marL="0">
              <a:spcAft>
                <a:spcPts val="200"/>
              </a:spcAft>
              <a:buNone/>
            </a:pPr>
            <a:r>
              <a:rPr lang="en-US" sz="1530" b="1" dirty="0">
                <a:solidFill>
                  <a:srgbClr val="1A2F57"/>
                </a:solidFill>
                <a:latin typeface="Calibri" pitchFamily="34" charset="0"/>
                <a:ea typeface="Calibri" pitchFamily="34" charset="-122"/>
                <a:cs typeface="Calibri" pitchFamily="34" charset="-120"/>
              </a:rPr>
              <a:t>ORB feature matching</a:t>
            </a:r>
            <a:pPr algn="l" indent="0" marL="0">
              <a:spcAft>
                <a:spcPts val="200"/>
              </a:spcAft>
              <a:buNone/>
            </a:pPr>
            <a:r>
              <a:rPr lang="en-US" sz="1530" dirty="0">
                <a:solidFill>
                  <a:srgbClr val="5B6B84"/>
                </a:solidFill>
                <a:latin typeface="Calibri" pitchFamily="34" charset="0"/>
                <a:ea typeface="Calibri" pitchFamily="34" charset="-122"/>
                <a:cs typeface="Calibri" pitchFamily="34" charset="-120"/>
              </a:rPr>
              <a:t> — Rublee et al., ICCV 2011</a:t>
            </a:r>
            <a:endParaRPr lang="en-US" sz="1530" dirty="0"/>
          </a:p>
          <a:p>
            <a:pPr algn="l" indent="0" marL="0">
              <a:spcAft>
                <a:spcPts val="200"/>
              </a:spcAft>
              <a:buNone/>
            </a:pPr>
            <a:r>
              <a:rPr lang="en-US" sz="1530" b="1" dirty="0">
                <a:solidFill>
                  <a:srgbClr val="1A2F57"/>
                </a:solidFill>
                <a:latin typeface="Calibri" pitchFamily="34" charset="0"/>
                <a:ea typeface="Calibri" pitchFamily="34" charset="-122"/>
                <a:cs typeface="Calibri" pitchFamily="34" charset="-120"/>
              </a:rPr>
              <a:t>Multilingual sentence embeddings</a:t>
            </a:r>
            <a:pPr algn="l" indent="0" marL="0">
              <a:spcAft>
                <a:spcPts val="200"/>
              </a:spcAft>
              <a:buNone/>
            </a:pPr>
            <a:r>
              <a:rPr lang="en-US" sz="1530" dirty="0">
                <a:solidFill>
                  <a:srgbClr val="5B6B84"/>
                </a:solidFill>
                <a:latin typeface="Calibri" pitchFamily="34" charset="0"/>
                <a:ea typeface="Calibri" pitchFamily="34" charset="-122"/>
                <a:cs typeface="Calibri" pitchFamily="34" charset="-120"/>
              </a:rPr>
              <a:t> — Reimers &amp; Gurevych, EMNLP 2020</a:t>
            </a:r>
            <a:endParaRPr lang="en-US" sz="1530" dirty="0"/>
          </a:p>
          <a:p>
            <a:pPr algn="l" indent="0" marL="0">
              <a:spcAft>
                <a:spcPts val="200"/>
              </a:spcAft>
              <a:buNone/>
            </a:pPr>
            <a:r>
              <a:rPr lang="en-US" sz="1530" b="1" dirty="0">
                <a:solidFill>
                  <a:srgbClr val="1A2F57"/>
                </a:solidFill>
                <a:latin typeface="Calibri" pitchFamily="34" charset="0"/>
                <a:ea typeface="Calibri" pitchFamily="34" charset="-122"/>
                <a:cs typeface="Calibri" pitchFamily="34" charset="-120"/>
              </a:rPr>
              <a:t>LightGBM</a:t>
            </a:r>
            <a:pPr algn="l" indent="0" marL="0">
              <a:spcAft>
                <a:spcPts val="200"/>
              </a:spcAft>
              <a:buNone/>
            </a:pPr>
            <a:r>
              <a:rPr lang="en-US" sz="1530" dirty="0">
                <a:solidFill>
                  <a:srgbClr val="5B6B84"/>
                </a:solidFill>
                <a:latin typeface="Calibri" pitchFamily="34" charset="0"/>
                <a:ea typeface="Calibri" pitchFamily="34" charset="-122"/>
                <a:cs typeface="Calibri" pitchFamily="34" charset="-120"/>
              </a:rPr>
              <a:t> — Ke et al., NeurIPS 2017</a:t>
            </a:r>
            <a:endParaRPr lang="en-US" sz="1530" dirty="0"/>
          </a:p>
        </p:txBody>
      </p:sp>
      <p:sp>
        <p:nvSpPr>
          <p:cNvPr id="35" name="Shape 29"/>
          <p:cNvSpPr/>
          <p:nvPr/>
        </p:nvSpPr>
        <p:spPr>
          <a:xfrm>
            <a:off x="11239500" y="7124700"/>
            <a:ext cx="6438900" cy="2374900"/>
          </a:xfrm>
          <a:prstGeom prst="roundRect">
            <a:avLst>
              <a:gd name="adj" fmla="val 5882"/>
            </a:avLst>
          </a:prstGeom>
          <a:solidFill>
            <a:srgbClr val="FFFFFF"/>
          </a:solidFill>
          <a:ln w="19050">
            <a:solidFill>
              <a:srgbClr val="B1BBC8"/>
            </a:solidFill>
            <a:prstDash val="solid"/>
          </a:ln>
        </p:spPr>
      </p:sp>
      <p:sp>
        <p:nvSpPr>
          <p:cNvPr id="36" name="Shape 30"/>
          <p:cNvSpPr/>
          <p:nvPr/>
        </p:nvSpPr>
        <p:spPr>
          <a:xfrm>
            <a:off x="11442700" y="7327900"/>
            <a:ext cx="596900" cy="596900"/>
          </a:xfrm>
          <a:prstGeom prst="ellipse">
            <a:avLst/>
          </a:prstGeom>
          <a:solidFill>
            <a:srgbClr val="2A4D88"/>
          </a:solidFill>
          <a:ln/>
        </p:spPr>
      </p:sp>
      <p:pic>
        <p:nvPicPr>
          <p:cNvPr id="37" name="Image 3" descr="C:\Users\abhim\drishti\docs\deck\assets\icons\database_w.png">    </p:cNvPr>
          <p:cNvPicPr>
            <a:picLocks noChangeAspect="1"/>
          </p:cNvPicPr>
          <p:nvPr/>
        </p:nvPicPr>
        <p:blipFill>
          <a:blip r:embed="rId4"/>
          <a:stretch>
            <a:fillRect/>
          </a:stretch>
        </p:blipFill>
        <p:spPr>
          <a:xfrm>
            <a:off x="11591925" y="7477125"/>
            <a:ext cx="298450" cy="298450"/>
          </a:xfrm>
          <a:prstGeom prst="rect">
            <a:avLst/>
          </a:prstGeom>
        </p:spPr>
      </p:pic>
      <p:sp>
        <p:nvSpPr>
          <p:cNvPr id="38" name="Text 31"/>
          <p:cNvSpPr txBox="1"/>
          <p:nvPr/>
        </p:nvSpPr>
        <p:spPr>
          <a:xfrm>
            <a:off x="12179300" y="7327900"/>
            <a:ext cx="5334000" cy="596900"/>
          </a:xfrm>
          <a:prstGeom prst="rect">
            <a:avLst/>
          </a:prstGeom>
          <a:noFill/>
          <a:ln/>
        </p:spPr>
        <p:txBody>
          <a:bodyPr wrap="square" lIns="0" tIns="0" rIns="0" bIns="0" rtlCol="0" anchor="ctr"/>
          <a:lstStyle/>
          <a:p>
            <a:pPr algn="l" indent="0" marL="0">
              <a:buNone/>
            </a:pPr>
            <a:r>
              <a:rPr lang="en-US" sz="1800" b="1" dirty="0">
                <a:solidFill>
                  <a:srgbClr val="2A4D88"/>
                </a:solidFill>
                <a:latin typeface="Calibri" pitchFamily="34" charset="0"/>
                <a:ea typeface="Calibri" pitchFamily="34" charset="-122"/>
                <a:cs typeface="Calibri" pitchFamily="34" charset="-120"/>
              </a:rPr>
              <a:t>Datasets &amp; Tools</a:t>
            </a:r>
            <a:endParaRPr lang="en-US" sz="1800" dirty="0"/>
          </a:p>
        </p:txBody>
      </p:sp>
      <p:sp>
        <p:nvSpPr>
          <p:cNvPr id="39" name="Text 32"/>
          <p:cNvSpPr txBox="1"/>
          <p:nvPr/>
        </p:nvSpPr>
        <p:spPr>
          <a:xfrm>
            <a:off x="11633200" y="8064500"/>
            <a:ext cx="5867400" cy="1371600"/>
          </a:xfrm>
          <a:prstGeom prst="rect">
            <a:avLst/>
          </a:prstGeom>
          <a:noFill/>
          <a:ln/>
        </p:spPr>
        <p:txBody>
          <a:bodyPr wrap="square" lIns="0" tIns="0" rIns="0" bIns="0" rtlCol="0" anchor="t"/>
          <a:lstStyle/>
          <a:p>
            <a:pPr algn="l" indent="0" marL="0">
              <a:spcAft>
                <a:spcPts val="200"/>
              </a:spcAft>
              <a:buNone/>
            </a:pPr>
            <a:r>
              <a:rPr lang="en-US" sz="1530" b="1" dirty="0">
                <a:solidFill>
                  <a:srgbClr val="1A2F57"/>
                </a:solidFill>
                <a:latin typeface="Calibri" pitchFamily="34" charset="0"/>
                <a:ea typeface="Calibri" pitchFamily="34" charset="-122"/>
                <a:cs typeface="Calibri" pitchFamily="34" charset="-120"/>
              </a:rPr>
              <a:t>eSAKSHI public works data</a:t>
            </a:r>
            <a:pPr algn="l" indent="0" marL="0">
              <a:spcAft>
                <a:spcPts val="200"/>
              </a:spcAft>
              <a:buNone/>
            </a:pPr>
            <a:r>
              <a:rPr lang="en-US" sz="1530" dirty="0">
                <a:solidFill>
                  <a:srgbClr val="5B6B84"/>
                </a:solidFill>
                <a:latin typeface="Calibri" pitchFamily="34" charset="0"/>
                <a:ea typeface="Calibri" pitchFamily="34" charset="-122"/>
                <a:cs typeface="Calibri" pitchFamily="34" charset="-120"/>
              </a:rPr>
              <a:t> + uploaded certificates &amp; photos</a:t>
            </a:r>
            <a:endParaRPr lang="en-US" sz="1530" dirty="0"/>
          </a:p>
          <a:p>
            <a:pPr algn="l" indent="0" marL="0">
              <a:spcAft>
                <a:spcPts val="200"/>
              </a:spcAft>
              <a:buNone/>
            </a:pPr>
            <a:r>
              <a:rPr lang="en-US" sz="1530" b="1" dirty="0">
                <a:solidFill>
                  <a:srgbClr val="1A2F57"/>
                </a:solidFill>
                <a:latin typeface="Calibri" pitchFamily="34" charset="0"/>
                <a:ea typeface="Calibri" pitchFamily="34" charset="-122"/>
                <a:cs typeface="Calibri" pitchFamily="34" charset="-120"/>
              </a:rPr>
              <a:t>LGD boundaries · India Post DIGIPIN</a:t>
            </a:r>
            <a:pPr algn="l" indent="0" marL="0">
              <a:spcAft>
                <a:spcPts val="200"/>
              </a:spcAft>
              <a:buNone/>
            </a:pPr>
            <a:r>
              <a:rPr lang="en-US" sz="1530" dirty="0">
                <a:solidFill>
                  <a:srgbClr val="5B6B84"/>
                </a:solidFill>
                <a:latin typeface="Calibri" pitchFamily="34" charset="0"/>
                <a:ea typeface="Calibri" pitchFamily="34" charset="-122"/>
                <a:cs typeface="Calibri" pitchFamily="34" charset="-120"/>
              </a:rPr>
              <a:t> — official maps</a:t>
            </a:r>
            <a:endParaRPr lang="en-US" sz="1530" dirty="0"/>
          </a:p>
          <a:p>
            <a:pPr algn="l" indent="0" marL="0">
              <a:spcAft>
                <a:spcPts val="200"/>
              </a:spcAft>
              <a:buNone/>
            </a:pPr>
            <a:r>
              <a:rPr lang="en-US" sz="1530" b="1" dirty="0">
                <a:solidFill>
                  <a:srgbClr val="1A2F57"/>
                </a:solidFill>
                <a:latin typeface="Calibri" pitchFamily="34" charset="0"/>
                <a:ea typeface="Calibri" pitchFamily="34" charset="-122"/>
                <a:cs typeface="Calibri" pitchFamily="34" charset="-120"/>
              </a:rPr>
              <a:t>Copernicus Sentinel-2</a:t>
            </a:r>
            <a:pPr algn="l" indent="0" marL="0">
              <a:spcAft>
                <a:spcPts val="200"/>
              </a:spcAft>
              <a:buNone/>
            </a:pPr>
            <a:r>
              <a:rPr lang="en-US" sz="1530" dirty="0">
                <a:solidFill>
                  <a:srgbClr val="5B6B84"/>
                </a:solidFill>
                <a:latin typeface="Calibri" pitchFamily="34" charset="0"/>
                <a:ea typeface="Calibri" pitchFamily="34" charset="-122"/>
                <a:cs typeface="Calibri" pitchFamily="34" charset="-120"/>
              </a:rPr>
              <a:t> — free satellite imagery</a:t>
            </a:r>
            <a:endParaRPr lang="en-US" sz="1530" dirty="0"/>
          </a:p>
          <a:p>
            <a:pPr algn="l" indent="0" marL="0">
              <a:spcAft>
                <a:spcPts val="200"/>
              </a:spcAft>
              <a:buNone/>
            </a:pPr>
            <a:r>
              <a:rPr lang="en-US" sz="1530" b="1" dirty="0">
                <a:solidFill>
                  <a:srgbClr val="1A2F57"/>
                </a:solidFill>
                <a:latin typeface="Calibri" pitchFamily="34" charset="0"/>
                <a:ea typeface="Calibri" pitchFamily="34" charset="-122"/>
                <a:cs typeface="Calibri" pitchFamily="34" charset="-120"/>
              </a:rPr>
              <a:t>Gemini vision · OpenCV · scikit-learn</a:t>
            </a:r>
            <a:pPr algn="l" indent="0" marL="0">
              <a:spcAft>
                <a:spcPts val="200"/>
              </a:spcAft>
              <a:buNone/>
            </a:pPr>
            <a:endParaRPr lang="en-US" sz="15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DRISHTI — SIH26102 — NeuralNexus</dc:title>
  <dc:subject>PptxGenJS Presentation</dc:subject>
  <dc:creator>NeuralNexus</dc:creator>
  <cp:lastModifiedBy>NeuralNexus</cp:lastModifiedBy>
  <cp:revision>1</cp:revision>
  <dcterms:created xsi:type="dcterms:W3CDTF">2026-09-26T07:28:37Z</dcterms:created>
  <dcterms:modified xsi:type="dcterms:W3CDTF">2026-09-26T07:28:37Z</dcterms:modified>
</cp:coreProperties>
</file>