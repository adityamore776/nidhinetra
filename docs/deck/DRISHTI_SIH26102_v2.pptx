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 unchanged from the team's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agents in four stages of a work's life. Each maps to a problem the PS names or a CAG audit found: cost overruns (Cost, Document), duplicate works (Duplicate &amp; Split), delayed projects (Delay Prediction), misuse of funds (Photo Forensics, Geo-Location, Document, Fund Flow, Contractor Network), non-compliance (Eligibility), early warning (Delay Prediction, pre-sanction checks). Satellite runs only for big works (ponds, long roads) and only after it passes a go/no-go test on real works. 45-day window: the team's reading of the MPLADS Guidelines 2023 — confirm against the 2023 text (the 2016 edition says sanction within 75 days, rejection within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order: before sanction (Eligibility, Duplicate &amp; Split, Cost); during construction (Site Progress, Photo Forensics, Geo-Location, Document, Satellite); money &amp; time (Delay Prediction, Fund Flow, Contractor Network); after completion (Citizen Verification). Each agent is tested on held-out real data against the method a typical team would use (Isolation Forest, TF-IDF duplicates, 64-bit photo hashes, deadline rules) and stays switched off if it does not beat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Precedents: PMAY-G releases instalments only on geo-tagged stage photos (3.84 crore house sites geo-tagged by July 2025); Mission Amrit Sarovar monitors 68,000+ ponds with remote sensing (BISAG-N). Data: 2,09,993 works from the public eSAKSHI export are loaded in the prototype; about two-thirds of completed works carry an attachment on eSAKSHI (completion certificates, bills, utilisation certificates, geo-stamped photos). AI cost: an estimate from list prices for a low-cost vision model,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real eSAKSHI export in the live prototype (2026-09-26): 2,09,993 works screened; 276 (0.13%) flagged Medium for review (253 on price), none High yet. Date errors from bulk entry when eSAKSHI opened are listed once per office (22 offices) instead of filling the queue. 'Two in three': about two-thirds of completed works carry an attachment on eSAKSHI (65.9% of completed 18th Lok Sabha works in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Checkmarks: eSAKSHI collects geo-tagged photos and citizen ratings but does not verify or use them (21,789 of 21,793 ratings on completed 18th LS works are zero) - hence 'Partial'. CAG figures are totals from the annexures of CAG Report No. 31 of 2010-11 (TOTAL rows, sampled districts): Annex 7.2 plaques not erected - 4,918 works in 31 District Authorities (Rs 100.20 crore); Annex 4.7 incomplete works - 12,006 works in 71 DAs, Rs 279.99 crore. The earlier '₹9.16 Cr on 518 works' figure was replaced because it could not be traced to that report; restore it if the team has the source. Outlay ~Rs 4,000 crore: PIB 2027330 (June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image" Target="../media/image-3-8.png"/><Relationship Id="rId9" Type="http://schemas.openxmlformats.org/officeDocument/2006/relationships/image" Target="../media/image-3-3.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slideLayout" Target="../slideLayouts/slideLayout1.xml"/><Relationship Id="rId2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6.png"/><Relationship Id="rId10" Type="http://schemas.openxmlformats.org/officeDocument/2006/relationships/image" Target="../media/image-4-7.png"/><Relationship Id="rId11" Type="http://schemas.openxmlformats.org/officeDocument/2006/relationships/image" Target="../media/image-4-8.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image" Target="../media/image-4-6.png"/><Relationship Id="rId16" Type="http://schemas.openxmlformats.org/officeDocument/2006/relationships/image" Target="../media/image-4-7.png"/><Relationship Id="rId17" Type="http://schemas.openxmlformats.org/officeDocument/2006/relationships/image" Target="../media/image-4-8.png"/><Relationship Id="rId18" Type="http://schemas.openxmlformats.org/officeDocument/2006/relationships/image" Target="../media/image-4-7.png"/><Relationship Id="rId19" Type="http://schemas.openxmlformats.org/officeDocument/2006/relationships/image" Target="../media/image-4-7.png"/><Relationship Id="rId20" Type="http://schemas.openxmlformats.org/officeDocument/2006/relationships/image" Target="../media/image-4-7.png"/><Relationship Id="rId21" Type="http://schemas.openxmlformats.org/officeDocument/2006/relationships/image" Target="../media/image-4-21.png"/><Relationship Id="rId22" Type="http://schemas.openxmlformats.org/officeDocument/2006/relationships/slideLayout" Target="../slideLayouts/slideLayout1.xml"/><Relationship Id="rId2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0" y="508000"/>
            <a:ext cx="11849100" cy="863600"/>
          </a:xfrm>
          <a:prstGeom prst="rect">
            <a:avLst/>
          </a:prstGeom>
          <a:noFill/>
          <a:ln/>
        </p:spPr>
        <p:txBody>
          <a:bodyPr wrap="square" lIns="0" tIns="0" rIns="0" bIns="0" rtlCol="0" anchor="ctr"/>
          <a:lstStyle/>
          <a:p>
            <a:pPr algn="ctr" indent="0" marL="0">
              <a:buNone/>
            </a:pPr>
            <a:r>
              <a:rPr lang="en-US" sz="4800" b="1" dirty="0">
                <a:solidFill>
                  <a:srgbClr val="2A4D88"/>
                </a:solidFill>
                <a:latin typeface="Cambria" pitchFamily="34" charset="0"/>
                <a:ea typeface="Cambria" pitchFamily="34" charset="-122"/>
                <a:cs typeface="Cambria" pitchFamily="34" charset="-120"/>
              </a:rPr>
              <a:t>SMART INDIA HACKATHON 2026</a:t>
            </a:r>
            <a:endParaRPr lang="en-US" sz="4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0" y="1634490"/>
          <a:ext cx="13716000" cy="914400"/>
        </p:xfrm>
        <a:graphic>
          <a:graphicData uri="http://schemas.openxmlformats.org/drawingml/2006/table">
            <a:tbl>
              <a:tblPr/>
              <a:tblGrid>
                <a:gridCol w="3841750"/>
                <a:gridCol w="8007350"/>
              </a:tblGrid>
              <a:tr h="151511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Problem Statement ID</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SIH26102</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13589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Problem Statement Title</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Development of an AI-powered system to detect anomalies, fraud, and inefficiencies in MPLAD Scheme implementation regd.</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9906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Organisation</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Ministry of Statistics &amp; Programme Implementation (MoSPI)</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10160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Theme</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Smart Automation</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9906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PS Category</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Software</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10033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Team ID</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121911</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177419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Team Name</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NeuralNexus</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bl>
          </a:graphicData>
        </a:graphic>
      </p:graphicFrame>
      <p:sp>
        <p:nvSpPr>
          <p:cNvPr id="4" name="Shape 1"/>
          <p:cNvSpPr/>
          <p:nvPr/>
        </p:nvSpPr>
        <p:spPr>
          <a:xfrm>
            <a:off x="11855450" y="0"/>
            <a:ext cx="6432550" cy="10287000"/>
          </a:xfrm>
          <a:prstGeom prst="rect">
            <a:avLst/>
          </a:prstGeom>
          <a:solidFill>
            <a:srgbClr val="2A4D88"/>
          </a:solidFill>
          <a:ln/>
        </p:spPr>
      </p:sp>
      <p:sp>
        <p:nvSpPr>
          <p:cNvPr id="5" name="Shape 2"/>
          <p:cNvSpPr/>
          <p:nvPr/>
        </p:nvSpPr>
        <p:spPr>
          <a:xfrm>
            <a:off x="12608560" y="744220"/>
            <a:ext cx="4953000" cy="2419350"/>
          </a:xfrm>
          <a:prstGeom prst="roundRect">
            <a:avLst>
              <a:gd name="adj" fmla="val 5774"/>
            </a:avLst>
          </a:prstGeom>
          <a:solidFill>
            <a:srgbClr val="FFFFFF"/>
          </a:solidFill>
          <a:ln/>
        </p:spPr>
      </p:sp>
      <p:pic>
        <p:nvPicPr>
          <p:cNvPr id="6" name="Image 0" descr="C:\Users\abhim\drishti\docs\deck\assets\sih_logo_wide.png">    </p:cNvPr>
          <p:cNvPicPr>
            <a:picLocks noChangeAspect="1"/>
          </p:cNvPicPr>
          <p:nvPr/>
        </p:nvPicPr>
        <p:blipFill>
          <a:blip r:embed="rId1"/>
          <a:stretch>
            <a:fillRect/>
          </a:stretch>
        </p:blipFill>
        <p:spPr>
          <a:xfrm>
            <a:off x="13093700" y="952500"/>
            <a:ext cx="3962400" cy="1871980"/>
          </a:xfrm>
          <a:prstGeom prst="rect">
            <a:avLst/>
          </a:prstGeom>
        </p:spPr>
      </p:pic>
      <p:sp>
        <p:nvSpPr>
          <p:cNvPr id="7" name="Text 3"/>
          <p:cNvSpPr txBox="1"/>
          <p:nvPr/>
        </p:nvSpPr>
        <p:spPr>
          <a:xfrm>
            <a:off x="11855450" y="4546600"/>
            <a:ext cx="6432550" cy="1066800"/>
          </a:xfrm>
          <a:prstGeom prst="rect">
            <a:avLst/>
          </a:prstGeom>
          <a:noFill/>
          <a:ln/>
        </p:spPr>
        <p:txBody>
          <a:bodyPr wrap="square" lIns="0" tIns="0" rIns="0" bIns="0" rtlCol="0" anchor="ctr"/>
          <a:lstStyle/>
          <a:p>
            <a:pPr algn="ctr" indent="0" marL="0">
              <a:buNone/>
            </a:pPr>
            <a:r>
              <a:rPr lang="en-US" sz="6200" b="1" dirty="0">
                <a:solidFill>
                  <a:srgbClr val="FFFFFF"/>
                </a:solidFill>
                <a:latin typeface="Cambria" pitchFamily="34" charset="0"/>
                <a:ea typeface="Cambria" pitchFamily="34" charset="-122"/>
                <a:cs typeface="Cambria" pitchFamily="34" charset="-120"/>
              </a:rPr>
              <a:t>DRISHTI</a:t>
            </a:r>
            <a:endParaRPr lang="en-US" sz="6200" dirty="0"/>
          </a:p>
        </p:txBody>
      </p:sp>
      <p:sp>
        <p:nvSpPr>
          <p:cNvPr id="8" name="Text 4"/>
          <p:cNvSpPr txBox="1"/>
          <p:nvPr/>
        </p:nvSpPr>
        <p:spPr>
          <a:xfrm>
            <a:off x="11855450" y="5588000"/>
            <a:ext cx="6432550" cy="431800"/>
          </a:xfrm>
          <a:prstGeom prst="rect">
            <a:avLst/>
          </a:prstGeom>
          <a:noFill/>
          <a:ln/>
        </p:spPr>
        <p:txBody>
          <a:bodyPr wrap="square" lIns="0" tIns="0" rIns="0" bIns="0" rtlCol="0" anchor="ctr"/>
          <a:lstStyle/>
          <a:p>
            <a:pPr algn="ctr" indent="0" marL="0">
              <a:buNone/>
            </a:pPr>
            <a:r>
              <a:rPr lang="en-US" sz="2850" b="1" dirty="0">
                <a:solidFill>
                  <a:srgbClr val="B1BBC8"/>
                </a:solidFill>
                <a:latin typeface="Calibri" pitchFamily="34" charset="0"/>
                <a:ea typeface="Calibri" pitchFamily="34" charset="-122"/>
                <a:cs typeface="Calibri" pitchFamily="34" charset="-120"/>
              </a:rPr>
              <a:t>The AI-eye on every MPLADS rupee</a:t>
            </a:r>
            <a:endParaRPr lang="en-US" sz="2850" dirty="0"/>
          </a:p>
        </p:txBody>
      </p:sp>
      <p:sp>
        <p:nvSpPr>
          <p:cNvPr id="9" name="Text 5"/>
          <p:cNvSpPr txBox="1"/>
          <p:nvPr/>
        </p:nvSpPr>
        <p:spPr>
          <a:xfrm>
            <a:off x="11855450" y="6350000"/>
            <a:ext cx="6432550" cy="1219200"/>
          </a:xfrm>
          <a:prstGeom prst="rect">
            <a:avLst/>
          </a:prstGeom>
          <a:noFill/>
          <a:ln/>
        </p:spPr>
        <p:txBody>
          <a:bodyPr wrap="square" lIns="0" tIns="0" rIns="0" bIns="0" rtlCol="0" anchor="t"/>
          <a:lstStyle/>
          <a:p>
            <a:pPr algn="ctr" indent="0" marL="0">
              <a:buNone/>
            </a:pPr>
            <a:r>
              <a:rPr lang="en-US" sz="2750" i="1" dirty="0">
                <a:solidFill>
                  <a:srgbClr val="D9D9D8"/>
                </a:solidFill>
                <a:latin typeface="Calibri" pitchFamily="34" charset="0"/>
                <a:ea typeface="Calibri" pitchFamily="34" charset="-122"/>
                <a:cs typeface="Calibri" pitchFamily="34" charset="-120"/>
              </a:rPr>
              <a:t>Detect anomalies. Explain risks.</a:t>
            </a:r>
            <a:endParaRPr lang="en-US" sz="2750" dirty="0"/>
          </a:p>
          <a:p>
            <a:pPr algn="ctr" indent="0" marL="0">
              <a:buNone/>
            </a:pPr>
            <a:r>
              <a:rPr lang="en-US" sz="2750" i="1" dirty="0">
                <a:solidFill>
                  <a:srgbClr val="D9D9D8"/>
                </a:solidFill>
                <a:latin typeface="Calibri" pitchFamily="34" charset="0"/>
                <a:ea typeface="Calibri" pitchFamily="34" charset="-122"/>
                <a:cs typeface="Calibri" pitchFamily="34" charset="-120"/>
              </a:rPr>
              <a:t>Enable smarter oversight of public</a:t>
            </a:r>
            <a:endParaRPr lang="en-US" sz="2750" dirty="0"/>
          </a:p>
          <a:p>
            <a:pPr algn="ctr" indent="0" marL="0">
              <a:buNone/>
            </a:pPr>
            <a:r>
              <a:rPr lang="en-US" sz="2750" i="1" dirty="0">
                <a:solidFill>
                  <a:srgbClr val="D9D9D8"/>
                </a:solidFill>
                <a:latin typeface="Calibri" pitchFamily="34" charset="0"/>
                <a:ea typeface="Calibri" pitchFamily="34" charset="-122"/>
                <a:cs typeface="Calibri" pitchFamily="34" charset="-120"/>
              </a:rPr>
              <a:t>funds.</a:t>
            </a:r>
            <a:endParaRPr lang="en-US" sz="2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pic>
        <p:nvPicPr>
          <p:cNvPr id="4" name="Image 0" descr="C:\Users\abhim\drishti\docs\deck\assets\drishti_icon.png">    </p:cNvPr>
          <p:cNvPicPr>
            <a:picLocks noChangeAspect="1"/>
          </p:cNvPicPr>
          <p:nvPr/>
        </p:nvPicPr>
        <p:blipFill>
          <a:blip r:embed="rId1"/>
          <a:stretch>
            <a:fillRect/>
          </a:stretch>
        </p:blipFill>
        <p:spPr>
          <a:xfrm>
            <a:off x="7442200" y="228600"/>
            <a:ext cx="1117600" cy="916940"/>
          </a:xfrm>
          <a:prstGeom prst="rect">
            <a:avLst/>
          </a:prstGeom>
        </p:spPr>
      </p:pic>
      <p:sp>
        <p:nvSpPr>
          <p:cNvPr id="5" name="Text 2"/>
          <p:cNvSpPr txBox="1"/>
          <p:nvPr/>
        </p:nvSpPr>
        <p:spPr>
          <a:xfrm>
            <a:off x="8597900" y="330200"/>
            <a:ext cx="3048000" cy="762000"/>
          </a:xfrm>
          <a:prstGeom prst="rect">
            <a:avLst/>
          </a:prstGeom>
          <a:noFill/>
          <a:ln/>
        </p:spPr>
        <p:txBody>
          <a:bodyPr wrap="square" lIns="0" tIns="0" rIns="0" bIns="0" rtlCol="0" anchor="ctr"/>
          <a:lstStyle/>
          <a:p>
            <a:pPr algn="l" indent="0" marL="0">
              <a:buNone/>
            </a:pPr>
            <a:r>
              <a:rPr lang="en-US" sz="4200" b="1" dirty="0">
                <a:solidFill>
                  <a:srgbClr val="000000"/>
                </a:solidFill>
                <a:latin typeface="Cambria" pitchFamily="34" charset="0"/>
                <a:ea typeface="Cambria" pitchFamily="34" charset="-122"/>
                <a:cs typeface="Cambria" pitchFamily="34" charset="-120"/>
              </a:rPr>
              <a:t>DRISHTI</a:t>
            </a:r>
            <a:endParaRPr lang="en-US" sz="4200" dirty="0"/>
          </a:p>
        </p:txBody>
      </p:sp>
      <p:pic>
        <p:nvPicPr>
          <p:cNvPr id="6" name="Image 1" descr="C:\Users\abhim\drishti\docs\deck\assets\sih_logo_wide.png">    </p:cNvPr>
          <p:cNvPicPr>
            <a:picLocks noChangeAspect="1"/>
          </p:cNvPicPr>
          <p:nvPr/>
        </p:nvPicPr>
        <p:blipFill>
          <a:blip r:embed="rId2"/>
          <a:stretch>
            <a:fillRect/>
          </a:stretch>
        </p:blipFill>
        <p:spPr>
          <a:xfrm>
            <a:off x="15392400" y="76200"/>
            <a:ext cx="2705100" cy="1277620"/>
          </a:xfrm>
          <a:prstGeom prst="rect">
            <a:avLst/>
          </a:prstGeom>
        </p:spPr>
      </p:pic>
      <p:sp>
        <p:nvSpPr>
          <p:cNvPr id="7" name="Shape 3"/>
          <p:cNvSpPr/>
          <p:nvPr/>
        </p:nvSpPr>
        <p:spPr>
          <a:xfrm>
            <a:off x="0" y="9756140"/>
            <a:ext cx="18288000" cy="533400"/>
          </a:xfrm>
          <a:prstGeom prst="rect">
            <a:avLst/>
          </a:prstGeom>
          <a:solidFill>
            <a:srgbClr val="2A4D88"/>
          </a:solidFill>
          <a:ln/>
        </p:spPr>
      </p:sp>
      <p:sp>
        <p:nvSpPr>
          <p:cNvPr id="8"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9"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2</a:t>
            </a:r>
            <a:endParaRPr lang="en-US" sz="1650" dirty="0"/>
          </a:p>
        </p:txBody>
      </p:sp>
      <p:sp>
        <p:nvSpPr>
          <p:cNvPr id="10" name="Shape 6"/>
          <p:cNvSpPr/>
          <p:nvPr/>
        </p:nvSpPr>
        <p:spPr>
          <a:xfrm>
            <a:off x="607060" y="1609090"/>
            <a:ext cx="17072610" cy="1144270"/>
          </a:xfrm>
          <a:prstGeom prst="roundRect">
            <a:avLst>
              <a:gd name="adj" fmla="val 12209"/>
            </a:avLst>
          </a:prstGeom>
          <a:solidFill>
            <a:srgbClr val="EDF0F5"/>
          </a:solidFill>
          <a:ln/>
        </p:spPr>
      </p:sp>
      <p:sp>
        <p:nvSpPr>
          <p:cNvPr id="11" name="Shape 7"/>
          <p:cNvSpPr/>
          <p:nvPr/>
        </p:nvSpPr>
        <p:spPr>
          <a:xfrm>
            <a:off x="607060" y="1609090"/>
            <a:ext cx="3244850" cy="1144270"/>
          </a:xfrm>
          <a:prstGeom prst="roundRect">
            <a:avLst>
              <a:gd name="adj" fmla="val 12209"/>
            </a:avLst>
          </a:prstGeom>
          <a:solidFill>
            <a:srgbClr val="2A4D88"/>
          </a:solidFill>
          <a:ln/>
        </p:spPr>
      </p:sp>
      <p:pic>
        <p:nvPicPr>
          <p:cNvPr id="12" name="Image 2" descr="C:\Users\abhim\drishti\docs\deck\assets\icons\lightbulb_w.png">    </p:cNvPr>
          <p:cNvPicPr>
            <a:picLocks noChangeAspect="1"/>
          </p:cNvPicPr>
          <p:nvPr/>
        </p:nvPicPr>
        <p:blipFill>
          <a:blip r:embed="rId3"/>
          <a:stretch>
            <a:fillRect/>
          </a:stretch>
        </p:blipFill>
        <p:spPr>
          <a:xfrm>
            <a:off x="863600" y="1955800"/>
            <a:ext cx="431800" cy="431800"/>
          </a:xfrm>
          <a:prstGeom prst="rect">
            <a:avLst/>
          </a:prstGeom>
        </p:spPr>
      </p:pic>
      <p:sp>
        <p:nvSpPr>
          <p:cNvPr id="13" name="Text 8"/>
          <p:cNvSpPr txBox="1"/>
          <p:nvPr/>
        </p:nvSpPr>
        <p:spPr>
          <a:xfrm>
            <a:off x="1447800" y="1866900"/>
            <a:ext cx="2286000" cy="58420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PROPOSED</a:t>
            </a:r>
            <a:endParaRPr lang="en-US" sz="1800" dirty="0"/>
          </a:p>
          <a:p>
            <a:pPr algn="l" indent="0" marL="0">
              <a:buNone/>
            </a:pPr>
            <a:r>
              <a:rPr lang="en-US" sz="1800" b="1" dirty="0">
                <a:solidFill>
                  <a:srgbClr val="FFFFFF"/>
                </a:solidFill>
                <a:latin typeface="Cambria" pitchFamily="34" charset="0"/>
                <a:ea typeface="Cambria" pitchFamily="34" charset="-122"/>
                <a:cs typeface="Cambria" pitchFamily="34" charset="-120"/>
              </a:rPr>
              <a:t>SOLUTION</a:t>
            </a:r>
            <a:endParaRPr lang="en-US" sz="1800" dirty="0"/>
          </a:p>
        </p:txBody>
      </p:sp>
      <p:sp>
        <p:nvSpPr>
          <p:cNvPr id="14" name="Text 9"/>
          <p:cNvSpPr txBox="1"/>
          <p:nvPr/>
        </p:nvSpPr>
        <p:spPr>
          <a:xfrm>
            <a:off x="4114800" y="1701800"/>
            <a:ext cx="13360400" cy="965200"/>
          </a:xfrm>
          <a:prstGeom prst="rect">
            <a:avLst/>
          </a:prstGeom>
          <a:noFill/>
          <a:ln/>
        </p:spPr>
        <p:txBody>
          <a:bodyPr wrap="square" lIns="0" tIns="0" rIns="0" bIns="0" rtlCol="0" anchor="ctr"/>
          <a:lstStyle/>
          <a:p>
            <a:pPr algn="l" indent="0" marL="0">
              <a:buNone/>
            </a:pPr>
            <a:r>
              <a:rPr lang="en-US" sz="1720" b="1" dirty="0">
                <a:solidFill>
                  <a:srgbClr val="2A4D88"/>
                </a:solidFill>
                <a:latin typeface="Calibri" pitchFamily="34" charset="0"/>
                <a:ea typeface="Calibri" pitchFamily="34" charset="-122"/>
                <a:cs typeface="Calibri" pitchFamily="34" charset="-120"/>
              </a:rPr>
              <a:t>DRISHTI</a:t>
            </a:r>
            <a:pPr algn="l" indent="0" marL="0">
              <a:buNone/>
            </a:pPr>
            <a:r>
              <a:rPr lang="en-US" sz="1720" dirty="0">
                <a:solidFill>
                  <a:srgbClr val="1A2F57"/>
                </a:solidFill>
                <a:latin typeface="Calibri" pitchFamily="34" charset="0"/>
                <a:ea typeface="Calibri" pitchFamily="34" charset="-122"/>
                <a:cs typeface="Calibri" pitchFamily="34" charset="-120"/>
              </a:rPr>
              <a:t> is an AI-powered risk-intelligence layer on top of </a:t>
            </a:r>
            <a:pPr algn="l" indent="0" marL="0">
              <a:buNone/>
            </a:pPr>
            <a:r>
              <a:rPr lang="en-US" sz="1720" b="1" dirty="0">
                <a:solidFill>
                  <a:srgbClr val="1A2F57"/>
                </a:solidFill>
                <a:latin typeface="Calibri" pitchFamily="34" charset="0"/>
                <a:ea typeface="Calibri" pitchFamily="34" charset="-122"/>
                <a:cs typeface="Calibri" pitchFamily="34" charset="-120"/>
              </a:rPr>
              <a:t>eSAKSHI</a:t>
            </a:r>
            <a:pPr algn="l" indent="0" marL="0">
              <a:buNone/>
            </a:pPr>
            <a:r>
              <a:rPr lang="en-US" sz="1720" dirty="0">
                <a:solidFill>
                  <a:srgbClr val="1A2F57"/>
                </a:solidFill>
                <a:latin typeface="Calibri" pitchFamily="34" charset="0"/>
                <a:ea typeface="Calibri" pitchFamily="34" charset="-122"/>
                <a:cs typeface="Calibri" pitchFamily="34" charset="-120"/>
              </a:rPr>
              <a:t>. </a:t>
            </a:r>
            <a:pPr algn="l" indent="0" marL="0">
              <a:buNone/>
            </a:pPr>
            <a:r>
              <a:rPr lang="en-US" sz="1720" b="1" dirty="0">
                <a:solidFill>
                  <a:srgbClr val="2A4D88"/>
                </a:solidFill>
                <a:latin typeface="Calibri" pitchFamily="34" charset="0"/>
                <a:ea typeface="Calibri" pitchFamily="34" charset="-122"/>
                <a:cs typeface="Calibri" pitchFamily="34" charset="-120"/>
              </a:rPr>
              <a:t>12 AI agents</a:t>
            </a:r>
            <a:pPr algn="l" indent="0" marL="0">
              <a:buNone/>
            </a:pPr>
            <a:r>
              <a:rPr lang="en-US" sz="1720" dirty="0">
                <a:solidFill>
                  <a:srgbClr val="1A2F57"/>
                </a:solidFill>
                <a:latin typeface="Calibri" pitchFamily="34" charset="0"/>
                <a:ea typeface="Calibri" pitchFamily="34" charset="-122"/>
                <a:cs typeface="Calibri" pitchFamily="34" charset="-120"/>
              </a:rPr>
              <a:t> check every MPLADS work at every stage — before sanction, during construction, on money &amp; time, and after completion — reading not just the records but the </a:t>
            </a:r>
            <a:pPr algn="l" indent="0" marL="0">
              <a:buNone/>
            </a:pPr>
            <a:r>
              <a:rPr lang="en-US" sz="1720" b="1" dirty="0">
                <a:solidFill>
                  <a:srgbClr val="1A2F57"/>
                </a:solidFill>
                <a:latin typeface="Calibri" pitchFamily="34" charset="0"/>
                <a:ea typeface="Calibri" pitchFamily="34" charset="-122"/>
                <a:cs typeface="Calibri" pitchFamily="34" charset="-120"/>
              </a:rPr>
              <a:t>certificates, bills and geo-tagged photos</a:t>
            </a:r>
            <a:pPr algn="l" indent="0" marL="0">
              <a:buNone/>
            </a:pPr>
            <a:r>
              <a:rPr lang="en-US" sz="1720" dirty="0">
                <a:solidFill>
                  <a:srgbClr val="1A2F57"/>
                </a:solidFill>
                <a:latin typeface="Calibri" pitchFamily="34" charset="0"/>
                <a:ea typeface="Calibri" pitchFamily="34" charset="-122"/>
                <a:cs typeface="Calibri" pitchFamily="34" charset="-120"/>
              </a:rPr>
              <a:t> already on eSAKSHI, and turn what they find into a </a:t>
            </a:r>
            <a:pPr algn="l" indent="0" marL="0">
              <a:buNone/>
            </a:pPr>
            <a:r>
              <a:rPr lang="en-US" sz="1720" b="1" dirty="0">
                <a:solidFill>
                  <a:srgbClr val="2A4D88"/>
                </a:solidFill>
                <a:latin typeface="Calibri" pitchFamily="34" charset="0"/>
                <a:ea typeface="Calibri" pitchFamily="34" charset="-122"/>
                <a:cs typeface="Calibri" pitchFamily="34" charset="-120"/>
              </a:rPr>
              <a:t>daily inspection plan</a:t>
            </a:r>
            <a:pPr algn="l" indent="0" marL="0">
              <a:buNone/>
            </a:pPr>
            <a:r>
              <a:rPr lang="en-US" sz="1720" dirty="0">
                <a:solidFill>
                  <a:srgbClr val="1A2F57"/>
                </a:solidFill>
                <a:latin typeface="Calibri" pitchFamily="34" charset="0"/>
                <a:ea typeface="Calibri" pitchFamily="34" charset="-122"/>
                <a:cs typeface="Calibri" pitchFamily="34" charset="-120"/>
              </a:rPr>
              <a:t> for District Authorities.</a:t>
            </a:r>
            <a:endParaRPr lang="en-US" sz="1720" dirty="0"/>
          </a:p>
        </p:txBody>
      </p:sp>
      <p:sp>
        <p:nvSpPr>
          <p:cNvPr id="15" name="Shape 10"/>
          <p:cNvSpPr/>
          <p:nvPr/>
        </p:nvSpPr>
        <p:spPr>
          <a:xfrm>
            <a:off x="607060" y="3350260"/>
            <a:ext cx="5430520" cy="3585210"/>
          </a:xfrm>
          <a:prstGeom prst="roundRect">
            <a:avLst>
              <a:gd name="adj" fmla="val 3897"/>
            </a:avLst>
          </a:prstGeom>
          <a:solidFill>
            <a:srgbClr val="EDF0F5"/>
          </a:solidFill>
          <a:ln/>
        </p:spPr>
      </p:sp>
      <p:sp>
        <p:nvSpPr>
          <p:cNvPr id="16" name="Shape 11"/>
          <p:cNvSpPr/>
          <p:nvPr/>
        </p:nvSpPr>
        <p:spPr>
          <a:xfrm>
            <a:off x="854710" y="3075940"/>
            <a:ext cx="3653790" cy="567690"/>
          </a:xfrm>
          <a:prstGeom prst="roundRect">
            <a:avLst>
              <a:gd name="adj" fmla="val 50000"/>
            </a:avLst>
          </a:prstGeom>
          <a:solidFill>
            <a:srgbClr val="2A4D88"/>
          </a:solidFill>
          <a:ln/>
        </p:spPr>
      </p:sp>
      <p:pic>
        <p:nvPicPr>
          <p:cNvPr id="17" name="Image 3" descr="C:\Users\abhim\drishti\docs\deck\assets\icons\bullseye_w.png">    </p:cNvPr>
          <p:cNvPicPr>
            <a:picLocks noChangeAspect="1"/>
          </p:cNvPicPr>
          <p:nvPr/>
        </p:nvPicPr>
        <p:blipFill>
          <a:blip r:embed="rId4"/>
          <a:stretch>
            <a:fillRect/>
          </a:stretch>
        </p:blipFill>
        <p:spPr>
          <a:xfrm>
            <a:off x="1026160" y="3187700"/>
            <a:ext cx="317500" cy="317500"/>
          </a:xfrm>
          <a:prstGeom prst="rect">
            <a:avLst/>
          </a:prstGeom>
        </p:spPr>
      </p:pic>
      <p:sp>
        <p:nvSpPr>
          <p:cNvPr id="18" name="Text 12"/>
          <p:cNvSpPr txBox="1"/>
          <p:nvPr/>
        </p:nvSpPr>
        <p:spPr>
          <a:xfrm>
            <a:off x="1449070" y="3086100"/>
            <a:ext cx="3018790" cy="546100"/>
          </a:xfrm>
          <a:prstGeom prst="rect">
            <a:avLst/>
          </a:prstGeom>
          <a:noFill/>
          <a:ln/>
        </p:spPr>
        <p:txBody>
          <a:bodyPr wrap="square" lIns="0" tIns="0" rIns="0" bIns="0" rtlCol="0" anchor="ctr"/>
          <a:lstStyle/>
          <a:p>
            <a:pPr algn="l" indent="0" marL="0">
              <a:buNone/>
            </a:pPr>
            <a:r>
              <a:rPr lang="en-US" sz="1580" b="1" dirty="0">
                <a:solidFill>
                  <a:srgbClr val="FFFFFF"/>
                </a:solidFill>
                <a:latin typeface="Cambria" pitchFamily="34" charset="0"/>
                <a:ea typeface="Cambria" pitchFamily="34" charset="-122"/>
                <a:cs typeface="Cambria" pitchFamily="34" charset="-120"/>
              </a:rPr>
              <a:t>DETAILED EXPLANATION</a:t>
            </a:r>
            <a:endParaRPr lang="en-US" sz="1580" dirty="0"/>
          </a:p>
        </p:txBody>
      </p:sp>
      <p:sp>
        <p:nvSpPr>
          <p:cNvPr id="19" name="Text 13"/>
          <p:cNvSpPr txBox="1"/>
          <p:nvPr/>
        </p:nvSpPr>
        <p:spPr>
          <a:xfrm>
            <a:off x="1102360" y="3771900"/>
            <a:ext cx="4762500" cy="3098800"/>
          </a:xfrm>
          <a:prstGeom prst="rect">
            <a:avLst/>
          </a:prstGeom>
          <a:noFill/>
          <a:ln/>
        </p:spPr>
        <p:txBody>
          <a:bodyPr wrap="square" lIns="0" tIns="0" rIns="0" bIns="0" rtlCol="0" anchor="t"/>
          <a:lstStyle/>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12 specialist agents</a:t>
            </a:r>
            <a:pPr algn="l" indent="0" marL="0">
              <a:buNone/>
            </a:pPr>
            <a:r>
              <a:rPr lang="en-US" sz="1820" b="1" dirty="0">
                <a:solidFill>
                  <a:srgbClr val="2A4D88"/>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each checks one kind of problem CAG audits have found — cost, duplicates, delays, fake evidence.</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Reads the evidence</a:t>
            </a:r>
            <a:pPr algn="l" indent="0" marL="0">
              <a:buNone/>
            </a:pPr>
            <a:r>
              <a:rPr lang="en-US" sz="1820" b="1" dirty="0">
                <a:solidFill>
                  <a:srgbClr val="2A4D88"/>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completion certificates, bills, Hindi utilisation certificates and geo-tagged photos.</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Explainable Risk Score (0–100)</a:t>
            </a:r>
            <a:pPr algn="l" indent="0" marL="0">
              <a:buNone/>
            </a:pPr>
            <a:r>
              <a:rPr lang="en-US" sz="1820" b="1" dirty="0">
                <a:solidFill>
                  <a:srgbClr val="2A4D88"/>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fuses all agents + top-3 reasons in plain Hindi/English.</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Inspection Planner + Field App</a:t>
            </a:r>
            <a:pPr algn="l" indent="0" marL="0">
              <a:buNone/>
            </a:pPr>
            <a:r>
              <a:rPr lang="en-US" sz="1820" b="1" dirty="0">
                <a:solidFill>
                  <a:srgbClr val="2A4D88"/>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picks works for mandatory inspections, routed; verdicts retrain the agents.</a:t>
            </a:r>
            <a:endParaRPr lang="en-US" sz="1820" dirty="0"/>
          </a:p>
        </p:txBody>
      </p:sp>
      <p:sp>
        <p:nvSpPr>
          <p:cNvPr id="20" name="Shape 14"/>
          <p:cNvSpPr/>
          <p:nvPr/>
        </p:nvSpPr>
        <p:spPr>
          <a:xfrm>
            <a:off x="6428740" y="3350260"/>
            <a:ext cx="5430520" cy="3585210"/>
          </a:xfrm>
          <a:prstGeom prst="roundRect">
            <a:avLst>
              <a:gd name="adj" fmla="val 3897"/>
            </a:avLst>
          </a:prstGeom>
          <a:solidFill>
            <a:srgbClr val="EDF0F5"/>
          </a:solidFill>
          <a:ln/>
        </p:spPr>
      </p:sp>
      <p:sp>
        <p:nvSpPr>
          <p:cNvPr id="21" name="Shape 15"/>
          <p:cNvSpPr/>
          <p:nvPr/>
        </p:nvSpPr>
        <p:spPr>
          <a:xfrm>
            <a:off x="6676390" y="3075940"/>
            <a:ext cx="4805680" cy="567690"/>
          </a:xfrm>
          <a:prstGeom prst="roundRect">
            <a:avLst>
              <a:gd name="adj" fmla="val 50000"/>
            </a:avLst>
          </a:prstGeom>
          <a:solidFill>
            <a:srgbClr val="2A4D88"/>
          </a:solidFill>
          <a:ln/>
        </p:spPr>
      </p:sp>
      <p:pic>
        <p:nvPicPr>
          <p:cNvPr id="22" name="Image 4" descr="C:\Users\abhim\drishti\docs\deck\assets\icons\circle-check_w.png">    </p:cNvPr>
          <p:cNvPicPr>
            <a:picLocks noChangeAspect="1"/>
          </p:cNvPicPr>
          <p:nvPr/>
        </p:nvPicPr>
        <p:blipFill>
          <a:blip r:embed="rId5"/>
          <a:stretch>
            <a:fillRect/>
          </a:stretch>
        </p:blipFill>
        <p:spPr>
          <a:xfrm>
            <a:off x="6847840" y="3187700"/>
            <a:ext cx="317500" cy="317500"/>
          </a:xfrm>
          <a:prstGeom prst="rect">
            <a:avLst/>
          </a:prstGeom>
        </p:spPr>
      </p:pic>
      <p:sp>
        <p:nvSpPr>
          <p:cNvPr id="23" name="Text 16"/>
          <p:cNvSpPr txBox="1"/>
          <p:nvPr/>
        </p:nvSpPr>
        <p:spPr>
          <a:xfrm>
            <a:off x="7270750" y="3086100"/>
            <a:ext cx="4170680" cy="546100"/>
          </a:xfrm>
          <a:prstGeom prst="rect">
            <a:avLst/>
          </a:prstGeom>
          <a:noFill/>
          <a:ln/>
        </p:spPr>
        <p:txBody>
          <a:bodyPr wrap="square" lIns="0" tIns="0" rIns="0" bIns="0" rtlCol="0" anchor="ctr"/>
          <a:lstStyle/>
          <a:p>
            <a:pPr algn="l" indent="0" marL="0">
              <a:buNone/>
            </a:pPr>
            <a:r>
              <a:rPr lang="en-US" sz="1580" b="1" dirty="0">
                <a:solidFill>
                  <a:srgbClr val="FFFFFF"/>
                </a:solidFill>
                <a:latin typeface="Cambria" pitchFamily="34" charset="0"/>
                <a:ea typeface="Cambria" pitchFamily="34" charset="-122"/>
                <a:cs typeface="Cambria" pitchFamily="34" charset="-120"/>
              </a:rPr>
              <a:t>HOW IT ADDRESSES THE PROBLEM</a:t>
            </a:r>
            <a:endParaRPr lang="en-US" sz="1580" dirty="0"/>
          </a:p>
        </p:txBody>
      </p:sp>
      <p:sp>
        <p:nvSpPr>
          <p:cNvPr id="24" name="Text 17"/>
          <p:cNvSpPr txBox="1"/>
          <p:nvPr/>
        </p:nvSpPr>
        <p:spPr>
          <a:xfrm>
            <a:off x="6924040" y="3771900"/>
            <a:ext cx="4762500" cy="3098800"/>
          </a:xfrm>
          <a:prstGeom prst="rect">
            <a:avLst/>
          </a:prstGeom>
          <a:noFill/>
          <a:ln/>
        </p:spPr>
        <p:txBody>
          <a:bodyPr wrap="square" lIns="0" tIns="0" rIns="0" bIns="0" rtlCol="0" anchor="t"/>
          <a:lstStyle/>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Manual monitoring can't scale</a:t>
            </a:r>
            <a:pPr algn="l" indent="0" marL="0">
              <a:buNone/>
            </a:pPr>
            <a:r>
              <a:rPr lang="en-US" sz="1820" b="1" dirty="0">
                <a:solidFill>
                  <a:srgbClr val="2A4D88"/>
                </a:solidFill>
                <a:latin typeface="Calibri" pitchFamily="34" charset="0"/>
                <a:ea typeface="Calibri" pitchFamily="34" charset="-122"/>
                <a:cs typeface="Calibri" pitchFamily="34" charset="-120"/>
              </a:rPr>
              <a:t> → </a:t>
            </a:r>
            <a:pPr algn="l" indent="0" marL="0">
              <a:buNone/>
            </a:pPr>
            <a:r>
              <a:rPr lang="en-US" sz="1820" dirty="0">
                <a:solidFill>
                  <a:srgbClr val="1A2F57"/>
                </a:solidFill>
                <a:latin typeface="Calibri" pitchFamily="34" charset="0"/>
                <a:ea typeface="Calibri" pitchFamily="34" charset="-122"/>
                <a:cs typeface="Calibri" pitchFamily="34" charset="-120"/>
              </a:rPr>
              <a:t>every work screened automatically, every day.</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Money moves before checks</a:t>
            </a:r>
            <a:pPr algn="l" indent="0" marL="0">
              <a:buNone/>
            </a:pPr>
            <a:r>
              <a:rPr lang="en-US" sz="1820" b="1" dirty="0">
                <a:solidFill>
                  <a:srgbClr val="2A4D88"/>
                </a:solidFill>
                <a:latin typeface="Calibri" pitchFamily="34" charset="0"/>
                <a:ea typeface="Calibri" pitchFamily="34" charset="-122"/>
                <a:cs typeface="Calibri" pitchFamily="34" charset="-120"/>
              </a:rPr>
              <a:t> → </a:t>
            </a:r>
            <a:pPr algn="l" indent="0" marL="0">
              <a:buNone/>
            </a:pPr>
            <a:r>
              <a:rPr lang="en-US" sz="1820" dirty="0">
                <a:solidFill>
                  <a:srgbClr val="1A2F57"/>
                </a:solidFill>
                <a:latin typeface="Calibri" pitchFamily="34" charset="0"/>
                <a:ea typeface="Calibri" pitchFamily="34" charset="-122"/>
                <a:cs typeface="Calibri" pitchFamily="34" charset="-120"/>
              </a:rPr>
              <a:t>pre-sanction check inside the 45-day window.</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Evidence uploaded, never checked</a:t>
            </a:r>
            <a:pPr algn="l" indent="0" marL="0">
              <a:buNone/>
            </a:pPr>
            <a:r>
              <a:rPr lang="en-US" sz="1820" b="1" dirty="0">
                <a:solidFill>
                  <a:srgbClr val="2A4D88"/>
                </a:solidFill>
                <a:latin typeface="Calibri" pitchFamily="34" charset="0"/>
                <a:ea typeface="Calibri" pitchFamily="34" charset="-122"/>
                <a:cs typeface="Calibri" pitchFamily="34" charset="-120"/>
              </a:rPr>
              <a:t> → </a:t>
            </a:r>
            <a:pPr algn="l" indent="0" marL="0">
              <a:buNone/>
            </a:pPr>
            <a:r>
              <a:rPr lang="en-US" sz="1820" dirty="0">
                <a:solidFill>
                  <a:srgbClr val="1A2F57"/>
                </a:solidFill>
                <a:latin typeface="Calibri" pitchFamily="34" charset="0"/>
                <a:ea typeface="Calibri" pitchFamily="34" charset="-122"/>
                <a:cs typeface="Calibri" pitchFamily="34" charset="-120"/>
              </a:rPr>
              <a:t>every photo &amp; bill read, compared and placed on the map.</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Many alerts, few officers</a:t>
            </a:r>
            <a:pPr algn="l" indent="0" marL="0">
              <a:buNone/>
            </a:pPr>
            <a:r>
              <a:rPr lang="en-US" sz="1820" b="1" dirty="0">
                <a:solidFill>
                  <a:srgbClr val="2A4D88"/>
                </a:solidFill>
                <a:latin typeface="Calibri" pitchFamily="34" charset="0"/>
                <a:ea typeface="Calibri" pitchFamily="34" charset="-122"/>
                <a:cs typeface="Calibri" pitchFamily="34" charset="-120"/>
              </a:rPr>
              <a:t> → </a:t>
            </a:r>
            <a:pPr algn="l" indent="0" marL="0">
              <a:buNone/>
            </a:pPr>
            <a:r>
              <a:rPr lang="en-US" sz="1820" dirty="0">
                <a:solidFill>
                  <a:srgbClr val="1A2F57"/>
                </a:solidFill>
                <a:latin typeface="Calibri" pitchFamily="34" charset="0"/>
                <a:ea typeface="Calibri" pitchFamily="34" charset="-122"/>
                <a:cs typeface="Calibri" pitchFamily="34" charset="-120"/>
              </a:rPr>
              <a:t>risk-ranked queue + optimised visit route.</a:t>
            </a:r>
            <a:endParaRPr lang="en-US" sz="1820" dirty="0"/>
          </a:p>
        </p:txBody>
      </p:sp>
      <p:sp>
        <p:nvSpPr>
          <p:cNvPr id="25" name="Shape 18"/>
          <p:cNvSpPr/>
          <p:nvPr/>
        </p:nvSpPr>
        <p:spPr>
          <a:xfrm>
            <a:off x="12250420" y="3350260"/>
            <a:ext cx="5430520" cy="3585210"/>
          </a:xfrm>
          <a:prstGeom prst="roundRect">
            <a:avLst>
              <a:gd name="adj" fmla="val 3897"/>
            </a:avLst>
          </a:prstGeom>
          <a:solidFill>
            <a:srgbClr val="EDF0F5"/>
          </a:solidFill>
          <a:ln/>
        </p:spPr>
      </p:sp>
      <p:sp>
        <p:nvSpPr>
          <p:cNvPr id="26" name="Shape 19"/>
          <p:cNvSpPr/>
          <p:nvPr/>
        </p:nvSpPr>
        <p:spPr>
          <a:xfrm>
            <a:off x="12498070" y="3075940"/>
            <a:ext cx="4086860" cy="567690"/>
          </a:xfrm>
          <a:prstGeom prst="roundRect">
            <a:avLst>
              <a:gd name="adj" fmla="val 50000"/>
            </a:avLst>
          </a:prstGeom>
          <a:solidFill>
            <a:srgbClr val="D9962B"/>
          </a:solidFill>
          <a:ln/>
        </p:spPr>
      </p:sp>
      <p:pic>
        <p:nvPicPr>
          <p:cNvPr id="27" name="Image 5" descr="C:\Users\abhim\drishti\docs\deck\assets\icons\star_w.png">    </p:cNvPr>
          <p:cNvPicPr>
            <a:picLocks noChangeAspect="1"/>
          </p:cNvPicPr>
          <p:nvPr/>
        </p:nvPicPr>
        <p:blipFill>
          <a:blip r:embed="rId6"/>
          <a:stretch>
            <a:fillRect/>
          </a:stretch>
        </p:blipFill>
        <p:spPr>
          <a:xfrm>
            <a:off x="12669520" y="3187700"/>
            <a:ext cx="317500" cy="317500"/>
          </a:xfrm>
          <a:prstGeom prst="rect">
            <a:avLst/>
          </a:prstGeom>
        </p:spPr>
      </p:pic>
      <p:sp>
        <p:nvSpPr>
          <p:cNvPr id="28" name="Text 20"/>
          <p:cNvSpPr txBox="1"/>
          <p:nvPr/>
        </p:nvSpPr>
        <p:spPr>
          <a:xfrm>
            <a:off x="13092430" y="3086100"/>
            <a:ext cx="3451860" cy="546100"/>
          </a:xfrm>
          <a:prstGeom prst="rect">
            <a:avLst/>
          </a:prstGeom>
          <a:noFill/>
          <a:ln/>
        </p:spPr>
        <p:txBody>
          <a:bodyPr wrap="square" lIns="0" tIns="0" rIns="0" bIns="0" rtlCol="0" anchor="ctr"/>
          <a:lstStyle/>
          <a:p>
            <a:pPr algn="l" indent="0" marL="0">
              <a:buNone/>
            </a:pPr>
            <a:r>
              <a:rPr lang="en-US" sz="1580" b="1" dirty="0">
                <a:solidFill>
                  <a:srgbClr val="FFFFFF"/>
                </a:solidFill>
                <a:latin typeface="Cambria" pitchFamily="34" charset="0"/>
                <a:ea typeface="Cambria" pitchFamily="34" charset="-122"/>
                <a:cs typeface="Cambria" pitchFamily="34" charset="-120"/>
              </a:rPr>
              <a:t>INNOVATION &amp; UNIQUENESS</a:t>
            </a:r>
            <a:endParaRPr lang="en-US" sz="1580" dirty="0"/>
          </a:p>
        </p:txBody>
      </p:sp>
      <p:sp>
        <p:nvSpPr>
          <p:cNvPr id="29" name="Text 21"/>
          <p:cNvSpPr txBox="1"/>
          <p:nvPr/>
        </p:nvSpPr>
        <p:spPr>
          <a:xfrm>
            <a:off x="12745720" y="3771900"/>
            <a:ext cx="4762500" cy="3098800"/>
          </a:xfrm>
          <a:prstGeom prst="rect">
            <a:avLst/>
          </a:prstGeom>
          <a:noFill/>
          <a:ln/>
        </p:spPr>
        <p:txBody>
          <a:bodyPr wrap="square" lIns="0" tIns="0" rIns="0" bIns="0" rtlCol="0" anchor="t"/>
          <a:lstStyle/>
          <a:p>
            <a:pPr algn="l" marL="177800" indent="-177800">
              <a:buSzPct val="100000"/>
              <a:buChar char="•"/>
            </a:pPr>
            <a:r>
              <a:rPr lang="en-US" sz="1820" b="1" dirty="0">
                <a:solidFill>
                  <a:srgbClr val="B87512"/>
                </a:solidFill>
                <a:latin typeface="Calibri" pitchFamily="34" charset="0"/>
                <a:ea typeface="Calibri" pitchFamily="34" charset="-122"/>
                <a:cs typeface="Calibri" pitchFamily="34" charset="-120"/>
              </a:rPr>
              <a:t>Reads eSAKSHI's own evidence</a:t>
            </a:r>
            <a:pPr algn="l" indent="0" marL="0">
              <a:buNone/>
            </a:pPr>
            <a:r>
              <a:rPr lang="en-US" sz="1820" b="1" dirty="0">
                <a:solidFill>
                  <a:srgbClr val="B87512"/>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spots reused photos, wrong locations, missing plaques and bills that don't add up.</a:t>
            </a:r>
            <a:endParaRPr lang="en-US" sz="1820" dirty="0"/>
          </a:p>
          <a:p>
            <a:pPr algn="l" marL="177800" indent="-177800">
              <a:buSzPct val="100000"/>
              <a:buChar char="•"/>
            </a:pPr>
            <a:r>
              <a:rPr lang="en-US" sz="1820" b="1" dirty="0">
                <a:solidFill>
                  <a:srgbClr val="B87512"/>
                </a:solidFill>
                <a:latin typeface="Calibri" pitchFamily="34" charset="0"/>
                <a:ea typeface="Calibri" pitchFamily="34" charset="-122"/>
                <a:cs typeface="Calibri" pitchFamily="34" charset="-120"/>
              </a:rPr>
              <a:t>Proven, then measured</a:t>
            </a:r>
            <a:pPr algn="l" indent="0" marL="0">
              <a:buNone/>
            </a:pPr>
            <a:r>
              <a:rPr lang="en-US" sz="1820" b="1" dirty="0">
                <a:solidFill>
                  <a:srgbClr val="B87512"/>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methods India already runs at scale (PMAY-G, Amrit Sarovar); each agent must beat a baseline first.</a:t>
            </a:r>
            <a:endParaRPr lang="en-US" sz="1820" dirty="0"/>
          </a:p>
          <a:p>
            <a:pPr algn="l" marL="177800" indent="-177800">
              <a:buSzPct val="100000"/>
              <a:buChar char="•"/>
            </a:pPr>
            <a:r>
              <a:rPr lang="en-US" sz="1820" b="1" dirty="0">
                <a:solidFill>
                  <a:srgbClr val="B87512"/>
                </a:solidFill>
                <a:latin typeface="Calibri" pitchFamily="34" charset="0"/>
                <a:ea typeface="Calibri" pitchFamily="34" charset="-122"/>
                <a:cs typeface="Calibri" pitchFamily="34" charset="-120"/>
              </a:rPr>
              <a:t>Clause-cited, human-in-the-loop</a:t>
            </a:r>
            <a:pPr algn="l" indent="0" marL="0">
              <a:buNone/>
            </a:pPr>
            <a:r>
              <a:rPr lang="en-US" sz="1820" b="1" dirty="0">
                <a:solidFill>
                  <a:srgbClr val="B87512"/>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every flag cites the guideline; flags for review, never accuses.</a:t>
            </a:r>
            <a:endParaRPr lang="en-US" sz="1820" dirty="0"/>
          </a:p>
          <a:p>
            <a:pPr algn="l" marL="177800" indent="-177800">
              <a:buSzPct val="100000"/>
              <a:buChar char="•"/>
            </a:pPr>
            <a:r>
              <a:rPr lang="en-US" sz="1820" b="1" dirty="0">
                <a:solidFill>
                  <a:srgbClr val="B87512"/>
                </a:solidFill>
                <a:latin typeface="Calibri" pitchFamily="34" charset="0"/>
                <a:ea typeface="Calibri" pitchFamily="34" charset="-122"/>
                <a:cs typeface="Calibri" pitchFamily="34" charset="-120"/>
              </a:rPr>
              <a:t>Learns from the field</a:t>
            </a:r>
            <a:pPr algn="l" indent="0" marL="0">
              <a:buNone/>
            </a:pPr>
            <a:r>
              <a:rPr lang="en-US" sz="1820" b="1" dirty="0">
                <a:solidFill>
                  <a:srgbClr val="B87512"/>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officer verdicts become labels, solving the “no fraud labels” problem.</a:t>
            </a:r>
            <a:endParaRPr lang="en-US" sz="1820" dirty="0"/>
          </a:p>
        </p:txBody>
      </p:sp>
      <p:sp>
        <p:nvSpPr>
          <p:cNvPr id="30" name="Text 22"/>
          <p:cNvSpPr txBox="1"/>
          <p:nvPr/>
        </p:nvSpPr>
        <p:spPr>
          <a:xfrm>
            <a:off x="617220" y="7188200"/>
            <a:ext cx="1651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12 AI AGENTS ACROSS THE LIFE OF A WORK  —  EVERY PS REQUIREMENT COVERED</a:t>
            </a:r>
            <a:endParaRPr lang="en-US" sz="1720" dirty="0"/>
          </a:p>
        </p:txBody>
      </p:sp>
      <p:sp>
        <p:nvSpPr>
          <p:cNvPr id="31" name="Shape 23"/>
          <p:cNvSpPr/>
          <p:nvPr/>
        </p:nvSpPr>
        <p:spPr>
          <a:xfrm>
            <a:off x="607060" y="7569200"/>
            <a:ext cx="4077970" cy="2032000"/>
          </a:xfrm>
          <a:prstGeom prst="roundRect">
            <a:avLst>
              <a:gd name="adj" fmla="val 6875"/>
            </a:avLst>
          </a:prstGeom>
          <a:solidFill>
            <a:srgbClr val="FFFFFF"/>
          </a:solidFill>
          <a:ln w="19050">
            <a:solidFill>
              <a:srgbClr val="B1BBC8"/>
            </a:solidFill>
            <a:prstDash val="solid"/>
          </a:ln>
        </p:spPr>
      </p:sp>
      <p:sp>
        <p:nvSpPr>
          <p:cNvPr id="32" name="Shape 24"/>
          <p:cNvSpPr/>
          <p:nvPr/>
        </p:nvSpPr>
        <p:spPr>
          <a:xfrm>
            <a:off x="759460" y="7708900"/>
            <a:ext cx="457200" cy="457200"/>
          </a:xfrm>
          <a:prstGeom prst="ellipse">
            <a:avLst/>
          </a:prstGeom>
          <a:solidFill>
            <a:srgbClr val="2A4D88"/>
          </a:solidFill>
          <a:ln/>
        </p:spPr>
      </p:sp>
      <p:pic>
        <p:nvPicPr>
          <p:cNvPr id="33" name="Image 6" descr="C:\Users\abhim\drishti\docs\deck\assets\icons\file-signature_w.png">    </p:cNvPr>
          <p:cNvPicPr>
            <a:picLocks noChangeAspect="1"/>
          </p:cNvPicPr>
          <p:nvPr/>
        </p:nvPicPr>
        <p:blipFill>
          <a:blip r:embed="rId7"/>
          <a:stretch>
            <a:fillRect/>
          </a:stretch>
        </p:blipFill>
        <p:spPr>
          <a:xfrm>
            <a:off x="873760" y="7823200"/>
            <a:ext cx="228600" cy="228600"/>
          </a:xfrm>
          <a:prstGeom prst="rect">
            <a:avLst/>
          </a:prstGeom>
        </p:spPr>
      </p:pic>
      <p:sp>
        <p:nvSpPr>
          <p:cNvPr id="34" name="Text 25"/>
          <p:cNvSpPr txBox="1"/>
          <p:nvPr/>
        </p:nvSpPr>
        <p:spPr>
          <a:xfrm>
            <a:off x="1318260" y="7708900"/>
            <a:ext cx="3239770" cy="457200"/>
          </a:xfrm>
          <a:prstGeom prst="rect">
            <a:avLst/>
          </a:prstGeom>
          <a:noFill/>
          <a:ln/>
        </p:spPr>
        <p:txBody>
          <a:bodyPr wrap="square" lIns="0" tIns="0" rIns="0" bIns="0" rtlCol="0" anchor="ctr"/>
          <a:lstStyle/>
          <a:p>
            <a:pPr algn="l" indent="0" marL="0">
              <a:buNone/>
            </a:pPr>
            <a:r>
              <a:rPr lang="en-US" sz="1650" b="1" spc="100" kern="0" dirty="0">
                <a:solidFill>
                  <a:srgbClr val="2A4D88"/>
                </a:solidFill>
                <a:latin typeface="Calibri" pitchFamily="34" charset="0"/>
                <a:ea typeface="Calibri" pitchFamily="34" charset="-122"/>
                <a:cs typeface="Calibri" pitchFamily="34" charset="-120"/>
              </a:rPr>
              <a:t>BEFORE SANCTION</a:t>
            </a:r>
            <a:endParaRPr lang="en-US" sz="1650" dirty="0"/>
          </a:p>
        </p:txBody>
      </p:sp>
      <p:sp>
        <p:nvSpPr>
          <p:cNvPr id="35" name="Text 26"/>
          <p:cNvSpPr txBox="1"/>
          <p:nvPr/>
        </p:nvSpPr>
        <p:spPr>
          <a:xfrm>
            <a:off x="784860" y="8267700"/>
            <a:ext cx="3773170" cy="755650"/>
          </a:xfrm>
          <a:prstGeom prst="rect">
            <a:avLst/>
          </a:prstGeom>
          <a:noFill/>
          <a:ln/>
        </p:spPr>
        <p:txBody>
          <a:bodyPr wrap="square" lIns="0" tIns="0" rIns="0" bIns="0" rtlCol="0" anchor="t"/>
          <a:lstStyle/>
          <a:p>
            <a:pPr algn="l" indent="0" marL="0">
              <a:buNone/>
            </a:pPr>
            <a:r>
              <a:rPr lang="en-US" sz="1450" b="1" dirty="0">
                <a:solidFill>
                  <a:srgbClr val="2A4D88"/>
                </a:solidFill>
                <a:latin typeface="Calibri" pitchFamily="34" charset="0"/>
                <a:ea typeface="Calibri" pitchFamily="34" charset="-122"/>
                <a:cs typeface="Calibri" pitchFamily="34" charset="-120"/>
              </a:rPr>
              <a:t>Eligibility</a:t>
            </a:r>
            <a:pPr algn="l" indent="0" marL="0">
              <a:buNone/>
            </a:pPr>
            <a:r>
              <a:rPr lang="en-US" sz="1450" dirty="0">
                <a:solidFill>
                  <a:srgbClr val="1A2F57"/>
                </a:solidFill>
                <a:latin typeface="Calibri" pitchFamily="34" charset="0"/>
                <a:ea typeface="Calibri" pitchFamily="34" charset="-122"/>
                <a:cs typeface="Calibri" pitchFamily="34" charset="-120"/>
              </a:rPr>
              <a:t> — works the rules don't allow</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Duplicate &amp; Split</a:t>
            </a:r>
            <a:pPr algn="l" indent="0" marL="0">
              <a:buNone/>
            </a:pPr>
            <a:r>
              <a:rPr lang="en-US" sz="1450" dirty="0">
                <a:solidFill>
                  <a:srgbClr val="1A2F57"/>
                </a:solidFill>
                <a:latin typeface="Calibri" pitchFamily="34" charset="0"/>
                <a:ea typeface="Calibri" pitchFamily="34" charset="-122"/>
                <a:cs typeface="Calibri" pitchFamily="34" charset="-120"/>
              </a:rPr>
              <a:t> — funded twice, or split up</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Cost</a:t>
            </a:r>
            <a:pPr algn="l" indent="0" marL="0">
              <a:buNone/>
            </a:pPr>
            <a:r>
              <a:rPr lang="en-US" sz="1450" dirty="0">
                <a:solidFill>
                  <a:srgbClr val="1A2F57"/>
                </a:solidFill>
                <a:latin typeface="Calibri" pitchFamily="34" charset="0"/>
                <a:ea typeface="Calibri" pitchFamily="34" charset="-122"/>
                <a:cs typeface="Calibri" pitchFamily="34" charset="-120"/>
              </a:rPr>
              <a:t> — cost overruns &amp; padded estimates</a:t>
            </a:r>
            <a:endParaRPr lang="en-US" sz="1450" dirty="0"/>
          </a:p>
        </p:txBody>
      </p:sp>
      <p:sp>
        <p:nvSpPr>
          <p:cNvPr id="36" name="Shape 27"/>
          <p:cNvSpPr/>
          <p:nvPr/>
        </p:nvSpPr>
        <p:spPr>
          <a:xfrm>
            <a:off x="4939030" y="7569200"/>
            <a:ext cx="4077970" cy="2032000"/>
          </a:xfrm>
          <a:prstGeom prst="roundRect">
            <a:avLst>
              <a:gd name="adj" fmla="val 6875"/>
            </a:avLst>
          </a:prstGeom>
          <a:solidFill>
            <a:srgbClr val="FFFFFF"/>
          </a:solidFill>
          <a:ln w="19050">
            <a:solidFill>
              <a:srgbClr val="B1BBC8"/>
            </a:solidFill>
            <a:prstDash val="solid"/>
          </a:ln>
        </p:spPr>
      </p:sp>
      <p:sp>
        <p:nvSpPr>
          <p:cNvPr id="37" name="Shape 28"/>
          <p:cNvSpPr/>
          <p:nvPr/>
        </p:nvSpPr>
        <p:spPr>
          <a:xfrm>
            <a:off x="5091430" y="7708900"/>
            <a:ext cx="457200" cy="457200"/>
          </a:xfrm>
          <a:prstGeom prst="ellipse">
            <a:avLst/>
          </a:prstGeom>
          <a:solidFill>
            <a:srgbClr val="2A4D88"/>
          </a:solidFill>
          <a:ln/>
        </p:spPr>
      </p:sp>
      <p:pic>
        <p:nvPicPr>
          <p:cNvPr id="38" name="Image 7" descr="C:\Users\abhim\drishti\docs\deck\assets\icons\helmet-safety_w.png">    </p:cNvPr>
          <p:cNvPicPr>
            <a:picLocks noChangeAspect="1"/>
          </p:cNvPicPr>
          <p:nvPr/>
        </p:nvPicPr>
        <p:blipFill>
          <a:blip r:embed="rId8"/>
          <a:stretch>
            <a:fillRect/>
          </a:stretch>
        </p:blipFill>
        <p:spPr>
          <a:xfrm>
            <a:off x="5205730" y="7823200"/>
            <a:ext cx="228600" cy="228600"/>
          </a:xfrm>
          <a:prstGeom prst="rect">
            <a:avLst/>
          </a:prstGeom>
        </p:spPr>
      </p:pic>
      <p:sp>
        <p:nvSpPr>
          <p:cNvPr id="39" name="Text 29"/>
          <p:cNvSpPr txBox="1"/>
          <p:nvPr/>
        </p:nvSpPr>
        <p:spPr>
          <a:xfrm>
            <a:off x="5650230" y="7708900"/>
            <a:ext cx="3239770" cy="457200"/>
          </a:xfrm>
          <a:prstGeom prst="rect">
            <a:avLst/>
          </a:prstGeom>
          <a:noFill/>
          <a:ln/>
        </p:spPr>
        <p:txBody>
          <a:bodyPr wrap="square" lIns="0" tIns="0" rIns="0" bIns="0" rtlCol="0" anchor="ctr"/>
          <a:lstStyle/>
          <a:p>
            <a:pPr algn="l" indent="0" marL="0">
              <a:buNone/>
            </a:pPr>
            <a:r>
              <a:rPr lang="en-US" sz="1650" b="1" spc="100" kern="0" dirty="0">
                <a:solidFill>
                  <a:srgbClr val="2A4D88"/>
                </a:solidFill>
                <a:latin typeface="Calibri" pitchFamily="34" charset="0"/>
                <a:ea typeface="Calibri" pitchFamily="34" charset="-122"/>
                <a:cs typeface="Calibri" pitchFamily="34" charset="-120"/>
              </a:rPr>
              <a:t>DURING CONSTRUCTION</a:t>
            </a:r>
            <a:endParaRPr lang="en-US" sz="1650" dirty="0"/>
          </a:p>
        </p:txBody>
      </p:sp>
      <p:sp>
        <p:nvSpPr>
          <p:cNvPr id="40" name="Text 30"/>
          <p:cNvSpPr txBox="1"/>
          <p:nvPr/>
        </p:nvSpPr>
        <p:spPr>
          <a:xfrm>
            <a:off x="5116830" y="8267700"/>
            <a:ext cx="3773170" cy="1225550"/>
          </a:xfrm>
          <a:prstGeom prst="rect">
            <a:avLst/>
          </a:prstGeom>
          <a:noFill/>
          <a:ln/>
        </p:spPr>
        <p:txBody>
          <a:bodyPr wrap="square" lIns="0" tIns="0" rIns="0" bIns="0" rtlCol="0" anchor="t"/>
          <a:lstStyle/>
          <a:p>
            <a:pPr algn="l" indent="0" marL="0">
              <a:buNone/>
            </a:pPr>
            <a:r>
              <a:rPr lang="en-US" sz="1450" b="1" dirty="0">
                <a:solidFill>
                  <a:srgbClr val="2A4D88"/>
                </a:solidFill>
                <a:latin typeface="Calibri" pitchFamily="34" charset="0"/>
                <a:ea typeface="Calibri" pitchFamily="34" charset="-122"/>
                <a:cs typeface="Calibri" pitchFamily="34" charset="-120"/>
              </a:rPr>
              <a:t>Site Progress</a:t>
            </a:r>
            <a:pPr algn="l" indent="0" marL="0">
              <a:buNone/>
            </a:pPr>
            <a:r>
              <a:rPr lang="en-US" sz="1450" dirty="0">
                <a:solidFill>
                  <a:srgbClr val="1A2F57"/>
                </a:solidFill>
                <a:latin typeface="Calibri" pitchFamily="34" charset="0"/>
                <a:ea typeface="Calibri" pitchFamily="34" charset="-122"/>
                <a:cs typeface="Calibri" pitchFamily="34" charset="-120"/>
              </a:rPr>
              <a:t> — claim vs photo, plaque check</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Photo Forensics</a:t>
            </a:r>
            <a:pPr algn="l" indent="0" marL="0">
              <a:buNone/>
            </a:pPr>
            <a:r>
              <a:rPr lang="en-US" sz="1450" dirty="0">
                <a:solidFill>
                  <a:srgbClr val="1A2F57"/>
                </a:solidFill>
                <a:latin typeface="Calibri" pitchFamily="34" charset="0"/>
                <a:ea typeface="Calibri" pitchFamily="34" charset="-122"/>
                <a:cs typeface="Calibri" pitchFamily="34" charset="-120"/>
              </a:rPr>
              <a:t> — reused or edited photos</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Geo-Location</a:t>
            </a:r>
            <a:pPr algn="l" indent="0" marL="0">
              <a:buNone/>
            </a:pPr>
            <a:r>
              <a:rPr lang="en-US" sz="1450" dirty="0">
                <a:solidFill>
                  <a:srgbClr val="1A2F57"/>
                </a:solidFill>
                <a:latin typeface="Calibri" pitchFamily="34" charset="0"/>
                <a:ea typeface="Calibri" pitchFamily="34" charset="-122"/>
                <a:cs typeface="Calibri" pitchFamily="34" charset="-120"/>
              </a:rPr>
              <a:t> — photo taken elsewhere</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Document</a:t>
            </a:r>
            <a:pPr algn="l" indent="0" marL="0">
              <a:buNone/>
            </a:pPr>
            <a:r>
              <a:rPr lang="en-US" sz="1450" dirty="0">
                <a:solidFill>
                  <a:srgbClr val="1A2F57"/>
                </a:solidFill>
                <a:latin typeface="Calibri" pitchFamily="34" charset="0"/>
                <a:ea typeface="Calibri" pitchFamily="34" charset="-122"/>
                <a:cs typeface="Calibri" pitchFamily="34" charset="-120"/>
              </a:rPr>
              <a:t> — bills that don't add up</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Satellite</a:t>
            </a:r>
            <a:pPr algn="l" indent="0" marL="0">
              <a:buNone/>
            </a:pPr>
            <a:r>
              <a:rPr lang="en-US" sz="1450" dirty="0">
                <a:solidFill>
                  <a:srgbClr val="1A2F57"/>
                </a:solidFill>
                <a:latin typeface="Calibri" pitchFamily="34" charset="0"/>
                <a:ea typeface="Calibri" pitchFamily="34" charset="-122"/>
                <a:cs typeface="Calibri" pitchFamily="34" charset="-120"/>
              </a:rPr>
              <a:t> — ghost ponds &amp; long roads</a:t>
            </a:r>
            <a:endParaRPr lang="en-US" sz="1450" dirty="0"/>
          </a:p>
        </p:txBody>
      </p:sp>
      <p:sp>
        <p:nvSpPr>
          <p:cNvPr id="41" name="Shape 31"/>
          <p:cNvSpPr/>
          <p:nvPr/>
        </p:nvSpPr>
        <p:spPr>
          <a:xfrm>
            <a:off x="9271000" y="7569200"/>
            <a:ext cx="4077970" cy="2032000"/>
          </a:xfrm>
          <a:prstGeom prst="roundRect">
            <a:avLst>
              <a:gd name="adj" fmla="val 6875"/>
            </a:avLst>
          </a:prstGeom>
          <a:solidFill>
            <a:srgbClr val="FFFFFF"/>
          </a:solidFill>
          <a:ln w="19050">
            <a:solidFill>
              <a:srgbClr val="B1BBC8"/>
            </a:solidFill>
            <a:prstDash val="solid"/>
          </a:ln>
        </p:spPr>
      </p:sp>
      <p:sp>
        <p:nvSpPr>
          <p:cNvPr id="42" name="Shape 32"/>
          <p:cNvSpPr/>
          <p:nvPr/>
        </p:nvSpPr>
        <p:spPr>
          <a:xfrm>
            <a:off x="9423400" y="7708900"/>
            <a:ext cx="457200" cy="457200"/>
          </a:xfrm>
          <a:prstGeom prst="ellipse">
            <a:avLst/>
          </a:prstGeom>
          <a:solidFill>
            <a:srgbClr val="2A4D88"/>
          </a:solidFill>
          <a:ln/>
        </p:spPr>
      </p:sp>
      <p:pic>
        <p:nvPicPr>
          <p:cNvPr id="43" name="Image 8" descr="C:\Users\abhim\drishti\docs\deck\assets\icons\chart-line_w.png">    </p:cNvPr>
          <p:cNvPicPr>
            <a:picLocks noChangeAspect="1"/>
          </p:cNvPicPr>
          <p:nvPr/>
        </p:nvPicPr>
        <p:blipFill>
          <a:blip r:embed="rId9"/>
          <a:stretch>
            <a:fillRect/>
          </a:stretch>
        </p:blipFill>
        <p:spPr>
          <a:xfrm>
            <a:off x="9537700" y="7823200"/>
            <a:ext cx="228600" cy="228600"/>
          </a:xfrm>
          <a:prstGeom prst="rect">
            <a:avLst/>
          </a:prstGeom>
        </p:spPr>
      </p:pic>
      <p:sp>
        <p:nvSpPr>
          <p:cNvPr id="44" name="Text 33"/>
          <p:cNvSpPr txBox="1"/>
          <p:nvPr/>
        </p:nvSpPr>
        <p:spPr>
          <a:xfrm>
            <a:off x="9982200" y="7708900"/>
            <a:ext cx="3239770" cy="457200"/>
          </a:xfrm>
          <a:prstGeom prst="rect">
            <a:avLst/>
          </a:prstGeom>
          <a:noFill/>
          <a:ln/>
        </p:spPr>
        <p:txBody>
          <a:bodyPr wrap="square" lIns="0" tIns="0" rIns="0" bIns="0" rtlCol="0" anchor="ctr"/>
          <a:lstStyle/>
          <a:p>
            <a:pPr algn="l" indent="0" marL="0">
              <a:buNone/>
            </a:pPr>
            <a:r>
              <a:rPr lang="en-US" sz="1650" b="1" spc="100" kern="0" dirty="0">
                <a:solidFill>
                  <a:srgbClr val="2A4D88"/>
                </a:solidFill>
                <a:latin typeface="Calibri" pitchFamily="34" charset="0"/>
                <a:ea typeface="Calibri" pitchFamily="34" charset="-122"/>
                <a:cs typeface="Calibri" pitchFamily="34" charset="-120"/>
              </a:rPr>
              <a:t>MONEY &amp; TIME</a:t>
            </a:r>
            <a:endParaRPr lang="en-US" sz="1650" dirty="0"/>
          </a:p>
        </p:txBody>
      </p:sp>
      <p:sp>
        <p:nvSpPr>
          <p:cNvPr id="45" name="Text 34"/>
          <p:cNvSpPr txBox="1"/>
          <p:nvPr/>
        </p:nvSpPr>
        <p:spPr>
          <a:xfrm>
            <a:off x="9448800" y="8267700"/>
            <a:ext cx="3773170" cy="755650"/>
          </a:xfrm>
          <a:prstGeom prst="rect">
            <a:avLst/>
          </a:prstGeom>
          <a:noFill/>
          <a:ln/>
        </p:spPr>
        <p:txBody>
          <a:bodyPr wrap="square" lIns="0" tIns="0" rIns="0" bIns="0" rtlCol="0" anchor="t"/>
          <a:lstStyle/>
          <a:p>
            <a:pPr algn="l" indent="0" marL="0">
              <a:buNone/>
            </a:pPr>
            <a:r>
              <a:rPr lang="en-US" sz="1450" b="1" dirty="0">
                <a:solidFill>
                  <a:srgbClr val="2A4D88"/>
                </a:solidFill>
                <a:latin typeface="Calibri" pitchFamily="34" charset="0"/>
                <a:ea typeface="Calibri" pitchFamily="34" charset="-122"/>
                <a:cs typeface="Calibri" pitchFamily="34" charset="-120"/>
              </a:rPr>
              <a:t>Delay Prediction</a:t>
            </a:r>
            <a:pPr algn="l" indent="0" marL="0">
              <a:buNone/>
            </a:pPr>
            <a:r>
              <a:rPr lang="en-US" sz="1450" dirty="0">
                <a:solidFill>
                  <a:srgbClr val="1A2F57"/>
                </a:solidFill>
                <a:latin typeface="Calibri" pitchFamily="34" charset="0"/>
                <a:ea typeface="Calibri" pitchFamily="34" charset="-122"/>
                <a:cs typeface="Calibri" pitchFamily="34" charset="-120"/>
              </a:rPr>
              <a:t> — likely to miss 12 months</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Fund Flow</a:t>
            </a:r>
            <a:pPr algn="l" indent="0" marL="0">
              <a:buNone/>
            </a:pPr>
            <a:r>
              <a:rPr lang="en-US" sz="1450" dirty="0">
                <a:solidFill>
                  <a:srgbClr val="1A2F57"/>
                </a:solidFill>
                <a:latin typeface="Calibri" pitchFamily="34" charset="0"/>
                <a:ea typeface="Calibri" pitchFamily="34" charset="-122"/>
                <a:cs typeface="Calibri" pitchFamily="34" charset="-120"/>
              </a:rPr>
              <a:t> — idle funds, year-end rush</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Contractor Network</a:t>
            </a:r>
            <a:pPr algn="l" indent="0" marL="0">
              <a:buNone/>
            </a:pPr>
            <a:r>
              <a:rPr lang="en-US" sz="1450" dirty="0">
                <a:solidFill>
                  <a:srgbClr val="1A2F57"/>
                </a:solidFill>
                <a:latin typeface="Calibri" pitchFamily="34" charset="0"/>
                <a:ea typeface="Calibri" pitchFamily="34" charset="-122"/>
                <a:cs typeface="Calibri" pitchFamily="34" charset="-120"/>
              </a:rPr>
              <a:t> — a few firms win all</a:t>
            </a:r>
            <a:endParaRPr lang="en-US" sz="1450" dirty="0"/>
          </a:p>
        </p:txBody>
      </p:sp>
      <p:sp>
        <p:nvSpPr>
          <p:cNvPr id="46" name="Shape 35"/>
          <p:cNvSpPr/>
          <p:nvPr/>
        </p:nvSpPr>
        <p:spPr>
          <a:xfrm>
            <a:off x="13602970" y="7569200"/>
            <a:ext cx="4077970" cy="2032000"/>
          </a:xfrm>
          <a:prstGeom prst="roundRect">
            <a:avLst>
              <a:gd name="adj" fmla="val 6875"/>
            </a:avLst>
          </a:prstGeom>
          <a:solidFill>
            <a:srgbClr val="FFFFFF"/>
          </a:solidFill>
          <a:ln w="19050">
            <a:solidFill>
              <a:srgbClr val="B1BBC8"/>
            </a:solidFill>
            <a:prstDash val="solid"/>
          </a:ln>
        </p:spPr>
      </p:sp>
      <p:sp>
        <p:nvSpPr>
          <p:cNvPr id="47" name="Shape 36"/>
          <p:cNvSpPr/>
          <p:nvPr/>
        </p:nvSpPr>
        <p:spPr>
          <a:xfrm>
            <a:off x="13755370" y="7708900"/>
            <a:ext cx="457200" cy="457200"/>
          </a:xfrm>
          <a:prstGeom prst="ellipse">
            <a:avLst/>
          </a:prstGeom>
          <a:solidFill>
            <a:srgbClr val="2A4D88"/>
          </a:solidFill>
          <a:ln/>
        </p:spPr>
      </p:sp>
      <p:pic>
        <p:nvPicPr>
          <p:cNvPr id="48" name="Image 9" descr="C:\Users\abhim\drishti\docs\deck\assets\icons\people-roof_w.png">    </p:cNvPr>
          <p:cNvPicPr>
            <a:picLocks noChangeAspect="1"/>
          </p:cNvPicPr>
          <p:nvPr/>
        </p:nvPicPr>
        <p:blipFill>
          <a:blip r:embed="rId10"/>
          <a:stretch>
            <a:fillRect/>
          </a:stretch>
        </p:blipFill>
        <p:spPr>
          <a:xfrm>
            <a:off x="13869670" y="7823200"/>
            <a:ext cx="228600" cy="228600"/>
          </a:xfrm>
          <a:prstGeom prst="rect">
            <a:avLst/>
          </a:prstGeom>
        </p:spPr>
      </p:pic>
      <p:sp>
        <p:nvSpPr>
          <p:cNvPr id="49" name="Text 37"/>
          <p:cNvSpPr txBox="1"/>
          <p:nvPr/>
        </p:nvSpPr>
        <p:spPr>
          <a:xfrm>
            <a:off x="14314170" y="7708900"/>
            <a:ext cx="3239770" cy="457200"/>
          </a:xfrm>
          <a:prstGeom prst="rect">
            <a:avLst/>
          </a:prstGeom>
          <a:noFill/>
          <a:ln/>
        </p:spPr>
        <p:txBody>
          <a:bodyPr wrap="square" lIns="0" tIns="0" rIns="0" bIns="0" rtlCol="0" anchor="ctr"/>
          <a:lstStyle/>
          <a:p>
            <a:pPr algn="l" indent="0" marL="0">
              <a:buNone/>
            </a:pPr>
            <a:r>
              <a:rPr lang="en-US" sz="1650" b="1" spc="100" kern="0" dirty="0">
                <a:solidFill>
                  <a:srgbClr val="2A4D88"/>
                </a:solidFill>
                <a:latin typeface="Calibri" pitchFamily="34" charset="0"/>
                <a:ea typeface="Calibri" pitchFamily="34" charset="-122"/>
                <a:cs typeface="Calibri" pitchFamily="34" charset="-120"/>
              </a:rPr>
              <a:t>AFTER COMPLETION</a:t>
            </a:r>
            <a:endParaRPr lang="en-US" sz="1650" dirty="0"/>
          </a:p>
        </p:txBody>
      </p:sp>
      <p:sp>
        <p:nvSpPr>
          <p:cNvPr id="50" name="Text 38"/>
          <p:cNvSpPr txBox="1"/>
          <p:nvPr/>
        </p:nvSpPr>
        <p:spPr>
          <a:xfrm>
            <a:off x="13780770" y="8267700"/>
            <a:ext cx="3773170" cy="285750"/>
          </a:xfrm>
          <a:prstGeom prst="rect">
            <a:avLst/>
          </a:prstGeom>
          <a:noFill/>
          <a:ln/>
        </p:spPr>
        <p:txBody>
          <a:bodyPr wrap="square" lIns="0" tIns="0" rIns="0" bIns="0" rtlCol="0" anchor="t"/>
          <a:lstStyle/>
          <a:p>
            <a:pPr algn="l" indent="0" marL="0">
              <a:buNone/>
            </a:pPr>
            <a:r>
              <a:rPr lang="en-US" sz="1450" b="1" dirty="0">
                <a:solidFill>
                  <a:srgbClr val="2A4D88"/>
                </a:solidFill>
                <a:latin typeface="Calibri" pitchFamily="34" charset="0"/>
                <a:ea typeface="Calibri" pitchFamily="34" charset="-122"/>
                <a:cs typeface="Calibri" pitchFamily="34" charset="-120"/>
              </a:rPr>
              <a:t>Citizen Verification</a:t>
            </a:r>
            <a:pPr algn="l" indent="0" marL="0">
              <a:buNone/>
            </a:pPr>
            <a:r>
              <a:rPr lang="en-US" sz="1450" dirty="0">
                <a:solidFill>
                  <a:srgbClr val="1A2F57"/>
                </a:solidFill>
                <a:latin typeface="Calibri" pitchFamily="34" charset="0"/>
                <a:ea typeface="Calibri" pitchFamily="34" charset="-122"/>
                <a:cs typeface="Calibri" pitchFamily="34" charset="-120"/>
              </a:rPr>
              <a:t> — asset exists &amp; is used</a:t>
            </a:r>
            <a:endParaRPr lang="en-US" sz="1450" dirty="0"/>
          </a:p>
        </p:txBody>
      </p:sp>
      <p:sp>
        <p:nvSpPr>
          <p:cNvPr id="51" name="Shape 39"/>
          <p:cNvSpPr/>
          <p:nvPr/>
        </p:nvSpPr>
        <p:spPr>
          <a:xfrm>
            <a:off x="13780770" y="8661400"/>
            <a:ext cx="3722370" cy="0"/>
          </a:xfrm>
          <a:prstGeom prst="line">
            <a:avLst/>
          </a:prstGeom>
          <a:noFill/>
          <a:ln w="12700">
            <a:solidFill>
              <a:srgbClr val="B1BBC8"/>
            </a:solidFill>
            <a:prstDash val="solid"/>
          </a:ln>
        </p:spPr>
      </p:sp>
      <p:sp>
        <p:nvSpPr>
          <p:cNvPr id="52" name="Text 40"/>
          <p:cNvSpPr txBox="1"/>
          <p:nvPr/>
        </p:nvSpPr>
        <p:spPr>
          <a:xfrm>
            <a:off x="13780770" y="8763000"/>
            <a:ext cx="3773170" cy="736600"/>
          </a:xfrm>
          <a:prstGeom prst="rect">
            <a:avLst/>
          </a:prstGeom>
          <a:noFill/>
          <a:ln/>
        </p:spPr>
        <p:txBody>
          <a:bodyPr wrap="square" lIns="0" tIns="0" rIns="0" bIns="0" rtlCol="0" anchor="t"/>
          <a:lstStyle/>
          <a:p>
            <a:pPr algn="l" indent="0" marL="0">
              <a:buNone/>
            </a:pPr>
            <a:r>
              <a:rPr lang="en-US" sz="1450" dirty="0">
                <a:solidFill>
                  <a:srgbClr val="5B6B84"/>
                </a:solidFill>
                <a:latin typeface="Calibri" pitchFamily="34" charset="0"/>
                <a:ea typeface="Calibri" pitchFamily="34" charset="-122"/>
                <a:cs typeface="Calibri" pitchFamily="34" charset="-120"/>
              </a:rPr>
              <a:t>Then, for every work:</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Risk Fusion · Inspection Planner · Ask DRISHTI</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sp>
        <p:nvSpPr>
          <p:cNvPr id="4" name="Text 2"/>
          <p:cNvSpPr txBox="1"/>
          <p:nvPr/>
        </p:nvSpPr>
        <p:spPr>
          <a:xfrm>
            <a:off x="3131820" y="381000"/>
            <a:ext cx="11430000" cy="787400"/>
          </a:xfrm>
          <a:prstGeom prst="rect">
            <a:avLst/>
          </a:prstGeom>
          <a:noFill/>
          <a:ln/>
        </p:spPr>
        <p:txBody>
          <a:bodyPr wrap="square" lIns="0" tIns="0" rIns="0" bIns="0" rtlCol="0" anchor="ctr"/>
          <a:lstStyle/>
          <a:p>
            <a:pPr algn="ctr" indent="0" marL="0">
              <a:buNone/>
            </a:pPr>
            <a:r>
              <a:rPr lang="en-US" sz="4200" b="1" dirty="0">
                <a:solidFill>
                  <a:srgbClr val="2A4D88"/>
                </a:solidFill>
                <a:latin typeface="Cambria" pitchFamily="34" charset="0"/>
                <a:ea typeface="Cambria" pitchFamily="34" charset="-122"/>
                <a:cs typeface="Cambria" pitchFamily="34" charset="-120"/>
              </a:rPr>
              <a:t>TECHNICAL APPROACH</a:t>
            </a:r>
            <a:endParaRPr lang="en-US" sz="4200" dirty="0"/>
          </a:p>
        </p:txBody>
      </p:sp>
      <p:pic>
        <p:nvPicPr>
          <p:cNvPr id="5" name="Image 0" descr="C:\Users\abhim\drishti\docs\deck\assets\sih_logo_wide.png">    </p:cNvPr>
          <p:cNvPicPr>
            <a:picLocks noChangeAspect="1"/>
          </p:cNvPicPr>
          <p:nvPr/>
        </p:nvPicPr>
        <p:blipFill>
          <a:blip r:embed="rId1"/>
          <a:stretch>
            <a:fillRect/>
          </a:stretch>
        </p:blipFill>
        <p:spPr>
          <a:xfrm>
            <a:off x="15392400" y="76200"/>
            <a:ext cx="2705100" cy="1277620"/>
          </a:xfrm>
          <a:prstGeom prst="rect">
            <a:avLst/>
          </a:prstGeom>
        </p:spPr>
      </p:pic>
      <p:sp>
        <p:nvSpPr>
          <p:cNvPr id="6" name="Shape 3"/>
          <p:cNvSpPr/>
          <p:nvPr/>
        </p:nvSpPr>
        <p:spPr>
          <a:xfrm>
            <a:off x="0" y="9756140"/>
            <a:ext cx="18288000" cy="533400"/>
          </a:xfrm>
          <a:prstGeom prst="rect">
            <a:avLst/>
          </a:prstGeom>
          <a:solidFill>
            <a:srgbClr val="2A4D88"/>
          </a:solidFill>
          <a:ln/>
        </p:spPr>
      </p:sp>
      <p:sp>
        <p:nvSpPr>
          <p:cNvPr id="7"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8"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3</a:t>
            </a:r>
            <a:endParaRPr lang="en-US" sz="1650" dirty="0"/>
          </a:p>
        </p:txBody>
      </p:sp>
      <p:sp>
        <p:nvSpPr>
          <p:cNvPr id="9" name="Text 6"/>
          <p:cNvSpPr txBox="1"/>
          <p:nvPr/>
        </p:nvSpPr>
        <p:spPr>
          <a:xfrm>
            <a:off x="617220" y="15494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SYSTEM ARCHITECTURE &amp; WORKFLOW</a:t>
            </a:r>
            <a:endParaRPr lang="en-US" sz="1720" dirty="0"/>
          </a:p>
        </p:txBody>
      </p:sp>
      <p:sp>
        <p:nvSpPr>
          <p:cNvPr id="10" name="Shape 7"/>
          <p:cNvSpPr/>
          <p:nvPr/>
        </p:nvSpPr>
        <p:spPr>
          <a:xfrm>
            <a:off x="607060" y="1905000"/>
            <a:ext cx="3050540" cy="2108200"/>
          </a:xfrm>
          <a:prstGeom prst="roundRect">
            <a:avLst>
              <a:gd name="adj" fmla="val 6627"/>
            </a:avLst>
          </a:prstGeom>
          <a:solidFill>
            <a:srgbClr val="EDF0F5"/>
          </a:solidFill>
          <a:ln/>
        </p:spPr>
      </p:sp>
      <p:sp>
        <p:nvSpPr>
          <p:cNvPr id="11" name="Shape 8"/>
          <p:cNvSpPr/>
          <p:nvPr/>
        </p:nvSpPr>
        <p:spPr>
          <a:xfrm>
            <a:off x="810260" y="2082800"/>
            <a:ext cx="609600" cy="609600"/>
          </a:xfrm>
          <a:prstGeom prst="ellipse">
            <a:avLst/>
          </a:prstGeom>
          <a:solidFill>
            <a:srgbClr val="2A4D88"/>
          </a:solidFill>
          <a:ln/>
        </p:spPr>
      </p:sp>
      <p:pic>
        <p:nvPicPr>
          <p:cNvPr id="12" name="Image 1" descr="C:\Users\abhim\drishti\docs\deck\assets\icons\database_w.png">    </p:cNvPr>
          <p:cNvPicPr>
            <a:picLocks noChangeAspect="1"/>
          </p:cNvPicPr>
          <p:nvPr/>
        </p:nvPicPr>
        <p:blipFill>
          <a:blip r:embed="rId2"/>
          <a:stretch>
            <a:fillRect/>
          </a:stretch>
        </p:blipFill>
        <p:spPr>
          <a:xfrm>
            <a:off x="962660" y="2235200"/>
            <a:ext cx="304800" cy="304800"/>
          </a:xfrm>
          <a:prstGeom prst="rect">
            <a:avLst/>
          </a:prstGeom>
        </p:spPr>
      </p:pic>
      <p:sp>
        <p:nvSpPr>
          <p:cNvPr id="13" name="Text 9"/>
          <p:cNvSpPr txBox="1"/>
          <p:nvPr/>
        </p:nvSpPr>
        <p:spPr>
          <a:xfrm>
            <a:off x="2768600" y="2082800"/>
            <a:ext cx="685800" cy="431800"/>
          </a:xfrm>
          <a:prstGeom prst="rect">
            <a:avLst/>
          </a:prstGeom>
          <a:noFill/>
          <a:ln/>
        </p:spPr>
        <p:txBody>
          <a:bodyPr wrap="square" lIns="0" tIns="0" rIns="0" bIns="0" rtlCol="0" anchor="t"/>
          <a:lstStyle/>
          <a:p>
            <a:pPr algn="r" indent="0" marL="0">
              <a:buNone/>
            </a:pPr>
            <a:r>
              <a:rPr lang="en-US" sz="2600" b="1" dirty="0">
                <a:solidFill>
                  <a:srgbClr val="7C94B8"/>
                </a:solidFill>
                <a:latin typeface="Cambria" pitchFamily="34" charset="0"/>
                <a:ea typeface="Cambria" pitchFamily="34" charset="-122"/>
                <a:cs typeface="Cambria" pitchFamily="34" charset="-120"/>
              </a:rPr>
              <a:t>01</a:t>
            </a:r>
            <a:endParaRPr lang="en-US" sz="2600" dirty="0"/>
          </a:p>
        </p:txBody>
      </p:sp>
      <p:sp>
        <p:nvSpPr>
          <p:cNvPr id="14" name="Text 10"/>
          <p:cNvSpPr txBox="1"/>
          <p:nvPr/>
        </p:nvSpPr>
        <p:spPr>
          <a:xfrm>
            <a:off x="810260" y="2794000"/>
            <a:ext cx="2669540" cy="304800"/>
          </a:xfrm>
          <a:prstGeom prst="rect">
            <a:avLst/>
          </a:prstGeom>
          <a:noFill/>
          <a:ln/>
        </p:spPr>
        <p:txBody>
          <a:bodyPr wrap="square" lIns="0" tIns="0" rIns="0" bIns="0" rtlCol="0" anchor="t"/>
          <a:lstStyle/>
          <a:p>
            <a:pPr algn="l" indent="0" marL="0">
              <a:buNone/>
            </a:pPr>
            <a:r>
              <a:rPr lang="en-US" sz="1800" b="1" dirty="0">
                <a:solidFill>
                  <a:srgbClr val="2A4D88"/>
                </a:solidFill>
                <a:latin typeface="Calibri" pitchFamily="34" charset="0"/>
                <a:ea typeface="Calibri" pitchFamily="34" charset="-122"/>
                <a:cs typeface="Calibri" pitchFamily="34" charset="-120"/>
              </a:rPr>
              <a:t>Data Ingestion</a:t>
            </a:r>
            <a:endParaRPr lang="en-US" sz="1800" dirty="0"/>
          </a:p>
        </p:txBody>
      </p:sp>
      <p:sp>
        <p:nvSpPr>
          <p:cNvPr id="15" name="Text 11"/>
          <p:cNvSpPr txBox="1"/>
          <p:nvPr/>
        </p:nvSpPr>
        <p:spPr>
          <a:xfrm>
            <a:off x="81026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2.1 lakh eSAKSHI works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Certificates, bills &amp; photos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Field app &amp; citizen uploads</a:t>
            </a:r>
            <a:endParaRPr lang="en-US" sz="1450" dirty="0"/>
          </a:p>
        </p:txBody>
      </p:sp>
      <p:pic>
        <p:nvPicPr>
          <p:cNvPr id="16" name="Image 2" descr="C:\Users\abhim\drishti\docs\deck\assets\icons\arrow-right_n.png">    </p:cNvPr>
          <p:cNvPicPr>
            <a:picLocks noChangeAspect="1"/>
          </p:cNvPicPr>
          <p:nvPr/>
        </p:nvPicPr>
        <p:blipFill>
          <a:blip r:embed="rId3"/>
          <a:stretch>
            <a:fillRect/>
          </a:stretch>
        </p:blipFill>
        <p:spPr>
          <a:xfrm>
            <a:off x="3746500" y="2819400"/>
            <a:ext cx="279400" cy="279400"/>
          </a:xfrm>
          <a:prstGeom prst="rect">
            <a:avLst/>
          </a:prstGeom>
        </p:spPr>
      </p:pic>
      <p:sp>
        <p:nvSpPr>
          <p:cNvPr id="17" name="Shape 12"/>
          <p:cNvSpPr/>
          <p:nvPr/>
        </p:nvSpPr>
        <p:spPr>
          <a:xfrm>
            <a:off x="4114800" y="1905000"/>
            <a:ext cx="3050540" cy="2108200"/>
          </a:xfrm>
          <a:prstGeom prst="roundRect">
            <a:avLst>
              <a:gd name="adj" fmla="val 6627"/>
            </a:avLst>
          </a:prstGeom>
          <a:solidFill>
            <a:srgbClr val="EDF0F5"/>
          </a:solidFill>
          <a:ln/>
        </p:spPr>
      </p:sp>
      <p:sp>
        <p:nvSpPr>
          <p:cNvPr id="18" name="Shape 13"/>
          <p:cNvSpPr/>
          <p:nvPr/>
        </p:nvSpPr>
        <p:spPr>
          <a:xfrm>
            <a:off x="4318000" y="2082800"/>
            <a:ext cx="609600" cy="609600"/>
          </a:xfrm>
          <a:prstGeom prst="ellipse">
            <a:avLst/>
          </a:prstGeom>
          <a:solidFill>
            <a:srgbClr val="2A4D88"/>
          </a:solidFill>
          <a:ln/>
        </p:spPr>
      </p:sp>
      <p:pic>
        <p:nvPicPr>
          <p:cNvPr id="19" name="Image 3" descr="C:\Users\abhim\drishti\docs\deck\assets\icons\filter_w.png">    </p:cNvPr>
          <p:cNvPicPr>
            <a:picLocks noChangeAspect="1"/>
          </p:cNvPicPr>
          <p:nvPr/>
        </p:nvPicPr>
        <p:blipFill>
          <a:blip r:embed="rId4"/>
          <a:stretch>
            <a:fillRect/>
          </a:stretch>
        </p:blipFill>
        <p:spPr>
          <a:xfrm>
            <a:off x="4470400" y="2235200"/>
            <a:ext cx="304800" cy="304800"/>
          </a:xfrm>
          <a:prstGeom prst="rect">
            <a:avLst/>
          </a:prstGeom>
        </p:spPr>
      </p:pic>
      <p:sp>
        <p:nvSpPr>
          <p:cNvPr id="20" name="Text 14"/>
          <p:cNvSpPr txBox="1"/>
          <p:nvPr/>
        </p:nvSpPr>
        <p:spPr>
          <a:xfrm>
            <a:off x="6276340" y="2082800"/>
            <a:ext cx="685800" cy="431800"/>
          </a:xfrm>
          <a:prstGeom prst="rect">
            <a:avLst/>
          </a:prstGeom>
          <a:noFill/>
          <a:ln/>
        </p:spPr>
        <p:txBody>
          <a:bodyPr wrap="square" lIns="0" tIns="0" rIns="0" bIns="0" rtlCol="0" anchor="t"/>
          <a:lstStyle/>
          <a:p>
            <a:pPr algn="r" indent="0" marL="0">
              <a:buNone/>
            </a:pPr>
            <a:r>
              <a:rPr lang="en-US" sz="2600" b="1" dirty="0">
                <a:solidFill>
                  <a:srgbClr val="7C94B8"/>
                </a:solidFill>
                <a:latin typeface="Cambria" pitchFamily="34" charset="0"/>
                <a:ea typeface="Cambria" pitchFamily="34" charset="-122"/>
                <a:cs typeface="Cambria" pitchFamily="34" charset="-120"/>
              </a:rPr>
              <a:t>02</a:t>
            </a:r>
            <a:endParaRPr lang="en-US" sz="2600" dirty="0"/>
          </a:p>
        </p:txBody>
      </p:sp>
      <p:sp>
        <p:nvSpPr>
          <p:cNvPr id="21" name="Text 15"/>
          <p:cNvSpPr txBox="1"/>
          <p:nvPr/>
        </p:nvSpPr>
        <p:spPr>
          <a:xfrm>
            <a:off x="4318000" y="2794000"/>
            <a:ext cx="2669540" cy="304800"/>
          </a:xfrm>
          <a:prstGeom prst="rect">
            <a:avLst/>
          </a:prstGeom>
          <a:noFill/>
          <a:ln/>
        </p:spPr>
        <p:txBody>
          <a:bodyPr wrap="square" lIns="0" tIns="0" rIns="0" bIns="0" rtlCol="0" anchor="t"/>
          <a:lstStyle/>
          <a:p>
            <a:pPr algn="l" indent="0" marL="0">
              <a:buNone/>
            </a:pPr>
            <a:r>
              <a:rPr lang="en-US" sz="1800" b="1" dirty="0">
                <a:solidFill>
                  <a:srgbClr val="2A4D88"/>
                </a:solidFill>
                <a:latin typeface="Calibri" pitchFamily="34" charset="0"/>
                <a:ea typeface="Calibri" pitchFamily="34" charset="-122"/>
                <a:cs typeface="Calibri" pitchFamily="34" charset="-120"/>
              </a:rPr>
              <a:t>Data Validation</a:t>
            </a:r>
            <a:endParaRPr lang="en-US" sz="1800" dirty="0"/>
          </a:p>
        </p:txBody>
      </p:sp>
      <p:sp>
        <p:nvSpPr>
          <p:cNvPr id="22" name="Text 16"/>
          <p:cNvSpPr txBox="1"/>
          <p:nvPr/>
        </p:nvSpPr>
        <p:spPr>
          <a:xfrm>
            <a:off x="431800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Date &amp; amount checks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Read documents &amp; photo stamps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Mask names &amp; phone numbers</a:t>
            </a:r>
            <a:endParaRPr lang="en-US" sz="1450" dirty="0"/>
          </a:p>
        </p:txBody>
      </p:sp>
      <p:pic>
        <p:nvPicPr>
          <p:cNvPr id="23" name="Image 4" descr="C:\Users\abhim\drishti\docs\deck\assets\icons\arrow-right_n.png">    </p:cNvPr>
          <p:cNvPicPr>
            <a:picLocks noChangeAspect="1"/>
          </p:cNvPicPr>
          <p:nvPr/>
        </p:nvPicPr>
        <p:blipFill>
          <a:blip r:embed="rId5"/>
          <a:stretch>
            <a:fillRect/>
          </a:stretch>
        </p:blipFill>
        <p:spPr>
          <a:xfrm>
            <a:off x="7254240" y="2819400"/>
            <a:ext cx="279400" cy="279400"/>
          </a:xfrm>
          <a:prstGeom prst="rect">
            <a:avLst/>
          </a:prstGeom>
        </p:spPr>
      </p:pic>
      <p:sp>
        <p:nvSpPr>
          <p:cNvPr id="24" name="Shape 17"/>
          <p:cNvSpPr/>
          <p:nvPr/>
        </p:nvSpPr>
        <p:spPr>
          <a:xfrm>
            <a:off x="7621270" y="1905000"/>
            <a:ext cx="3050540" cy="2108200"/>
          </a:xfrm>
          <a:prstGeom prst="roundRect">
            <a:avLst>
              <a:gd name="adj" fmla="val 6627"/>
            </a:avLst>
          </a:prstGeom>
          <a:solidFill>
            <a:srgbClr val="2A4D88"/>
          </a:solidFill>
          <a:ln/>
        </p:spPr>
      </p:sp>
      <p:sp>
        <p:nvSpPr>
          <p:cNvPr id="25" name="Shape 18"/>
          <p:cNvSpPr/>
          <p:nvPr/>
        </p:nvSpPr>
        <p:spPr>
          <a:xfrm>
            <a:off x="7824470" y="2082800"/>
            <a:ext cx="609600" cy="609600"/>
          </a:xfrm>
          <a:prstGeom prst="ellipse">
            <a:avLst/>
          </a:prstGeom>
          <a:solidFill>
            <a:srgbClr val="FFFFFF"/>
          </a:solidFill>
          <a:ln/>
        </p:spPr>
      </p:sp>
      <p:pic>
        <p:nvPicPr>
          <p:cNvPr id="26" name="Image 5" descr="C:\Users\abhim\drishti\docs\deck\assets\icons\brain_n.png">    </p:cNvPr>
          <p:cNvPicPr>
            <a:picLocks noChangeAspect="1"/>
          </p:cNvPicPr>
          <p:nvPr/>
        </p:nvPicPr>
        <p:blipFill>
          <a:blip r:embed="rId6"/>
          <a:stretch>
            <a:fillRect/>
          </a:stretch>
        </p:blipFill>
        <p:spPr>
          <a:xfrm>
            <a:off x="7976870" y="2235200"/>
            <a:ext cx="304800" cy="304800"/>
          </a:xfrm>
          <a:prstGeom prst="rect">
            <a:avLst/>
          </a:prstGeom>
        </p:spPr>
      </p:pic>
      <p:sp>
        <p:nvSpPr>
          <p:cNvPr id="27" name="Text 19"/>
          <p:cNvSpPr txBox="1"/>
          <p:nvPr/>
        </p:nvSpPr>
        <p:spPr>
          <a:xfrm>
            <a:off x="9782810" y="2082800"/>
            <a:ext cx="685800" cy="431800"/>
          </a:xfrm>
          <a:prstGeom prst="rect">
            <a:avLst/>
          </a:prstGeom>
          <a:noFill/>
          <a:ln/>
        </p:spPr>
        <p:txBody>
          <a:bodyPr wrap="square" lIns="0" tIns="0" rIns="0" bIns="0" rtlCol="0" anchor="t"/>
          <a:lstStyle/>
          <a:p>
            <a:pPr algn="r" indent="0" marL="0">
              <a:buNone/>
            </a:pPr>
            <a:r>
              <a:rPr lang="en-US" sz="2600" b="1" dirty="0">
                <a:solidFill>
                  <a:srgbClr val="B1BBC8"/>
                </a:solidFill>
                <a:latin typeface="Cambria" pitchFamily="34" charset="0"/>
                <a:ea typeface="Cambria" pitchFamily="34" charset="-122"/>
                <a:cs typeface="Cambria" pitchFamily="34" charset="-120"/>
              </a:rPr>
              <a:t>03</a:t>
            </a:r>
            <a:endParaRPr lang="en-US" sz="2600" dirty="0"/>
          </a:p>
        </p:txBody>
      </p:sp>
      <p:sp>
        <p:nvSpPr>
          <p:cNvPr id="28" name="Text 20"/>
          <p:cNvSpPr txBox="1"/>
          <p:nvPr/>
        </p:nvSpPr>
        <p:spPr>
          <a:xfrm>
            <a:off x="7824470" y="2794000"/>
            <a:ext cx="2669540" cy="304800"/>
          </a:xfrm>
          <a:prstGeom prst="rect">
            <a:avLst/>
          </a:prstGeom>
          <a:noFill/>
          <a:ln/>
        </p:spPr>
        <p:txBody>
          <a:bodyPr wrap="square" lIns="0" tIns="0" rIns="0" bIns="0" rtlCol="0" anchor="t"/>
          <a:lstStyle/>
          <a:p>
            <a:pPr algn="l" indent="0" marL="0">
              <a:buNone/>
            </a:pPr>
            <a:r>
              <a:rPr lang="en-US" sz="1800" b="1" dirty="0">
                <a:solidFill>
                  <a:srgbClr val="FFFFFF"/>
                </a:solidFill>
                <a:latin typeface="Calibri" pitchFamily="34" charset="0"/>
                <a:ea typeface="Calibri" pitchFamily="34" charset="-122"/>
                <a:cs typeface="Calibri" pitchFamily="34" charset="-120"/>
              </a:rPr>
              <a:t>12 AI Agents</a:t>
            </a:r>
            <a:endParaRPr lang="en-US" sz="1800" dirty="0"/>
          </a:p>
        </p:txBody>
      </p:sp>
      <p:sp>
        <p:nvSpPr>
          <p:cNvPr id="29" name="Text 21"/>
          <p:cNvSpPr txBox="1"/>
          <p:nvPr/>
        </p:nvSpPr>
        <p:spPr>
          <a:xfrm>
            <a:off x="782447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FFFFFF"/>
                </a:solidFill>
                <a:latin typeface="Calibri" pitchFamily="34" charset="0"/>
                <a:ea typeface="Calibri" pitchFamily="34" charset="-122"/>
                <a:cs typeface="Calibri" pitchFamily="34" charset="-120"/>
              </a:rPr>
              <a:t>Before sanction (3)</a:t>
            </a:r>
            <a:endParaRPr lang="en-US" sz="1450" dirty="0"/>
          </a:p>
          <a:p>
            <a:pPr algn="l" marL="177800" indent="-177800">
              <a:buSzPct val="100000"/>
              <a:buChar char="•"/>
            </a:pPr>
            <a:r>
              <a:rPr lang="en-US" sz="1450" dirty="0">
                <a:solidFill>
                  <a:srgbClr val="FFFFFF"/>
                </a:solidFill>
                <a:latin typeface="Calibri" pitchFamily="34" charset="0"/>
                <a:ea typeface="Calibri" pitchFamily="34" charset="-122"/>
                <a:cs typeface="Calibri" pitchFamily="34" charset="-120"/>
              </a:rPr>
              <a:t>During construction (5)</a:t>
            </a:r>
            <a:endParaRPr lang="en-US" sz="1450" dirty="0"/>
          </a:p>
          <a:p>
            <a:pPr algn="l" marL="177800" indent="-177800">
              <a:buSzPct val="100000"/>
              <a:buChar char="•"/>
            </a:pPr>
            <a:r>
              <a:rPr lang="en-US" sz="1450" dirty="0">
                <a:solidFill>
                  <a:srgbClr val="FFFFFF"/>
                </a:solidFill>
                <a:latin typeface="Calibri" pitchFamily="34" charset="0"/>
                <a:ea typeface="Calibri" pitchFamily="34" charset="-122"/>
                <a:cs typeface="Calibri" pitchFamily="34" charset="-120"/>
              </a:rPr>
              <a:t>Money &amp; time (3), after (1)</a:t>
            </a:r>
            <a:endParaRPr lang="en-US" sz="1450" dirty="0"/>
          </a:p>
        </p:txBody>
      </p:sp>
      <p:pic>
        <p:nvPicPr>
          <p:cNvPr id="30" name="Image 6" descr="C:\Users\abhim\drishti\docs\deck\assets\icons\arrow-right_n.png">    </p:cNvPr>
          <p:cNvPicPr>
            <a:picLocks noChangeAspect="1"/>
          </p:cNvPicPr>
          <p:nvPr/>
        </p:nvPicPr>
        <p:blipFill>
          <a:blip r:embed="rId7"/>
          <a:stretch>
            <a:fillRect/>
          </a:stretch>
        </p:blipFill>
        <p:spPr>
          <a:xfrm>
            <a:off x="10760710" y="2819400"/>
            <a:ext cx="279400" cy="279400"/>
          </a:xfrm>
          <a:prstGeom prst="rect">
            <a:avLst/>
          </a:prstGeom>
        </p:spPr>
      </p:pic>
      <p:sp>
        <p:nvSpPr>
          <p:cNvPr id="31" name="Shape 22"/>
          <p:cNvSpPr/>
          <p:nvPr/>
        </p:nvSpPr>
        <p:spPr>
          <a:xfrm>
            <a:off x="11127740" y="1905000"/>
            <a:ext cx="3050540" cy="2108200"/>
          </a:xfrm>
          <a:prstGeom prst="roundRect">
            <a:avLst>
              <a:gd name="adj" fmla="val 6627"/>
            </a:avLst>
          </a:prstGeom>
          <a:solidFill>
            <a:srgbClr val="EDF0F5"/>
          </a:solidFill>
          <a:ln/>
        </p:spPr>
      </p:sp>
      <p:sp>
        <p:nvSpPr>
          <p:cNvPr id="32" name="Shape 23"/>
          <p:cNvSpPr/>
          <p:nvPr/>
        </p:nvSpPr>
        <p:spPr>
          <a:xfrm>
            <a:off x="11330940" y="2082800"/>
            <a:ext cx="609600" cy="609600"/>
          </a:xfrm>
          <a:prstGeom prst="ellipse">
            <a:avLst/>
          </a:prstGeom>
          <a:solidFill>
            <a:srgbClr val="2A4D88"/>
          </a:solidFill>
          <a:ln/>
        </p:spPr>
      </p:sp>
      <p:pic>
        <p:nvPicPr>
          <p:cNvPr id="33" name="Image 7" descr="C:\Users\abhim\drishti\docs\deck\assets\icons\shield-halved_w.png">    </p:cNvPr>
          <p:cNvPicPr>
            <a:picLocks noChangeAspect="1"/>
          </p:cNvPicPr>
          <p:nvPr/>
        </p:nvPicPr>
        <p:blipFill>
          <a:blip r:embed="rId8"/>
          <a:stretch>
            <a:fillRect/>
          </a:stretch>
        </p:blipFill>
        <p:spPr>
          <a:xfrm>
            <a:off x="11483340" y="2235200"/>
            <a:ext cx="304800" cy="304800"/>
          </a:xfrm>
          <a:prstGeom prst="rect">
            <a:avLst/>
          </a:prstGeom>
        </p:spPr>
      </p:pic>
      <p:sp>
        <p:nvSpPr>
          <p:cNvPr id="34" name="Text 24"/>
          <p:cNvSpPr txBox="1"/>
          <p:nvPr/>
        </p:nvSpPr>
        <p:spPr>
          <a:xfrm>
            <a:off x="13289280" y="2082800"/>
            <a:ext cx="685800" cy="431800"/>
          </a:xfrm>
          <a:prstGeom prst="rect">
            <a:avLst/>
          </a:prstGeom>
          <a:noFill/>
          <a:ln/>
        </p:spPr>
        <p:txBody>
          <a:bodyPr wrap="square" lIns="0" tIns="0" rIns="0" bIns="0" rtlCol="0" anchor="t"/>
          <a:lstStyle/>
          <a:p>
            <a:pPr algn="r" indent="0" marL="0">
              <a:buNone/>
            </a:pPr>
            <a:r>
              <a:rPr lang="en-US" sz="2600" b="1" dirty="0">
                <a:solidFill>
                  <a:srgbClr val="7C94B8"/>
                </a:solidFill>
                <a:latin typeface="Cambria" pitchFamily="34" charset="0"/>
                <a:ea typeface="Cambria" pitchFamily="34" charset="-122"/>
                <a:cs typeface="Cambria" pitchFamily="34" charset="-120"/>
              </a:rPr>
              <a:t>04</a:t>
            </a:r>
            <a:endParaRPr lang="en-US" sz="2600" dirty="0"/>
          </a:p>
        </p:txBody>
      </p:sp>
      <p:sp>
        <p:nvSpPr>
          <p:cNvPr id="35" name="Text 25"/>
          <p:cNvSpPr txBox="1"/>
          <p:nvPr/>
        </p:nvSpPr>
        <p:spPr>
          <a:xfrm>
            <a:off x="11330940" y="2794000"/>
            <a:ext cx="2669540" cy="304800"/>
          </a:xfrm>
          <a:prstGeom prst="rect">
            <a:avLst/>
          </a:prstGeom>
          <a:noFill/>
          <a:ln/>
        </p:spPr>
        <p:txBody>
          <a:bodyPr wrap="square" lIns="0" tIns="0" rIns="0" bIns="0" rtlCol="0" anchor="t"/>
          <a:lstStyle/>
          <a:p>
            <a:pPr algn="l" indent="0" marL="0">
              <a:buNone/>
            </a:pPr>
            <a:r>
              <a:rPr lang="en-US" sz="1800" b="1" dirty="0">
                <a:solidFill>
                  <a:srgbClr val="2A4D88"/>
                </a:solidFill>
                <a:latin typeface="Calibri" pitchFamily="34" charset="0"/>
                <a:ea typeface="Calibri" pitchFamily="34" charset="-122"/>
                <a:cs typeface="Calibri" pitchFamily="34" charset="-120"/>
              </a:rPr>
              <a:t>Risk Fusion</a:t>
            </a:r>
            <a:endParaRPr lang="en-US" sz="1800" dirty="0"/>
          </a:p>
        </p:txBody>
      </p:sp>
      <p:sp>
        <p:nvSpPr>
          <p:cNvPr id="36" name="Text 26"/>
          <p:cNvSpPr txBox="1"/>
          <p:nvPr/>
        </p:nvSpPr>
        <p:spPr>
          <a:xfrm>
            <a:off x="1133094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Weighted fusion → 0–100</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Top-3 reasons + evidence</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Low / Med / High / Critical</a:t>
            </a:r>
            <a:endParaRPr lang="en-US" sz="1450" dirty="0"/>
          </a:p>
        </p:txBody>
      </p:sp>
      <p:pic>
        <p:nvPicPr>
          <p:cNvPr id="37" name="Image 8" descr="C:\Users\abhim\drishti\docs\deck\assets\icons\arrow-right_n.png">    </p:cNvPr>
          <p:cNvPicPr>
            <a:picLocks noChangeAspect="1"/>
          </p:cNvPicPr>
          <p:nvPr/>
        </p:nvPicPr>
        <p:blipFill>
          <a:blip r:embed="rId9"/>
          <a:stretch>
            <a:fillRect/>
          </a:stretch>
        </p:blipFill>
        <p:spPr>
          <a:xfrm>
            <a:off x="14267180" y="2819400"/>
            <a:ext cx="279400" cy="279400"/>
          </a:xfrm>
          <a:prstGeom prst="rect">
            <a:avLst/>
          </a:prstGeom>
        </p:spPr>
      </p:pic>
      <p:sp>
        <p:nvSpPr>
          <p:cNvPr id="38" name="Shape 27"/>
          <p:cNvSpPr/>
          <p:nvPr/>
        </p:nvSpPr>
        <p:spPr>
          <a:xfrm>
            <a:off x="14634210" y="1905000"/>
            <a:ext cx="3050540" cy="2108200"/>
          </a:xfrm>
          <a:prstGeom prst="roundRect">
            <a:avLst>
              <a:gd name="adj" fmla="val 6627"/>
            </a:avLst>
          </a:prstGeom>
          <a:solidFill>
            <a:srgbClr val="EDF0F5"/>
          </a:solidFill>
          <a:ln/>
        </p:spPr>
      </p:sp>
      <p:sp>
        <p:nvSpPr>
          <p:cNvPr id="39" name="Shape 28"/>
          <p:cNvSpPr/>
          <p:nvPr/>
        </p:nvSpPr>
        <p:spPr>
          <a:xfrm>
            <a:off x="14837410" y="2082800"/>
            <a:ext cx="609600" cy="609600"/>
          </a:xfrm>
          <a:prstGeom prst="ellipse">
            <a:avLst/>
          </a:prstGeom>
          <a:solidFill>
            <a:srgbClr val="2A4D88"/>
          </a:solidFill>
          <a:ln/>
        </p:spPr>
      </p:sp>
      <p:pic>
        <p:nvPicPr>
          <p:cNvPr id="40" name="Image 9" descr="C:\Users\abhim\drishti\docs\deck\assets\icons\desktop_w.png">    </p:cNvPr>
          <p:cNvPicPr>
            <a:picLocks noChangeAspect="1"/>
          </p:cNvPicPr>
          <p:nvPr/>
        </p:nvPicPr>
        <p:blipFill>
          <a:blip r:embed="rId10"/>
          <a:stretch>
            <a:fillRect/>
          </a:stretch>
        </p:blipFill>
        <p:spPr>
          <a:xfrm>
            <a:off x="14989810" y="2235200"/>
            <a:ext cx="304800" cy="304800"/>
          </a:xfrm>
          <a:prstGeom prst="rect">
            <a:avLst/>
          </a:prstGeom>
        </p:spPr>
      </p:pic>
      <p:sp>
        <p:nvSpPr>
          <p:cNvPr id="41" name="Text 29"/>
          <p:cNvSpPr txBox="1"/>
          <p:nvPr/>
        </p:nvSpPr>
        <p:spPr>
          <a:xfrm>
            <a:off x="16795750" y="2082800"/>
            <a:ext cx="685800" cy="431800"/>
          </a:xfrm>
          <a:prstGeom prst="rect">
            <a:avLst/>
          </a:prstGeom>
          <a:noFill/>
          <a:ln/>
        </p:spPr>
        <p:txBody>
          <a:bodyPr wrap="square" lIns="0" tIns="0" rIns="0" bIns="0" rtlCol="0" anchor="t"/>
          <a:lstStyle/>
          <a:p>
            <a:pPr algn="r" indent="0" marL="0">
              <a:buNone/>
            </a:pPr>
            <a:r>
              <a:rPr lang="en-US" sz="2600" b="1" dirty="0">
                <a:solidFill>
                  <a:srgbClr val="7C94B8"/>
                </a:solidFill>
                <a:latin typeface="Cambria" pitchFamily="34" charset="0"/>
                <a:ea typeface="Cambria" pitchFamily="34" charset="-122"/>
                <a:cs typeface="Cambria" pitchFamily="34" charset="-120"/>
              </a:rPr>
              <a:t>05</a:t>
            </a:r>
            <a:endParaRPr lang="en-US" sz="2600" dirty="0"/>
          </a:p>
        </p:txBody>
      </p:sp>
      <p:sp>
        <p:nvSpPr>
          <p:cNvPr id="42" name="Text 30"/>
          <p:cNvSpPr txBox="1"/>
          <p:nvPr/>
        </p:nvSpPr>
        <p:spPr>
          <a:xfrm>
            <a:off x="14837410" y="2794000"/>
            <a:ext cx="2669540" cy="304800"/>
          </a:xfrm>
          <a:prstGeom prst="rect">
            <a:avLst/>
          </a:prstGeom>
          <a:noFill/>
          <a:ln/>
        </p:spPr>
        <p:txBody>
          <a:bodyPr wrap="square" lIns="0" tIns="0" rIns="0" bIns="0" rtlCol="0" anchor="t"/>
          <a:lstStyle/>
          <a:p>
            <a:pPr algn="l" indent="0" marL="0">
              <a:buNone/>
            </a:pPr>
            <a:r>
              <a:rPr lang="en-US" sz="1800" b="1" dirty="0">
                <a:solidFill>
                  <a:srgbClr val="2A4D88"/>
                </a:solidFill>
                <a:latin typeface="Calibri" pitchFamily="34" charset="0"/>
                <a:ea typeface="Calibri" pitchFamily="34" charset="-122"/>
                <a:cs typeface="Calibri" pitchFamily="34" charset="-120"/>
              </a:rPr>
              <a:t>Alerts &amp; Dashboards</a:t>
            </a:r>
            <a:endParaRPr lang="en-US" sz="1800" dirty="0"/>
          </a:p>
        </p:txBody>
      </p:sp>
      <p:sp>
        <p:nvSpPr>
          <p:cNvPr id="43" name="Text 31"/>
          <p:cNvSpPr txBox="1"/>
          <p:nvPr/>
        </p:nvSpPr>
        <p:spPr>
          <a:xfrm>
            <a:off x="1483741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4 role-based views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Inspection plan + field app</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SMS / email / PDF brief</a:t>
            </a:r>
            <a:endParaRPr lang="en-US" sz="1450" dirty="0"/>
          </a:p>
        </p:txBody>
      </p:sp>
      <p:sp>
        <p:nvSpPr>
          <p:cNvPr id="44" name="Text 32"/>
          <p:cNvSpPr txBox="1"/>
          <p:nvPr/>
        </p:nvSpPr>
        <p:spPr>
          <a:xfrm>
            <a:off x="617220" y="41910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12 AI AGENTS  —  HOW EACH ONE WORKS</a:t>
            </a:r>
            <a:endParaRPr lang="en-US" sz="1720" dirty="0"/>
          </a:p>
        </p:txBody>
      </p:sp>
      <p:sp>
        <p:nvSpPr>
          <p:cNvPr id="45" name="Text 33"/>
          <p:cNvSpPr txBox="1"/>
          <p:nvPr/>
        </p:nvSpPr>
        <p:spPr>
          <a:xfrm>
            <a:off x="12344400" y="4191000"/>
            <a:ext cx="5334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TECHNOLOGY STACK</a:t>
            </a:r>
            <a:endParaRPr lang="en-US" sz="1720" dirty="0"/>
          </a:p>
        </p:txBody>
      </p:sp>
      <p:sp>
        <p:nvSpPr>
          <p:cNvPr id="46" name="Shape 34"/>
          <p:cNvSpPr/>
          <p:nvPr/>
        </p:nvSpPr>
        <p:spPr>
          <a:xfrm>
            <a:off x="607060" y="4546600"/>
            <a:ext cx="2731135" cy="1600200"/>
          </a:xfrm>
          <a:prstGeom prst="roundRect">
            <a:avLst>
              <a:gd name="adj" fmla="val 7143"/>
            </a:avLst>
          </a:prstGeom>
          <a:solidFill>
            <a:srgbClr val="FFFFFF"/>
          </a:solidFill>
          <a:ln w="19050">
            <a:solidFill>
              <a:srgbClr val="B1BBC8"/>
            </a:solidFill>
            <a:prstDash val="solid"/>
          </a:ln>
        </p:spPr>
      </p:sp>
      <p:sp>
        <p:nvSpPr>
          <p:cNvPr id="47" name="Shape 35"/>
          <p:cNvSpPr/>
          <p:nvPr/>
        </p:nvSpPr>
        <p:spPr>
          <a:xfrm>
            <a:off x="734060" y="4673600"/>
            <a:ext cx="457200" cy="457200"/>
          </a:xfrm>
          <a:prstGeom prst="ellipse">
            <a:avLst/>
          </a:prstGeom>
          <a:solidFill>
            <a:srgbClr val="2A4D88"/>
          </a:solidFill>
          <a:ln/>
        </p:spPr>
      </p:sp>
      <p:pic>
        <p:nvPicPr>
          <p:cNvPr id="48" name="Image 10" descr="C:\Users\abhim\drishti\docs\deck\assets\icons\scale-balanced_w.png">    </p:cNvPr>
          <p:cNvPicPr>
            <a:picLocks noChangeAspect="1"/>
          </p:cNvPicPr>
          <p:nvPr/>
        </p:nvPicPr>
        <p:blipFill>
          <a:blip r:embed="rId11"/>
          <a:stretch>
            <a:fillRect/>
          </a:stretch>
        </p:blipFill>
        <p:spPr>
          <a:xfrm>
            <a:off x="848360" y="4787900"/>
            <a:ext cx="228600" cy="228600"/>
          </a:xfrm>
          <a:prstGeom prst="rect">
            <a:avLst/>
          </a:prstGeom>
        </p:spPr>
      </p:pic>
      <p:sp>
        <p:nvSpPr>
          <p:cNvPr id="49" name="Text 36"/>
          <p:cNvSpPr txBox="1"/>
          <p:nvPr/>
        </p:nvSpPr>
        <p:spPr>
          <a:xfrm>
            <a:off x="1292860" y="46736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Eligibility</a:t>
            </a:r>
            <a:endParaRPr lang="en-US" sz="1550" dirty="0"/>
          </a:p>
        </p:txBody>
      </p:sp>
      <p:sp>
        <p:nvSpPr>
          <p:cNvPr id="50" name="Text 37"/>
          <p:cNvSpPr txBox="1"/>
          <p:nvPr/>
        </p:nvSpPr>
        <p:spPr>
          <a:xfrm>
            <a:off x="759460" y="52070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guideline rules + AI that reads the clause</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works the guidelines don't allow</a:t>
            </a:r>
            <a:endParaRPr lang="en-US" sz="1350" dirty="0"/>
          </a:p>
        </p:txBody>
      </p:sp>
      <p:sp>
        <p:nvSpPr>
          <p:cNvPr id="51" name="Shape 38"/>
          <p:cNvSpPr/>
          <p:nvPr/>
        </p:nvSpPr>
        <p:spPr>
          <a:xfrm>
            <a:off x="3490595" y="4546600"/>
            <a:ext cx="2731135" cy="1600200"/>
          </a:xfrm>
          <a:prstGeom prst="roundRect">
            <a:avLst>
              <a:gd name="adj" fmla="val 7143"/>
            </a:avLst>
          </a:prstGeom>
          <a:solidFill>
            <a:srgbClr val="FFFFFF"/>
          </a:solidFill>
          <a:ln w="19050">
            <a:solidFill>
              <a:srgbClr val="B1BBC8"/>
            </a:solidFill>
            <a:prstDash val="solid"/>
          </a:ln>
        </p:spPr>
      </p:sp>
      <p:sp>
        <p:nvSpPr>
          <p:cNvPr id="52" name="Shape 39"/>
          <p:cNvSpPr/>
          <p:nvPr/>
        </p:nvSpPr>
        <p:spPr>
          <a:xfrm>
            <a:off x="3617595" y="4673600"/>
            <a:ext cx="457200" cy="457200"/>
          </a:xfrm>
          <a:prstGeom prst="ellipse">
            <a:avLst/>
          </a:prstGeom>
          <a:solidFill>
            <a:srgbClr val="2A4D88"/>
          </a:solidFill>
          <a:ln/>
        </p:spPr>
      </p:sp>
      <p:pic>
        <p:nvPicPr>
          <p:cNvPr id="53" name="Image 11" descr="C:\Users\abhim\drishti\docs\deck\assets\icons\clone_w.png">    </p:cNvPr>
          <p:cNvPicPr>
            <a:picLocks noChangeAspect="1"/>
          </p:cNvPicPr>
          <p:nvPr/>
        </p:nvPicPr>
        <p:blipFill>
          <a:blip r:embed="rId12"/>
          <a:stretch>
            <a:fillRect/>
          </a:stretch>
        </p:blipFill>
        <p:spPr>
          <a:xfrm>
            <a:off x="3731895" y="4787900"/>
            <a:ext cx="228600" cy="228600"/>
          </a:xfrm>
          <a:prstGeom prst="rect">
            <a:avLst/>
          </a:prstGeom>
        </p:spPr>
      </p:pic>
      <p:sp>
        <p:nvSpPr>
          <p:cNvPr id="54" name="Text 40"/>
          <p:cNvSpPr txBox="1"/>
          <p:nvPr/>
        </p:nvSpPr>
        <p:spPr>
          <a:xfrm>
            <a:off x="4176395" y="46736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Duplicate &amp; Split</a:t>
            </a:r>
            <a:endParaRPr lang="en-US" sz="1550" dirty="0"/>
          </a:p>
        </p:txBody>
      </p:sp>
      <p:sp>
        <p:nvSpPr>
          <p:cNvPr id="55" name="Text 41"/>
          <p:cNvSpPr txBox="1"/>
          <p:nvPr/>
        </p:nvSpPr>
        <p:spPr>
          <a:xfrm>
            <a:off x="3642995" y="52070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DIGIPIN map grid + Hindi &amp; English text match</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same work funded twice, or split up</a:t>
            </a:r>
            <a:endParaRPr lang="en-US" sz="1350" dirty="0"/>
          </a:p>
        </p:txBody>
      </p:sp>
      <p:sp>
        <p:nvSpPr>
          <p:cNvPr id="56" name="Shape 42"/>
          <p:cNvSpPr/>
          <p:nvPr/>
        </p:nvSpPr>
        <p:spPr>
          <a:xfrm>
            <a:off x="6374130" y="4546600"/>
            <a:ext cx="2731135" cy="1600200"/>
          </a:xfrm>
          <a:prstGeom prst="roundRect">
            <a:avLst>
              <a:gd name="adj" fmla="val 7143"/>
            </a:avLst>
          </a:prstGeom>
          <a:solidFill>
            <a:srgbClr val="FFFFFF"/>
          </a:solidFill>
          <a:ln w="19050">
            <a:solidFill>
              <a:srgbClr val="B1BBC8"/>
            </a:solidFill>
            <a:prstDash val="solid"/>
          </a:ln>
        </p:spPr>
      </p:sp>
      <p:sp>
        <p:nvSpPr>
          <p:cNvPr id="57" name="Shape 43"/>
          <p:cNvSpPr/>
          <p:nvPr/>
        </p:nvSpPr>
        <p:spPr>
          <a:xfrm>
            <a:off x="6501130" y="4673600"/>
            <a:ext cx="457200" cy="457200"/>
          </a:xfrm>
          <a:prstGeom prst="ellipse">
            <a:avLst/>
          </a:prstGeom>
          <a:solidFill>
            <a:srgbClr val="2A4D88"/>
          </a:solidFill>
          <a:ln/>
        </p:spPr>
      </p:sp>
      <p:pic>
        <p:nvPicPr>
          <p:cNvPr id="58" name="Image 12" descr="C:\Users\abhim\drishti\docs\deck\assets\icons\indian-rupee-sign_w.png">    </p:cNvPr>
          <p:cNvPicPr>
            <a:picLocks noChangeAspect="1"/>
          </p:cNvPicPr>
          <p:nvPr/>
        </p:nvPicPr>
        <p:blipFill>
          <a:blip r:embed="rId13"/>
          <a:stretch>
            <a:fillRect/>
          </a:stretch>
        </p:blipFill>
        <p:spPr>
          <a:xfrm>
            <a:off x="6615430" y="4787900"/>
            <a:ext cx="228600" cy="228600"/>
          </a:xfrm>
          <a:prstGeom prst="rect">
            <a:avLst/>
          </a:prstGeom>
        </p:spPr>
      </p:pic>
      <p:sp>
        <p:nvSpPr>
          <p:cNvPr id="59" name="Text 44"/>
          <p:cNvSpPr txBox="1"/>
          <p:nvPr/>
        </p:nvSpPr>
        <p:spPr>
          <a:xfrm>
            <a:off x="7059930" y="46736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Cost</a:t>
            </a:r>
            <a:endParaRPr lang="en-US" sz="1550" dirty="0"/>
          </a:p>
        </p:txBody>
      </p:sp>
      <p:sp>
        <p:nvSpPr>
          <p:cNvPr id="60" name="Text 45"/>
          <p:cNvSpPr txBox="1"/>
          <p:nvPr/>
        </p:nvSpPr>
        <p:spPr>
          <a:xfrm>
            <a:off x="6526530" y="52070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cost range of similar works in the district</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estimates far above similar works</a:t>
            </a:r>
            <a:endParaRPr lang="en-US" sz="1350" dirty="0"/>
          </a:p>
        </p:txBody>
      </p:sp>
      <p:sp>
        <p:nvSpPr>
          <p:cNvPr id="61" name="Shape 46"/>
          <p:cNvSpPr/>
          <p:nvPr/>
        </p:nvSpPr>
        <p:spPr>
          <a:xfrm>
            <a:off x="9257665" y="4546600"/>
            <a:ext cx="2731135" cy="1600200"/>
          </a:xfrm>
          <a:prstGeom prst="roundRect">
            <a:avLst>
              <a:gd name="adj" fmla="val 7143"/>
            </a:avLst>
          </a:prstGeom>
          <a:solidFill>
            <a:srgbClr val="FFFFFF"/>
          </a:solidFill>
          <a:ln w="19050">
            <a:solidFill>
              <a:srgbClr val="B1BBC8"/>
            </a:solidFill>
            <a:prstDash val="solid"/>
          </a:ln>
        </p:spPr>
      </p:sp>
      <p:sp>
        <p:nvSpPr>
          <p:cNvPr id="62" name="Shape 47"/>
          <p:cNvSpPr/>
          <p:nvPr/>
        </p:nvSpPr>
        <p:spPr>
          <a:xfrm>
            <a:off x="9384665" y="4673600"/>
            <a:ext cx="457200" cy="457200"/>
          </a:xfrm>
          <a:prstGeom prst="ellipse">
            <a:avLst/>
          </a:prstGeom>
          <a:solidFill>
            <a:srgbClr val="2A4D88"/>
          </a:solidFill>
          <a:ln/>
        </p:spPr>
      </p:sp>
      <p:pic>
        <p:nvPicPr>
          <p:cNvPr id="63" name="Image 13" descr="C:\Users\abhim\drishti\docs\deck\assets\icons\camera_w.png">    </p:cNvPr>
          <p:cNvPicPr>
            <a:picLocks noChangeAspect="1"/>
          </p:cNvPicPr>
          <p:nvPr/>
        </p:nvPicPr>
        <p:blipFill>
          <a:blip r:embed="rId14"/>
          <a:stretch>
            <a:fillRect/>
          </a:stretch>
        </p:blipFill>
        <p:spPr>
          <a:xfrm>
            <a:off x="9498965" y="4787900"/>
            <a:ext cx="228600" cy="228600"/>
          </a:xfrm>
          <a:prstGeom prst="rect">
            <a:avLst/>
          </a:prstGeom>
        </p:spPr>
      </p:pic>
      <p:sp>
        <p:nvSpPr>
          <p:cNvPr id="64" name="Text 48"/>
          <p:cNvSpPr txBox="1"/>
          <p:nvPr/>
        </p:nvSpPr>
        <p:spPr>
          <a:xfrm>
            <a:off x="9943465" y="46736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Site Progress</a:t>
            </a:r>
            <a:endParaRPr lang="en-US" sz="1550" dirty="0"/>
          </a:p>
        </p:txBody>
      </p:sp>
      <p:sp>
        <p:nvSpPr>
          <p:cNvPr id="65" name="Text 49"/>
          <p:cNvSpPr txBox="1"/>
          <p:nvPr/>
        </p:nvSpPr>
        <p:spPr>
          <a:xfrm>
            <a:off x="9410065" y="52070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vision AI checks each claim against photos</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“roof done” with no roof; no plaque</a:t>
            </a:r>
            <a:endParaRPr lang="en-US" sz="1350" dirty="0"/>
          </a:p>
        </p:txBody>
      </p:sp>
      <p:sp>
        <p:nvSpPr>
          <p:cNvPr id="66" name="Shape 50"/>
          <p:cNvSpPr/>
          <p:nvPr/>
        </p:nvSpPr>
        <p:spPr>
          <a:xfrm>
            <a:off x="607060" y="6273800"/>
            <a:ext cx="2731135" cy="1600200"/>
          </a:xfrm>
          <a:prstGeom prst="roundRect">
            <a:avLst>
              <a:gd name="adj" fmla="val 7143"/>
            </a:avLst>
          </a:prstGeom>
          <a:solidFill>
            <a:srgbClr val="FFFFFF"/>
          </a:solidFill>
          <a:ln w="19050">
            <a:solidFill>
              <a:srgbClr val="B1BBC8"/>
            </a:solidFill>
            <a:prstDash val="solid"/>
          </a:ln>
        </p:spPr>
      </p:sp>
      <p:sp>
        <p:nvSpPr>
          <p:cNvPr id="67" name="Shape 51"/>
          <p:cNvSpPr/>
          <p:nvPr/>
        </p:nvSpPr>
        <p:spPr>
          <a:xfrm>
            <a:off x="734060" y="6400800"/>
            <a:ext cx="457200" cy="457200"/>
          </a:xfrm>
          <a:prstGeom prst="ellipse">
            <a:avLst/>
          </a:prstGeom>
          <a:solidFill>
            <a:srgbClr val="2A4D88"/>
          </a:solidFill>
          <a:ln/>
        </p:spPr>
      </p:sp>
      <p:pic>
        <p:nvPicPr>
          <p:cNvPr id="68" name="Image 14" descr="C:\Users\abhim\drishti\docs\deck\assets\icons\fingerprint_w.png">    </p:cNvPr>
          <p:cNvPicPr>
            <a:picLocks noChangeAspect="1"/>
          </p:cNvPicPr>
          <p:nvPr/>
        </p:nvPicPr>
        <p:blipFill>
          <a:blip r:embed="rId15"/>
          <a:stretch>
            <a:fillRect/>
          </a:stretch>
        </p:blipFill>
        <p:spPr>
          <a:xfrm>
            <a:off x="848360" y="6515100"/>
            <a:ext cx="228600" cy="228600"/>
          </a:xfrm>
          <a:prstGeom prst="rect">
            <a:avLst/>
          </a:prstGeom>
        </p:spPr>
      </p:pic>
      <p:sp>
        <p:nvSpPr>
          <p:cNvPr id="69" name="Text 52"/>
          <p:cNvSpPr txBox="1"/>
          <p:nvPr/>
        </p:nvSpPr>
        <p:spPr>
          <a:xfrm>
            <a:off x="1292860" y="64008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Photo Forensics</a:t>
            </a:r>
            <a:endParaRPr lang="en-US" sz="1550" dirty="0"/>
          </a:p>
        </p:txBody>
      </p:sp>
      <p:sp>
        <p:nvSpPr>
          <p:cNvPr id="70" name="Text 53"/>
          <p:cNvSpPr txBox="1"/>
          <p:nvPr/>
        </p:nvSpPr>
        <p:spPr>
          <a:xfrm>
            <a:off x="759460" y="69342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image fingerprints across all works</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same photo or certificate reused</a:t>
            </a:r>
            <a:endParaRPr lang="en-US" sz="1350" dirty="0"/>
          </a:p>
        </p:txBody>
      </p:sp>
      <p:sp>
        <p:nvSpPr>
          <p:cNvPr id="71" name="Shape 54"/>
          <p:cNvSpPr/>
          <p:nvPr/>
        </p:nvSpPr>
        <p:spPr>
          <a:xfrm>
            <a:off x="3490595" y="6273800"/>
            <a:ext cx="2731135" cy="1600200"/>
          </a:xfrm>
          <a:prstGeom prst="roundRect">
            <a:avLst>
              <a:gd name="adj" fmla="val 7143"/>
            </a:avLst>
          </a:prstGeom>
          <a:solidFill>
            <a:srgbClr val="FFFFFF"/>
          </a:solidFill>
          <a:ln w="19050">
            <a:solidFill>
              <a:srgbClr val="B1BBC8"/>
            </a:solidFill>
            <a:prstDash val="solid"/>
          </a:ln>
        </p:spPr>
      </p:sp>
      <p:sp>
        <p:nvSpPr>
          <p:cNvPr id="72" name="Shape 55"/>
          <p:cNvSpPr/>
          <p:nvPr/>
        </p:nvSpPr>
        <p:spPr>
          <a:xfrm>
            <a:off x="3617595" y="6400800"/>
            <a:ext cx="457200" cy="457200"/>
          </a:xfrm>
          <a:prstGeom prst="ellipse">
            <a:avLst/>
          </a:prstGeom>
          <a:solidFill>
            <a:srgbClr val="2A4D88"/>
          </a:solidFill>
          <a:ln/>
        </p:spPr>
      </p:sp>
      <p:pic>
        <p:nvPicPr>
          <p:cNvPr id="73" name="Image 15" descr="C:\Users\abhim\drishti\docs\deck\assets\icons\location-dot_w.png">    </p:cNvPr>
          <p:cNvPicPr>
            <a:picLocks noChangeAspect="1"/>
          </p:cNvPicPr>
          <p:nvPr/>
        </p:nvPicPr>
        <p:blipFill>
          <a:blip r:embed="rId16"/>
          <a:stretch>
            <a:fillRect/>
          </a:stretch>
        </p:blipFill>
        <p:spPr>
          <a:xfrm>
            <a:off x="3731895" y="6515100"/>
            <a:ext cx="228600" cy="228600"/>
          </a:xfrm>
          <a:prstGeom prst="rect">
            <a:avLst/>
          </a:prstGeom>
        </p:spPr>
      </p:pic>
      <p:sp>
        <p:nvSpPr>
          <p:cNvPr id="74" name="Text 56"/>
          <p:cNvSpPr txBox="1"/>
          <p:nvPr/>
        </p:nvSpPr>
        <p:spPr>
          <a:xfrm>
            <a:off x="4176395" y="64008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Geo-Location</a:t>
            </a:r>
            <a:endParaRPr lang="en-US" sz="1550" dirty="0"/>
          </a:p>
        </p:txBody>
      </p:sp>
      <p:sp>
        <p:nvSpPr>
          <p:cNvPr id="75" name="Text 57"/>
          <p:cNvSpPr txBox="1"/>
          <p:nvPr/>
        </p:nvSpPr>
        <p:spPr>
          <a:xfrm>
            <a:off x="3642995" y="69342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photo GPS &amp; stamp vs district map</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photos taken elsewhere, or too early</a:t>
            </a:r>
            <a:endParaRPr lang="en-US" sz="1350" dirty="0"/>
          </a:p>
        </p:txBody>
      </p:sp>
      <p:sp>
        <p:nvSpPr>
          <p:cNvPr id="76" name="Shape 58"/>
          <p:cNvSpPr/>
          <p:nvPr/>
        </p:nvSpPr>
        <p:spPr>
          <a:xfrm>
            <a:off x="6374130" y="6273800"/>
            <a:ext cx="2731135" cy="1600200"/>
          </a:xfrm>
          <a:prstGeom prst="roundRect">
            <a:avLst>
              <a:gd name="adj" fmla="val 7143"/>
            </a:avLst>
          </a:prstGeom>
          <a:solidFill>
            <a:srgbClr val="FFFFFF"/>
          </a:solidFill>
          <a:ln w="19050">
            <a:solidFill>
              <a:srgbClr val="B1BBC8"/>
            </a:solidFill>
            <a:prstDash val="solid"/>
          </a:ln>
        </p:spPr>
      </p:sp>
      <p:sp>
        <p:nvSpPr>
          <p:cNvPr id="77" name="Shape 59"/>
          <p:cNvSpPr/>
          <p:nvPr/>
        </p:nvSpPr>
        <p:spPr>
          <a:xfrm>
            <a:off x="6501130" y="6400800"/>
            <a:ext cx="457200" cy="457200"/>
          </a:xfrm>
          <a:prstGeom prst="ellipse">
            <a:avLst/>
          </a:prstGeom>
          <a:solidFill>
            <a:srgbClr val="2A4D88"/>
          </a:solidFill>
          <a:ln/>
        </p:spPr>
      </p:sp>
      <p:pic>
        <p:nvPicPr>
          <p:cNvPr id="78" name="Image 16" descr="C:\Users\abhim\drishti\docs\deck\assets\icons\file-invoice_w.png">    </p:cNvPr>
          <p:cNvPicPr>
            <a:picLocks noChangeAspect="1"/>
          </p:cNvPicPr>
          <p:nvPr/>
        </p:nvPicPr>
        <p:blipFill>
          <a:blip r:embed="rId17"/>
          <a:stretch>
            <a:fillRect/>
          </a:stretch>
        </p:blipFill>
        <p:spPr>
          <a:xfrm>
            <a:off x="6615430" y="6515100"/>
            <a:ext cx="228600" cy="228600"/>
          </a:xfrm>
          <a:prstGeom prst="rect">
            <a:avLst/>
          </a:prstGeom>
        </p:spPr>
      </p:pic>
      <p:sp>
        <p:nvSpPr>
          <p:cNvPr id="79" name="Text 60"/>
          <p:cNvSpPr txBox="1"/>
          <p:nvPr/>
        </p:nvSpPr>
        <p:spPr>
          <a:xfrm>
            <a:off x="7059930" y="64008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Document</a:t>
            </a:r>
            <a:endParaRPr lang="en-US" sz="1550" dirty="0"/>
          </a:p>
        </p:txBody>
      </p:sp>
      <p:sp>
        <p:nvSpPr>
          <p:cNvPr id="80" name="Text 61"/>
          <p:cNvSpPr txBox="1"/>
          <p:nvPr/>
        </p:nvSpPr>
        <p:spPr>
          <a:xfrm>
            <a:off x="6526530" y="69342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AI reads certificates, bills &amp; UCs</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amounts &amp; dates that don't add up</a:t>
            </a:r>
            <a:endParaRPr lang="en-US" sz="1350" dirty="0"/>
          </a:p>
        </p:txBody>
      </p:sp>
      <p:sp>
        <p:nvSpPr>
          <p:cNvPr id="81" name="Shape 62"/>
          <p:cNvSpPr/>
          <p:nvPr/>
        </p:nvSpPr>
        <p:spPr>
          <a:xfrm>
            <a:off x="9257665" y="6273800"/>
            <a:ext cx="2731135" cy="1600200"/>
          </a:xfrm>
          <a:prstGeom prst="roundRect">
            <a:avLst>
              <a:gd name="adj" fmla="val 7143"/>
            </a:avLst>
          </a:prstGeom>
          <a:solidFill>
            <a:srgbClr val="FFFFFF"/>
          </a:solidFill>
          <a:ln w="19050">
            <a:solidFill>
              <a:srgbClr val="B1BBC8"/>
            </a:solidFill>
            <a:prstDash val="solid"/>
          </a:ln>
        </p:spPr>
      </p:sp>
      <p:sp>
        <p:nvSpPr>
          <p:cNvPr id="82" name="Shape 63"/>
          <p:cNvSpPr/>
          <p:nvPr/>
        </p:nvSpPr>
        <p:spPr>
          <a:xfrm>
            <a:off x="9384665" y="6400800"/>
            <a:ext cx="457200" cy="457200"/>
          </a:xfrm>
          <a:prstGeom prst="ellipse">
            <a:avLst/>
          </a:prstGeom>
          <a:solidFill>
            <a:srgbClr val="2A4D88"/>
          </a:solidFill>
          <a:ln/>
        </p:spPr>
      </p:sp>
      <p:pic>
        <p:nvPicPr>
          <p:cNvPr id="83" name="Image 17" descr="C:\Users\abhim\drishti\docs\deck\assets\icons\satellite_w.png">    </p:cNvPr>
          <p:cNvPicPr>
            <a:picLocks noChangeAspect="1"/>
          </p:cNvPicPr>
          <p:nvPr/>
        </p:nvPicPr>
        <p:blipFill>
          <a:blip r:embed="rId18"/>
          <a:stretch>
            <a:fillRect/>
          </a:stretch>
        </p:blipFill>
        <p:spPr>
          <a:xfrm>
            <a:off x="9498965" y="6515100"/>
            <a:ext cx="228600" cy="228600"/>
          </a:xfrm>
          <a:prstGeom prst="rect">
            <a:avLst/>
          </a:prstGeom>
        </p:spPr>
      </p:pic>
      <p:sp>
        <p:nvSpPr>
          <p:cNvPr id="84" name="Text 64"/>
          <p:cNvSpPr txBox="1"/>
          <p:nvPr/>
        </p:nvSpPr>
        <p:spPr>
          <a:xfrm>
            <a:off x="9943465" y="64008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Satellite</a:t>
            </a:r>
            <a:endParaRPr lang="en-US" sz="1550" dirty="0"/>
          </a:p>
        </p:txBody>
      </p:sp>
      <p:sp>
        <p:nvSpPr>
          <p:cNvPr id="85" name="Text 65"/>
          <p:cNvSpPr txBox="1"/>
          <p:nvPr/>
        </p:nvSpPr>
        <p:spPr>
          <a:xfrm>
            <a:off x="9410065" y="69342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Sentinel-2 before/after, big works only</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ponds &amp; long roads never built</a:t>
            </a:r>
            <a:endParaRPr lang="en-US" sz="1350" dirty="0"/>
          </a:p>
        </p:txBody>
      </p:sp>
      <p:sp>
        <p:nvSpPr>
          <p:cNvPr id="86" name="Shape 66"/>
          <p:cNvSpPr/>
          <p:nvPr/>
        </p:nvSpPr>
        <p:spPr>
          <a:xfrm>
            <a:off x="607060" y="8001000"/>
            <a:ext cx="2731135" cy="1600200"/>
          </a:xfrm>
          <a:prstGeom prst="roundRect">
            <a:avLst>
              <a:gd name="adj" fmla="val 7143"/>
            </a:avLst>
          </a:prstGeom>
          <a:solidFill>
            <a:srgbClr val="FFFFFF"/>
          </a:solidFill>
          <a:ln w="19050">
            <a:solidFill>
              <a:srgbClr val="B1BBC8"/>
            </a:solidFill>
            <a:prstDash val="solid"/>
          </a:ln>
        </p:spPr>
      </p:sp>
      <p:sp>
        <p:nvSpPr>
          <p:cNvPr id="87" name="Shape 67"/>
          <p:cNvSpPr/>
          <p:nvPr/>
        </p:nvSpPr>
        <p:spPr>
          <a:xfrm>
            <a:off x="734060" y="8128000"/>
            <a:ext cx="457200" cy="457200"/>
          </a:xfrm>
          <a:prstGeom prst="ellipse">
            <a:avLst/>
          </a:prstGeom>
          <a:solidFill>
            <a:srgbClr val="2A4D88"/>
          </a:solidFill>
          <a:ln/>
        </p:spPr>
      </p:sp>
      <p:pic>
        <p:nvPicPr>
          <p:cNvPr id="88" name="Image 18" descr="C:\Users\abhim\drishti\docs\deck\assets\icons\hourglass-half_w.png">    </p:cNvPr>
          <p:cNvPicPr>
            <a:picLocks noChangeAspect="1"/>
          </p:cNvPicPr>
          <p:nvPr/>
        </p:nvPicPr>
        <p:blipFill>
          <a:blip r:embed="rId19"/>
          <a:stretch>
            <a:fillRect/>
          </a:stretch>
        </p:blipFill>
        <p:spPr>
          <a:xfrm>
            <a:off x="848360" y="8242300"/>
            <a:ext cx="228600" cy="228600"/>
          </a:xfrm>
          <a:prstGeom prst="rect">
            <a:avLst/>
          </a:prstGeom>
        </p:spPr>
      </p:pic>
      <p:sp>
        <p:nvSpPr>
          <p:cNvPr id="89" name="Text 68"/>
          <p:cNvSpPr txBox="1"/>
          <p:nvPr/>
        </p:nvSpPr>
        <p:spPr>
          <a:xfrm>
            <a:off x="1292860" y="81280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Delay Prediction</a:t>
            </a:r>
            <a:endParaRPr lang="en-US" sz="1550" dirty="0"/>
          </a:p>
        </p:txBody>
      </p:sp>
      <p:sp>
        <p:nvSpPr>
          <p:cNvPr id="90" name="Text 69"/>
          <p:cNvSpPr txBox="1"/>
          <p:nvPr/>
        </p:nvSpPr>
        <p:spPr>
          <a:xfrm>
            <a:off x="759460" y="86614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model trained on real completion history</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works likely to miss 12 months</a:t>
            </a:r>
            <a:endParaRPr lang="en-US" sz="1350" dirty="0"/>
          </a:p>
        </p:txBody>
      </p:sp>
      <p:sp>
        <p:nvSpPr>
          <p:cNvPr id="91" name="Shape 70"/>
          <p:cNvSpPr/>
          <p:nvPr/>
        </p:nvSpPr>
        <p:spPr>
          <a:xfrm>
            <a:off x="3490595" y="8001000"/>
            <a:ext cx="2731135" cy="1600200"/>
          </a:xfrm>
          <a:prstGeom prst="roundRect">
            <a:avLst>
              <a:gd name="adj" fmla="val 7143"/>
            </a:avLst>
          </a:prstGeom>
          <a:solidFill>
            <a:srgbClr val="FFFFFF"/>
          </a:solidFill>
          <a:ln w="19050">
            <a:solidFill>
              <a:srgbClr val="B1BBC8"/>
            </a:solidFill>
            <a:prstDash val="solid"/>
          </a:ln>
        </p:spPr>
      </p:sp>
      <p:sp>
        <p:nvSpPr>
          <p:cNvPr id="92" name="Shape 71"/>
          <p:cNvSpPr/>
          <p:nvPr/>
        </p:nvSpPr>
        <p:spPr>
          <a:xfrm>
            <a:off x="3617595" y="8128000"/>
            <a:ext cx="457200" cy="457200"/>
          </a:xfrm>
          <a:prstGeom prst="ellipse">
            <a:avLst/>
          </a:prstGeom>
          <a:solidFill>
            <a:srgbClr val="2A4D88"/>
          </a:solidFill>
          <a:ln/>
        </p:spPr>
      </p:sp>
      <p:pic>
        <p:nvPicPr>
          <p:cNvPr id="93" name="Image 19" descr="C:\Users\abhim\drishti\docs\deck\assets\icons\money-bill-trend-up_w.png">    </p:cNvPr>
          <p:cNvPicPr>
            <a:picLocks noChangeAspect="1"/>
          </p:cNvPicPr>
          <p:nvPr/>
        </p:nvPicPr>
        <p:blipFill>
          <a:blip r:embed="rId20"/>
          <a:stretch>
            <a:fillRect/>
          </a:stretch>
        </p:blipFill>
        <p:spPr>
          <a:xfrm>
            <a:off x="3731895" y="8242300"/>
            <a:ext cx="228600" cy="228600"/>
          </a:xfrm>
          <a:prstGeom prst="rect">
            <a:avLst/>
          </a:prstGeom>
        </p:spPr>
      </p:pic>
      <p:sp>
        <p:nvSpPr>
          <p:cNvPr id="94" name="Text 72"/>
          <p:cNvSpPr txBox="1"/>
          <p:nvPr/>
        </p:nvSpPr>
        <p:spPr>
          <a:xfrm>
            <a:off x="4176395" y="81280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Fund Flow</a:t>
            </a:r>
            <a:endParaRPr lang="en-US" sz="1550" dirty="0"/>
          </a:p>
        </p:txBody>
      </p:sp>
      <p:sp>
        <p:nvSpPr>
          <p:cNvPr id="95" name="Text 73"/>
          <p:cNvSpPr txBox="1"/>
          <p:nvPr/>
        </p:nvSpPr>
        <p:spPr>
          <a:xfrm>
            <a:off x="3642995" y="86614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MP &amp; district money funnel over time</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idle funds, year-end rush</a:t>
            </a:r>
            <a:endParaRPr lang="en-US" sz="1350" dirty="0"/>
          </a:p>
        </p:txBody>
      </p:sp>
      <p:sp>
        <p:nvSpPr>
          <p:cNvPr id="96" name="Shape 74"/>
          <p:cNvSpPr/>
          <p:nvPr/>
        </p:nvSpPr>
        <p:spPr>
          <a:xfrm>
            <a:off x="6374130" y="8001000"/>
            <a:ext cx="2731135" cy="1600200"/>
          </a:xfrm>
          <a:prstGeom prst="roundRect">
            <a:avLst>
              <a:gd name="adj" fmla="val 7143"/>
            </a:avLst>
          </a:prstGeom>
          <a:solidFill>
            <a:srgbClr val="FFFFFF"/>
          </a:solidFill>
          <a:ln w="19050">
            <a:solidFill>
              <a:srgbClr val="B1BBC8"/>
            </a:solidFill>
            <a:prstDash val="solid"/>
          </a:ln>
        </p:spPr>
      </p:sp>
      <p:sp>
        <p:nvSpPr>
          <p:cNvPr id="97" name="Shape 75"/>
          <p:cNvSpPr/>
          <p:nvPr/>
        </p:nvSpPr>
        <p:spPr>
          <a:xfrm>
            <a:off x="6501130" y="8128000"/>
            <a:ext cx="457200" cy="457200"/>
          </a:xfrm>
          <a:prstGeom prst="ellipse">
            <a:avLst/>
          </a:prstGeom>
          <a:solidFill>
            <a:srgbClr val="2A4D88"/>
          </a:solidFill>
          <a:ln/>
        </p:spPr>
      </p:sp>
      <p:pic>
        <p:nvPicPr>
          <p:cNvPr id="98" name="Image 20" descr="C:\Users\abhim\drishti\docs\deck\assets\icons\diagram-project_w.png">    </p:cNvPr>
          <p:cNvPicPr>
            <a:picLocks noChangeAspect="1"/>
          </p:cNvPicPr>
          <p:nvPr/>
        </p:nvPicPr>
        <p:blipFill>
          <a:blip r:embed="rId21"/>
          <a:stretch>
            <a:fillRect/>
          </a:stretch>
        </p:blipFill>
        <p:spPr>
          <a:xfrm>
            <a:off x="6615430" y="8242300"/>
            <a:ext cx="228600" cy="228600"/>
          </a:xfrm>
          <a:prstGeom prst="rect">
            <a:avLst/>
          </a:prstGeom>
        </p:spPr>
      </p:pic>
      <p:sp>
        <p:nvSpPr>
          <p:cNvPr id="99" name="Text 76"/>
          <p:cNvSpPr txBox="1"/>
          <p:nvPr/>
        </p:nvSpPr>
        <p:spPr>
          <a:xfrm>
            <a:off x="7059930" y="81280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Contractor Network</a:t>
            </a:r>
            <a:endParaRPr lang="en-US" sz="1550" dirty="0"/>
          </a:p>
        </p:txBody>
      </p:sp>
      <p:sp>
        <p:nvSpPr>
          <p:cNvPr id="100" name="Text 77"/>
          <p:cNvSpPr txBox="1"/>
          <p:nvPr/>
        </p:nvSpPr>
        <p:spPr>
          <a:xfrm>
            <a:off x="6526530" y="86614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contractor–agency–district graph</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a few firms winning most works</a:t>
            </a:r>
            <a:endParaRPr lang="en-US" sz="1350" dirty="0"/>
          </a:p>
        </p:txBody>
      </p:sp>
      <p:sp>
        <p:nvSpPr>
          <p:cNvPr id="101" name="Shape 78"/>
          <p:cNvSpPr/>
          <p:nvPr/>
        </p:nvSpPr>
        <p:spPr>
          <a:xfrm>
            <a:off x="9257665" y="8001000"/>
            <a:ext cx="2731135" cy="1600200"/>
          </a:xfrm>
          <a:prstGeom prst="roundRect">
            <a:avLst>
              <a:gd name="adj" fmla="val 7143"/>
            </a:avLst>
          </a:prstGeom>
          <a:solidFill>
            <a:srgbClr val="FFFFFF"/>
          </a:solidFill>
          <a:ln w="19050">
            <a:solidFill>
              <a:srgbClr val="B1BBC8"/>
            </a:solidFill>
            <a:prstDash val="solid"/>
          </a:ln>
        </p:spPr>
      </p:sp>
      <p:sp>
        <p:nvSpPr>
          <p:cNvPr id="102" name="Shape 79"/>
          <p:cNvSpPr/>
          <p:nvPr/>
        </p:nvSpPr>
        <p:spPr>
          <a:xfrm>
            <a:off x="9384665" y="8128000"/>
            <a:ext cx="457200" cy="457200"/>
          </a:xfrm>
          <a:prstGeom prst="ellipse">
            <a:avLst/>
          </a:prstGeom>
          <a:solidFill>
            <a:srgbClr val="2A4D88"/>
          </a:solidFill>
          <a:ln/>
        </p:spPr>
      </p:sp>
      <p:pic>
        <p:nvPicPr>
          <p:cNvPr id="103" name="Image 21" descr="C:\Users\abhim\drishti\docs\deck\assets\icons\users_w.png">    </p:cNvPr>
          <p:cNvPicPr>
            <a:picLocks noChangeAspect="1"/>
          </p:cNvPicPr>
          <p:nvPr/>
        </p:nvPicPr>
        <p:blipFill>
          <a:blip r:embed="rId22"/>
          <a:stretch>
            <a:fillRect/>
          </a:stretch>
        </p:blipFill>
        <p:spPr>
          <a:xfrm>
            <a:off x="9498965" y="8242300"/>
            <a:ext cx="228600" cy="228600"/>
          </a:xfrm>
          <a:prstGeom prst="rect">
            <a:avLst/>
          </a:prstGeom>
        </p:spPr>
      </p:pic>
      <p:sp>
        <p:nvSpPr>
          <p:cNvPr id="104" name="Text 80"/>
          <p:cNvSpPr txBox="1"/>
          <p:nvPr/>
        </p:nvSpPr>
        <p:spPr>
          <a:xfrm>
            <a:off x="9943465" y="81280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Citizen Verification</a:t>
            </a:r>
            <a:endParaRPr lang="en-US" sz="1550" dirty="0"/>
          </a:p>
        </p:txBody>
      </p:sp>
      <p:sp>
        <p:nvSpPr>
          <p:cNvPr id="105" name="Text 81"/>
          <p:cNvSpPr txBox="1"/>
          <p:nvPr/>
        </p:nvSpPr>
        <p:spPr>
          <a:xfrm>
            <a:off x="9410065" y="86614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QR code at site → photo + GPS</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assets missing or not in use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12344400" y="4546600"/>
          <a:ext cx="13716000" cy="914400"/>
        </p:xfrm>
        <a:graphic>
          <a:graphicData uri="http://schemas.openxmlformats.org/drawingml/2006/table">
            <a:tbl>
              <a:tblPr/>
              <a:tblGrid>
                <a:gridCol w="1879600"/>
                <a:gridCol w="3454400"/>
              </a:tblGrid>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Frontend</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Next.js (React), Tailwind CSS, MapLibre maps</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Backend / APIs</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Python FastAPI, role-based access (JWT)</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AI / ML</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LightGBM, scikit-learn, sentence-transformers</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Vision &amp; Documents</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Vision AI (Gemini; open-weight option), OpenCV</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Maps &amp; Satellite</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LGD boundaries, DIGIPIN, Sentinel-2</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Data &amp; Security</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PostgreSQL + pgvector, hash-chained audit log</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sp>
        <p:nvSpPr>
          <p:cNvPr id="4" name="Text 2"/>
          <p:cNvSpPr txBox="1"/>
          <p:nvPr/>
        </p:nvSpPr>
        <p:spPr>
          <a:xfrm>
            <a:off x="3131820" y="381000"/>
            <a:ext cx="11430000" cy="787400"/>
          </a:xfrm>
          <a:prstGeom prst="rect">
            <a:avLst/>
          </a:prstGeom>
          <a:noFill/>
          <a:ln/>
        </p:spPr>
        <p:txBody>
          <a:bodyPr wrap="square" lIns="0" tIns="0" rIns="0" bIns="0" rtlCol="0" anchor="ctr"/>
          <a:lstStyle/>
          <a:p>
            <a:pPr algn="ctr" indent="0" marL="0">
              <a:buNone/>
            </a:pPr>
            <a:r>
              <a:rPr lang="en-US" sz="4200" b="1" dirty="0">
                <a:solidFill>
                  <a:srgbClr val="2A4D88"/>
                </a:solidFill>
                <a:latin typeface="Cambria" pitchFamily="34" charset="0"/>
                <a:ea typeface="Cambria" pitchFamily="34" charset="-122"/>
                <a:cs typeface="Cambria" pitchFamily="34" charset="-120"/>
              </a:rPr>
              <a:t>FEASIBILITY AND VIABILITY</a:t>
            </a:r>
            <a:endParaRPr lang="en-US" sz="4200" dirty="0"/>
          </a:p>
        </p:txBody>
      </p:sp>
      <p:pic>
        <p:nvPicPr>
          <p:cNvPr id="5" name="Image 0" descr="C:\Users\abhim\drishti\docs\deck\assets\sih_logo_wide.png">    </p:cNvPr>
          <p:cNvPicPr>
            <a:picLocks noChangeAspect="1"/>
          </p:cNvPicPr>
          <p:nvPr/>
        </p:nvPicPr>
        <p:blipFill>
          <a:blip r:embed="rId1"/>
          <a:stretch>
            <a:fillRect/>
          </a:stretch>
        </p:blipFill>
        <p:spPr>
          <a:xfrm>
            <a:off x="15392400" y="76200"/>
            <a:ext cx="2705100" cy="1277620"/>
          </a:xfrm>
          <a:prstGeom prst="rect">
            <a:avLst/>
          </a:prstGeom>
        </p:spPr>
      </p:pic>
      <p:sp>
        <p:nvSpPr>
          <p:cNvPr id="6" name="Shape 3"/>
          <p:cNvSpPr/>
          <p:nvPr/>
        </p:nvSpPr>
        <p:spPr>
          <a:xfrm>
            <a:off x="0" y="9756140"/>
            <a:ext cx="18288000" cy="533400"/>
          </a:xfrm>
          <a:prstGeom prst="rect">
            <a:avLst/>
          </a:prstGeom>
          <a:solidFill>
            <a:srgbClr val="2A4D88"/>
          </a:solidFill>
          <a:ln/>
        </p:spPr>
      </p:sp>
      <p:sp>
        <p:nvSpPr>
          <p:cNvPr id="7"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8"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4</a:t>
            </a:r>
            <a:endParaRPr lang="en-US" sz="1650" dirty="0"/>
          </a:p>
        </p:txBody>
      </p:sp>
      <p:sp>
        <p:nvSpPr>
          <p:cNvPr id="9" name="Text 6"/>
          <p:cNvSpPr txBox="1"/>
          <p:nvPr/>
        </p:nvSpPr>
        <p:spPr>
          <a:xfrm>
            <a:off x="617220" y="15748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FEASIBILITY ANALYSIS</a:t>
            </a:r>
            <a:endParaRPr lang="en-US" sz="1720" dirty="0"/>
          </a:p>
        </p:txBody>
      </p:sp>
      <p:sp>
        <p:nvSpPr>
          <p:cNvPr id="10" name="Shape 7"/>
          <p:cNvSpPr/>
          <p:nvPr/>
        </p:nvSpPr>
        <p:spPr>
          <a:xfrm>
            <a:off x="609600" y="2044700"/>
            <a:ext cx="3860800" cy="2108200"/>
          </a:xfrm>
          <a:prstGeom prst="roundRect">
            <a:avLst>
              <a:gd name="adj" fmla="val 6627"/>
            </a:avLst>
          </a:prstGeom>
          <a:solidFill>
            <a:srgbClr val="EDF0F5"/>
          </a:solidFill>
          <a:ln/>
        </p:spPr>
      </p:sp>
      <p:sp>
        <p:nvSpPr>
          <p:cNvPr id="11" name="Shape 8"/>
          <p:cNvSpPr/>
          <p:nvPr/>
        </p:nvSpPr>
        <p:spPr>
          <a:xfrm>
            <a:off x="812800" y="2247900"/>
            <a:ext cx="647700" cy="647700"/>
          </a:xfrm>
          <a:prstGeom prst="ellipse">
            <a:avLst/>
          </a:prstGeom>
          <a:solidFill>
            <a:srgbClr val="2A4D88"/>
          </a:solidFill>
          <a:ln/>
        </p:spPr>
      </p:sp>
      <p:pic>
        <p:nvPicPr>
          <p:cNvPr id="12" name="Image 1" descr="C:\Users\abhim\drishti\docs\deck\assets\icons\gears_w.png">    </p:cNvPr>
          <p:cNvPicPr>
            <a:picLocks noChangeAspect="1"/>
          </p:cNvPicPr>
          <p:nvPr/>
        </p:nvPicPr>
        <p:blipFill>
          <a:blip r:embed="rId2"/>
          <a:stretch>
            <a:fillRect/>
          </a:stretch>
        </p:blipFill>
        <p:spPr>
          <a:xfrm>
            <a:off x="974725" y="2409825"/>
            <a:ext cx="323850" cy="323850"/>
          </a:xfrm>
          <a:prstGeom prst="rect">
            <a:avLst/>
          </a:prstGeom>
        </p:spPr>
      </p:pic>
      <p:sp>
        <p:nvSpPr>
          <p:cNvPr id="13" name="Text 9"/>
          <p:cNvSpPr txBox="1"/>
          <p:nvPr/>
        </p:nvSpPr>
        <p:spPr>
          <a:xfrm>
            <a:off x="1600200" y="2247900"/>
            <a:ext cx="2743200" cy="6477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Technical Feasibility</a:t>
            </a:r>
            <a:endParaRPr lang="en-US" sz="1800" dirty="0"/>
          </a:p>
        </p:txBody>
      </p:sp>
      <p:sp>
        <p:nvSpPr>
          <p:cNvPr id="14" name="Text 10"/>
          <p:cNvSpPr txBox="1"/>
          <p:nvPr/>
        </p:nvSpPr>
        <p:spPr>
          <a:xfrm>
            <a:off x="889000" y="3009900"/>
            <a:ext cx="3378200" cy="1066800"/>
          </a:xfrm>
          <a:prstGeom prst="rect">
            <a:avLst/>
          </a:prstGeom>
          <a:noFill/>
          <a:ln/>
        </p:spPr>
        <p:txBody>
          <a:bodyPr wrap="square" lIns="0" tIns="0" rIns="0" bIns="0" rtlCol="0" anchor="t"/>
          <a:lstStyle/>
          <a:p>
            <a:pPr algn="l" indent="0" marL="0">
              <a:buNone/>
            </a:pPr>
            <a:r>
              <a:rPr lang="en-US" sz="1600" b="1" dirty="0">
                <a:solidFill>
                  <a:srgbClr val="1A2F57"/>
                </a:solidFill>
                <a:latin typeface="Calibri" pitchFamily="34" charset="0"/>
                <a:ea typeface="Calibri" pitchFamily="34" charset="-122"/>
                <a:cs typeface="Calibri" pitchFamily="34" charset="-120"/>
              </a:rPr>
              <a:t>Proven Methods</a:t>
            </a:r>
            <a:endParaRPr lang="en-US" sz="1600" dirty="0"/>
          </a:p>
          <a:p>
            <a:pPr algn="l" indent="0" marL="0">
              <a:buNone/>
            </a:pPr>
            <a:r>
              <a:rPr lang="en-US" sz="1600" dirty="0">
                <a:solidFill>
                  <a:srgbClr val="1A2F57"/>
                </a:solidFill>
                <a:latin typeface="Calibri" pitchFamily="34" charset="0"/>
                <a:ea typeface="Calibri" pitchFamily="34" charset="-122"/>
                <a:cs typeface="Calibri" pitchFamily="34" charset="-120"/>
              </a:rPr>
              <a:t>Every agent reuses a method India already runs at scale: PMAY-G geo-tagged photos, Amrit Sarovar ponds.</a:t>
            </a:r>
            <a:endParaRPr lang="en-US" sz="1600" dirty="0"/>
          </a:p>
        </p:txBody>
      </p:sp>
      <p:sp>
        <p:nvSpPr>
          <p:cNvPr id="15" name="Shape 11"/>
          <p:cNvSpPr/>
          <p:nvPr/>
        </p:nvSpPr>
        <p:spPr>
          <a:xfrm>
            <a:off x="4724400" y="2044700"/>
            <a:ext cx="3860800" cy="2108200"/>
          </a:xfrm>
          <a:prstGeom prst="roundRect">
            <a:avLst>
              <a:gd name="adj" fmla="val 6627"/>
            </a:avLst>
          </a:prstGeom>
          <a:solidFill>
            <a:srgbClr val="EDF0F5"/>
          </a:solidFill>
          <a:ln/>
        </p:spPr>
      </p:sp>
      <p:sp>
        <p:nvSpPr>
          <p:cNvPr id="16" name="Shape 12"/>
          <p:cNvSpPr/>
          <p:nvPr/>
        </p:nvSpPr>
        <p:spPr>
          <a:xfrm>
            <a:off x="4927600" y="2247900"/>
            <a:ext cx="647700" cy="647700"/>
          </a:xfrm>
          <a:prstGeom prst="ellipse">
            <a:avLst/>
          </a:prstGeom>
          <a:solidFill>
            <a:srgbClr val="2A4D88"/>
          </a:solidFill>
          <a:ln/>
        </p:spPr>
      </p:sp>
      <p:pic>
        <p:nvPicPr>
          <p:cNvPr id="17" name="Image 2" descr="C:\Users\abhim\drishti\docs\deck\assets\icons\database_w.png">    </p:cNvPr>
          <p:cNvPicPr>
            <a:picLocks noChangeAspect="1"/>
          </p:cNvPicPr>
          <p:nvPr/>
        </p:nvPicPr>
        <p:blipFill>
          <a:blip r:embed="rId3"/>
          <a:stretch>
            <a:fillRect/>
          </a:stretch>
        </p:blipFill>
        <p:spPr>
          <a:xfrm>
            <a:off x="5089525" y="2409825"/>
            <a:ext cx="323850" cy="323850"/>
          </a:xfrm>
          <a:prstGeom prst="rect">
            <a:avLst/>
          </a:prstGeom>
        </p:spPr>
      </p:pic>
      <p:sp>
        <p:nvSpPr>
          <p:cNvPr id="18" name="Text 13"/>
          <p:cNvSpPr txBox="1"/>
          <p:nvPr/>
        </p:nvSpPr>
        <p:spPr>
          <a:xfrm>
            <a:off x="5715000" y="2247900"/>
            <a:ext cx="2743200" cy="6477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Data Feasibility</a:t>
            </a:r>
            <a:endParaRPr lang="en-US" sz="1800" dirty="0"/>
          </a:p>
        </p:txBody>
      </p:sp>
      <p:sp>
        <p:nvSpPr>
          <p:cNvPr id="19" name="Text 14"/>
          <p:cNvSpPr txBox="1"/>
          <p:nvPr/>
        </p:nvSpPr>
        <p:spPr>
          <a:xfrm>
            <a:off x="5003800" y="3009900"/>
            <a:ext cx="3378200" cy="1066800"/>
          </a:xfrm>
          <a:prstGeom prst="rect">
            <a:avLst/>
          </a:prstGeom>
          <a:noFill/>
          <a:ln/>
        </p:spPr>
        <p:txBody>
          <a:bodyPr wrap="square" lIns="0" tIns="0" rIns="0" bIns="0" rtlCol="0" anchor="t"/>
          <a:lstStyle/>
          <a:p>
            <a:pPr algn="l" indent="0" marL="0">
              <a:buNone/>
            </a:pPr>
            <a:r>
              <a:rPr lang="en-US" sz="1600" b="1" dirty="0">
                <a:solidFill>
                  <a:srgbClr val="1A2F57"/>
                </a:solidFill>
                <a:latin typeface="Calibri" pitchFamily="34" charset="0"/>
                <a:ea typeface="Calibri" pitchFamily="34" charset="-122"/>
                <a:cs typeface="Calibri" pitchFamily="34" charset="-120"/>
              </a:rPr>
              <a:t>Real eSAKSHI Data</a:t>
            </a:r>
            <a:endParaRPr lang="en-US" sz="1600" dirty="0"/>
          </a:p>
          <a:p>
            <a:pPr algn="l" indent="0" marL="0">
              <a:buNone/>
            </a:pPr>
            <a:r>
              <a:rPr lang="en-US" sz="1600" dirty="0">
                <a:solidFill>
                  <a:srgbClr val="1A2F57"/>
                </a:solidFill>
                <a:latin typeface="Calibri" pitchFamily="34" charset="0"/>
                <a:ea typeface="Calibri" pitchFamily="34" charset="-122"/>
                <a:cs typeface="Calibri" pitchFamily="34" charset="-120"/>
              </a:rPr>
              <a:t>2,09,993 works already loaded; 2 in 3 completed works carry certificates or photos to check.</a:t>
            </a:r>
            <a:endParaRPr lang="en-US" sz="1600" dirty="0"/>
          </a:p>
        </p:txBody>
      </p:sp>
      <p:sp>
        <p:nvSpPr>
          <p:cNvPr id="20" name="Shape 15"/>
          <p:cNvSpPr/>
          <p:nvPr/>
        </p:nvSpPr>
        <p:spPr>
          <a:xfrm>
            <a:off x="609600" y="4406900"/>
            <a:ext cx="3860800" cy="2108200"/>
          </a:xfrm>
          <a:prstGeom prst="roundRect">
            <a:avLst>
              <a:gd name="adj" fmla="val 6627"/>
            </a:avLst>
          </a:prstGeom>
          <a:solidFill>
            <a:srgbClr val="EDF0F5"/>
          </a:solidFill>
          <a:ln/>
        </p:spPr>
      </p:sp>
      <p:sp>
        <p:nvSpPr>
          <p:cNvPr id="21" name="Shape 16"/>
          <p:cNvSpPr/>
          <p:nvPr/>
        </p:nvSpPr>
        <p:spPr>
          <a:xfrm>
            <a:off x="812800" y="4610100"/>
            <a:ext cx="647700" cy="647700"/>
          </a:xfrm>
          <a:prstGeom prst="ellipse">
            <a:avLst/>
          </a:prstGeom>
          <a:solidFill>
            <a:srgbClr val="2A4D88"/>
          </a:solidFill>
          <a:ln/>
        </p:spPr>
      </p:sp>
      <p:pic>
        <p:nvPicPr>
          <p:cNvPr id="22" name="Image 3" descr="C:\Users\abhim\drishti\docs\deck\assets\icons\users-gear_w.png">    </p:cNvPr>
          <p:cNvPicPr>
            <a:picLocks noChangeAspect="1"/>
          </p:cNvPicPr>
          <p:nvPr/>
        </p:nvPicPr>
        <p:blipFill>
          <a:blip r:embed="rId4"/>
          <a:stretch>
            <a:fillRect/>
          </a:stretch>
        </p:blipFill>
        <p:spPr>
          <a:xfrm>
            <a:off x="974725" y="4772025"/>
            <a:ext cx="323850" cy="323850"/>
          </a:xfrm>
          <a:prstGeom prst="rect">
            <a:avLst/>
          </a:prstGeom>
        </p:spPr>
      </p:pic>
      <p:sp>
        <p:nvSpPr>
          <p:cNvPr id="23" name="Text 17"/>
          <p:cNvSpPr txBox="1"/>
          <p:nvPr/>
        </p:nvSpPr>
        <p:spPr>
          <a:xfrm>
            <a:off x="1600200" y="4610100"/>
            <a:ext cx="2743200" cy="6477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Operational Feasibility</a:t>
            </a:r>
            <a:endParaRPr lang="en-US" sz="1800" dirty="0"/>
          </a:p>
        </p:txBody>
      </p:sp>
      <p:sp>
        <p:nvSpPr>
          <p:cNvPr id="24" name="Text 18"/>
          <p:cNvSpPr txBox="1"/>
          <p:nvPr/>
        </p:nvSpPr>
        <p:spPr>
          <a:xfrm>
            <a:off x="889000" y="5372100"/>
            <a:ext cx="3378200" cy="1066800"/>
          </a:xfrm>
          <a:prstGeom prst="rect">
            <a:avLst/>
          </a:prstGeom>
          <a:noFill/>
          <a:ln/>
        </p:spPr>
        <p:txBody>
          <a:bodyPr wrap="square" lIns="0" tIns="0" rIns="0" bIns="0" rtlCol="0" anchor="t"/>
          <a:lstStyle/>
          <a:p>
            <a:pPr algn="l" indent="0" marL="0">
              <a:buNone/>
            </a:pPr>
            <a:r>
              <a:rPr lang="en-US" sz="1600" b="1" dirty="0">
                <a:solidFill>
                  <a:srgbClr val="1A2F57"/>
                </a:solidFill>
                <a:latin typeface="Calibri" pitchFamily="34" charset="0"/>
                <a:ea typeface="Calibri" pitchFamily="34" charset="-122"/>
                <a:cs typeface="Calibri" pitchFamily="34" charset="-120"/>
              </a:rPr>
              <a:t>Workflow Fit</a:t>
            </a:r>
            <a:endParaRPr lang="en-US" sz="1600" dirty="0"/>
          </a:p>
          <a:p>
            <a:pPr algn="l" indent="0" marL="0">
              <a:buNone/>
            </a:pPr>
            <a:r>
              <a:rPr lang="en-US" sz="1600" dirty="0">
                <a:solidFill>
                  <a:srgbClr val="1A2F57"/>
                </a:solidFill>
                <a:latin typeface="Calibri" pitchFamily="34" charset="0"/>
                <a:ea typeface="Calibri" pitchFamily="34" charset="-122"/>
                <a:cs typeface="Calibri" pitchFamily="34" charset="-120"/>
              </a:rPr>
              <a:t>Read-only layer on eSAKSHI; fits the MP → District → Agency flow, no new data entry.</a:t>
            </a:r>
            <a:endParaRPr lang="en-US" sz="1600" dirty="0"/>
          </a:p>
        </p:txBody>
      </p:sp>
      <p:sp>
        <p:nvSpPr>
          <p:cNvPr id="25" name="Shape 19"/>
          <p:cNvSpPr/>
          <p:nvPr/>
        </p:nvSpPr>
        <p:spPr>
          <a:xfrm>
            <a:off x="4724400" y="4406900"/>
            <a:ext cx="3860800" cy="2108200"/>
          </a:xfrm>
          <a:prstGeom prst="roundRect">
            <a:avLst>
              <a:gd name="adj" fmla="val 6627"/>
            </a:avLst>
          </a:prstGeom>
          <a:solidFill>
            <a:srgbClr val="EDF0F5"/>
          </a:solidFill>
          <a:ln/>
        </p:spPr>
      </p:sp>
      <p:sp>
        <p:nvSpPr>
          <p:cNvPr id="26" name="Shape 20"/>
          <p:cNvSpPr/>
          <p:nvPr/>
        </p:nvSpPr>
        <p:spPr>
          <a:xfrm>
            <a:off x="4927600" y="4610100"/>
            <a:ext cx="647700" cy="647700"/>
          </a:xfrm>
          <a:prstGeom prst="ellipse">
            <a:avLst/>
          </a:prstGeom>
          <a:solidFill>
            <a:srgbClr val="2A4D88"/>
          </a:solidFill>
          <a:ln/>
        </p:spPr>
      </p:sp>
      <p:pic>
        <p:nvPicPr>
          <p:cNvPr id="27" name="Image 4" descr="C:\Users\abhim\drishti\docs\deck\assets\icons\coins_w.png">    </p:cNvPr>
          <p:cNvPicPr>
            <a:picLocks noChangeAspect="1"/>
          </p:cNvPicPr>
          <p:nvPr/>
        </p:nvPicPr>
        <p:blipFill>
          <a:blip r:embed="rId5"/>
          <a:stretch>
            <a:fillRect/>
          </a:stretch>
        </p:blipFill>
        <p:spPr>
          <a:xfrm>
            <a:off x="5089525" y="4772025"/>
            <a:ext cx="323850" cy="323850"/>
          </a:xfrm>
          <a:prstGeom prst="rect">
            <a:avLst/>
          </a:prstGeom>
        </p:spPr>
      </p:pic>
      <p:sp>
        <p:nvSpPr>
          <p:cNvPr id="28" name="Text 21"/>
          <p:cNvSpPr txBox="1"/>
          <p:nvPr/>
        </p:nvSpPr>
        <p:spPr>
          <a:xfrm>
            <a:off x="5715000" y="4610100"/>
            <a:ext cx="2743200" cy="6477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Economic Feasibility</a:t>
            </a:r>
            <a:endParaRPr lang="en-US" sz="1800" dirty="0"/>
          </a:p>
        </p:txBody>
      </p:sp>
      <p:sp>
        <p:nvSpPr>
          <p:cNvPr id="29" name="Text 22"/>
          <p:cNvSpPr txBox="1"/>
          <p:nvPr/>
        </p:nvSpPr>
        <p:spPr>
          <a:xfrm>
            <a:off x="5003800" y="5372100"/>
            <a:ext cx="3378200" cy="1066800"/>
          </a:xfrm>
          <a:prstGeom prst="rect">
            <a:avLst/>
          </a:prstGeom>
          <a:noFill/>
          <a:ln/>
        </p:spPr>
        <p:txBody>
          <a:bodyPr wrap="square" lIns="0" tIns="0" rIns="0" bIns="0" rtlCol="0" anchor="t"/>
          <a:lstStyle/>
          <a:p>
            <a:pPr algn="l" indent="0" marL="0">
              <a:buNone/>
            </a:pPr>
            <a:r>
              <a:rPr lang="en-US" sz="1600" b="1" dirty="0">
                <a:solidFill>
                  <a:srgbClr val="1A2F57"/>
                </a:solidFill>
                <a:latin typeface="Calibri" pitchFamily="34" charset="0"/>
                <a:ea typeface="Calibri" pitchFamily="34" charset="-122"/>
                <a:cs typeface="Calibri" pitchFamily="34" charset="-120"/>
              </a:rPr>
              <a:t>Low Cost</a:t>
            </a:r>
            <a:endParaRPr lang="en-US" sz="1600" dirty="0"/>
          </a:p>
          <a:p>
            <a:pPr algn="l" indent="0" marL="0">
              <a:buNone/>
            </a:pPr>
            <a:r>
              <a:rPr lang="en-US" sz="1600" dirty="0">
                <a:solidFill>
                  <a:srgbClr val="1A2F57"/>
                </a:solidFill>
                <a:latin typeface="Calibri" pitchFamily="34" charset="0"/>
                <a:ea typeface="Calibri" pitchFamily="34" charset="-122"/>
                <a:cs typeface="Calibri" pitchFamily="34" charset="-120"/>
              </a:rPr>
              <a:t>Open-source tools; pay-per-use AI at well under ₹1 a document; no licence fees.</a:t>
            </a:r>
            <a:endParaRPr lang="en-US" sz="1600" dirty="0"/>
          </a:p>
        </p:txBody>
      </p:sp>
      <p:sp>
        <p:nvSpPr>
          <p:cNvPr id="30" name="Text 23"/>
          <p:cNvSpPr txBox="1"/>
          <p:nvPr/>
        </p:nvSpPr>
        <p:spPr>
          <a:xfrm>
            <a:off x="9118600" y="1574800"/>
            <a:ext cx="4064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CHALLENGES &amp; RISKS</a:t>
            </a:r>
            <a:endParaRPr lang="en-US" sz="1720" dirty="0"/>
          </a:p>
        </p:txBody>
      </p:sp>
      <p:sp>
        <p:nvSpPr>
          <p:cNvPr id="31" name="Text 24"/>
          <p:cNvSpPr txBox="1"/>
          <p:nvPr/>
        </p:nvSpPr>
        <p:spPr>
          <a:xfrm>
            <a:off x="13779500" y="1574800"/>
            <a:ext cx="4064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STRATEGIES TO OVERCOME</a:t>
            </a:r>
            <a:endParaRPr lang="en-US" sz="1720" dirty="0"/>
          </a:p>
        </p:txBody>
      </p:sp>
      <p:sp>
        <p:nvSpPr>
          <p:cNvPr id="32" name="Shape 25"/>
          <p:cNvSpPr/>
          <p:nvPr/>
        </p:nvSpPr>
        <p:spPr>
          <a:xfrm>
            <a:off x="9118600" y="2044700"/>
            <a:ext cx="3924300" cy="977900"/>
          </a:xfrm>
          <a:prstGeom prst="roundRect">
            <a:avLst>
              <a:gd name="adj" fmla="val 11688"/>
            </a:avLst>
          </a:prstGeom>
          <a:solidFill>
            <a:srgbClr val="D9D9D8"/>
          </a:solidFill>
          <a:ln/>
        </p:spPr>
      </p:sp>
      <p:pic>
        <p:nvPicPr>
          <p:cNvPr id="33" name="Image 5" descr="C:\Users\abhim\drishti\docs\deck\assets\icons\triangle-exclamation_g.png">    </p:cNvPr>
          <p:cNvPicPr>
            <a:picLocks noChangeAspect="1"/>
          </p:cNvPicPr>
          <p:nvPr/>
        </p:nvPicPr>
        <p:blipFill>
          <a:blip r:embed="rId6"/>
          <a:stretch>
            <a:fillRect/>
          </a:stretch>
        </p:blipFill>
        <p:spPr>
          <a:xfrm>
            <a:off x="9283700" y="2349500"/>
            <a:ext cx="355600" cy="355600"/>
          </a:xfrm>
          <a:prstGeom prst="rect">
            <a:avLst/>
          </a:prstGeom>
        </p:spPr>
      </p:pic>
      <p:sp>
        <p:nvSpPr>
          <p:cNvPr id="34" name="Text 26"/>
          <p:cNvSpPr txBox="1"/>
          <p:nvPr/>
        </p:nvSpPr>
        <p:spPr>
          <a:xfrm>
            <a:off x="9753600" y="2146300"/>
            <a:ext cx="32004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No Confirmed Fraud Labels</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Few proven cases to learn from.</a:t>
            </a:r>
            <a:endParaRPr lang="en-US" sz="1530" dirty="0"/>
          </a:p>
        </p:txBody>
      </p:sp>
      <p:pic>
        <p:nvPicPr>
          <p:cNvPr id="35" name="Image 6" descr="C:\Users\abhim\drishti\docs\deck\assets\icons\arrow-right_n.png">    </p:cNvPr>
          <p:cNvPicPr>
            <a:picLocks noChangeAspect="1"/>
          </p:cNvPicPr>
          <p:nvPr/>
        </p:nvPicPr>
        <p:blipFill>
          <a:blip r:embed="rId7"/>
          <a:stretch>
            <a:fillRect/>
          </a:stretch>
        </p:blipFill>
        <p:spPr>
          <a:xfrm>
            <a:off x="13246100" y="2387600"/>
            <a:ext cx="292100" cy="292100"/>
          </a:xfrm>
          <a:prstGeom prst="rect">
            <a:avLst/>
          </a:prstGeom>
        </p:spPr>
      </p:pic>
      <p:sp>
        <p:nvSpPr>
          <p:cNvPr id="36" name="Shape 27"/>
          <p:cNvSpPr/>
          <p:nvPr/>
        </p:nvSpPr>
        <p:spPr>
          <a:xfrm>
            <a:off x="13779500" y="2044700"/>
            <a:ext cx="3898900" cy="977900"/>
          </a:xfrm>
          <a:prstGeom prst="roundRect">
            <a:avLst>
              <a:gd name="adj" fmla="val 11688"/>
            </a:avLst>
          </a:prstGeom>
          <a:solidFill>
            <a:srgbClr val="FFFFFF"/>
          </a:solidFill>
          <a:ln w="19050">
            <a:solidFill>
              <a:srgbClr val="7C94B8"/>
            </a:solidFill>
            <a:prstDash val="solid"/>
          </a:ln>
        </p:spPr>
      </p:sp>
      <p:pic>
        <p:nvPicPr>
          <p:cNvPr id="37" name="Image 7" descr="C:\Users\abhim\drishti\docs\deck\assets\icons\circle-check_n.png">    </p:cNvPr>
          <p:cNvPicPr>
            <a:picLocks noChangeAspect="1"/>
          </p:cNvPicPr>
          <p:nvPr/>
        </p:nvPicPr>
        <p:blipFill>
          <a:blip r:embed="rId8"/>
          <a:stretch>
            <a:fillRect/>
          </a:stretch>
        </p:blipFill>
        <p:spPr>
          <a:xfrm>
            <a:off x="13944600" y="2349500"/>
            <a:ext cx="355600" cy="355600"/>
          </a:xfrm>
          <a:prstGeom prst="rect">
            <a:avLst/>
          </a:prstGeom>
        </p:spPr>
      </p:pic>
      <p:sp>
        <p:nvSpPr>
          <p:cNvPr id="38" name="Text 28"/>
          <p:cNvSpPr txBox="1"/>
          <p:nvPr/>
        </p:nvSpPr>
        <p:spPr>
          <a:xfrm>
            <a:off x="14414500" y="2146300"/>
            <a:ext cx="31750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Real Outcomes as Labels</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Completion history &amp; planted tests; officer verdicts retrain.</a:t>
            </a:r>
            <a:endParaRPr lang="en-US" sz="1530" dirty="0"/>
          </a:p>
        </p:txBody>
      </p:sp>
      <p:sp>
        <p:nvSpPr>
          <p:cNvPr id="39" name="Shape 29"/>
          <p:cNvSpPr/>
          <p:nvPr/>
        </p:nvSpPr>
        <p:spPr>
          <a:xfrm>
            <a:off x="9118600" y="3175000"/>
            <a:ext cx="3924300" cy="977900"/>
          </a:xfrm>
          <a:prstGeom prst="roundRect">
            <a:avLst>
              <a:gd name="adj" fmla="val 11688"/>
            </a:avLst>
          </a:prstGeom>
          <a:solidFill>
            <a:srgbClr val="D9D9D8"/>
          </a:solidFill>
          <a:ln/>
        </p:spPr>
      </p:sp>
      <p:pic>
        <p:nvPicPr>
          <p:cNvPr id="40" name="Image 8" descr="C:\Users\abhim\drishti\docs\deck\assets\icons\triangle-exclamation_g.png">    </p:cNvPr>
          <p:cNvPicPr>
            <a:picLocks noChangeAspect="1"/>
          </p:cNvPicPr>
          <p:nvPr/>
        </p:nvPicPr>
        <p:blipFill>
          <a:blip r:embed="rId9"/>
          <a:stretch>
            <a:fillRect/>
          </a:stretch>
        </p:blipFill>
        <p:spPr>
          <a:xfrm>
            <a:off x="9283700" y="3479800"/>
            <a:ext cx="355600" cy="355600"/>
          </a:xfrm>
          <a:prstGeom prst="rect">
            <a:avLst/>
          </a:prstGeom>
        </p:spPr>
      </p:pic>
      <p:sp>
        <p:nvSpPr>
          <p:cNvPr id="41" name="Text 30"/>
          <p:cNvSpPr txBox="1"/>
          <p:nvPr/>
        </p:nvSpPr>
        <p:spPr>
          <a:xfrm>
            <a:off x="9753600" y="3276600"/>
            <a:ext cx="32004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False Alerts</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Terrain, rates or bulk orders can look like overpricing.</a:t>
            </a:r>
            <a:endParaRPr lang="en-US" sz="1530" dirty="0"/>
          </a:p>
        </p:txBody>
      </p:sp>
      <p:pic>
        <p:nvPicPr>
          <p:cNvPr id="42" name="Image 9" descr="C:\Users\abhim\drishti\docs\deck\assets\icons\arrow-right_n.png">    </p:cNvPr>
          <p:cNvPicPr>
            <a:picLocks noChangeAspect="1"/>
          </p:cNvPicPr>
          <p:nvPr/>
        </p:nvPicPr>
        <p:blipFill>
          <a:blip r:embed="rId10"/>
          <a:stretch>
            <a:fillRect/>
          </a:stretch>
        </p:blipFill>
        <p:spPr>
          <a:xfrm>
            <a:off x="13246100" y="3517900"/>
            <a:ext cx="292100" cy="292100"/>
          </a:xfrm>
          <a:prstGeom prst="rect">
            <a:avLst/>
          </a:prstGeom>
        </p:spPr>
      </p:pic>
      <p:sp>
        <p:nvSpPr>
          <p:cNvPr id="43" name="Shape 31"/>
          <p:cNvSpPr/>
          <p:nvPr/>
        </p:nvSpPr>
        <p:spPr>
          <a:xfrm>
            <a:off x="13779500" y="3175000"/>
            <a:ext cx="3898900" cy="977900"/>
          </a:xfrm>
          <a:prstGeom prst="roundRect">
            <a:avLst>
              <a:gd name="adj" fmla="val 11688"/>
            </a:avLst>
          </a:prstGeom>
          <a:solidFill>
            <a:srgbClr val="FFFFFF"/>
          </a:solidFill>
          <a:ln w="19050">
            <a:solidFill>
              <a:srgbClr val="7C94B8"/>
            </a:solidFill>
            <a:prstDash val="solid"/>
          </a:ln>
        </p:spPr>
      </p:sp>
      <p:pic>
        <p:nvPicPr>
          <p:cNvPr id="44" name="Image 10" descr="C:\Users\abhim\drishti\docs\deck\assets\icons\circle-check_n.png">    </p:cNvPr>
          <p:cNvPicPr>
            <a:picLocks noChangeAspect="1"/>
          </p:cNvPicPr>
          <p:nvPr/>
        </p:nvPicPr>
        <p:blipFill>
          <a:blip r:embed="rId11"/>
          <a:stretch>
            <a:fillRect/>
          </a:stretch>
        </p:blipFill>
        <p:spPr>
          <a:xfrm>
            <a:off x="13944600" y="3479800"/>
            <a:ext cx="355600" cy="355600"/>
          </a:xfrm>
          <a:prstGeom prst="rect">
            <a:avLst/>
          </a:prstGeom>
        </p:spPr>
      </p:pic>
      <p:sp>
        <p:nvSpPr>
          <p:cNvPr id="45" name="Text 32"/>
          <p:cNvSpPr txBox="1"/>
          <p:nvPr/>
        </p:nvSpPr>
        <p:spPr>
          <a:xfrm>
            <a:off x="14414500" y="3276600"/>
            <a:ext cx="31750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Independent Checks Must Agree</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High risk needs separate agents to agree.</a:t>
            </a:r>
            <a:endParaRPr lang="en-US" sz="1530" dirty="0"/>
          </a:p>
        </p:txBody>
      </p:sp>
      <p:sp>
        <p:nvSpPr>
          <p:cNvPr id="46" name="Shape 33"/>
          <p:cNvSpPr/>
          <p:nvPr/>
        </p:nvSpPr>
        <p:spPr>
          <a:xfrm>
            <a:off x="9118600" y="4292600"/>
            <a:ext cx="3924300" cy="977900"/>
          </a:xfrm>
          <a:prstGeom prst="roundRect">
            <a:avLst>
              <a:gd name="adj" fmla="val 11688"/>
            </a:avLst>
          </a:prstGeom>
          <a:solidFill>
            <a:srgbClr val="D9D9D8"/>
          </a:solidFill>
          <a:ln/>
        </p:spPr>
      </p:sp>
      <p:pic>
        <p:nvPicPr>
          <p:cNvPr id="47" name="Image 11" descr="C:\Users\abhim\drishti\docs\deck\assets\icons\triangle-exclamation_g.png">    </p:cNvPr>
          <p:cNvPicPr>
            <a:picLocks noChangeAspect="1"/>
          </p:cNvPicPr>
          <p:nvPr/>
        </p:nvPicPr>
        <p:blipFill>
          <a:blip r:embed="rId12"/>
          <a:stretch>
            <a:fillRect/>
          </a:stretch>
        </p:blipFill>
        <p:spPr>
          <a:xfrm>
            <a:off x="9283700" y="4597400"/>
            <a:ext cx="355600" cy="355600"/>
          </a:xfrm>
          <a:prstGeom prst="rect">
            <a:avLst/>
          </a:prstGeom>
        </p:spPr>
      </p:pic>
      <p:sp>
        <p:nvSpPr>
          <p:cNvPr id="48" name="Text 34"/>
          <p:cNvSpPr txBox="1"/>
          <p:nvPr/>
        </p:nvSpPr>
        <p:spPr>
          <a:xfrm>
            <a:off x="9753600" y="4394200"/>
            <a:ext cx="32004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Handwritten &amp; Hinglish Records</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Hindi certificates and messy text are hard to read.</a:t>
            </a:r>
            <a:endParaRPr lang="en-US" sz="1530" dirty="0"/>
          </a:p>
        </p:txBody>
      </p:sp>
      <p:pic>
        <p:nvPicPr>
          <p:cNvPr id="49" name="Image 12" descr="C:\Users\abhim\drishti\docs\deck\assets\icons\arrow-right_n.png">    </p:cNvPr>
          <p:cNvPicPr>
            <a:picLocks noChangeAspect="1"/>
          </p:cNvPicPr>
          <p:nvPr/>
        </p:nvPicPr>
        <p:blipFill>
          <a:blip r:embed="rId13"/>
          <a:stretch>
            <a:fillRect/>
          </a:stretch>
        </p:blipFill>
        <p:spPr>
          <a:xfrm>
            <a:off x="13246100" y="4635500"/>
            <a:ext cx="292100" cy="292100"/>
          </a:xfrm>
          <a:prstGeom prst="rect">
            <a:avLst/>
          </a:prstGeom>
        </p:spPr>
      </p:pic>
      <p:sp>
        <p:nvSpPr>
          <p:cNvPr id="50" name="Shape 35"/>
          <p:cNvSpPr/>
          <p:nvPr/>
        </p:nvSpPr>
        <p:spPr>
          <a:xfrm>
            <a:off x="13779500" y="4292600"/>
            <a:ext cx="3898900" cy="977900"/>
          </a:xfrm>
          <a:prstGeom prst="roundRect">
            <a:avLst>
              <a:gd name="adj" fmla="val 11688"/>
            </a:avLst>
          </a:prstGeom>
          <a:solidFill>
            <a:srgbClr val="FFFFFF"/>
          </a:solidFill>
          <a:ln w="19050">
            <a:solidFill>
              <a:srgbClr val="7C94B8"/>
            </a:solidFill>
            <a:prstDash val="solid"/>
          </a:ln>
        </p:spPr>
      </p:sp>
      <p:pic>
        <p:nvPicPr>
          <p:cNvPr id="51" name="Image 13" descr="C:\Users\abhim\drishti\docs\deck\assets\icons\circle-check_n.png">    </p:cNvPr>
          <p:cNvPicPr>
            <a:picLocks noChangeAspect="1"/>
          </p:cNvPicPr>
          <p:nvPr/>
        </p:nvPicPr>
        <p:blipFill>
          <a:blip r:embed="rId14"/>
          <a:stretch>
            <a:fillRect/>
          </a:stretch>
        </p:blipFill>
        <p:spPr>
          <a:xfrm>
            <a:off x="13944600" y="4597400"/>
            <a:ext cx="355600" cy="355600"/>
          </a:xfrm>
          <a:prstGeom prst="rect">
            <a:avLst/>
          </a:prstGeom>
        </p:spPr>
      </p:pic>
      <p:sp>
        <p:nvSpPr>
          <p:cNvPr id="52" name="Text 36"/>
          <p:cNvSpPr txBox="1"/>
          <p:nvPr/>
        </p:nvSpPr>
        <p:spPr>
          <a:xfrm>
            <a:off x="14414500" y="4394200"/>
            <a:ext cx="31750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Confidence Gate</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Unclear readings become “can't tell”, never an alert.</a:t>
            </a:r>
            <a:endParaRPr lang="en-US" sz="1530" dirty="0"/>
          </a:p>
        </p:txBody>
      </p:sp>
      <p:sp>
        <p:nvSpPr>
          <p:cNvPr id="53" name="Shape 37"/>
          <p:cNvSpPr/>
          <p:nvPr/>
        </p:nvSpPr>
        <p:spPr>
          <a:xfrm>
            <a:off x="9118600" y="5422900"/>
            <a:ext cx="3924300" cy="977900"/>
          </a:xfrm>
          <a:prstGeom prst="roundRect">
            <a:avLst>
              <a:gd name="adj" fmla="val 11688"/>
            </a:avLst>
          </a:prstGeom>
          <a:solidFill>
            <a:srgbClr val="D9D9D8"/>
          </a:solidFill>
          <a:ln/>
        </p:spPr>
      </p:sp>
      <p:pic>
        <p:nvPicPr>
          <p:cNvPr id="54" name="Image 14" descr="C:\Users\abhim\drishti\docs\deck\assets\icons\triangle-exclamation_g.png">    </p:cNvPr>
          <p:cNvPicPr>
            <a:picLocks noChangeAspect="1"/>
          </p:cNvPicPr>
          <p:nvPr/>
        </p:nvPicPr>
        <p:blipFill>
          <a:blip r:embed="rId15"/>
          <a:stretch>
            <a:fillRect/>
          </a:stretch>
        </p:blipFill>
        <p:spPr>
          <a:xfrm>
            <a:off x="9283700" y="5727700"/>
            <a:ext cx="355600" cy="355600"/>
          </a:xfrm>
          <a:prstGeom prst="rect">
            <a:avLst/>
          </a:prstGeom>
        </p:spPr>
      </p:pic>
      <p:sp>
        <p:nvSpPr>
          <p:cNvPr id="55" name="Text 38"/>
          <p:cNvSpPr txBox="1"/>
          <p:nvPr/>
        </p:nvSpPr>
        <p:spPr>
          <a:xfrm>
            <a:off x="9753600" y="5524500"/>
            <a:ext cx="32004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Sensitive Data</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Named officials, contractors and personal details.</a:t>
            </a:r>
            <a:endParaRPr lang="en-US" sz="1530" dirty="0"/>
          </a:p>
        </p:txBody>
      </p:sp>
      <p:pic>
        <p:nvPicPr>
          <p:cNvPr id="56" name="Image 15" descr="C:\Users\abhim\drishti\docs\deck\assets\icons\arrow-right_n.png">    </p:cNvPr>
          <p:cNvPicPr>
            <a:picLocks noChangeAspect="1"/>
          </p:cNvPicPr>
          <p:nvPr/>
        </p:nvPicPr>
        <p:blipFill>
          <a:blip r:embed="rId16"/>
          <a:stretch>
            <a:fillRect/>
          </a:stretch>
        </p:blipFill>
        <p:spPr>
          <a:xfrm>
            <a:off x="13246100" y="5765800"/>
            <a:ext cx="292100" cy="292100"/>
          </a:xfrm>
          <a:prstGeom prst="rect">
            <a:avLst/>
          </a:prstGeom>
        </p:spPr>
      </p:pic>
      <p:sp>
        <p:nvSpPr>
          <p:cNvPr id="57" name="Shape 39"/>
          <p:cNvSpPr/>
          <p:nvPr/>
        </p:nvSpPr>
        <p:spPr>
          <a:xfrm>
            <a:off x="13779500" y="5422900"/>
            <a:ext cx="3898900" cy="977900"/>
          </a:xfrm>
          <a:prstGeom prst="roundRect">
            <a:avLst>
              <a:gd name="adj" fmla="val 11688"/>
            </a:avLst>
          </a:prstGeom>
          <a:solidFill>
            <a:srgbClr val="FFFFFF"/>
          </a:solidFill>
          <a:ln w="19050">
            <a:solidFill>
              <a:srgbClr val="7C94B8"/>
            </a:solidFill>
            <a:prstDash val="solid"/>
          </a:ln>
        </p:spPr>
      </p:sp>
      <p:pic>
        <p:nvPicPr>
          <p:cNvPr id="58" name="Image 16" descr="C:\Users\abhim\drishti\docs\deck\assets\icons\circle-check_n.png">    </p:cNvPr>
          <p:cNvPicPr>
            <a:picLocks noChangeAspect="1"/>
          </p:cNvPicPr>
          <p:nvPr/>
        </p:nvPicPr>
        <p:blipFill>
          <a:blip r:embed="rId17"/>
          <a:stretch>
            <a:fillRect/>
          </a:stretch>
        </p:blipFill>
        <p:spPr>
          <a:xfrm>
            <a:off x="13944600" y="5727700"/>
            <a:ext cx="355600" cy="355600"/>
          </a:xfrm>
          <a:prstGeom prst="rect">
            <a:avLst/>
          </a:prstGeom>
        </p:spPr>
      </p:pic>
      <p:sp>
        <p:nvSpPr>
          <p:cNvPr id="59" name="Text 40"/>
          <p:cNvSpPr txBox="1"/>
          <p:nvPr/>
        </p:nvSpPr>
        <p:spPr>
          <a:xfrm>
            <a:off x="14414500" y="5524500"/>
            <a:ext cx="31750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Fair &amp; Secure by Design</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“Needs verification”, never “fraud”; role-based access.</a:t>
            </a:r>
            <a:endParaRPr lang="en-US" sz="1530" dirty="0"/>
          </a:p>
        </p:txBody>
      </p:sp>
      <p:sp>
        <p:nvSpPr>
          <p:cNvPr id="60" name="Text 41"/>
          <p:cNvSpPr txBox="1"/>
          <p:nvPr/>
        </p:nvSpPr>
        <p:spPr>
          <a:xfrm>
            <a:off x="617220" y="69215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VIABILITY</a:t>
            </a:r>
            <a:endParaRPr lang="en-US" sz="1720" dirty="0"/>
          </a:p>
        </p:txBody>
      </p:sp>
      <p:sp>
        <p:nvSpPr>
          <p:cNvPr id="61" name="Shape 42"/>
          <p:cNvSpPr/>
          <p:nvPr/>
        </p:nvSpPr>
        <p:spPr>
          <a:xfrm>
            <a:off x="609600" y="7391400"/>
            <a:ext cx="2692400" cy="2082800"/>
          </a:xfrm>
          <a:prstGeom prst="roundRect">
            <a:avLst>
              <a:gd name="adj" fmla="val 6707"/>
            </a:avLst>
          </a:prstGeom>
          <a:solidFill>
            <a:srgbClr val="EDF0F5"/>
          </a:solidFill>
          <a:ln/>
        </p:spPr>
      </p:sp>
      <p:sp>
        <p:nvSpPr>
          <p:cNvPr id="62" name="Shape 43"/>
          <p:cNvSpPr/>
          <p:nvPr/>
        </p:nvSpPr>
        <p:spPr>
          <a:xfrm>
            <a:off x="774700" y="7556500"/>
            <a:ext cx="2362200" cy="520700"/>
          </a:xfrm>
          <a:prstGeom prst="roundRect">
            <a:avLst>
              <a:gd name="adj" fmla="val 50000"/>
            </a:avLst>
          </a:prstGeom>
          <a:solidFill>
            <a:srgbClr val="2A4D88"/>
          </a:solidFill>
          <a:ln/>
        </p:spPr>
      </p:sp>
      <p:sp>
        <p:nvSpPr>
          <p:cNvPr id="63" name="Text 44"/>
          <p:cNvSpPr txBox="1"/>
          <p:nvPr/>
        </p:nvSpPr>
        <p:spPr>
          <a:xfrm>
            <a:off x="774700" y="7556500"/>
            <a:ext cx="2362200" cy="52070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Human Control</a:t>
            </a:r>
            <a:endParaRPr lang="en-US" sz="1650" dirty="0"/>
          </a:p>
        </p:txBody>
      </p:sp>
      <p:sp>
        <p:nvSpPr>
          <p:cNvPr id="64" name="Text 45"/>
          <p:cNvSpPr txBox="1"/>
          <p:nvPr/>
        </p:nvSpPr>
        <p:spPr>
          <a:xfrm>
            <a:off x="787400" y="8204200"/>
            <a:ext cx="2387600" cy="1193800"/>
          </a:xfrm>
          <a:prstGeom prst="rect">
            <a:avLst/>
          </a:prstGeom>
          <a:noFill/>
          <a:ln/>
        </p:spPr>
        <p:txBody>
          <a:bodyPr wrap="square" lIns="0" tIns="0" rIns="0" bIns="0" rtlCol="0" anchor="t"/>
          <a:lstStyle/>
          <a:p>
            <a:pPr algn="l" indent="0" marL="0">
              <a:buNone/>
            </a:pPr>
            <a:r>
              <a:rPr lang="en-US" sz="1650" b="1" dirty="0">
                <a:solidFill>
                  <a:srgbClr val="1A2F57"/>
                </a:solidFill>
                <a:latin typeface="Calibri" pitchFamily="34" charset="0"/>
                <a:ea typeface="Calibri" pitchFamily="34" charset="-122"/>
                <a:cs typeface="Calibri" pitchFamily="34" charset="-120"/>
              </a:rPr>
              <a:t>Human-in-the-Loop</a:t>
            </a:r>
            <a:endParaRPr lang="en-US" sz="1650" dirty="0"/>
          </a:p>
          <a:p>
            <a:pPr algn="l" indent="0" marL="0">
              <a:buNone/>
            </a:pPr>
            <a:r>
              <a:rPr lang="en-US" sz="1650" dirty="0">
                <a:solidFill>
                  <a:srgbClr val="1A2F57"/>
                </a:solidFill>
                <a:latin typeface="Calibri" pitchFamily="34" charset="0"/>
                <a:ea typeface="Calibri" pitchFamily="34" charset="-122"/>
                <a:cs typeface="Calibri" pitchFamily="34" charset="-120"/>
              </a:rPr>
              <a:t>AI flags risks; officials verify and decide.</a:t>
            </a:r>
            <a:endParaRPr lang="en-US" sz="1650" dirty="0"/>
          </a:p>
        </p:txBody>
      </p:sp>
      <p:pic>
        <p:nvPicPr>
          <p:cNvPr id="65" name="Image 17" descr="C:\Users\abhim\drishti\docs\deck\assets\icons\arrow-right_n.png">    </p:cNvPr>
          <p:cNvPicPr>
            <a:picLocks noChangeAspect="1"/>
          </p:cNvPicPr>
          <p:nvPr/>
        </p:nvPicPr>
        <p:blipFill>
          <a:blip r:embed="rId18"/>
          <a:stretch>
            <a:fillRect/>
          </a:stretch>
        </p:blipFill>
        <p:spPr>
          <a:xfrm>
            <a:off x="3327400" y="7670800"/>
            <a:ext cx="254000" cy="254000"/>
          </a:xfrm>
          <a:prstGeom prst="rect">
            <a:avLst/>
          </a:prstGeom>
        </p:spPr>
      </p:pic>
      <p:sp>
        <p:nvSpPr>
          <p:cNvPr id="66" name="Shape 46"/>
          <p:cNvSpPr/>
          <p:nvPr/>
        </p:nvSpPr>
        <p:spPr>
          <a:xfrm>
            <a:off x="3619500" y="7391400"/>
            <a:ext cx="2692400" cy="2082800"/>
          </a:xfrm>
          <a:prstGeom prst="roundRect">
            <a:avLst>
              <a:gd name="adj" fmla="val 6707"/>
            </a:avLst>
          </a:prstGeom>
          <a:solidFill>
            <a:srgbClr val="EDF0F5"/>
          </a:solidFill>
          <a:ln/>
        </p:spPr>
      </p:sp>
      <p:sp>
        <p:nvSpPr>
          <p:cNvPr id="67" name="Shape 47"/>
          <p:cNvSpPr/>
          <p:nvPr/>
        </p:nvSpPr>
        <p:spPr>
          <a:xfrm>
            <a:off x="3784600" y="7556500"/>
            <a:ext cx="2362200" cy="520700"/>
          </a:xfrm>
          <a:prstGeom prst="roundRect">
            <a:avLst>
              <a:gd name="adj" fmla="val 50000"/>
            </a:avLst>
          </a:prstGeom>
          <a:solidFill>
            <a:srgbClr val="2A4D88"/>
          </a:solidFill>
          <a:ln/>
        </p:spPr>
      </p:sp>
      <p:sp>
        <p:nvSpPr>
          <p:cNvPr id="68" name="Text 48"/>
          <p:cNvSpPr txBox="1"/>
          <p:nvPr/>
        </p:nvSpPr>
        <p:spPr>
          <a:xfrm>
            <a:off x="3784600" y="7556500"/>
            <a:ext cx="2362200" cy="52070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Existing Workflow</a:t>
            </a:r>
            <a:endParaRPr lang="en-US" sz="1650" dirty="0"/>
          </a:p>
        </p:txBody>
      </p:sp>
      <p:sp>
        <p:nvSpPr>
          <p:cNvPr id="69" name="Text 49"/>
          <p:cNvSpPr txBox="1"/>
          <p:nvPr/>
        </p:nvSpPr>
        <p:spPr>
          <a:xfrm>
            <a:off x="3797300" y="8204200"/>
            <a:ext cx="2387600" cy="1193800"/>
          </a:xfrm>
          <a:prstGeom prst="rect">
            <a:avLst/>
          </a:prstGeom>
          <a:noFill/>
          <a:ln/>
        </p:spPr>
        <p:txBody>
          <a:bodyPr wrap="square" lIns="0" tIns="0" rIns="0" bIns="0" rtlCol="0" anchor="t"/>
          <a:lstStyle/>
          <a:p>
            <a:pPr algn="l" indent="0" marL="0">
              <a:buNone/>
            </a:pPr>
            <a:r>
              <a:rPr lang="en-US" sz="1650" b="1" dirty="0">
                <a:solidFill>
                  <a:srgbClr val="1A2F57"/>
                </a:solidFill>
                <a:latin typeface="Calibri" pitchFamily="34" charset="0"/>
                <a:ea typeface="Calibri" pitchFamily="34" charset="-122"/>
                <a:cs typeface="Calibri" pitchFamily="34" charset="-120"/>
              </a:rPr>
              <a:t>Workflow Compatibility</a:t>
            </a:r>
            <a:endParaRPr lang="en-US" sz="1650" dirty="0"/>
          </a:p>
          <a:p>
            <a:pPr algn="l" indent="0" marL="0">
              <a:buNone/>
            </a:pPr>
            <a:r>
              <a:rPr lang="en-US" sz="1650" dirty="0">
                <a:solidFill>
                  <a:srgbClr val="1A2F57"/>
                </a:solidFill>
                <a:latin typeface="Calibri" pitchFamily="34" charset="0"/>
                <a:ea typeface="Calibri" pitchFamily="34" charset="-122"/>
                <a:cs typeface="Calibri" pitchFamily="34" charset="-120"/>
              </a:rPr>
              <a:t>Works alongside existing eSAKSHI workflows.</a:t>
            </a:r>
            <a:endParaRPr lang="en-US" sz="1650" dirty="0"/>
          </a:p>
        </p:txBody>
      </p:sp>
      <p:pic>
        <p:nvPicPr>
          <p:cNvPr id="70" name="Image 18" descr="C:\Users\abhim\drishti\docs\deck\assets\icons\arrow-right_n.png">    </p:cNvPr>
          <p:cNvPicPr>
            <a:picLocks noChangeAspect="1"/>
          </p:cNvPicPr>
          <p:nvPr/>
        </p:nvPicPr>
        <p:blipFill>
          <a:blip r:embed="rId19"/>
          <a:stretch>
            <a:fillRect/>
          </a:stretch>
        </p:blipFill>
        <p:spPr>
          <a:xfrm>
            <a:off x="6337300" y="7670800"/>
            <a:ext cx="254000" cy="254000"/>
          </a:xfrm>
          <a:prstGeom prst="rect">
            <a:avLst/>
          </a:prstGeom>
        </p:spPr>
      </p:pic>
      <p:sp>
        <p:nvSpPr>
          <p:cNvPr id="71" name="Shape 50"/>
          <p:cNvSpPr/>
          <p:nvPr/>
        </p:nvSpPr>
        <p:spPr>
          <a:xfrm>
            <a:off x="6642100" y="7391400"/>
            <a:ext cx="2692400" cy="2082800"/>
          </a:xfrm>
          <a:prstGeom prst="roundRect">
            <a:avLst>
              <a:gd name="adj" fmla="val 6707"/>
            </a:avLst>
          </a:prstGeom>
          <a:solidFill>
            <a:srgbClr val="EDF0F5"/>
          </a:solidFill>
          <a:ln/>
        </p:spPr>
      </p:sp>
      <p:sp>
        <p:nvSpPr>
          <p:cNvPr id="72" name="Shape 51"/>
          <p:cNvSpPr/>
          <p:nvPr/>
        </p:nvSpPr>
        <p:spPr>
          <a:xfrm>
            <a:off x="6807200" y="7556500"/>
            <a:ext cx="2362200" cy="520700"/>
          </a:xfrm>
          <a:prstGeom prst="roundRect">
            <a:avLst>
              <a:gd name="adj" fmla="val 50000"/>
            </a:avLst>
          </a:prstGeom>
          <a:solidFill>
            <a:srgbClr val="2A4D88"/>
          </a:solidFill>
          <a:ln/>
        </p:spPr>
      </p:sp>
      <p:sp>
        <p:nvSpPr>
          <p:cNvPr id="73" name="Text 52"/>
          <p:cNvSpPr txBox="1"/>
          <p:nvPr/>
        </p:nvSpPr>
        <p:spPr>
          <a:xfrm>
            <a:off x="6807200" y="7556500"/>
            <a:ext cx="2362200" cy="52070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Priority-Based Action</a:t>
            </a:r>
            <a:endParaRPr lang="en-US" sz="1650" dirty="0"/>
          </a:p>
        </p:txBody>
      </p:sp>
      <p:sp>
        <p:nvSpPr>
          <p:cNvPr id="74" name="Text 53"/>
          <p:cNvSpPr txBox="1"/>
          <p:nvPr/>
        </p:nvSpPr>
        <p:spPr>
          <a:xfrm>
            <a:off x="6819900" y="8204200"/>
            <a:ext cx="2387600" cy="1193800"/>
          </a:xfrm>
          <a:prstGeom prst="rect">
            <a:avLst/>
          </a:prstGeom>
          <a:noFill/>
          <a:ln/>
        </p:spPr>
        <p:txBody>
          <a:bodyPr wrap="square" lIns="0" tIns="0" rIns="0" bIns="0" rtlCol="0" anchor="t"/>
          <a:lstStyle/>
          <a:p>
            <a:pPr algn="l" indent="0" marL="0">
              <a:buNone/>
            </a:pPr>
            <a:r>
              <a:rPr lang="en-US" sz="1650" b="1" dirty="0">
                <a:solidFill>
                  <a:srgbClr val="1A2F57"/>
                </a:solidFill>
                <a:latin typeface="Calibri" pitchFamily="34" charset="0"/>
                <a:ea typeface="Calibri" pitchFamily="34" charset="-122"/>
                <a:cs typeface="Calibri" pitchFamily="34" charset="-120"/>
              </a:rPr>
              <a:t>Risk-Based Verification</a:t>
            </a:r>
            <a:endParaRPr lang="en-US" sz="1650" dirty="0"/>
          </a:p>
          <a:p>
            <a:pPr algn="l" indent="0" marL="0">
              <a:buNone/>
            </a:pPr>
            <a:r>
              <a:rPr lang="en-US" sz="1650" dirty="0">
                <a:solidFill>
                  <a:srgbClr val="1A2F57"/>
                </a:solidFill>
                <a:latin typeface="Calibri" pitchFamily="34" charset="0"/>
                <a:ea typeface="Calibri" pitchFamily="34" charset="-122"/>
                <a:cs typeface="Calibri" pitchFamily="34" charset="-120"/>
              </a:rPr>
              <a:t>Picks higher-risk works for mandatory inspections.</a:t>
            </a:r>
            <a:endParaRPr lang="en-US" sz="1650" dirty="0"/>
          </a:p>
        </p:txBody>
      </p:sp>
      <p:pic>
        <p:nvPicPr>
          <p:cNvPr id="75" name="Image 19" descr="C:\Users\abhim\drishti\docs\deck\assets\icons\arrow-right_n.png">    </p:cNvPr>
          <p:cNvPicPr>
            <a:picLocks noChangeAspect="1"/>
          </p:cNvPicPr>
          <p:nvPr/>
        </p:nvPicPr>
        <p:blipFill>
          <a:blip r:embed="rId20"/>
          <a:stretch>
            <a:fillRect/>
          </a:stretch>
        </p:blipFill>
        <p:spPr>
          <a:xfrm>
            <a:off x="9359900" y="7670800"/>
            <a:ext cx="254000" cy="254000"/>
          </a:xfrm>
          <a:prstGeom prst="rect">
            <a:avLst/>
          </a:prstGeom>
        </p:spPr>
      </p:pic>
      <p:sp>
        <p:nvSpPr>
          <p:cNvPr id="76" name="Shape 54"/>
          <p:cNvSpPr/>
          <p:nvPr/>
        </p:nvSpPr>
        <p:spPr>
          <a:xfrm>
            <a:off x="9664700" y="7391400"/>
            <a:ext cx="2692400" cy="2082800"/>
          </a:xfrm>
          <a:prstGeom prst="roundRect">
            <a:avLst>
              <a:gd name="adj" fmla="val 6707"/>
            </a:avLst>
          </a:prstGeom>
          <a:solidFill>
            <a:srgbClr val="EDF0F5"/>
          </a:solidFill>
          <a:ln/>
        </p:spPr>
      </p:sp>
      <p:sp>
        <p:nvSpPr>
          <p:cNvPr id="77" name="Shape 55"/>
          <p:cNvSpPr/>
          <p:nvPr/>
        </p:nvSpPr>
        <p:spPr>
          <a:xfrm>
            <a:off x="9829800" y="7556500"/>
            <a:ext cx="2362200" cy="520700"/>
          </a:xfrm>
          <a:prstGeom prst="roundRect">
            <a:avLst>
              <a:gd name="adj" fmla="val 50000"/>
            </a:avLst>
          </a:prstGeom>
          <a:solidFill>
            <a:srgbClr val="D9962B"/>
          </a:solidFill>
          <a:ln/>
        </p:spPr>
      </p:sp>
      <p:sp>
        <p:nvSpPr>
          <p:cNvPr id="78" name="Text 56"/>
          <p:cNvSpPr txBox="1"/>
          <p:nvPr/>
        </p:nvSpPr>
        <p:spPr>
          <a:xfrm>
            <a:off x="9829800" y="7556500"/>
            <a:ext cx="2362200" cy="52070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Future Expansion</a:t>
            </a:r>
            <a:endParaRPr lang="en-US" sz="1650" dirty="0"/>
          </a:p>
        </p:txBody>
      </p:sp>
      <p:sp>
        <p:nvSpPr>
          <p:cNvPr id="79" name="Text 57"/>
          <p:cNvSpPr txBox="1"/>
          <p:nvPr/>
        </p:nvSpPr>
        <p:spPr>
          <a:xfrm>
            <a:off x="9842500" y="8204200"/>
            <a:ext cx="2387600" cy="1193800"/>
          </a:xfrm>
          <a:prstGeom prst="rect">
            <a:avLst/>
          </a:prstGeom>
          <a:noFill/>
          <a:ln/>
        </p:spPr>
        <p:txBody>
          <a:bodyPr wrap="square" lIns="0" tIns="0" rIns="0" bIns="0" rtlCol="0" anchor="t"/>
          <a:lstStyle/>
          <a:p>
            <a:pPr algn="l" indent="0" marL="0">
              <a:buNone/>
            </a:pPr>
            <a:r>
              <a:rPr lang="en-US" sz="1650" b="1" dirty="0">
                <a:solidFill>
                  <a:srgbClr val="1A2F57"/>
                </a:solidFill>
                <a:latin typeface="Calibri" pitchFamily="34" charset="0"/>
                <a:ea typeface="Calibri" pitchFamily="34" charset="-122"/>
                <a:cs typeface="Calibri" pitchFamily="34" charset="-120"/>
              </a:rPr>
              <a:t>Modular and Expandable</a:t>
            </a:r>
            <a:endParaRPr lang="en-US" sz="1650" dirty="0"/>
          </a:p>
          <a:p>
            <a:pPr algn="l" indent="0" marL="0">
              <a:buNone/>
            </a:pPr>
            <a:r>
              <a:rPr lang="en-US" sz="1650" dirty="0">
                <a:solidFill>
                  <a:srgbClr val="1A2F57"/>
                </a:solidFill>
                <a:latin typeface="Calibri" pitchFamily="34" charset="0"/>
                <a:ea typeface="Calibri" pitchFamily="34" charset="-122"/>
                <a:cs typeface="Calibri" pitchFamily="34" charset="-120"/>
              </a:rPr>
              <a:t>Agents added one by one; fits PMAY-G &amp; MGNREGA.</a:t>
            </a:r>
            <a:endParaRPr lang="en-US" sz="1650" dirty="0"/>
          </a:p>
        </p:txBody>
      </p:sp>
      <p:sp>
        <p:nvSpPr>
          <p:cNvPr id="80" name="Shape 58"/>
          <p:cNvSpPr/>
          <p:nvPr/>
        </p:nvSpPr>
        <p:spPr>
          <a:xfrm>
            <a:off x="12674600" y="7391400"/>
            <a:ext cx="5003800" cy="2082800"/>
          </a:xfrm>
          <a:prstGeom prst="roundRect">
            <a:avLst>
              <a:gd name="adj" fmla="val 6707"/>
            </a:avLst>
          </a:prstGeom>
          <a:solidFill>
            <a:srgbClr val="2A4D88"/>
          </a:solidFill>
          <a:ln/>
        </p:spPr>
      </p:sp>
      <p:sp>
        <p:nvSpPr>
          <p:cNvPr id="81" name="Shape 59"/>
          <p:cNvSpPr/>
          <p:nvPr/>
        </p:nvSpPr>
        <p:spPr>
          <a:xfrm>
            <a:off x="12903200" y="7594600"/>
            <a:ext cx="558800" cy="558800"/>
          </a:xfrm>
          <a:prstGeom prst="ellipse">
            <a:avLst/>
          </a:prstGeom>
          <a:solidFill>
            <a:srgbClr val="FFFFFF"/>
          </a:solidFill>
          <a:ln/>
        </p:spPr>
      </p:sp>
      <p:pic>
        <p:nvPicPr>
          <p:cNvPr id="82" name="Image 20" descr="C:\Users\abhim\drishti\docs\deck\assets\icons\flask-vial_n.png">    </p:cNvPr>
          <p:cNvPicPr>
            <a:picLocks noChangeAspect="1"/>
          </p:cNvPicPr>
          <p:nvPr/>
        </p:nvPicPr>
        <p:blipFill>
          <a:blip r:embed="rId21"/>
          <a:stretch>
            <a:fillRect/>
          </a:stretch>
        </p:blipFill>
        <p:spPr>
          <a:xfrm>
            <a:off x="13042900" y="7734300"/>
            <a:ext cx="279400" cy="279400"/>
          </a:xfrm>
          <a:prstGeom prst="rect">
            <a:avLst/>
          </a:prstGeom>
        </p:spPr>
      </p:pic>
      <p:sp>
        <p:nvSpPr>
          <p:cNvPr id="83" name="Text 60"/>
          <p:cNvSpPr txBox="1"/>
          <p:nvPr/>
        </p:nvSpPr>
        <p:spPr>
          <a:xfrm>
            <a:off x="13614400" y="7594600"/>
            <a:ext cx="3937000" cy="55880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PROOF BEFORE LAUNCH</a:t>
            </a:r>
            <a:endParaRPr lang="en-US" sz="1800" dirty="0"/>
          </a:p>
        </p:txBody>
      </p:sp>
      <p:sp>
        <p:nvSpPr>
          <p:cNvPr id="84" name="Text 61"/>
          <p:cNvSpPr txBox="1"/>
          <p:nvPr/>
        </p:nvSpPr>
        <p:spPr>
          <a:xfrm>
            <a:off x="12903200" y="8280400"/>
            <a:ext cx="4597400" cy="11176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Every agent is tested on real eSAKSHI data and must beat a simple baseline before it goes live. If it fails, it stays switched off.</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sp>
        <p:nvSpPr>
          <p:cNvPr id="4" name="Text 2"/>
          <p:cNvSpPr txBox="1"/>
          <p:nvPr/>
        </p:nvSpPr>
        <p:spPr>
          <a:xfrm>
            <a:off x="3131820" y="381000"/>
            <a:ext cx="11430000" cy="787400"/>
          </a:xfrm>
          <a:prstGeom prst="rect">
            <a:avLst/>
          </a:prstGeom>
          <a:noFill/>
          <a:ln/>
        </p:spPr>
        <p:txBody>
          <a:bodyPr wrap="square" lIns="0" tIns="0" rIns="0" bIns="0" rtlCol="0" anchor="ctr"/>
          <a:lstStyle/>
          <a:p>
            <a:pPr algn="ctr" indent="0" marL="0">
              <a:buNone/>
            </a:pPr>
            <a:r>
              <a:rPr lang="en-US" sz="4200" b="1" dirty="0">
                <a:solidFill>
                  <a:srgbClr val="2A4D88"/>
                </a:solidFill>
                <a:latin typeface="Cambria" pitchFamily="34" charset="0"/>
                <a:ea typeface="Cambria" pitchFamily="34" charset="-122"/>
                <a:cs typeface="Cambria" pitchFamily="34" charset="-120"/>
              </a:rPr>
              <a:t>IMPACT AND BENEFITS</a:t>
            </a:r>
            <a:endParaRPr lang="en-US" sz="4200" dirty="0"/>
          </a:p>
        </p:txBody>
      </p:sp>
      <p:pic>
        <p:nvPicPr>
          <p:cNvPr id="5" name="Image 0" descr="C:\Users\abhim\drishti\docs\deck\assets\sih_logo_wide.png">    </p:cNvPr>
          <p:cNvPicPr>
            <a:picLocks noChangeAspect="1"/>
          </p:cNvPicPr>
          <p:nvPr/>
        </p:nvPicPr>
        <p:blipFill>
          <a:blip r:embed="rId1"/>
          <a:stretch>
            <a:fillRect/>
          </a:stretch>
        </p:blipFill>
        <p:spPr>
          <a:xfrm>
            <a:off x="15392400" y="76200"/>
            <a:ext cx="2705100" cy="1277620"/>
          </a:xfrm>
          <a:prstGeom prst="rect">
            <a:avLst/>
          </a:prstGeom>
        </p:spPr>
      </p:pic>
      <p:sp>
        <p:nvSpPr>
          <p:cNvPr id="6" name="Shape 3"/>
          <p:cNvSpPr/>
          <p:nvPr/>
        </p:nvSpPr>
        <p:spPr>
          <a:xfrm>
            <a:off x="0" y="9756140"/>
            <a:ext cx="18288000" cy="533400"/>
          </a:xfrm>
          <a:prstGeom prst="rect">
            <a:avLst/>
          </a:prstGeom>
          <a:solidFill>
            <a:srgbClr val="2A4D88"/>
          </a:solidFill>
          <a:ln/>
        </p:spPr>
      </p:sp>
      <p:sp>
        <p:nvSpPr>
          <p:cNvPr id="7"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8"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5</a:t>
            </a:r>
            <a:endParaRPr lang="en-US" sz="1650" dirty="0"/>
          </a:p>
        </p:txBody>
      </p:sp>
      <p:sp>
        <p:nvSpPr>
          <p:cNvPr id="9" name="Text 6"/>
          <p:cNvSpPr txBox="1"/>
          <p:nvPr/>
        </p:nvSpPr>
        <p:spPr>
          <a:xfrm>
            <a:off x="617220" y="15748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IMPACT ON TARGET STAKEHOLDERS</a:t>
            </a:r>
            <a:endParaRPr lang="en-US" sz="1720" dirty="0"/>
          </a:p>
        </p:txBody>
      </p:sp>
      <p:sp>
        <p:nvSpPr>
          <p:cNvPr id="10" name="Shape 7"/>
          <p:cNvSpPr/>
          <p:nvPr/>
        </p:nvSpPr>
        <p:spPr>
          <a:xfrm>
            <a:off x="609600" y="2044700"/>
            <a:ext cx="4025900" cy="3378200"/>
          </a:xfrm>
          <a:prstGeom prst="roundRect">
            <a:avLst>
              <a:gd name="adj" fmla="val 4135"/>
            </a:avLst>
          </a:prstGeom>
          <a:solidFill>
            <a:srgbClr val="EDF0F5"/>
          </a:solidFill>
          <a:ln/>
        </p:spPr>
      </p:sp>
      <p:sp>
        <p:nvSpPr>
          <p:cNvPr id="11" name="Shape 8"/>
          <p:cNvSpPr/>
          <p:nvPr/>
        </p:nvSpPr>
        <p:spPr>
          <a:xfrm>
            <a:off x="850900" y="2298700"/>
            <a:ext cx="812800" cy="812800"/>
          </a:xfrm>
          <a:prstGeom prst="ellipse">
            <a:avLst/>
          </a:prstGeom>
          <a:solidFill>
            <a:srgbClr val="2A4D88"/>
          </a:solidFill>
          <a:ln/>
        </p:spPr>
      </p:sp>
      <p:pic>
        <p:nvPicPr>
          <p:cNvPr id="12" name="Image 1" descr="C:\Users\abhim\drishti\docs\deck\assets\icons\landmark_w.png">    </p:cNvPr>
          <p:cNvPicPr>
            <a:picLocks noChangeAspect="1"/>
          </p:cNvPicPr>
          <p:nvPr/>
        </p:nvPicPr>
        <p:blipFill>
          <a:blip r:embed="rId2"/>
          <a:stretch>
            <a:fillRect/>
          </a:stretch>
        </p:blipFill>
        <p:spPr>
          <a:xfrm>
            <a:off x="1054100" y="2501900"/>
            <a:ext cx="406400" cy="406400"/>
          </a:xfrm>
          <a:prstGeom prst="rect">
            <a:avLst/>
          </a:prstGeom>
        </p:spPr>
      </p:pic>
      <p:sp>
        <p:nvSpPr>
          <p:cNvPr id="13" name="Text 9"/>
          <p:cNvSpPr txBox="1"/>
          <p:nvPr/>
        </p:nvSpPr>
        <p:spPr>
          <a:xfrm>
            <a:off x="1828800" y="2298700"/>
            <a:ext cx="2692400" cy="812800"/>
          </a:xfrm>
          <a:prstGeom prst="rect">
            <a:avLst/>
          </a:prstGeom>
          <a:noFill/>
          <a:ln/>
        </p:spPr>
        <p:txBody>
          <a:bodyPr wrap="square" lIns="0" tIns="0" rIns="0" bIns="0" rtlCol="0" anchor="ctr"/>
          <a:lstStyle/>
          <a:p>
            <a:pPr algn="l" indent="0" marL="0">
              <a:buNone/>
            </a:pPr>
            <a:r>
              <a:rPr lang="en-US" sz="1970" b="1" dirty="0">
                <a:solidFill>
                  <a:srgbClr val="2A4D88"/>
                </a:solidFill>
                <a:latin typeface="Calibri" pitchFamily="34" charset="0"/>
                <a:ea typeface="Calibri" pitchFamily="34" charset="-122"/>
                <a:cs typeface="Calibri" pitchFamily="34" charset="-120"/>
              </a:rPr>
              <a:t>Ministry (MoSPI)</a:t>
            </a:r>
            <a:endParaRPr lang="en-US" sz="1970" dirty="0"/>
          </a:p>
        </p:txBody>
      </p:sp>
      <p:sp>
        <p:nvSpPr>
          <p:cNvPr id="14" name="Text 10"/>
          <p:cNvSpPr txBox="1"/>
          <p:nvPr/>
        </p:nvSpPr>
        <p:spPr>
          <a:xfrm>
            <a:off x="990600" y="3327400"/>
            <a:ext cx="3505200" cy="2032000"/>
          </a:xfrm>
          <a:prstGeom prst="rect">
            <a:avLst/>
          </a:prstGeom>
          <a:noFill/>
          <a:ln/>
        </p:spPr>
        <p:txBody>
          <a:bodyPr wrap="square" lIns="0" tIns="0" rIns="0" bIns="0" rtlCol="0" anchor="t"/>
          <a:lstStyle/>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National risk heat-map by state &amp; district</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Spot systemic issues &amp; guideline gaps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Evidence-backed reports for Parliament</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Agent accuracy tracked openly</a:t>
            </a:r>
            <a:endParaRPr lang="en-US" sz="1750" dirty="0"/>
          </a:p>
        </p:txBody>
      </p:sp>
      <p:sp>
        <p:nvSpPr>
          <p:cNvPr id="15" name="Shape 11"/>
          <p:cNvSpPr/>
          <p:nvPr/>
        </p:nvSpPr>
        <p:spPr>
          <a:xfrm>
            <a:off x="4953000" y="2044700"/>
            <a:ext cx="4025900" cy="3378200"/>
          </a:xfrm>
          <a:prstGeom prst="roundRect">
            <a:avLst>
              <a:gd name="adj" fmla="val 4135"/>
            </a:avLst>
          </a:prstGeom>
          <a:solidFill>
            <a:srgbClr val="EDF0F5"/>
          </a:solidFill>
          <a:ln/>
        </p:spPr>
      </p:sp>
      <p:sp>
        <p:nvSpPr>
          <p:cNvPr id="16" name="Shape 12"/>
          <p:cNvSpPr/>
          <p:nvPr/>
        </p:nvSpPr>
        <p:spPr>
          <a:xfrm>
            <a:off x="5194300" y="2298700"/>
            <a:ext cx="812800" cy="812800"/>
          </a:xfrm>
          <a:prstGeom prst="ellipse">
            <a:avLst/>
          </a:prstGeom>
          <a:solidFill>
            <a:srgbClr val="2A4D88"/>
          </a:solidFill>
          <a:ln/>
        </p:spPr>
      </p:sp>
      <p:pic>
        <p:nvPicPr>
          <p:cNvPr id="17" name="Image 2" descr="C:\Users\abhim\drishti\docs\deck\assets\icons\sitemap_w.png">    </p:cNvPr>
          <p:cNvPicPr>
            <a:picLocks noChangeAspect="1"/>
          </p:cNvPicPr>
          <p:nvPr/>
        </p:nvPicPr>
        <p:blipFill>
          <a:blip r:embed="rId3"/>
          <a:stretch>
            <a:fillRect/>
          </a:stretch>
        </p:blipFill>
        <p:spPr>
          <a:xfrm>
            <a:off x="5397500" y="2501900"/>
            <a:ext cx="406400" cy="406400"/>
          </a:xfrm>
          <a:prstGeom prst="rect">
            <a:avLst/>
          </a:prstGeom>
        </p:spPr>
      </p:pic>
      <p:sp>
        <p:nvSpPr>
          <p:cNvPr id="18" name="Text 13"/>
          <p:cNvSpPr txBox="1"/>
          <p:nvPr/>
        </p:nvSpPr>
        <p:spPr>
          <a:xfrm>
            <a:off x="6172200" y="2298700"/>
            <a:ext cx="2692400" cy="812800"/>
          </a:xfrm>
          <a:prstGeom prst="rect">
            <a:avLst/>
          </a:prstGeom>
          <a:noFill/>
          <a:ln/>
        </p:spPr>
        <p:txBody>
          <a:bodyPr wrap="square" lIns="0" tIns="0" rIns="0" bIns="0" rtlCol="0" anchor="ctr"/>
          <a:lstStyle/>
          <a:p>
            <a:pPr algn="l" indent="0" marL="0">
              <a:buNone/>
            </a:pPr>
            <a:r>
              <a:rPr lang="en-US" sz="1970" b="1" dirty="0">
                <a:solidFill>
                  <a:srgbClr val="2A4D88"/>
                </a:solidFill>
                <a:latin typeface="Calibri" pitchFamily="34" charset="0"/>
                <a:ea typeface="Calibri" pitchFamily="34" charset="-122"/>
                <a:cs typeface="Calibri" pitchFamily="34" charset="-120"/>
              </a:rPr>
              <a:t>State Nodal Authorities</a:t>
            </a:r>
            <a:endParaRPr lang="en-US" sz="1970" dirty="0"/>
          </a:p>
        </p:txBody>
      </p:sp>
      <p:sp>
        <p:nvSpPr>
          <p:cNvPr id="19" name="Text 14"/>
          <p:cNvSpPr txBox="1"/>
          <p:nvPr/>
        </p:nvSpPr>
        <p:spPr>
          <a:xfrm>
            <a:off x="5334000" y="3327400"/>
            <a:ext cx="3505200" cy="2032000"/>
          </a:xfrm>
          <a:prstGeom prst="rect">
            <a:avLst/>
          </a:prstGeom>
          <a:noFill/>
          <a:ln/>
        </p:spPr>
        <p:txBody>
          <a:bodyPr wrap="square" lIns="0" tIns="0" rIns="0" bIns="0" rtlCol="0" anchor="t"/>
          <a:lstStyle/>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District &amp; agency league tables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Escalate stalled or high-risk works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Track follow-up on every alert</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Spot contractor concentration</a:t>
            </a:r>
            <a:endParaRPr lang="en-US" sz="1750" dirty="0"/>
          </a:p>
        </p:txBody>
      </p:sp>
      <p:sp>
        <p:nvSpPr>
          <p:cNvPr id="20" name="Shape 15"/>
          <p:cNvSpPr/>
          <p:nvPr/>
        </p:nvSpPr>
        <p:spPr>
          <a:xfrm>
            <a:off x="9309100" y="2044700"/>
            <a:ext cx="4025900" cy="3378200"/>
          </a:xfrm>
          <a:prstGeom prst="roundRect">
            <a:avLst>
              <a:gd name="adj" fmla="val 4135"/>
            </a:avLst>
          </a:prstGeom>
          <a:solidFill>
            <a:srgbClr val="EDF0F5"/>
          </a:solidFill>
          <a:ln/>
        </p:spPr>
      </p:sp>
      <p:sp>
        <p:nvSpPr>
          <p:cNvPr id="21" name="Shape 16"/>
          <p:cNvSpPr/>
          <p:nvPr/>
        </p:nvSpPr>
        <p:spPr>
          <a:xfrm>
            <a:off x="9550400" y="2298700"/>
            <a:ext cx="812800" cy="812800"/>
          </a:xfrm>
          <a:prstGeom prst="ellipse">
            <a:avLst/>
          </a:prstGeom>
          <a:solidFill>
            <a:srgbClr val="2A4D88"/>
          </a:solidFill>
          <a:ln/>
        </p:spPr>
      </p:sp>
      <p:pic>
        <p:nvPicPr>
          <p:cNvPr id="22" name="Image 3" descr="C:\Users\abhim\drishti\docs\deck\assets\icons\map-location-dot_w.png">    </p:cNvPr>
          <p:cNvPicPr>
            <a:picLocks noChangeAspect="1"/>
          </p:cNvPicPr>
          <p:nvPr/>
        </p:nvPicPr>
        <p:blipFill>
          <a:blip r:embed="rId4"/>
          <a:stretch>
            <a:fillRect/>
          </a:stretch>
        </p:blipFill>
        <p:spPr>
          <a:xfrm>
            <a:off x="9753600" y="2501900"/>
            <a:ext cx="406400" cy="406400"/>
          </a:xfrm>
          <a:prstGeom prst="rect">
            <a:avLst/>
          </a:prstGeom>
        </p:spPr>
      </p:pic>
      <p:sp>
        <p:nvSpPr>
          <p:cNvPr id="23" name="Text 17"/>
          <p:cNvSpPr txBox="1"/>
          <p:nvPr/>
        </p:nvSpPr>
        <p:spPr>
          <a:xfrm>
            <a:off x="10528300" y="2298700"/>
            <a:ext cx="2692400" cy="812800"/>
          </a:xfrm>
          <a:prstGeom prst="rect">
            <a:avLst/>
          </a:prstGeom>
          <a:noFill/>
          <a:ln/>
        </p:spPr>
        <p:txBody>
          <a:bodyPr wrap="square" lIns="0" tIns="0" rIns="0" bIns="0" rtlCol="0" anchor="ctr"/>
          <a:lstStyle/>
          <a:p>
            <a:pPr algn="l" indent="0" marL="0">
              <a:buNone/>
            </a:pPr>
            <a:r>
              <a:rPr lang="en-US" sz="1970" b="1" dirty="0">
                <a:solidFill>
                  <a:srgbClr val="2A4D88"/>
                </a:solidFill>
                <a:latin typeface="Calibri" pitchFamily="34" charset="0"/>
                <a:ea typeface="Calibri" pitchFamily="34" charset="-122"/>
                <a:cs typeface="Calibri" pitchFamily="34" charset="-120"/>
              </a:rPr>
              <a:t>District Authorities</a:t>
            </a:r>
            <a:endParaRPr lang="en-US" sz="1970" dirty="0"/>
          </a:p>
        </p:txBody>
      </p:sp>
      <p:sp>
        <p:nvSpPr>
          <p:cNvPr id="24" name="Text 18"/>
          <p:cNvSpPr txBox="1"/>
          <p:nvPr/>
        </p:nvSpPr>
        <p:spPr>
          <a:xfrm>
            <a:off x="9690100" y="3327400"/>
            <a:ext cx="3505200" cy="2032000"/>
          </a:xfrm>
          <a:prstGeom prst="rect">
            <a:avLst/>
          </a:prstGeom>
          <a:noFill/>
          <a:ln/>
        </p:spPr>
        <p:txBody>
          <a:bodyPr wrap="square" lIns="0" tIns="0" rIns="0" bIns="0" rtlCol="0" anchor="t"/>
          <a:lstStyle/>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Daily ranked alert queue with evidence</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Inspection plan with optimised route</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Pre-sanction check in the 45-day window</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One-click PDF evidence brief</a:t>
            </a:r>
            <a:endParaRPr lang="en-US" sz="1750" dirty="0"/>
          </a:p>
        </p:txBody>
      </p:sp>
      <p:sp>
        <p:nvSpPr>
          <p:cNvPr id="25" name="Shape 19"/>
          <p:cNvSpPr/>
          <p:nvPr/>
        </p:nvSpPr>
        <p:spPr>
          <a:xfrm>
            <a:off x="13652500" y="2044700"/>
            <a:ext cx="4025900" cy="3378200"/>
          </a:xfrm>
          <a:prstGeom prst="roundRect">
            <a:avLst>
              <a:gd name="adj" fmla="val 4135"/>
            </a:avLst>
          </a:prstGeom>
          <a:solidFill>
            <a:srgbClr val="EDF0F5"/>
          </a:solidFill>
          <a:ln/>
        </p:spPr>
      </p:sp>
      <p:sp>
        <p:nvSpPr>
          <p:cNvPr id="26" name="Shape 20"/>
          <p:cNvSpPr/>
          <p:nvPr/>
        </p:nvSpPr>
        <p:spPr>
          <a:xfrm>
            <a:off x="13893800" y="2298700"/>
            <a:ext cx="812800" cy="812800"/>
          </a:xfrm>
          <a:prstGeom prst="ellipse">
            <a:avLst/>
          </a:prstGeom>
          <a:solidFill>
            <a:srgbClr val="2A4D88"/>
          </a:solidFill>
          <a:ln/>
        </p:spPr>
      </p:sp>
      <p:pic>
        <p:nvPicPr>
          <p:cNvPr id="27" name="Image 4" descr="C:\Users\abhim\drishti\docs\deck\assets\icons\user-tie_w.png">    </p:cNvPr>
          <p:cNvPicPr>
            <a:picLocks noChangeAspect="1"/>
          </p:cNvPicPr>
          <p:nvPr/>
        </p:nvPicPr>
        <p:blipFill>
          <a:blip r:embed="rId5"/>
          <a:stretch>
            <a:fillRect/>
          </a:stretch>
        </p:blipFill>
        <p:spPr>
          <a:xfrm>
            <a:off x="14097000" y="2501900"/>
            <a:ext cx="406400" cy="406400"/>
          </a:xfrm>
          <a:prstGeom prst="rect">
            <a:avLst/>
          </a:prstGeom>
        </p:spPr>
      </p:pic>
      <p:sp>
        <p:nvSpPr>
          <p:cNvPr id="28" name="Text 21"/>
          <p:cNvSpPr txBox="1"/>
          <p:nvPr/>
        </p:nvSpPr>
        <p:spPr>
          <a:xfrm>
            <a:off x="14871700" y="2298700"/>
            <a:ext cx="2692400" cy="812800"/>
          </a:xfrm>
          <a:prstGeom prst="rect">
            <a:avLst/>
          </a:prstGeom>
          <a:noFill/>
          <a:ln/>
        </p:spPr>
        <p:txBody>
          <a:bodyPr wrap="square" lIns="0" tIns="0" rIns="0" bIns="0" rtlCol="0" anchor="ctr"/>
          <a:lstStyle/>
          <a:p>
            <a:pPr algn="l" indent="0" marL="0">
              <a:buNone/>
            </a:pPr>
            <a:r>
              <a:rPr lang="en-US" sz="1970" b="1" dirty="0">
                <a:solidFill>
                  <a:srgbClr val="2A4D88"/>
                </a:solidFill>
                <a:latin typeface="Calibri" pitchFamily="34" charset="0"/>
                <a:ea typeface="Calibri" pitchFamily="34" charset="-122"/>
                <a:cs typeface="Calibri" pitchFamily="34" charset="-120"/>
              </a:rPr>
              <a:t>Members of Parliament</a:t>
            </a:r>
            <a:endParaRPr lang="en-US" sz="1970" dirty="0"/>
          </a:p>
        </p:txBody>
      </p:sp>
      <p:sp>
        <p:nvSpPr>
          <p:cNvPr id="29" name="Text 22"/>
          <p:cNvSpPr txBox="1"/>
          <p:nvPr/>
        </p:nvSpPr>
        <p:spPr>
          <a:xfrm>
            <a:off x="14033500" y="3327400"/>
            <a:ext cx="3505200" cy="2032000"/>
          </a:xfrm>
          <a:prstGeom prst="rect">
            <a:avLst/>
          </a:prstGeom>
          <a:noFill/>
          <a:ln/>
        </p:spPr>
        <p:txBody>
          <a:bodyPr wrap="square" lIns="0" tIns="0" rIns="0" bIns="0" rtlCol="0" anchor="t"/>
          <a:lstStyle/>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Live status of recommended works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Early warning on delays &amp; idle funds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Citizens confirm completed assets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Transparent record builds public trust</a:t>
            </a:r>
            <a:endParaRPr lang="en-US" sz="1750" dirty="0"/>
          </a:p>
        </p:txBody>
      </p:sp>
      <p:sp>
        <p:nvSpPr>
          <p:cNvPr id="30" name="Text 23"/>
          <p:cNvSpPr txBox="1"/>
          <p:nvPr/>
        </p:nvSpPr>
        <p:spPr>
          <a:xfrm>
            <a:off x="617220" y="58039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BENEFITS</a:t>
            </a:r>
            <a:endParaRPr lang="en-US" sz="1720" dirty="0"/>
          </a:p>
        </p:txBody>
      </p:sp>
      <p:sp>
        <p:nvSpPr>
          <p:cNvPr id="31" name="Shape 24"/>
          <p:cNvSpPr/>
          <p:nvPr/>
        </p:nvSpPr>
        <p:spPr>
          <a:xfrm>
            <a:off x="609600" y="6464300"/>
            <a:ext cx="3492500" cy="3035300"/>
          </a:xfrm>
          <a:prstGeom prst="roundRect">
            <a:avLst>
              <a:gd name="adj" fmla="val 4603"/>
            </a:avLst>
          </a:prstGeom>
          <a:solidFill>
            <a:srgbClr val="FFFFFF"/>
          </a:solidFill>
          <a:ln w="19050">
            <a:solidFill>
              <a:srgbClr val="B1BBC8"/>
            </a:solidFill>
            <a:prstDash val="solid"/>
          </a:ln>
        </p:spPr>
      </p:sp>
      <p:sp>
        <p:nvSpPr>
          <p:cNvPr id="32" name="Shape 25"/>
          <p:cNvSpPr/>
          <p:nvPr/>
        </p:nvSpPr>
        <p:spPr>
          <a:xfrm>
            <a:off x="850900" y="6184900"/>
            <a:ext cx="3009900" cy="571500"/>
          </a:xfrm>
          <a:prstGeom prst="roundRect">
            <a:avLst>
              <a:gd name="adj" fmla="val 50000"/>
            </a:avLst>
          </a:prstGeom>
          <a:solidFill>
            <a:srgbClr val="2A4D88"/>
          </a:solidFill>
          <a:ln/>
        </p:spPr>
      </p:sp>
      <p:pic>
        <p:nvPicPr>
          <p:cNvPr id="33" name="Image 5" descr="C:\Users\abhim\drishti\docs\deck\assets\icons\handshake_w.png">    </p:cNvPr>
          <p:cNvPicPr>
            <a:picLocks noChangeAspect="1"/>
          </p:cNvPicPr>
          <p:nvPr/>
        </p:nvPicPr>
        <p:blipFill>
          <a:blip r:embed="rId6"/>
          <a:stretch>
            <a:fillRect/>
          </a:stretch>
        </p:blipFill>
        <p:spPr>
          <a:xfrm>
            <a:off x="1028700" y="6299200"/>
            <a:ext cx="317500" cy="317500"/>
          </a:xfrm>
          <a:prstGeom prst="rect">
            <a:avLst/>
          </a:prstGeom>
        </p:spPr>
      </p:pic>
      <p:sp>
        <p:nvSpPr>
          <p:cNvPr id="34" name="Text 26"/>
          <p:cNvSpPr txBox="1"/>
          <p:nvPr/>
        </p:nvSpPr>
        <p:spPr>
          <a:xfrm>
            <a:off x="1498600" y="6184900"/>
            <a:ext cx="2286000" cy="571500"/>
          </a:xfrm>
          <a:prstGeom prst="rect">
            <a:avLst/>
          </a:prstGeom>
          <a:noFill/>
          <a:ln/>
        </p:spPr>
        <p:txBody>
          <a:bodyPr wrap="square" lIns="0" tIns="0" rIns="0" bIns="0" rtlCol="0" anchor="ctr"/>
          <a:lstStyle/>
          <a:p>
            <a:pPr algn="l" indent="0" marL="0">
              <a:buNone/>
            </a:pPr>
            <a:r>
              <a:rPr lang="en-US" sz="1670" b="1" dirty="0">
                <a:solidFill>
                  <a:srgbClr val="FFFFFF"/>
                </a:solidFill>
                <a:latin typeface="Calibri" pitchFamily="34" charset="0"/>
                <a:ea typeface="Calibri" pitchFamily="34" charset="-122"/>
                <a:cs typeface="Calibri" pitchFamily="34" charset="-120"/>
              </a:rPr>
              <a:t>SOCIAL</a:t>
            </a:r>
            <a:endParaRPr lang="en-US" sz="1670" dirty="0"/>
          </a:p>
        </p:txBody>
      </p:sp>
      <p:sp>
        <p:nvSpPr>
          <p:cNvPr id="35" name="Text 27"/>
          <p:cNvSpPr txBox="1"/>
          <p:nvPr/>
        </p:nvSpPr>
        <p:spPr>
          <a:xfrm>
            <a:off x="990600" y="6921500"/>
            <a:ext cx="2997200" cy="2489200"/>
          </a:xfrm>
          <a:prstGeom prst="rect">
            <a:avLst/>
          </a:prstGeom>
          <a:noFill/>
          <a:ln/>
        </p:spPr>
        <p:txBody>
          <a:bodyPr wrap="square" lIns="0" tIns="0" rIns="0" bIns="0" rtlCol="0" anchor="t"/>
          <a:lstStyle/>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Faster delivery of community assets</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Public trust through transparency</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Citizens get assets that truly exist</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Fairer spread of works across areas</a:t>
            </a:r>
            <a:endParaRPr lang="en-US" sz="1700" dirty="0"/>
          </a:p>
        </p:txBody>
      </p:sp>
      <p:sp>
        <p:nvSpPr>
          <p:cNvPr id="36" name="Shape 28"/>
          <p:cNvSpPr/>
          <p:nvPr/>
        </p:nvSpPr>
        <p:spPr>
          <a:xfrm>
            <a:off x="4419600" y="6464300"/>
            <a:ext cx="3492500" cy="3035300"/>
          </a:xfrm>
          <a:prstGeom prst="roundRect">
            <a:avLst>
              <a:gd name="adj" fmla="val 4603"/>
            </a:avLst>
          </a:prstGeom>
          <a:solidFill>
            <a:srgbClr val="FFFFFF"/>
          </a:solidFill>
          <a:ln w="19050">
            <a:solidFill>
              <a:srgbClr val="B1BBC8"/>
            </a:solidFill>
            <a:prstDash val="solid"/>
          </a:ln>
        </p:spPr>
      </p:sp>
      <p:sp>
        <p:nvSpPr>
          <p:cNvPr id="37" name="Shape 29"/>
          <p:cNvSpPr/>
          <p:nvPr/>
        </p:nvSpPr>
        <p:spPr>
          <a:xfrm>
            <a:off x="4660900" y="6184900"/>
            <a:ext cx="3009900" cy="571500"/>
          </a:xfrm>
          <a:prstGeom prst="roundRect">
            <a:avLst>
              <a:gd name="adj" fmla="val 50000"/>
            </a:avLst>
          </a:prstGeom>
          <a:solidFill>
            <a:srgbClr val="2A4D88"/>
          </a:solidFill>
          <a:ln/>
        </p:spPr>
      </p:sp>
      <p:pic>
        <p:nvPicPr>
          <p:cNvPr id="38" name="Image 6" descr="C:\Users\abhim\drishti\docs\deck\assets\icons\coins_w.png">    </p:cNvPr>
          <p:cNvPicPr>
            <a:picLocks noChangeAspect="1"/>
          </p:cNvPicPr>
          <p:nvPr/>
        </p:nvPicPr>
        <p:blipFill>
          <a:blip r:embed="rId7"/>
          <a:stretch>
            <a:fillRect/>
          </a:stretch>
        </p:blipFill>
        <p:spPr>
          <a:xfrm>
            <a:off x="4838700" y="6299200"/>
            <a:ext cx="317500" cy="317500"/>
          </a:xfrm>
          <a:prstGeom prst="rect">
            <a:avLst/>
          </a:prstGeom>
        </p:spPr>
      </p:pic>
      <p:sp>
        <p:nvSpPr>
          <p:cNvPr id="39" name="Text 30"/>
          <p:cNvSpPr txBox="1"/>
          <p:nvPr/>
        </p:nvSpPr>
        <p:spPr>
          <a:xfrm>
            <a:off x="5308600" y="6184900"/>
            <a:ext cx="2286000" cy="571500"/>
          </a:xfrm>
          <a:prstGeom prst="rect">
            <a:avLst/>
          </a:prstGeom>
          <a:noFill/>
          <a:ln/>
        </p:spPr>
        <p:txBody>
          <a:bodyPr wrap="square" lIns="0" tIns="0" rIns="0" bIns="0" rtlCol="0" anchor="ctr"/>
          <a:lstStyle/>
          <a:p>
            <a:pPr algn="l" indent="0" marL="0">
              <a:buNone/>
            </a:pPr>
            <a:r>
              <a:rPr lang="en-US" sz="1670" b="1" dirty="0">
                <a:solidFill>
                  <a:srgbClr val="FFFFFF"/>
                </a:solidFill>
                <a:latin typeface="Calibri" pitchFamily="34" charset="0"/>
                <a:ea typeface="Calibri" pitchFamily="34" charset="-122"/>
                <a:cs typeface="Calibri" pitchFamily="34" charset="-120"/>
              </a:rPr>
              <a:t>ECONOMIC</a:t>
            </a:r>
            <a:endParaRPr lang="en-US" sz="1670" dirty="0"/>
          </a:p>
        </p:txBody>
      </p:sp>
      <p:sp>
        <p:nvSpPr>
          <p:cNvPr id="40" name="Text 31"/>
          <p:cNvSpPr txBox="1"/>
          <p:nvPr/>
        </p:nvSpPr>
        <p:spPr>
          <a:xfrm>
            <a:off x="4800600" y="6921500"/>
            <a:ext cx="2997200" cy="2489200"/>
          </a:xfrm>
          <a:prstGeom prst="rect">
            <a:avLst/>
          </a:prstGeom>
          <a:noFill/>
          <a:ln/>
        </p:spPr>
        <p:txBody>
          <a:bodyPr wrap="square" lIns="0" tIns="0" rIns="0" bIns="0" rtlCol="0" anchor="t"/>
          <a:lstStyle/>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Flag risks before funds move</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Targeted visits save officer time</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Catch reused photos &amp; padded bills</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Fewer cost overruns and rework</a:t>
            </a:r>
            <a:endParaRPr lang="en-US" sz="1700" dirty="0"/>
          </a:p>
        </p:txBody>
      </p:sp>
      <p:sp>
        <p:nvSpPr>
          <p:cNvPr id="41" name="Shape 32"/>
          <p:cNvSpPr/>
          <p:nvPr/>
        </p:nvSpPr>
        <p:spPr>
          <a:xfrm>
            <a:off x="8242300" y="6464300"/>
            <a:ext cx="3492500" cy="3035300"/>
          </a:xfrm>
          <a:prstGeom prst="roundRect">
            <a:avLst>
              <a:gd name="adj" fmla="val 4603"/>
            </a:avLst>
          </a:prstGeom>
          <a:solidFill>
            <a:srgbClr val="FFFFFF"/>
          </a:solidFill>
          <a:ln w="19050">
            <a:solidFill>
              <a:srgbClr val="B1BBC8"/>
            </a:solidFill>
            <a:prstDash val="solid"/>
          </a:ln>
        </p:spPr>
      </p:sp>
      <p:sp>
        <p:nvSpPr>
          <p:cNvPr id="42" name="Shape 33"/>
          <p:cNvSpPr/>
          <p:nvPr/>
        </p:nvSpPr>
        <p:spPr>
          <a:xfrm>
            <a:off x="8483600" y="6184900"/>
            <a:ext cx="3009900" cy="571500"/>
          </a:xfrm>
          <a:prstGeom prst="roundRect">
            <a:avLst>
              <a:gd name="adj" fmla="val 50000"/>
            </a:avLst>
          </a:prstGeom>
          <a:solidFill>
            <a:srgbClr val="2A4D88"/>
          </a:solidFill>
          <a:ln/>
        </p:spPr>
      </p:sp>
      <p:pic>
        <p:nvPicPr>
          <p:cNvPr id="43" name="Image 7" descr="C:\Users\abhim\drishti\docs\deck\assets\icons\leaf_w.png">    </p:cNvPr>
          <p:cNvPicPr>
            <a:picLocks noChangeAspect="1"/>
          </p:cNvPicPr>
          <p:nvPr/>
        </p:nvPicPr>
        <p:blipFill>
          <a:blip r:embed="rId8"/>
          <a:stretch>
            <a:fillRect/>
          </a:stretch>
        </p:blipFill>
        <p:spPr>
          <a:xfrm>
            <a:off x="8661400" y="6299200"/>
            <a:ext cx="317500" cy="317500"/>
          </a:xfrm>
          <a:prstGeom prst="rect">
            <a:avLst/>
          </a:prstGeom>
        </p:spPr>
      </p:pic>
      <p:sp>
        <p:nvSpPr>
          <p:cNvPr id="44" name="Text 34"/>
          <p:cNvSpPr txBox="1"/>
          <p:nvPr/>
        </p:nvSpPr>
        <p:spPr>
          <a:xfrm>
            <a:off x="9131300" y="6184900"/>
            <a:ext cx="2286000" cy="571500"/>
          </a:xfrm>
          <a:prstGeom prst="rect">
            <a:avLst/>
          </a:prstGeom>
          <a:noFill/>
          <a:ln/>
        </p:spPr>
        <p:txBody>
          <a:bodyPr wrap="square" lIns="0" tIns="0" rIns="0" bIns="0" rtlCol="0" anchor="ctr"/>
          <a:lstStyle/>
          <a:p>
            <a:pPr algn="l" indent="0" marL="0">
              <a:buNone/>
            </a:pPr>
            <a:r>
              <a:rPr lang="en-US" sz="1670" b="1" dirty="0">
                <a:solidFill>
                  <a:srgbClr val="FFFFFF"/>
                </a:solidFill>
                <a:latin typeface="Calibri" pitchFamily="34" charset="0"/>
                <a:ea typeface="Calibri" pitchFamily="34" charset="-122"/>
                <a:cs typeface="Calibri" pitchFamily="34" charset="-120"/>
              </a:rPr>
              <a:t>ENVIRONMENTAL</a:t>
            </a:r>
            <a:endParaRPr lang="en-US" sz="1670" dirty="0"/>
          </a:p>
        </p:txBody>
      </p:sp>
      <p:sp>
        <p:nvSpPr>
          <p:cNvPr id="45" name="Text 35"/>
          <p:cNvSpPr txBox="1"/>
          <p:nvPr/>
        </p:nvSpPr>
        <p:spPr>
          <a:xfrm>
            <a:off x="8623300" y="6921500"/>
            <a:ext cx="2997200" cy="2489200"/>
          </a:xfrm>
          <a:prstGeom prst="rect">
            <a:avLst/>
          </a:prstGeom>
          <a:noFill/>
          <a:ln/>
        </p:spPr>
        <p:txBody>
          <a:bodyPr wrap="square" lIns="0" tIns="0" rIns="0" bIns="0" rtlCol="0" anchor="t"/>
          <a:lstStyle/>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Paperless, digital monitoring</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Fewer wasted site trips and fuel</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Durable assets built right first time</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Assets tracked through their life cycle</a:t>
            </a:r>
            <a:endParaRPr lang="en-US" sz="1700" dirty="0"/>
          </a:p>
        </p:txBody>
      </p:sp>
      <p:sp>
        <p:nvSpPr>
          <p:cNvPr id="46" name="Text 36"/>
          <p:cNvSpPr txBox="1"/>
          <p:nvPr/>
        </p:nvSpPr>
        <p:spPr>
          <a:xfrm>
            <a:off x="12204700" y="5803900"/>
            <a:ext cx="5461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EXPECTED OUTCOMES</a:t>
            </a:r>
            <a:endParaRPr lang="en-US" sz="1720" dirty="0"/>
          </a:p>
        </p:txBody>
      </p:sp>
      <p:sp>
        <p:nvSpPr>
          <p:cNvPr id="47" name="Shape 37"/>
          <p:cNvSpPr/>
          <p:nvPr/>
        </p:nvSpPr>
        <p:spPr>
          <a:xfrm>
            <a:off x="12192000" y="6184900"/>
            <a:ext cx="5486400" cy="952500"/>
          </a:xfrm>
          <a:prstGeom prst="roundRect">
            <a:avLst>
              <a:gd name="adj" fmla="val 12000"/>
            </a:avLst>
          </a:prstGeom>
          <a:solidFill>
            <a:srgbClr val="2A4D88"/>
          </a:solidFill>
          <a:ln/>
        </p:spPr>
      </p:sp>
      <p:sp>
        <p:nvSpPr>
          <p:cNvPr id="48" name="Text 38"/>
          <p:cNvSpPr txBox="1"/>
          <p:nvPr/>
        </p:nvSpPr>
        <p:spPr>
          <a:xfrm>
            <a:off x="12407900" y="6184900"/>
            <a:ext cx="1524000" cy="95250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ea typeface="Cambria" pitchFamily="34" charset="-122"/>
                <a:cs typeface="Cambria" pitchFamily="34" charset="-120"/>
              </a:rPr>
              <a:t>100%</a:t>
            </a:r>
            <a:endParaRPr lang="en-US" sz="3150" dirty="0"/>
          </a:p>
        </p:txBody>
      </p:sp>
      <p:sp>
        <p:nvSpPr>
          <p:cNvPr id="49" name="Text 39"/>
          <p:cNvSpPr txBox="1"/>
          <p:nvPr/>
        </p:nvSpPr>
        <p:spPr>
          <a:xfrm>
            <a:off x="14173200" y="6261100"/>
            <a:ext cx="3378200" cy="800100"/>
          </a:xfrm>
          <a:prstGeom prst="rect">
            <a:avLst/>
          </a:prstGeom>
          <a:noFill/>
          <a:ln/>
        </p:spPr>
        <p:txBody>
          <a:bodyPr wrap="square" lIns="0" tIns="0" rIns="0" bIns="0" rtlCol="0" anchor="ctr"/>
          <a:lstStyle/>
          <a:p>
            <a:pPr algn="l" indent="0" marL="0">
              <a:buNone/>
            </a:pPr>
            <a:r>
              <a:rPr lang="en-US" sz="1650" dirty="0">
                <a:solidFill>
                  <a:srgbClr val="D9D9D8"/>
                </a:solidFill>
                <a:latin typeface="Calibri" pitchFamily="34" charset="0"/>
                <a:ea typeface="Calibri" pitchFamily="34" charset="-122"/>
                <a:cs typeface="Calibri" pitchFamily="34" charset="-120"/>
              </a:rPr>
              <a:t>of works screened daily; 2,09,993 real works already done</a:t>
            </a:r>
            <a:endParaRPr lang="en-US" sz="1650" dirty="0"/>
          </a:p>
        </p:txBody>
      </p:sp>
      <p:sp>
        <p:nvSpPr>
          <p:cNvPr id="50" name="Shape 40"/>
          <p:cNvSpPr/>
          <p:nvPr/>
        </p:nvSpPr>
        <p:spPr>
          <a:xfrm>
            <a:off x="12192000" y="7366000"/>
            <a:ext cx="5486400" cy="952500"/>
          </a:xfrm>
          <a:prstGeom prst="roundRect">
            <a:avLst>
              <a:gd name="adj" fmla="val 12000"/>
            </a:avLst>
          </a:prstGeom>
          <a:solidFill>
            <a:srgbClr val="EDF0F5"/>
          </a:solidFill>
          <a:ln/>
        </p:spPr>
      </p:sp>
      <p:sp>
        <p:nvSpPr>
          <p:cNvPr id="51" name="Text 41"/>
          <p:cNvSpPr txBox="1"/>
          <p:nvPr/>
        </p:nvSpPr>
        <p:spPr>
          <a:xfrm>
            <a:off x="12407900" y="7366000"/>
            <a:ext cx="1524000" cy="952500"/>
          </a:xfrm>
          <a:prstGeom prst="rect">
            <a:avLst/>
          </a:prstGeom>
          <a:noFill/>
          <a:ln/>
        </p:spPr>
        <p:txBody>
          <a:bodyPr wrap="square" lIns="0" tIns="0" rIns="0" bIns="0" rtlCol="0" anchor="ctr"/>
          <a:lstStyle/>
          <a:p>
            <a:pPr algn="l" indent="0" marL="0">
              <a:buNone/>
            </a:pPr>
            <a:r>
              <a:rPr lang="en-US" sz="3150" b="1" dirty="0">
                <a:solidFill>
                  <a:srgbClr val="2A4D88"/>
                </a:solidFill>
                <a:latin typeface="Cambria" pitchFamily="34" charset="0"/>
                <a:ea typeface="Cambria" pitchFamily="34" charset="-122"/>
                <a:cs typeface="Cambria" pitchFamily="34" charset="-120"/>
              </a:rPr>
              <a:t>0.13%</a:t>
            </a:r>
            <a:endParaRPr lang="en-US" sz="3150" dirty="0"/>
          </a:p>
        </p:txBody>
      </p:sp>
      <p:sp>
        <p:nvSpPr>
          <p:cNvPr id="52" name="Shape 42"/>
          <p:cNvSpPr/>
          <p:nvPr/>
        </p:nvSpPr>
        <p:spPr>
          <a:xfrm>
            <a:off x="13970000" y="7505700"/>
            <a:ext cx="0" cy="673100"/>
          </a:xfrm>
          <a:prstGeom prst="line">
            <a:avLst/>
          </a:prstGeom>
          <a:noFill/>
          <a:ln w="19050">
            <a:solidFill>
              <a:srgbClr val="C2CCDA"/>
            </a:solidFill>
            <a:prstDash val="solid"/>
          </a:ln>
        </p:spPr>
      </p:sp>
      <p:sp>
        <p:nvSpPr>
          <p:cNvPr id="53" name="Text 43"/>
          <p:cNvSpPr txBox="1"/>
          <p:nvPr/>
        </p:nvSpPr>
        <p:spPr>
          <a:xfrm>
            <a:off x="14173200" y="7442200"/>
            <a:ext cx="3378200" cy="800100"/>
          </a:xfrm>
          <a:prstGeom prst="rect">
            <a:avLst/>
          </a:prstGeom>
          <a:noFill/>
          <a:ln/>
        </p:spPr>
        <p:txBody>
          <a:bodyPr wrap="square" lIns="0" tIns="0" rIns="0" bIns="0" rtlCol="0" anchor="ctr"/>
          <a:lstStyle/>
          <a:p>
            <a:pPr algn="l" indent="0" marL="0">
              <a:buNone/>
            </a:pPr>
            <a:r>
              <a:rPr lang="en-US" sz="1650" dirty="0">
                <a:solidFill>
                  <a:srgbClr val="1A2F57"/>
                </a:solidFill>
                <a:latin typeface="Calibri" pitchFamily="34" charset="0"/>
                <a:ea typeface="Calibri" pitchFamily="34" charset="-122"/>
                <a:cs typeface="Calibri" pitchFamily="34" charset="-120"/>
              </a:rPr>
              <a:t>flagged for review: a queue District Authorities can clear</a:t>
            </a:r>
            <a:endParaRPr lang="en-US" sz="1650" dirty="0"/>
          </a:p>
        </p:txBody>
      </p:sp>
      <p:sp>
        <p:nvSpPr>
          <p:cNvPr id="54" name="Shape 44"/>
          <p:cNvSpPr/>
          <p:nvPr/>
        </p:nvSpPr>
        <p:spPr>
          <a:xfrm>
            <a:off x="12192000" y="8547100"/>
            <a:ext cx="5486400" cy="952500"/>
          </a:xfrm>
          <a:prstGeom prst="roundRect">
            <a:avLst>
              <a:gd name="adj" fmla="val 12000"/>
            </a:avLst>
          </a:prstGeom>
          <a:solidFill>
            <a:srgbClr val="EDF0F5"/>
          </a:solidFill>
          <a:ln/>
        </p:spPr>
      </p:sp>
      <p:sp>
        <p:nvSpPr>
          <p:cNvPr id="55" name="Text 45"/>
          <p:cNvSpPr txBox="1"/>
          <p:nvPr/>
        </p:nvSpPr>
        <p:spPr>
          <a:xfrm>
            <a:off x="12407900" y="8547100"/>
            <a:ext cx="1524000" cy="952500"/>
          </a:xfrm>
          <a:prstGeom prst="rect">
            <a:avLst/>
          </a:prstGeom>
          <a:noFill/>
          <a:ln/>
        </p:spPr>
        <p:txBody>
          <a:bodyPr wrap="square" lIns="0" tIns="0" rIns="0" bIns="0" rtlCol="0" anchor="ctr"/>
          <a:lstStyle/>
          <a:p>
            <a:pPr algn="l" indent="0" marL="0">
              <a:buNone/>
            </a:pPr>
            <a:r>
              <a:rPr lang="en-US" sz="3150" b="1" dirty="0">
                <a:solidFill>
                  <a:srgbClr val="2A4D88"/>
                </a:solidFill>
                <a:latin typeface="Cambria" pitchFamily="34" charset="0"/>
                <a:ea typeface="Cambria" pitchFamily="34" charset="-122"/>
                <a:cs typeface="Cambria" pitchFamily="34" charset="-120"/>
              </a:rPr>
              <a:t>2 in 3</a:t>
            </a:r>
            <a:endParaRPr lang="en-US" sz="3150" dirty="0"/>
          </a:p>
        </p:txBody>
      </p:sp>
      <p:sp>
        <p:nvSpPr>
          <p:cNvPr id="56" name="Shape 46"/>
          <p:cNvSpPr/>
          <p:nvPr/>
        </p:nvSpPr>
        <p:spPr>
          <a:xfrm>
            <a:off x="13970000" y="8686800"/>
            <a:ext cx="0" cy="673100"/>
          </a:xfrm>
          <a:prstGeom prst="line">
            <a:avLst/>
          </a:prstGeom>
          <a:noFill/>
          <a:ln w="19050">
            <a:solidFill>
              <a:srgbClr val="C2CCDA"/>
            </a:solidFill>
            <a:prstDash val="solid"/>
          </a:ln>
        </p:spPr>
      </p:sp>
      <p:sp>
        <p:nvSpPr>
          <p:cNvPr id="57" name="Text 47"/>
          <p:cNvSpPr txBox="1"/>
          <p:nvPr/>
        </p:nvSpPr>
        <p:spPr>
          <a:xfrm>
            <a:off x="14173200" y="8623300"/>
            <a:ext cx="3378200" cy="800100"/>
          </a:xfrm>
          <a:prstGeom prst="rect">
            <a:avLst/>
          </a:prstGeom>
          <a:noFill/>
          <a:ln/>
        </p:spPr>
        <p:txBody>
          <a:bodyPr wrap="square" lIns="0" tIns="0" rIns="0" bIns="0" rtlCol="0" anchor="ctr"/>
          <a:lstStyle/>
          <a:p>
            <a:pPr algn="l" indent="0" marL="0">
              <a:buNone/>
            </a:pPr>
            <a:r>
              <a:rPr lang="en-US" sz="1650" dirty="0">
                <a:solidFill>
                  <a:srgbClr val="1A2F57"/>
                </a:solidFill>
                <a:latin typeface="Calibri" pitchFamily="34" charset="0"/>
                <a:ea typeface="Calibri" pitchFamily="34" charset="-122"/>
                <a:cs typeface="Calibri" pitchFamily="34" charset="-120"/>
              </a:rPr>
              <a:t>completed works have certificates or photos DRISHTI can verify</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sp>
        <p:nvSpPr>
          <p:cNvPr id="4" name="Text 2"/>
          <p:cNvSpPr txBox="1"/>
          <p:nvPr/>
        </p:nvSpPr>
        <p:spPr>
          <a:xfrm>
            <a:off x="3131820" y="381000"/>
            <a:ext cx="11430000" cy="787400"/>
          </a:xfrm>
          <a:prstGeom prst="rect">
            <a:avLst/>
          </a:prstGeom>
          <a:noFill/>
          <a:ln/>
        </p:spPr>
        <p:txBody>
          <a:bodyPr wrap="square" lIns="0" tIns="0" rIns="0" bIns="0" rtlCol="0" anchor="ctr"/>
          <a:lstStyle/>
          <a:p>
            <a:pPr algn="ctr" indent="0" marL="0">
              <a:buNone/>
            </a:pPr>
            <a:r>
              <a:rPr lang="en-US" sz="4200" b="1" dirty="0">
                <a:solidFill>
                  <a:srgbClr val="2A4D88"/>
                </a:solidFill>
                <a:latin typeface="Cambria" pitchFamily="34" charset="0"/>
                <a:ea typeface="Cambria" pitchFamily="34" charset="-122"/>
                <a:cs typeface="Cambria" pitchFamily="34" charset="-120"/>
              </a:rPr>
              <a:t>RESEARCH AND REFERENCES</a:t>
            </a:r>
            <a:endParaRPr lang="en-US" sz="4200" dirty="0"/>
          </a:p>
        </p:txBody>
      </p:sp>
      <p:pic>
        <p:nvPicPr>
          <p:cNvPr id="5" name="Image 0" descr="C:\Users\abhim\drishti\docs\deck\assets\sih_logo_wide.png">    </p:cNvPr>
          <p:cNvPicPr>
            <a:picLocks noChangeAspect="1"/>
          </p:cNvPicPr>
          <p:nvPr/>
        </p:nvPicPr>
        <p:blipFill>
          <a:blip r:embed="rId1"/>
          <a:stretch>
            <a:fillRect/>
          </a:stretch>
        </p:blipFill>
        <p:spPr>
          <a:xfrm>
            <a:off x="15392400" y="76200"/>
            <a:ext cx="2705100" cy="1277620"/>
          </a:xfrm>
          <a:prstGeom prst="rect">
            <a:avLst/>
          </a:prstGeom>
        </p:spPr>
      </p:pic>
      <p:sp>
        <p:nvSpPr>
          <p:cNvPr id="6" name="Shape 3"/>
          <p:cNvSpPr/>
          <p:nvPr/>
        </p:nvSpPr>
        <p:spPr>
          <a:xfrm>
            <a:off x="0" y="9756140"/>
            <a:ext cx="18288000" cy="533400"/>
          </a:xfrm>
          <a:prstGeom prst="rect">
            <a:avLst/>
          </a:prstGeom>
          <a:solidFill>
            <a:srgbClr val="2A4D88"/>
          </a:solidFill>
          <a:ln/>
        </p:spPr>
      </p:sp>
      <p:sp>
        <p:nvSpPr>
          <p:cNvPr id="7"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8"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6</a:t>
            </a:r>
            <a:endParaRPr lang="en-US" sz="1650" dirty="0"/>
          </a:p>
        </p:txBody>
      </p:sp>
      <p:sp>
        <p:nvSpPr>
          <p:cNvPr id="9" name="Text 6"/>
          <p:cNvSpPr txBox="1"/>
          <p:nvPr/>
        </p:nvSpPr>
        <p:spPr>
          <a:xfrm>
            <a:off x="617220" y="15748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COMPARISON WITH EXISTING SYSTEMS</a:t>
            </a:r>
            <a:endParaRPr lang="en-US" sz="1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2300" y="1981200"/>
          <a:ext cx="13716000" cy="914400"/>
        </p:xfrm>
        <a:graphic>
          <a:graphicData uri="http://schemas.openxmlformats.org/drawingml/2006/table">
            <a:tbl>
              <a:tblPr/>
              <a:tblGrid>
                <a:gridCol w="3810000"/>
                <a:gridCol w="1625600"/>
                <a:gridCol w="1625600"/>
                <a:gridCol w="1625600"/>
                <a:gridCol w="1612900"/>
              </a:tblGrid>
              <a:tr h="609600">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Capability</a:t>
                      </a:r>
                      <a:endParaRPr lang="en-US" sz="15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DRISHTI</a:t>
                      </a:r>
                      <a:endParaRPr lang="en-US" sz="15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D9962B"/>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eSAKSHI Portal</a:t>
                      </a:r>
                      <a:endParaRPr lang="en-US" sz="15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Manual Audit / Inspection</a:t>
                      </a:r>
                      <a:endParaRPr lang="en-US" sz="15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Generic BI Dashboards</a:t>
                      </a:r>
                      <a:endParaRPr lang="en-US" sz="15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AI anomaly detection in spending</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Duplicate &amp; split works (Hindi + English)</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450" b="1" dirty="0">
                          <a:solidFill>
                            <a:srgbClr val="8A6D1F"/>
                          </a:solidFill>
                          <a:latin typeface="Calibri" pitchFamily="34" charset="0"/>
                          <a:ea typeface="Calibri" pitchFamily="34" charset="-122"/>
                          <a:cs typeface="Calibri" pitchFamily="34" charset="-120"/>
                        </a:rPr>
                        <a:t>Partial</a:t>
                      </a:r>
                      <a:endParaRPr lang="en-US" sz="1450" dirty="0">
                        <a:latin typeface="Calibri" charset="0"/>
                        <a:ea typeface="Calibri" charset="0"/>
                        <a:cs typeface="Calibri"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Reads certificates &amp; bills (Hindi/English)</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450" b="1" dirty="0">
                          <a:solidFill>
                            <a:srgbClr val="8A6D1F"/>
                          </a:solidFill>
                          <a:latin typeface="Calibri" pitchFamily="34" charset="0"/>
                          <a:ea typeface="Calibri" pitchFamily="34" charset="-122"/>
                          <a:cs typeface="Calibri" pitchFamily="34" charset="-120"/>
                        </a:rPr>
                        <a:t>Partial</a:t>
                      </a:r>
                      <a:endParaRPr lang="en-US" sz="1450" dirty="0">
                        <a:latin typeface="Calibri" charset="0"/>
                        <a:ea typeface="Calibri" charset="0"/>
                        <a:cs typeface="Calibri"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Spots reused or edited photos</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Checks where &amp; when photos were taken</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450" b="1" dirty="0">
                          <a:solidFill>
                            <a:srgbClr val="8A6D1F"/>
                          </a:solidFill>
                          <a:latin typeface="Calibri" pitchFamily="34" charset="0"/>
                          <a:ea typeface="Calibri" pitchFamily="34" charset="-122"/>
                          <a:cs typeface="Calibri" pitchFamily="34" charset="-120"/>
                        </a:rPr>
                        <a:t>Partial</a:t>
                      </a:r>
                      <a:endParaRPr lang="en-US" sz="1450" dirty="0">
                        <a:latin typeface="Calibri" charset="0"/>
                        <a:ea typeface="Calibri" charset="0"/>
                        <a:cs typeface="Calibri"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Guideline compliance with para cited</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450" b="1" dirty="0">
                          <a:solidFill>
                            <a:srgbClr val="8A6D1F"/>
                          </a:solidFill>
                          <a:latin typeface="Calibri" pitchFamily="34" charset="0"/>
                          <a:ea typeface="Calibri" pitchFamily="34" charset="-122"/>
                          <a:cs typeface="Calibri" pitchFamily="34" charset="-120"/>
                        </a:rPr>
                        <a:t>Partial</a:t>
                      </a:r>
                      <a:endParaRPr lang="en-US" sz="1450" dirty="0">
                        <a:latin typeface="Calibri" charset="0"/>
                        <a:ea typeface="Calibri" charset="0"/>
                        <a:cs typeface="Calibri"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Delay / overrun early warning</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450" b="1" dirty="0">
                          <a:solidFill>
                            <a:srgbClr val="8A6D1F"/>
                          </a:solidFill>
                          <a:latin typeface="Calibri" pitchFamily="34" charset="0"/>
                          <a:ea typeface="Calibri" pitchFamily="34" charset="-122"/>
                          <a:cs typeface="Calibri" pitchFamily="34" charset="-120"/>
                        </a:rPr>
                        <a:t>Partial</a:t>
                      </a:r>
                      <a:endParaRPr lang="en-US" sz="1450" dirty="0">
                        <a:latin typeface="Calibri" charset="0"/>
                        <a:ea typeface="Calibri" charset="0"/>
                        <a:cs typeface="Calibri"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450" b="1" dirty="0">
                          <a:solidFill>
                            <a:srgbClr val="8A6D1F"/>
                          </a:solidFill>
                          <a:latin typeface="Calibri" pitchFamily="34" charset="0"/>
                          <a:ea typeface="Calibri" pitchFamily="34" charset="-122"/>
                          <a:cs typeface="Calibri" pitchFamily="34" charset="-120"/>
                        </a:rPr>
                        <a:t>Partial</a:t>
                      </a:r>
                      <a:endParaRPr lang="en-US" sz="1450" dirty="0">
                        <a:latin typeface="Calibri" charset="0"/>
                        <a:ea typeface="Calibri" charset="0"/>
                        <a:cs typeface="Calibri"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Explainable 0–100 risk score</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Risk-based inspection route plan</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Citizen confirmation &amp; field learning</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algn="ctr" indent="0" marL="0">
                        <a:buNone/>
                      </a:pPr>
                      <a:r>
                        <a:rPr lang="en-US" sz="1900" dirty="0">
                          <a:solidFill>
                            <a:srgbClr val="2E7D4F"/>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algn="ctr" indent="0" marL="0">
                        <a:buNone/>
                      </a:pPr>
                      <a:r>
                        <a:rPr lang="en-US" sz="1450" b="1" dirty="0">
                          <a:solidFill>
                            <a:srgbClr val="8A6D1F"/>
                          </a:solidFill>
                          <a:latin typeface="Calibri" pitchFamily="34" charset="0"/>
                          <a:ea typeface="Calibri" pitchFamily="34" charset="-122"/>
                          <a:cs typeface="Calibri" pitchFamily="34" charset="-120"/>
                        </a:rPr>
                        <a:t>Partial</a:t>
                      </a:r>
                      <a:endParaRPr lang="en-US" sz="1450" dirty="0">
                        <a:latin typeface="Calibri" charset="0"/>
                        <a:ea typeface="Calibri" charset="0"/>
                        <a:cs typeface="Calibri"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23B3B"/>
                          </a:solidFill>
                          <a:latin typeface="Segoe UI Symbol" pitchFamily="34" charset="0"/>
                          <a:ea typeface="Segoe UI Symbol" pitchFamily="34" charset="-122"/>
                          <a:cs typeface="Segoe UI Symbol" pitchFamily="34" charset="-120"/>
                        </a:rPr>
                        <a:t>✗</a:t>
                      </a:r>
                      <a:endParaRPr lang="en-US" sz="1900" dirty="0">
                        <a:latin typeface="Segoe UI Symbol" charset="0"/>
                        <a:ea typeface="Segoe UI Symbol" charset="0"/>
                        <a:cs typeface="Segoe UI Symbol" charset="0"/>
                      </a:endParaRPr>
                    </a:p>
                  </a:txBody>
                  <a:tcPr marL="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17220" y="70231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KEY RESEARCH INSIGHTS</a:t>
            </a:r>
            <a:endParaRPr lang="en-US" sz="1720" dirty="0"/>
          </a:p>
        </p:txBody>
      </p:sp>
      <p:sp>
        <p:nvSpPr>
          <p:cNvPr id="12" name="Shape 8"/>
          <p:cNvSpPr/>
          <p:nvPr/>
        </p:nvSpPr>
        <p:spPr>
          <a:xfrm>
            <a:off x="609600" y="7429500"/>
            <a:ext cx="2387600" cy="2070100"/>
          </a:xfrm>
          <a:prstGeom prst="roundRect">
            <a:avLst>
              <a:gd name="adj" fmla="val 6748"/>
            </a:avLst>
          </a:prstGeom>
          <a:solidFill>
            <a:srgbClr val="EDF0F5"/>
          </a:solidFill>
          <a:ln/>
        </p:spPr>
      </p:sp>
      <p:sp>
        <p:nvSpPr>
          <p:cNvPr id="13" name="Text 9"/>
          <p:cNvSpPr txBox="1"/>
          <p:nvPr/>
        </p:nvSpPr>
        <p:spPr>
          <a:xfrm>
            <a:off x="812800" y="7594600"/>
            <a:ext cx="2032000" cy="558800"/>
          </a:xfrm>
          <a:prstGeom prst="rect">
            <a:avLst/>
          </a:prstGeom>
          <a:noFill/>
          <a:ln/>
        </p:spPr>
        <p:txBody>
          <a:bodyPr wrap="square" lIns="0" tIns="0" rIns="0" bIns="0" rtlCol="0" anchor="ctr"/>
          <a:lstStyle/>
          <a:p>
            <a:pPr algn="l" indent="0" marL="0">
              <a:buNone/>
            </a:pPr>
            <a:r>
              <a:rPr lang="en-US" sz="2800" b="1" dirty="0">
                <a:solidFill>
                  <a:srgbClr val="2A4D88"/>
                </a:solidFill>
                <a:latin typeface="Cambria" pitchFamily="34" charset="0"/>
                <a:ea typeface="Cambria" pitchFamily="34" charset="-122"/>
                <a:cs typeface="Cambria" pitchFamily="34" charset="-120"/>
              </a:rPr>
              <a:t>₹5 Cr</a:t>
            </a:r>
            <a:endParaRPr lang="en-US" sz="2800" dirty="0"/>
          </a:p>
        </p:txBody>
      </p:sp>
      <p:sp>
        <p:nvSpPr>
          <p:cNvPr id="14" name="Text 10"/>
          <p:cNvSpPr txBox="1"/>
          <p:nvPr/>
        </p:nvSpPr>
        <p:spPr>
          <a:xfrm>
            <a:off x="812800" y="8255000"/>
            <a:ext cx="2032000" cy="1168400"/>
          </a:xfrm>
          <a:prstGeom prst="rect">
            <a:avLst/>
          </a:prstGeom>
          <a:noFill/>
          <a:ln/>
        </p:spPr>
        <p:txBody>
          <a:bodyPr wrap="square" lIns="0" tIns="0" rIns="0" bIns="0" rtlCol="0" anchor="t"/>
          <a:lstStyle/>
          <a:p>
            <a:pPr algn="l" indent="0" marL="0">
              <a:buNone/>
            </a:pPr>
            <a:r>
              <a:rPr lang="en-US" sz="1600" dirty="0">
                <a:solidFill>
                  <a:srgbClr val="1A2F57"/>
                </a:solidFill>
                <a:latin typeface="Calibri" pitchFamily="34" charset="0"/>
                <a:ea typeface="Calibri" pitchFamily="34" charset="-122"/>
                <a:cs typeface="Calibri" pitchFamily="34" charset="-120"/>
              </a:rPr>
              <a:t>per MP per year, non-lapsable funds (MoSPI)</a:t>
            </a:r>
            <a:endParaRPr lang="en-US" sz="1600" dirty="0"/>
          </a:p>
        </p:txBody>
      </p:sp>
      <p:sp>
        <p:nvSpPr>
          <p:cNvPr id="15" name="Shape 11"/>
          <p:cNvSpPr/>
          <p:nvPr/>
        </p:nvSpPr>
        <p:spPr>
          <a:xfrm>
            <a:off x="3251200" y="7429500"/>
            <a:ext cx="2387600" cy="2070100"/>
          </a:xfrm>
          <a:prstGeom prst="roundRect">
            <a:avLst>
              <a:gd name="adj" fmla="val 6748"/>
            </a:avLst>
          </a:prstGeom>
          <a:solidFill>
            <a:srgbClr val="EDF0F5"/>
          </a:solidFill>
          <a:ln/>
        </p:spPr>
      </p:sp>
      <p:sp>
        <p:nvSpPr>
          <p:cNvPr id="16" name="Text 12"/>
          <p:cNvSpPr txBox="1"/>
          <p:nvPr/>
        </p:nvSpPr>
        <p:spPr>
          <a:xfrm>
            <a:off x="3454400" y="7594600"/>
            <a:ext cx="2032000" cy="558800"/>
          </a:xfrm>
          <a:prstGeom prst="rect">
            <a:avLst/>
          </a:prstGeom>
          <a:noFill/>
          <a:ln/>
        </p:spPr>
        <p:txBody>
          <a:bodyPr wrap="square" lIns="0" tIns="0" rIns="0" bIns="0" rtlCol="0" anchor="ctr"/>
          <a:lstStyle/>
          <a:p>
            <a:pPr algn="l" indent="0" marL="0">
              <a:buNone/>
            </a:pPr>
            <a:r>
              <a:rPr lang="en-US" sz="2800" b="1" dirty="0">
                <a:solidFill>
                  <a:srgbClr val="2A4D88"/>
                </a:solidFill>
                <a:latin typeface="Cambria" pitchFamily="34" charset="0"/>
                <a:ea typeface="Cambria" pitchFamily="34" charset="-122"/>
                <a:cs typeface="Cambria" pitchFamily="34" charset="-120"/>
              </a:rPr>
              <a:t>~₹4,000 Cr</a:t>
            </a:r>
            <a:endParaRPr lang="en-US" sz="2800" dirty="0"/>
          </a:p>
        </p:txBody>
      </p:sp>
      <p:sp>
        <p:nvSpPr>
          <p:cNvPr id="17" name="Text 13"/>
          <p:cNvSpPr txBox="1"/>
          <p:nvPr/>
        </p:nvSpPr>
        <p:spPr>
          <a:xfrm>
            <a:off x="3454400" y="8255000"/>
            <a:ext cx="2032000" cy="1168400"/>
          </a:xfrm>
          <a:prstGeom prst="rect">
            <a:avLst/>
          </a:prstGeom>
          <a:noFill/>
          <a:ln/>
        </p:spPr>
        <p:txBody>
          <a:bodyPr wrap="square" lIns="0" tIns="0" rIns="0" bIns="0" rtlCol="0" anchor="t"/>
          <a:lstStyle/>
          <a:p>
            <a:pPr algn="l" indent="0" marL="0">
              <a:buNone/>
            </a:pPr>
            <a:r>
              <a:rPr lang="en-US" sz="1600" dirty="0">
                <a:solidFill>
                  <a:srgbClr val="1A2F57"/>
                </a:solidFill>
                <a:latin typeface="Calibri" pitchFamily="34" charset="0"/>
                <a:ea typeface="Calibri" pitchFamily="34" charset="-122"/>
                <a:cs typeface="Calibri" pitchFamily="34" charset="-120"/>
              </a:rPr>
              <a:t>annual outlay, run on eSAKSHI since Apr 2023 (PIB)</a:t>
            </a:r>
            <a:endParaRPr lang="en-US" sz="1600" dirty="0"/>
          </a:p>
        </p:txBody>
      </p:sp>
      <p:sp>
        <p:nvSpPr>
          <p:cNvPr id="18" name="Shape 14"/>
          <p:cNvSpPr/>
          <p:nvPr/>
        </p:nvSpPr>
        <p:spPr>
          <a:xfrm>
            <a:off x="5892800" y="7429500"/>
            <a:ext cx="2387600" cy="2070100"/>
          </a:xfrm>
          <a:prstGeom prst="roundRect">
            <a:avLst>
              <a:gd name="adj" fmla="val 6748"/>
            </a:avLst>
          </a:prstGeom>
          <a:solidFill>
            <a:srgbClr val="EDF0F5"/>
          </a:solidFill>
          <a:ln/>
        </p:spPr>
      </p:sp>
      <p:sp>
        <p:nvSpPr>
          <p:cNvPr id="19" name="Text 15"/>
          <p:cNvSpPr txBox="1"/>
          <p:nvPr/>
        </p:nvSpPr>
        <p:spPr>
          <a:xfrm>
            <a:off x="6096000" y="7594600"/>
            <a:ext cx="2032000" cy="558800"/>
          </a:xfrm>
          <a:prstGeom prst="rect">
            <a:avLst/>
          </a:prstGeom>
          <a:noFill/>
          <a:ln/>
        </p:spPr>
        <p:txBody>
          <a:bodyPr wrap="square" lIns="0" tIns="0" rIns="0" bIns="0" rtlCol="0" anchor="ctr"/>
          <a:lstStyle/>
          <a:p>
            <a:pPr algn="l" indent="0" marL="0">
              <a:buNone/>
            </a:pPr>
            <a:r>
              <a:rPr lang="en-US" sz="2800" b="1" dirty="0">
                <a:solidFill>
                  <a:srgbClr val="2A4D88"/>
                </a:solidFill>
                <a:latin typeface="Cambria" pitchFamily="34" charset="0"/>
                <a:ea typeface="Cambria" pitchFamily="34" charset="-122"/>
                <a:cs typeface="Cambria" pitchFamily="34" charset="-120"/>
              </a:rPr>
              <a:t>4,918</a:t>
            </a:r>
            <a:endParaRPr lang="en-US" sz="2800" dirty="0"/>
          </a:p>
        </p:txBody>
      </p:sp>
      <p:sp>
        <p:nvSpPr>
          <p:cNvPr id="20" name="Text 16"/>
          <p:cNvSpPr txBox="1"/>
          <p:nvPr/>
        </p:nvSpPr>
        <p:spPr>
          <a:xfrm>
            <a:off x="6096000" y="8255000"/>
            <a:ext cx="2032000" cy="1168400"/>
          </a:xfrm>
          <a:prstGeom prst="rect">
            <a:avLst/>
          </a:prstGeom>
          <a:noFill/>
          <a:ln/>
        </p:spPr>
        <p:txBody>
          <a:bodyPr wrap="square" lIns="0" tIns="0" rIns="0" bIns="0" rtlCol="0" anchor="t"/>
          <a:lstStyle/>
          <a:p>
            <a:pPr algn="l" indent="0" marL="0">
              <a:buNone/>
            </a:pPr>
            <a:r>
              <a:rPr lang="en-US" sz="1600" dirty="0">
                <a:solidFill>
                  <a:srgbClr val="1A2F57"/>
                </a:solidFill>
                <a:latin typeface="Calibri" pitchFamily="34" charset="0"/>
                <a:ea typeface="Calibri" pitchFamily="34" charset="-122"/>
                <a:cs typeface="Calibri" pitchFamily="34" charset="-120"/>
              </a:rPr>
              <a:t>works without the mandatory MPLADS plaque (CAG audit, 31 districts)</a:t>
            </a:r>
            <a:endParaRPr lang="en-US" sz="1600" dirty="0"/>
          </a:p>
        </p:txBody>
      </p:sp>
      <p:sp>
        <p:nvSpPr>
          <p:cNvPr id="21" name="Shape 17"/>
          <p:cNvSpPr/>
          <p:nvPr/>
        </p:nvSpPr>
        <p:spPr>
          <a:xfrm>
            <a:off x="8534400" y="7429500"/>
            <a:ext cx="2387600" cy="2070100"/>
          </a:xfrm>
          <a:prstGeom prst="roundRect">
            <a:avLst>
              <a:gd name="adj" fmla="val 6748"/>
            </a:avLst>
          </a:prstGeom>
          <a:solidFill>
            <a:srgbClr val="EDF0F5"/>
          </a:solidFill>
          <a:ln/>
        </p:spPr>
      </p:sp>
      <p:sp>
        <p:nvSpPr>
          <p:cNvPr id="22" name="Text 18"/>
          <p:cNvSpPr txBox="1"/>
          <p:nvPr/>
        </p:nvSpPr>
        <p:spPr>
          <a:xfrm>
            <a:off x="8737600" y="7594600"/>
            <a:ext cx="2032000" cy="558800"/>
          </a:xfrm>
          <a:prstGeom prst="rect">
            <a:avLst/>
          </a:prstGeom>
          <a:noFill/>
          <a:ln/>
        </p:spPr>
        <p:txBody>
          <a:bodyPr wrap="square" lIns="0" tIns="0" rIns="0" bIns="0" rtlCol="0" anchor="ctr"/>
          <a:lstStyle/>
          <a:p>
            <a:pPr algn="l" indent="0" marL="0">
              <a:buNone/>
            </a:pPr>
            <a:r>
              <a:rPr lang="en-US" sz="2800" b="1" dirty="0">
                <a:solidFill>
                  <a:srgbClr val="2A4D88"/>
                </a:solidFill>
                <a:latin typeface="Cambria" pitchFamily="34" charset="0"/>
                <a:ea typeface="Cambria" pitchFamily="34" charset="-122"/>
                <a:cs typeface="Cambria" pitchFamily="34" charset="-120"/>
              </a:rPr>
              <a:t>₹280 Cr</a:t>
            </a:r>
            <a:endParaRPr lang="en-US" sz="2800" dirty="0"/>
          </a:p>
        </p:txBody>
      </p:sp>
      <p:sp>
        <p:nvSpPr>
          <p:cNvPr id="23" name="Text 19"/>
          <p:cNvSpPr txBox="1"/>
          <p:nvPr/>
        </p:nvSpPr>
        <p:spPr>
          <a:xfrm>
            <a:off x="8737600" y="8255000"/>
            <a:ext cx="2032000" cy="1168400"/>
          </a:xfrm>
          <a:prstGeom prst="rect">
            <a:avLst/>
          </a:prstGeom>
          <a:noFill/>
          <a:ln/>
        </p:spPr>
        <p:txBody>
          <a:bodyPr wrap="square" lIns="0" tIns="0" rIns="0" bIns="0" rtlCol="0" anchor="t"/>
          <a:lstStyle/>
          <a:p>
            <a:pPr algn="l" indent="0" marL="0">
              <a:buNone/>
            </a:pPr>
            <a:r>
              <a:rPr lang="en-US" sz="1600" dirty="0">
                <a:solidFill>
                  <a:srgbClr val="1A2F57"/>
                </a:solidFill>
                <a:latin typeface="Calibri" pitchFamily="34" charset="0"/>
                <a:ea typeface="Calibri" pitchFamily="34" charset="-122"/>
                <a:cs typeface="Calibri" pitchFamily="34" charset="-120"/>
              </a:rPr>
              <a:t>in 12,006 works left incomplete (CAG audit, 71 districts)</a:t>
            </a:r>
            <a:endParaRPr lang="en-US" sz="1600" dirty="0"/>
          </a:p>
        </p:txBody>
      </p:sp>
      <p:sp>
        <p:nvSpPr>
          <p:cNvPr id="24" name="Text 20"/>
          <p:cNvSpPr txBox="1"/>
          <p:nvPr/>
        </p:nvSpPr>
        <p:spPr>
          <a:xfrm>
            <a:off x="11252200" y="1574800"/>
            <a:ext cx="635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REFERENCES</a:t>
            </a:r>
            <a:endParaRPr lang="en-US" sz="1720" dirty="0"/>
          </a:p>
        </p:txBody>
      </p:sp>
      <p:sp>
        <p:nvSpPr>
          <p:cNvPr id="25" name="Shape 21"/>
          <p:cNvSpPr/>
          <p:nvPr/>
        </p:nvSpPr>
        <p:spPr>
          <a:xfrm>
            <a:off x="11239500" y="2044700"/>
            <a:ext cx="6438900" cy="2374900"/>
          </a:xfrm>
          <a:prstGeom prst="roundRect">
            <a:avLst>
              <a:gd name="adj" fmla="val 5882"/>
            </a:avLst>
          </a:prstGeom>
          <a:solidFill>
            <a:srgbClr val="FFFFFF"/>
          </a:solidFill>
          <a:ln w="19050">
            <a:solidFill>
              <a:srgbClr val="B1BBC8"/>
            </a:solidFill>
            <a:prstDash val="solid"/>
          </a:ln>
        </p:spPr>
      </p:sp>
      <p:sp>
        <p:nvSpPr>
          <p:cNvPr id="26" name="Shape 22"/>
          <p:cNvSpPr/>
          <p:nvPr/>
        </p:nvSpPr>
        <p:spPr>
          <a:xfrm>
            <a:off x="11442700" y="2247900"/>
            <a:ext cx="596900" cy="596900"/>
          </a:xfrm>
          <a:prstGeom prst="ellipse">
            <a:avLst/>
          </a:prstGeom>
          <a:solidFill>
            <a:srgbClr val="2A4D88"/>
          </a:solidFill>
          <a:ln/>
        </p:spPr>
      </p:sp>
      <p:pic>
        <p:nvPicPr>
          <p:cNvPr id="27" name="Image 1" descr="C:\Users\abhim\drishti\docs\deck\assets\icons\landmark_w.png">    </p:cNvPr>
          <p:cNvPicPr>
            <a:picLocks noChangeAspect="1"/>
          </p:cNvPicPr>
          <p:nvPr/>
        </p:nvPicPr>
        <p:blipFill>
          <a:blip r:embed="rId2"/>
          <a:stretch>
            <a:fillRect/>
          </a:stretch>
        </p:blipFill>
        <p:spPr>
          <a:xfrm>
            <a:off x="11591925" y="2397125"/>
            <a:ext cx="298450" cy="298450"/>
          </a:xfrm>
          <a:prstGeom prst="rect">
            <a:avLst/>
          </a:prstGeom>
        </p:spPr>
      </p:pic>
      <p:sp>
        <p:nvSpPr>
          <p:cNvPr id="28" name="Text 23"/>
          <p:cNvSpPr txBox="1"/>
          <p:nvPr/>
        </p:nvSpPr>
        <p:spPr>
          <a:xfrm>
            <a:off x="12179300" y="2247900"/>
            <a:ext cx="5334000" cy="5969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Government &amp; Policy Sources</a:t>
            </a:r>
            <a:endParaRPr lang="en-US" sz="1800" dirty="0"/>
          </a:p>
        </p:txBody>
      </p:sp>
      <p:sp>
        <p:nvSpPr>
          <p:cNvPr id="29" name="Text 24"/>
          <p:cNvSpPr txBox="1"/>
          <p:nvPr/>
        </p:nvSpPr>
        <p:spPr>
          <a:xfrm>
            <a:off x="11633200" y="2984500"/>
            <a:ext cx="5867400" cy="1371600"/>
          </a:xfrm>
          <a:prstGeom prst="rect">
            <a:avLst/>
          </a:prstGeom>
          <a:noFill/>
          <a:ln/>
        </p:spPr>
        <p:txBody>
          <a:bodyPr wrap="square" lIns="0" tIns="0" rIns="0" bIns="0" rtlCol="0" anchor="t"/>
          <a:lstStyle/>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MPLADS Guidelines 2016 &amp; 2023</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mplads.gov.in</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eSAKSHI portal &amp; revised fund flow</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MoSPI / PIB</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CAG Performance Audit of MPLADS</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Report 31 of 2010-11</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PMAY-G AwaasApp · Mission Amrit Sarovar</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MoRD / BISAG-N</a:t>
            </a:r>
            <a:endParaRPr lang="en-US" sz="1530" dirty="0"/>
          </a:p>
        </p:txBody>
      </p:sp>
      <p:sp>
        <p:nvSpPr>
          <p:cNvPr id="30" name="Shape 25"/>
          <p:cNvSpPr/>
          <p:nvPr/>
        </p:nvSpPr>
        <p:spPr>
          <a:xfrm>
            <a:off x="11239500" y="4584700"/>
            <a:ext cx="6438900" cy="2374900"/>
          </a:xfrm>
          <a:prstGeom prst="roundRect">
            <a:avLst>
              <a:gd name="adj" fmla="val 5882"/>
            </a:avLst>
          </a:prstGeom>
          <a:solidFill>
            <a:srgbClr val="FFFFFF"/>
          </a:solidFill>
          <a:ln w="19050">
            <a:solidFill>
              <a:srgbClr val="B1BBC8"/>
            </a:solidFill>
            <a:prstDash val="solid"/>
          </a:ln>
        </p:spPr>
      </p:sp>
      <p:sp>
        <p:nvSpPr>
          <p:cNvPr id="31" name="Shape 26"/>
          <p:cNvSpPr/>
          <p:nvPr/>
        </p:nvSpPr>
        <p:spPr>
          <a:xfrm>
            <a:off x="11442700" y="4787900"/>
            <a:ext cx="596900" cy="596900"/>
          </a:xfrm>
          <a:prstGeom prst="ellipse">
            <a:avLst/>
          </a:prstGeom>
          <a:solidFill>
            <a:srgbClr val="2A4D88"/>
          </a:solidFill>
          <a:ln/>
        </p:spPr>
      </p:sp>
      <p:pic>
        <p:nvPicPr>
          <p:cNvPr id="32" name="Image 2" descr="C:\Users\abhim\drishti\docs\deck\assets\icons\book_w.png">    </p:cNvPr>
          <p:cNvPicPr>
            <a:picLocks noChangeAspect="1"/>
          </p:cNvPicPr>
          <p:nvPr/>
        </p:nvPicPr>
        <p:blipFill>
          <a:blip r:embed="rId3"/>
          <a:stretch>
            <a:fillRect/>
          </a:stretch>
        </p:blipFill>
        <p:spPr>
          <a:xfrm>
            <a:off x="11591925" y="4937125"/>
            <a:ext cx="298450" cy="298450"/>
          </a:xfrm>
          <a:prstGeom prst="rect">
            <a:avLst/>
          </a:prstGeom>
        </p:spPr>
      </p:pic>
      <p:sp>
        <p:nvSpPr>
          <p:cNvPr id="33" name="Text 27"/>
          <p:cNvSpPr txBox="1"/>
          <p:nvPr/>
        </p:nvSpPr>
        <p:spPr>
          <a:xfrm>
            <a:off x="12179300" y="4787900"/>
            <a:ext cx="5334000" cy="5969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Research Papers</a:t>
            </a:r>
            <a:endParaRPr lang="en-US" sz="1800" dirty="0"/>
          </a:p>
        </p:txBody>
      </p:sp>
      <p:sp>
        <p:nvSpPr>
          <p:cNvPr id="34" name="Text 28"/>
          <p:cNvSpPr txBox="1"/>
          <p:nvPr/>
        </p:nvSpPr>
        <p:spPr>
          <a:xfrm>
            <a:off x="11633200" y="5524500"/>
            <a:ext cx="5867400" cy="1371600"/>
          </a:xfrm>
          <a:prstGeom prst="rect">
            <a:avLst/>
          </a:prstGeom>
          <a:noFill/>
          <a:ln/>
        </p:spPr>
        <p:txBody>
          <a:bodyPr wrap="square" lIns="0" tIns="0" rIns="0" bIns="0" rtlCol="0" anchor="t"/>
          <a:lstStyle/>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Perceptual image hashing</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Zauner, 2010</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ORB feature matching</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Rublee et al., ICCV 2011</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Multilingual sentence embeddings</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Reimers &amp; Gurevych, EMNLP 2020</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LightGBM</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Ke et al., NeurIPS 2017</a:t>
            </a:r>
            <a:endParaRPr lang="en-US" sz="1530" dirty="0"/>
          </a:p>
        </p:txBody>
      </p:sp>
      <p:sp>
        <p:nvSpPr>
          <p:cNvPr id="35" name="Shape 29"/>
          <p:cNvSpPr/>
          <p:nvPr/>
        </p:nvSpPr>
        <p:spPr>
          <a:xfrm>
            <a:off x="11239500" y="7124700"/>
            <a:ext cx="6438900" cy="2374900"/>
          </a:xfrm>
          <a:prstGeom prst="roundRect">
            <a:avLst>
              <a:gd name="adj" fmla="val 5882"/>
            </a:avLst>
          </a:prstGeom>
          <a:solidFill>
            <a:srgbClr val="FFFFFF"/>
          </a:solidFill>
          <a:ln w="19050">
            <a:solidFill>
              <a:srgbClr val="B1BBC8"/>
            </a:solidFill>
            <a:prstDash val="solid"/>
          </a:ln>
        </p:spPr>
      </p:sp>
      <p:sp>
        <p:nvSpPr>
          <p:cNvPr id="36" name="Shape 30"/>
          <p:cNvSpPr/>
          <p:nvPr/>
        </p:nvSpPr>
        <p:spPr>
          <a:xfrm>
            <a:off x="11442700" y="7327900"/>
            <a:ext cx="596900" cy="596900"/>
          </a:xfrm>
          <a:prstGeom prst="ellipse">
            <a:avLst/>
          </a:prstGeom>
          <a:solidFill>
            <a:srgbClr val="2A4D88"/>
          </a:solidFill>
          <a:ln/>
        </p:spPr>
      </p:sp>
      <p:pic>
        <p:nvPicPr>
          <p:cNvPr id="37" name="Image 3" descr="C:\Users\abhim\drishti\docs\deck\assets\icons\database_w.png">    </p:cNvPr>
          <p:cNvPicPr>
            <a:picLocks noChangeAspect="1"/>
          </p:cNvPicPr>
          <p:nvPr/>
        </p:nvPicPr>
        <p:blipFill>
          <a:blip r:embed="rId4"/>
          <a:stretch>
            <a:fillRect/>
          </a:stretch>
        </p:blipFill>
        <p:spPr>
          <a:xfrm>
            <a:off x="11591925" y="7477125"/>
            <a:ext cx="298450" cy="298450"/>
          </a:xfrm>
          <a:prstGeom prst="rect">
            <a:avLst/>
          </a:prstGeom>
        </p:spPr>
      </p:pic>
      <p:sp>
        <p:nvSpPr>
          <p:cNvPr id="38" name="Text 31"/>
          <p:cNvSpPr txBox="1"/>
          <p:nvPr/>
        </p:nvSpPr>
        <p:spPr>
          <a:xfrm>
            <a:off x="12179300" y="7327900"/>
            <a:ext cx="5334000" cy="5969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Datasets &amp; Tools</a:t>
            </a:r>
            <a:endParaRPr lang="en-US" sz="1800" dirty="0"/>
          </a:p>
        </p:txBody>
      </p:sp>
      <p:sp>
        <p:nvSpPr>
          <p:cNvPr id="39" name="Text 32"/>
          <p:cNvSpPr txBox="1"/>
          <p:nvPr/>
        </p:nvSpPr>
        <p:spPr>
          <a:xfrm>
            <a:off x="11633200" y="8064500"/>
            <a:ext cx="5867400" cy="1371600"/>
          </a:xfrm>
          <a:prstGeom prst="rect">
            <a:avLst/>
          </a:prstGeom>
          <a:noFill/>
          <a:ln/>
        </p:spPr>
        <p:txBody>
          <a:bodyPr wrap="square" lIns="0" tIns="0" rIns="0" bIns="0" rtlCol="0" anchor="t"/>
          <a:lstStyle/>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eSAKSHI public works data</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uploaded certificates &amp; photos</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LGD boundaries · India Post DIGIPIN</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official maps</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Copernicus Sentinel-2</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free satellite imagery</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Gemini vision · OpenCV · scikit-learn</a:t>
            </a:r>
            <a:pPr algn="l" indent="0" marL="0">
              <a:spcAft>
                <a:spcPts val="200"/>
              </a:spcAft>
              <a:buNone/>
            </a:pPr>
            <a:endParaRPr lang="en-US" sz="15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 SIH26102 — NeuralNexus</dc:title>
  <dc:subject>PptxGenJS Presentation</dc:subject>
  <dc:creator>NeuralNexus</dc:creator>
  <cp:lastModifiedBy>NeuralNexus</cp:lastModifiedBy>
  <cp:revision>1</cp:revision>
  <dcterms:created xsi:type="dcterms:W3CDTF">2026-09-25T19:51:01Z</dcterms:created>
  <dcterms:modified xsi:type="dcterms:W3CDTF">2026-09-25T19:51:01Z</dcterms:modified>
</cp:coreProperties>
</file>