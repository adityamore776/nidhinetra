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— unchanged from the team's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Twelve agents in four stages of a work's life. Each maps to a problem the PS names or a CAG audit found: cost overruns (Cost, Document), duplicate works (Duplicate &amp; Split), delayed projects (Delay Prediction), misuse of funds (Photo Forensics, Geo-Location, Document, Fund Flow, Contractor Network), non-compliance (Eligibility), early warning (Delay Prediction, pre-sanction checks). Satellite runs only for big works (ponds, long roads) and only after it passes a go/no-go test on real works. 45-day window: the team's reading of the MPLADS Guidelines 2023 — confirm against the 2023 text (the 2016 edition says sanction within 75 days, rejection within 45).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order: before sanction (Eligibility, Duplicate &amp; Split, Cost); during construction (Site Progress, Photo Forensics, Geo-Location, Document, Satellite); money &amp; time (Delay Prediction, Fund Flow, Contractor Network); after completion (Citizen Verification). Each agent is tested on held-out real data against the method a typical team would use (Isolation Forest, TF-IDF duplicates, 64-bit photo hashes, deadline rules) and stays switched off if it does not beat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Precedents: PMAY-G releases instalments only on geo-tagged stage photos (3.84 crore house sites geo-tagged by July 2025); Mission Amrit Sarovar monitors 68,000+ ponds with remote sensing (BISAG-N). Data: 2,09,993 works from the public eSAKSHI export are loaded in the prototype; about two-thirds of completed works carry an attachment on eSAKSHI (completion certificates, bills, utilisation certificates, geo-stamped photos). AI cost: an estimate from list prices for a low-cost vision model, not a measurement.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Measured on the real eSAKSHI export in the prototype (2026-09-25): 2,09,993 works screened; 847 (0.40%) flagged Medium for review by the cost and record checks, none High yet. 'Two in three': about two-thirds of completed works carry an attachment on eSAKSHI (65.9% of completed 18th Lok Sabha works in the export).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Checkmarks: eSAKSHI collects geo-tagged photos and citizen ratings but does not verify or use them (21,789 of 21,793 ratings on completed 18th LS works are zero) - hence 'Partial'. CAG figures are totals from the annexures of CAG Report No. 31 of 2010-11 (TOTAL rows, sampled districts): Annex 7.2 plaques not erected - 4,918 works in 31 District Authorities (Rs 100.20 crore); Annex 4.7 incomplete works - 12,006 works in 71 DAs, Rs 279.99 crore. The earlier '₹9.16 Cr on 518 works' figure was replaced because it could not be traced to that report; restore it if the team has the source. Outlay ~Rs 4,000 crore: PIB 2027330 (June 2024).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3.png"/><Relationship Id="rId6" Type="http://schemas.openxmlformats.org/officeDocument/2006/relationships/image" Target="../media/image-3-6.png"/><Relationship Id="rId7" Type="http://schemas.openxmlformats.org/officeDocument/2006/relationships/image" Target="../media/image-3-3.png"/><Relationship Id="rId8" Type="http://schemas.openxmlformats.org/officeDocument/2006/relationships/image" Target="../media/image-3-8.png"/><Relationship Id="rId9" Type="http://schemas.openxmlformats.org/officeDocument/2006/relationships/image" Target="../media/image-3-3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6.png"/><Relationship Id="rId10" Type="http://schemas.openxmlformats.org/officeDocument/2006/relationships/image" Target="../media/image-4-7.png"/><Relationship Id="rId11" Type="http://schemas.openxmlformats.org/officeDocument/2006/relationships/image" Target="../media/image-4-8.png"/><Relationship Id="rId12" Type="http://schemas.openxmlformats.org/officeDocument/2006/relationships/image" Target="../media/image-4-6.png"/><Relationship Id="rId13" Type="http://schemas.openxmlformats.org/officeDocument/2006/relationships/image" Target="../media/image-4-7.png"/><Relationship Id="rId14" Type="http://schemas.openxmlformats.org/officeDocument/2006/relationships/image" Target="../media/image-4-8.png"/><Relationship Id="rId15" Type="http://schemas.openxmlformats.org/officeDocument/2006/relationships/image" Target="../media/image-4-6.png"/><Relationship Id="rId16" Type="http://schemas.openxmlformats.org/officeDocument/2006/relationships/image" Target="../media/image-4-7.png"/><Relationship Id="rId17" Type="http://schemas.openxmlformats.org/officeDocument/2006/relationships/image" Target="../media/image-4-8.png"/><Relationship Id="rId18" Type="http://schemas.openxmlformats.org/officeDocument/2006/relationships/image" Target="../media/image-4-7.png"/><Relationship Id="rId19" Type="http://schemas.openxmlformats.org/officeDocument/2006/relationships/image" Target="../media/image-4-7.png"/><Relationship Id="rId20" Type="http://schemas.openxmlformats.org/officeDocument/2006/relationships/image" Target="../media/image-4-7.png"/><Relationship Id="rId21" Type="http://schemas.openxmlformats.org/officeDocument/2006/relationships/image" Target="../media/image-4-21.pn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0" y="508000"/>
            <a:ext cx="118491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INDIA HACKATHON 2026</a:t>
            </a:r>
            <a:endParaRPr lang="en-US" sz="4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0" y="1634490"/>
          <a:ext cx="13716000" cy="914400"/>
        </p:xfrm>
        <a:graphic>
          <a:graphicData uri="http://schemas.openxmlformats.org/drawingml/2006/table">
            <a:tbl>
              <a:tblPr/>
              <a:tblGrid>
                <a:gridCol w="3841750"/>
                <a:gridCol w="8007350"/>
              </a:tblGrid>
              <a:tr h="151511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Problem Statement ID</a:t>
                      </a:r>
                      <a:endParaRPr lang="en-US" sz="188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0160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1A2F57"/>
                          </a:solidFill>
                          <a:latin typeface="Bookman Old Style" pitchFamily="34" charset="0"/>
                          <a:ea typeface="Bookman Old Style" pitchFamily="34" charset="-122"/>
                          <a:cs typeface="Bookman Old Style" pitchFamily="34" charset="-120"/>
                        </a:rPr>
                        <a:t>SIH26102</a:t>
                      </a:r>
                      <a:endParaRPr lang="en-US" sz="1880" dirty="0">
                        <a:latin typeface="Bookman Old Style" charset="0"/>
                        <a:ea typeface="Bookman Old Style" charset="0"/>
                        <a:cs typeface="Bookman Old Style" charset="0"/>
                      </a:endParaRPr>
                    </a:p>
                  </a:txBody>
                  <a:tcPr marL="101600" marR="1016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3589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Problem Statement Title</a:t>
                      </a:r>
                      <a:endParaRPr lang="en-US" sz="188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0160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1A2F57"/>
                          </a:solidFill>
                          <a:latin typeface="Bookman Old Style" pitchFamily="34" charset="0"/>
                          <a:ea typeface="Bookman Old Style" pitchFamily="34" charset="-122"/>
                          <a:cs typeface="Bookman Old Style" pitchFamily="34" charset="-120"/>
                        </a:rPr>
                        <a:t>Development of an AI-powered system to detect anomalies, fraud, and inefficiencies in MPLAD Scheme implementation regd.</a:t>
                      </a:r>
                      <a:endParaRPr lang="en-US" sz="1880" dirty="0">
                        <a:latin typeface="Bookman Old Style" charset="0"/>
                        <a:ea typeface="Bookman Old Style" charset="0"/>
                        <a:cs typeface="Bookman Old Style" charset="0"/>
                      </a:endParaRPr>
                    </a:p>
                  </a:txBody>
                  <a:tcPr marL="101600" marR="1016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Organisation</a:t>
                      </a:r>
                      <a:endParaRPr lang="en-US" sz="188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0160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1A2F57"/>
                          </a:solidFill>
                          <a:latin typeface="Bookman Old Style" pitchFamily="34" charset="0"/>
                          <a:ea typeface="Bookman Old Style" pitchFamily="34" charset="-122"/>
                          <a:cs typeface="Bookman Old Style" pitchFamily="34" charset="-120"/>
                        </a:rPr>
                        <a:t>Ministry of Statistics &amp; Programme Implementation (MoSPI)</a:t>
                      </a:r>
                      <a:endParaRPr lang="en-US" sz="1880" dirty="0">
                        <a:latin typeface="Bookman Old Style" charset="0"/>
                        <a:ea typeface="Bookman Old Style" charset="0"/>
                        <a:cs typeface="Bookman Old Style" charset="0"/>
                      </a:endParaRPr>
                    </a:p>
                  </a:txBody>
                  <a:tcPr marL="101600" marR="1016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16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Theme</a:t>
                      </a:r>
                      <a:endParaRPr lang="en-US" sz="188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0160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1A2F57"/>
                          </a:solidFill>
                          <a:latin typeface="Bookman Old Style" pitchFamily="34" charset="0"/>
                          <a:ea typeface="Bookman Old Style" pitchFamily="34" charset="-122"/>
                          <a:cs typeface="Bookman Old Style" pitchFamily="34" charset="-120"/>
                        </a:rPr>
                        <a:t>Smart Automation</a:t>
                      </a:r>
                      <a:endParaRPr lang="en-US" sz="1880" dirty="0">
                        <a:latin typeface="Bookman Old Style" charset="0"/>
                        <a:ea typeface="Bookman Old Style" charset="0"/>
                        <a:cs typeface="Bookman Old Style" charset="0"/>
                      </a:endParaRPr>
                    </a:p>
                  </a:txBody>
                  <a:tcPr marL="101600" marR="1016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PS Category</a:t>
                      </a:r>
                      <a:endParaRPr lang="en-US" sz="188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0160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1A2F57"/>
                          </a:solidFill>
                          <a:latin typeface="Bookman Old Style" pitchFamily="34" charset="0"/>
                          <a:ea typeface="Bookman Old Style" pitchFamily="34" charset="-122"/>
                          <a:cs typeface="Bookman Old Style" pitchFamily="34" charset="-120"/>
                        </a:rPr>
                        <a:t>Software</a:t>
                      </a:r>
                      <a:endParaRPr lang="en-US" sz="1880" dirty="0">
                        <a:latin typeface="Bookman Old Style" charset="0"/>
                        <a:ea typeface="Bookman Old Style" charset="0"/>
                        <a:cs typeface="Bookman Old Style" charset="0"/>
                      </a:endParaRPr>
                    </a:p>
                  </a:txBody>
                  <a:tcPr marL="101600" marR="1016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033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Team ID</a:t>
                      </a:r>
                      <a:endParaRPr lang="en-US" sz="188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0160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1A2F57"/>
                          </a:solidFill>
                          <a:latin typeface="Bookman Old Style" pitchFamily="34" charset="0"/>
                          <a:ea typeface="Bookman Old Style" pitchFamily="34" charset="-122"/>
                          <a:cs typeface="Bookman Old Style" pitchFamily="34" charset="-120"/>
                        </a:rPr>
                        <a:t>121911</a:t>
                      </a:r>
                      <a:endParaRPr lang="en-US" sz="1880" dirty="0">
                        <a:latin typeface="Bookman Old Style" charset="0"/>
                        <a:ea typeface="Bookman Old Style" charset="0"/>
                        <a:cs typeface="Bookman Old Style" charset="0"/>
                      </a:endParaRPr>
                    </a:p>
                  </a:txBody>
                  <a:tcPr marL="101600" marR="1016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77419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Team Name</a:t>
                      </a:r>
                      <a:endParaRPr lang="en-US" sz="188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10160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80" b="1" dirty="0">
                          <a:solidFill>
                            <a:srgbClr val="1A2F57"/>
                          </a:solidFill>
                          <a:latin typeface="Bookman Old Style" pitchFamily="34" charset="0"/>
                          <a:ea typeface="Bookman Old Style" pitchFamily="34" charset="-122"/>
                          <a:cs typeface="Bookman Old Style" pitchFamily="34" charset="-120"/>
                        </a:rPr>
                        <a:t>NeuralNexus</a:t>
                      </a:r>
                      <a:endParaRPr lang="en-US" sz="1880" dirty="0">
                        <a:latin typeface="Bookman Old Style" charset="0"/>
                        <a:ea typeface="Bookman Old Style" charset="0"/>
                        <a:cs typeface="Bookman Old Style" charset="0"/>
                      </a:endParaRPr>
                    </a:p>
                  </a:txBody>
                  <a:tcPr marL="101600" marR="1016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11855450" y="0"/>
            <a:ext cx="6432550" cy="10287000"/>
          </a:xfrm>
          <a:prstGeom prst="rect">
            <a:avLst/>
          </a:prstGeom>
          <a:solidFill>
            <a:srgbClr val="2A4D88"/>
          </a:solidFill>
          <a:ln/>
        </p:spPr>
      </p:sp>
      <p:sp>
        <p:nvSpPr>
          <p:cNvPr id="5" name="Shape 2"/>
          <p:cNvSpPr/>
          <p:nvPr/>
        </p:nvSpPr>
        <p:spPr>
          <a:xfrm>
            <a:off x="12608560" y="744220"/>
            <a:ext cx="4953000" cy="2419350"/>
          </a:xfrm>
          <a:prstGeom prst="roundRect">
            <a:avLst>
              <a:gd name="adj" fmla="val 5774"/>
            </a:avLst>
          </a:prstGeom>
          <a:solidFill>
            <a:srgbClr val="FFFFFF"/>
          </a:solidFill>
          <a:ln/>
        </p:spPr>
      </p:sp>
      <p:pic>
        <p:nvPicPr>
          <p:cNvPr id="6" name="Image 0" descr="C:\Users\abhim\drishti\docs\deck\assets\sih_logo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93700" y="952500"/>
            <a:ext cx="3962400" cy="18719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1855450" y="4546600"/>
            <a:ext cx="643255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DRISHTI</a:t>
            </a:r>
            <a:endParaRPr lang="en-US" sz="6200" dirty="0"/>
          </a:p>
        </p:txBody>
      </p:sp>
      <p:sp>
        <p:nvSpPr>
          <p:cNvPr id="8" name="Text 4"/>
          <p:cNvSpPr txBox="1"/>
          <p:nvPr/>
        </p:nvSpPr>
        <p:spPr>
          <a:xfrm>
            <a:off x="11855450" y="5588000"/>
            <a:ext cx="643255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>
                <a:solidFill>
                  <a:srgbClr val="B1BB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AI-eye on every MPLADS rupee</a:t>
            </a:r>
            <a:endParaRPr lang="en-US" sz="2850" dirty="0"/>
          </a:p>
        </p:txBody>
      </p:sp>
      <p:sp>
        <p:nvSpPr>
          <p:cNvPr id="9" name="Text 5"/>
          <p:cNvSpPr txBox="1"/>
          <p:nvPr/>
        </p:nvSpPr>
        <p:spPr>
          <a:xfrm>
            <a:off x="11855450" y="6350000"/>
            <a:ext cx="6432550" cy="121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50" i="1" dirty="0">
                <a:solidFill>
                  <a:srgbClr val="D9D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anomalies. Explain risks.</a:t>
            </a:r>
            <a:endParaRPr lang="en-US" sz="2750" dirty="0"/>
          </a:p>
          <a:p>
            <a:pPr algn="ctr" indent="0" marL="0">
              <a:buNone/>
            </a:pPr>
            <a:r>
              <a:rPr lang="en-US" sz="2750" i="1" dirty="0">
                <a:solidFill>
                  <a:srgbClr val="D9D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smarter oversight of public</a:t>
            </a:r>
            <a:endParaRPr lang="en-US" sz="2750" dirty="0"/>
          </a:p>
          <a:p>
            <a:pPr algn="ctr" indent="0" marL="0">
              <a:buNone/>
            </a:pPr>
            <a:r>
              <a:rPr lang="en-US" sz="2750" i="1" dirty="0">
                <a:solidFill>
                  <a:srgbClr val="D9D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funds.</a:t>
            </a:r>
            <a:endParaRPr lang="en-US" sz="2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6090" y="287020"/>
            <a:ext cx="2153920" cy="934720"/>
          </a:xfrm>
          <a:prstGeom prst="ellipse">
            <a:avLst/>
          </a:prstGeom>
          <a:solidFill>
            <a:srgbClr val="FFFFFF"/>
          </a:solidFill>
          <a:ln w="57150">
            <a:solidFill>
              <a:srgbClr val="2A4D8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66090" y="287020"/>
            <a:ext cx="2153920" cy="93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NeuralNexus</a:t>
            </a:r>
            <a:endParaRPr lang="en-US" sz="2050" dirty="0"/>
          </a:p>
        </p:txBody>
      </p:sp>
      <p:pic>
        <p:nvPicPr>
          <p:cNvPr id="4" name="Image 0" descr="C:\Users\abhim\drishti\docs\deck\assets\drishti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42200" y="228600"/>
            <a:ext cx="1117600" cy="9169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597900" y="3302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DRISHTI</a:t>
            </a:r>
            <a:endParaRPr lang="en-US" sz="4200" dirty="0"/>
          </a:p>
        </p:txBody>
      </p:sp>
      <p:pic>
        <p:nvPicPr>
          <p:cNvPr id="6" name="Image 1" descr="C:\Users\abhim\drishti\docs\deck\assets\sih_logo_w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92400" y="76200"/>
            <a:ext cx="2705100" cy="12776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9756140"/>
            <a:ext cx="18288000" cy="533400"/>
          </a:xfrm>
          <a:prstGeom prst="rect">
            <a:avLst/>
          </a:prstGeom>
          <a:solidFill>
            <a:srgbClr val="2A4D88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5969000" y="98806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– Template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17018000" y="9880600"/>
            <a:ext cx="673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50" dirty="0"/>
          </a:p>
        </p:txBody>
      </p:sp>
      <p:sp>
        <p:nvSpPr>
          <p:cNvPr id="10" name="Shape 6"/>
          <p:cNvSpPr/>
          <p:nvPr/>
        </p:nvSpPr>
        <p:spPr>
          <a:xfrm>
            <a:off x="607060" y="1609090"/>
            <a:ext cx="17072610" cy="1144270"/>
          </a:xfrm>
          <a:prstGeom prst="roundRect">
            <a:avLst>
              <a:gd name="adj" fmla="val 12209"/>
            </a:avLst>
          </a:prstGeom>
          <a:solidFill>
            <a:srgbClr val="EDF0F5"/>
          </a:solidFill>
          <a:ln/>
        </p:spPr>
      </p:sp>
      <p:sp>
        <p:nvSpPr>
          <p:cNvPr id="11" name="Shape 7"/>
          <p:cNvSpPr/>
          <p:nvPr/>
        </p:nvSpPr>
        <p:spPr>
          <a:xfrm>
            <a:off x="607060" y="1609090"/>
            <a:ext cx="3244850" cy="1144270"/>
          </a:xfrm>
          <a:prstGeom prst="roundRect">
            <a:avLst>
              <a:gd name="adj" fmla="val 12209"/>
            </a:avLst>
          </a:prstGeom>
          <a:solidFill>
            <a:srgbClr val="2A4D88"/>
          </a:solidFill>
          <a:ln/>
        </p:spPr>
      </p:sp>
      <p:pic>
        <p:nvPicPr>
          <p:cNvPr id="12" name="Image 2" descr="C:\Users\abhim\drishti\docs\deck\assets\icons\lightbulb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600" y="1955800"/>
            <a:ext cx="431800" cy="4318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47800" y="1866900"/>
            <a:ext cx="2286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PROPOSED</a:t>
            </a:r>
            <a:endParaRPr lang="en-US" sz="1800" dirty="0"/>
          </a:p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4114800" y="1701800"/>
            <a:ext cx="13360400" cy="965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DRISHTI</a:t>
            </a:r>
            <a:pPr algn="l" indent="0" marL="0">
              <a:buNone/>
            </a:pPr>
            <a:r>
              <a:rPr lang="en-US" sz="17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an AI-powered risk-intelligence layer on top of </a:t>
            </a:r>
            <a:pPr algn="l" indent="0" marL="0">
              <a:buNone/>
            </a:pPr>
            <a:r>
              <a:rPr lang="en-US" sz="172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eSAKSHI</a:t>
            </a:r>
            <a:pPr algn="l" indent="0" marL="0">
              <a:buNone/>
            </a:pPr>
            <a:r>
              <a:rPr lang="en-US" sz="17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pPr algn="l" indent="0" marL="0">
              <a:buNone/>
            </a:pPr>
            <a:r>
              <a:rPr lang="en-US" sz="17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AI agents</a:t>
            </a:r>
            <a:pPr algn="l" indent="0" marL="0">
              <a:buNone/>
            </a:pPr>
            <a:r>
              <a:rPr lang="en-US" sz="17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check every MPLADS work at every stage — before sanction, during construction, on money &amp; time, and after completion — reading not just the records but the </a:t>
            </a:r>
            <a:pPr algn="l" indent="0" marL="0">
              <a:buNone/>
            </a:pPr>
            <a:r>
              <a:rPr lang="en-US" sz="172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certificates, bills and geo-tagged photos</a:t>
            </a:r>
            <a:pPr algn="l" indent="0" marL="0">
              <a:buNone/>
            </a:pPr>
            <a:r>
              <a:rPr lang="en-US" sz="17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already on eSAKSHI, and turn what they find into a </a:t>
            </a:r>
            <a:pPr algn="l" indent="0" marL="0">
              <a:buNone/>
            </a:pPr>
            <a:r>
              <a:rPr lang="en-US" sz="17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inspection plan</a:t>
            </a:r>
            <a:pPr algn="l" indent="0" marL="0">
              <a:buNone/>
            </a:pPr>
            <a:r>
              <a:rPr lang="en-US" sz="17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District Authorities.</a:t>
            </a:r>
            <a:endParaRPr lang="en-US" sz="1720" dirty="0"/>
          </a:p>
        </p:txBody>
      </p:sp>
      <p:sp>
        <p:nvSpPr>
          <p:cNvPr id="15" name="Shape 10"/>
          <p:cNvSpPr/>
          <p:nvPr/>
        </p:nvSpPr>
        <p:spPr>
          <a:xfrm>
            <a:off x="607060" y="3350260"/>
            <a:ext cx="5430520" cy="3585210"/>
          </a:xfrm>
          <a:prstGeom prst="roundRect">
            <a:avLst>
              <a:gd name="adj" fmla="val 3897"/>
            </a:avLst>
          </a:prstGeom>
          <a:solidFill>
            <a:srgbClr val="EDF0F5"/>
          </a:solidFill>
          <a:ln/>
        </p:spPr>
      </p:sp>
      <p:sp>
        <p:nvSpPr>
          <p:cNvPr id="16" name="Shape 11"/>
          <p:cNvSpPr/>
          <p:nvPr/>
        </p:nvSpPr>
        <p:spPr>
          <a:xfrm>
            <a:off x="854710" y="3075940"/>
            <a:ext cx="3653790" cy="567690"/>
          </a:xfrm>
          <a:prstGeom prst="roundRect">
            <a:avLst>
              <a:gd name="adj" fmla="val 50000"/>
            </a:avLst>
          </a:prstGeom>
          <a:solidFill>
            <a:srgbClr val="2A4D88"/>
          </a:solidFill>
          <a:ln/>
        </p:spPr>
      </p:sp>
      <p:pic>
        <p:nvPicPr>
          <p:cNvPr id="17" name="Image 3" descr="C:\Users\abhim\drishti\docs\deck\assets\icons\bulls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6160" y="3187700"/>
            <a:ext cx="317500" cy="3175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449070" y="3086100"/>
            <a:ext cx="301879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DETAILED EXPLANATION</a:t>
            </a:r>
            <a:endParaRPr lang="en-US" sz="1580" dirty="0"/>
          </a:p>
        </p:txBody>
      </p:sp>
      <p:sp>
        <p:nvSpPr>
          <p:cNvPr id="19" name="Text 13"/>
          <p:cNvSpPr txBox="1"/>
          <p:nvPr/>
        </p:nvSpPr>
        <p:spPr>
          <a:xfrm>
            <a:off x="1102360" y="3771900"/>
            <a:ext cx="4762500" cy="309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specialist agents</a:t>
            </a:r>
            <a:pPr algn="l" indent="0" marL="0">
              <a:buNone/>
            </a:pPr>
            <a:r>
              <a:rPr lang="en-US" sz="18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checks one kind of problem CAG audits have found — cost, duplicates, delays, fake evidence.</a:t>
            </a:r>
            <a:endParaRPr lang="en-US" sz="1820" dirty="0"/>
          </a:p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evidence</a:t>
            </a:r>
            <a:pPr algn="l" indent="0" marL="0">
              <a:buNone/>
            </a:pPr>
            <a:r>
              <a:rPr lang="en-US" sz="18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certificates, bills, Hindi utilisation certificates and geo-tagged photos.</a:t>
            </a:r>
            <a:endParaRPr lang="en-US" sz="1820" dirty="0"/>
          </a:p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Risk Score (0–100)</a:t>
            </a:r>
            <a:pPr algn="l" indent="0" marL="0">
              <a:buNone/>
            </a:pPr>
            <a:r>
              <a:rPr lang="en-US" sz="18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fuses all agents + top-3 reasons in plain Hindi/English.</a:t>
            </a:r>
            <a:endParaRPr lang="en-US" sz="1820" dirty="0"/>
          </a:p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Planner + Field App</a:t>
            </a:r>
            <a:pPr algn="l" indent="0" marL="0">
              <a:buNone/>
            </a:pPr>
            <a:r>
              <a:rPr lang="en-US" sz="18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works for mandatory inspections, routed; verdicts retrain the agents.</a:t>
            </a:r>
            <a:endParaRPr lang="en-US" sz="1820" dirty="0"/>
          </a:p>
        </p:txBody>
      </p:sp>
      <p:sp>
        <p:nvSpPr>
          <p:cNvPr id="20" name="Shape 14"/>
          <p:cNvSpPr/>
          <p:nvPr/>
        </p:nvSpPr>
        <p:spPr>
          <a:xfrm>
            <a:off x="6428740" y="3350260"/>
            <a:ext cx="5430520" cy="3585210"/>
          </a:xfrm>
          <a:prstGeom prst="roundRect">
            <a:avLst>
              <a:gd name="adj" fmla="val 3897"/>
            </a:avLst>
          </a:prstGeom>
          <a:solidFill>
            <a:srgbClr val="EDF0F5"/>
          </a:solidFill>
          <a:ln/>
        </p:spPr>
      </p:sp>
      <p:sp>
        <p:nvSpPr>
          <p:cNvPr id="21" name="Shape 15"/>
          <p:cNvSpPr/>
          <p:nvPr/>
        </p:nvSpPr>
        <p:spPr>
          <a:xfrm>
            <a:off x="6676390" y="3075940"/>
            <a:ext cx="4805680" cy="567690"/>
          </a:xfrm>
          <a:prstGeom prst="roundRect">
            <a:avLst>
              <a:gd name="adj" fmla="val 50000"/>
            </a:avLst>
          </a:prstGeom>
          <a:solidFill>
            <a:srgbClr val="2A4D88"/>
          </a:solidFill>
          <a:ln/>
        </p:spPr>
      </p:sp>
      <p:pic>
        <p:nvPicPr>
          <p:cNvPr id="22" name="Image 4" descr="C:\Users\abhim\drishti\docs\deck\assets\icons\circle-check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47840" y="3187700"/>
            <a:ext cx="317500" cy="31750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270750" y="3086100"/>
            <a:ext cx="417068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ADDRESSES THE PROBLEM</a:t>
            </a:r>
            <a:endParaRPr lang="en-US" sz="1580" dirty="0"/>
          </a:p>
        </p:txBody>
      </p:sp>
      <p:sp>
        <p:nvSpPr>
          <p:cNvPr id="24" name="Text 17"/>
          <p:cNvSpPr txBox="1"/>
          <p:nvPr/>
        </p:nvSpPr>
        <p:spPr>
          <a:xfrm>
            <a:off x="6924040" y="3771900"/>
            <a:ext cx="4762500" cy="309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monitoring can't scale</a:t>
            </a:r>
            <a:pPr algn="l" indent="0" marL="0">
              <a:buNone/>
            </a:pPr>
            <a:r>
              <a:rPr lang="en-US" sz="18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 screened automatically, every day.</a:t>
            </a:r>
            <a:endParaRPr lang="en-US" sz="1820" dirty="0"/>
          </a:p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moves before checks</a:t>
            </a:r>
            <a:pPr algn="l" indent="0" marL="0">
              <a:buNone/>
            </a:pPr>
            <a:r>
              <a:rPr lang="en-US" sz="18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pre-sanction check inside the 45-day window.</a:t>
            </a:r>
            <a:endParaRPr lang="en-US" sz="1820" dirty="0"/>
          </a:p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uploaded, never checked</a:t>
            </a:r>
            <a:pPr algn="l" indent="0" marL="0">
              <a:buNone/>
            </a:pPr>
            <a:r>
              <a:rPr lang="en-US" sz="18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photo &amp; bill read, compared and placed on the map.</a:t>
            </a:r>
            <a:endParaRPr lang="en-US" sz="1820" dirty="0"/>
          </a:p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alerts, few officers</a:t>
            </a:r>
            <a:pPr algn="l" indent="0" marL="0">
              <a:buNone/>
            </a:pPr>
            <a:r>
              <a:rPr lang="en-US" sz="182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risk-ranked queue + optimised visit route.</a:t>
            </a:r>
            <a:endParaRPr lang="en-US" sz="1820" dirty="0"/>
          </a:p>
        </p:txBody>
      </p:sp>
      <p:sp>
        <p:nvSpPr>
          <p:cNvPr id="25" name="Shape 18"/>
          <p:cNvSpPr/>
          <p:nvPr/>
        </p:nvSpPr>
        <p:spPr>
          <a:xfrm>
            <a:off x="12250420" y="3350260"/>
            <a:ext cx="5430520" cy="3585210"/>
          </a:xfrm>
          <a:prstGeom prst="roundRect">
            <a:avLst>
              <a:gd name="adj" fmla="val 3897"/>
            </a:avLst>
          </a:prstGeom>
          <a:solidFill>
            <a:srgbClr val="EDF0F5"/>
          </a:solidFill>
          <a:ln/>
        </p:spPr>
      </p:sp>
      <p:sp>
        <p:nvSpPr>
          <p:cNvPr id="26" name="Shape 19"/>
          <p:cNvSpPr/>
          <p:nvPr/>
        </p:nvSpPr>
        <p:spPr>
          <a:xfrm>
            <a:off x="12498070" y="3075940"/>
            <a:ext cx="4086860" cy="567690"/>
          </a:xfrm>
          <a:prstGeom prst="roundRect">
            <a:avLst>
              <a:gd name="adj" fmla="val 50000"/>
            </a:avLst>
          </a:prstGeom>
          <a:solidFill>
            <a:srgbClr val="D9962B"/>
          </a:solidFill>
          <a:ln/>
        </p:spPr>
      </p:sp>
      <p:pic>
        <p:nvPicPr>
          <p:cNvPr id="27" name="Image 5" descr="C:\Users\abhim\drishti\docs\deck\assets\icons\star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9520" y="3187700"/>
            <a:ext cx="317500" cy="317500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3092430" y="3086100"/>
            <a:ext cx="3451860" cy="546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&amp; UNIQUENESS</a:t>
            </a:r>
            <a:endParaRPr lang="en-US" sz="1580" dirty="0"/>
          </a:p>
        </p:txBody>
      </p:sp>
      <p:sp>
        <p:nvSpPr>
          <p:cNvPr id="29" name="Text 21"/>
          <p:cNvSpPr txBox="1"/>
          <p:nvPr/>
        </p:nvSpPr>
        <p:spPr>
          <a:xfrm>
            <a:off x="12745720" y="3771900"/>
            <a:ext cx="4762500" cy="309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B87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eSAKSHI's own evidence</a:t>
            </a:r>
            <a:pPr algn="l" indent="0" marL="0">
              <a:buNone/>
            </a:pPr>
            <a:r>
              <a:rPr lang="en-US" sz="1820" b="1" dirty="0">
                <a:solidFill>
                  <a:srgbClr val="B87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spots reused photos, wrong locations, missing plaques and bills that don't add up.</a:t>
            </a:r>
            <a:endParaRPr lang="en-US" sz="1820" dirty="0"/>
          </a:p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B87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Proven, then measured</a:t>
            </a:r>
            <a:pPr algn="l" indent="0" marL="0">
              <a:buNone/>
            </a:pPr>
            <a:r>
              <a:rPr lang="en-US" sz="1820" b="1" dirty="0">
                <a:solidFill>
                  <a:srgbClr val="B87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India already runs at scale (PMAY-G, Amrit Sarovar); each agent must beat a baseline first.</a:t>
            </a:r>
            <a:endParaRPr lang="en-US" sz="1820" dirty="0"/>
          </a:p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B87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Clause-cited, human-in-the-loop</a:t>
            </a:r>
            <a:pPr algn="l" indent="0" marL="0">
              <a:buNone/>
            </a:pPr>
            <a:r>
              <a:rPr lang="en-US" sz="1820" b="1" dirty="0">
                <a:solidFill>
                  <a:srgbClr val="B87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flag cites the guideline; flags for review, never accuses.</a:t>
            </a:r>
            <a:endParaRPr lang="en-US" sz="1820" dirty="0"/>
          </a:p>
          <a:p>
            <a:pPr algn="l" marL="177800" indent="-177800">
              <a:buSzPct val="100000"/>
              <a:buChar char="•"/>
            </a:pPr>
            <a:r>
              <a:rPr lang="en-US" sz="1820" b="1" dirty="0">
                <a:solidFill>
                  <a:srgbClr val="B87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Learns from the field</a:t>
            </a:r>
            <a:pPr algn="l" indent="0" marL="0">
              <a:buNone/>
            </a:pPr>
            <a:r>
              <a:rPr lang="en-US" sz="1820" b="1" dirty="0">
                <a:solidFill>
                  <a:srgbClr val="B875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pPr algn="l" indent="0" marL="0">
              <a:buNone/>
            </a:pPr>
            <a:r>
              <a:rPr lang="en-US" sz="182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verdicts become labels, solving the “no fraud labels” problem.</a:t>
            </a:r>
            <a:endParaRPr lang="en-US" sz="1820" dirty="0"/>
          </a:p>
        </p:txBody>
      </p:sp>
      <p:sp>
        <p:nvSpPr>
          <p:cNvPr id="30" name="Text 22"/>
          <p:cNvSpPr txBox="1"/>
          <p:nvPr/>
        </p:nvSpPr>
        <p:spPr>
          <a:xfrm>
            <a:off x="617220" y="7188200"/>
            <a:ext cx="1651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AI AGENTS ACROSS THE LIFE OF A WORK  —  EVERY PS REQUIREMENT COVERED</a:t>
            </a:r>
            <a:endParaRPr lang="en-US" sz="1720" dirty="0"/>
          </a:p>
        </p:txBody>
      </p:sp>
      <p:sp>
        <p:nvSpPr>
          <p:cNvPr id="31" name="Shape 23"/>
          <p:cNvSpPr/>
          <p:nvPr/>
        </p:nvSpPr>
        <p:spPr>
          <a:xfrm>
            <a:off x="607060" y="7569200"/>
            <a:ext cx="4077970" cy="203200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59460" y="77089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33" name="Image 6" descr="C:\Users\abhim\drishti\docs\deck\assets\icons\file-signature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760" y="7823200"/>
            <a:ext cx="228600" cy="22860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318260" y="7708900"/>
            <a:ext cx="32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SANCTION</a:t>
            </a:r>
            <a:endParaRPr lang="en-US" sz="1650" dirty="0"/>
          </a:p>
        </p:txBody>
      </p:sp>
      <p:sp>
        <p:nvSpPr>
          <p:cNvPr id="35" name="Text 26"/>
          <p:cNvSpPr txBox="1"/>
          <p:nvPr/>
        </p:nvSpPr>
        <p:spPr>
          <a:xfrm>
            <a:off x="784860" y="8267700"/>
            <a:ext cx="3773170" cy="75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works the rules don't allow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&amp; Split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funded twice, or split up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cost overruns &amp; padded estimates</a:t>
            </a:r>
            <a:endParaRPr lang="en-US" sz="1450" dirty="0"/>
          </a:p>
        </p:txBody>
      </p:sp>
      <p:sp>
        <p:nvSpPr>
          <p:cNvPr id="36" name="Shape 27"/>
          <p:cNvSpPr/>
          <p:nvPr/>
        </p:nvSpPr>
        <p:spPr>
          <a:xfrm>
            <a:off x="4939030" y="7569200"/>
            <a:ext cx="4077970" cy="203200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5091430" y="77089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38" name="Image 7" descr="C:\Users\abhim\drishti\docs\deck\assets\icons\helmet-safety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05730" y="7823200"/>
            <a:ext cx="228600" cy="22860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5650230" y="7708900"/>
            <a:ext cx="32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CONSTRUCTION</a:t>
            </a:r>
            <a:endParaRPr lang="en-US" sz="1650" dirty="0"/>
          </a:p>
        </p:txBody>
      </p:sp>
      <p:sp>
        <p:nvSpPr>
          <p:cNvPr id="40" name="Text 30"/>
          <p:cNvSpPr txBox="1"/>
          <p:nvPr/>
        </p:nvSpPr>
        <p:spPr>
          <a:xfrm>
            <a:off x="5116830" y="8267700"/>
            <a:ext cx="3773170" cy="122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Progress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 vs photo, plaque check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Forensics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reused or edited photos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Geo-Location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 taken elsewhere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bills that don't add up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ghost ponds &amp; long roads</a:t>
            </a:r>
            <a:endParaRPr lang="en-US" sz="1450" dirty="0"/>
          </a:p>
        </p:txBody>
      </p:sp>
      <p:sp>
        <p:nvSpPr>
          <p:cNvPr id="41" name="Shape 31"/>
          <p:cNvSpPr/>
          <p:nvPr/>
        </p:nvSpPr>
        <p:spPr>
          <a:xfrm>
            <a:off x="9271000" y="7569200"/>
            <a:ext cx="4077970" cy="203200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9423400" y="77089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43" name="Image 8" descr="C:\Users\abhim\drishti\docs\deck\assets\icons\chart-line_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37700" y="7823200"/>
            <a:ext cx="228600" cy="228600"/>
          </a:xfrm>
          <a:prstGeom prst="rect">
            <a:avLst/>
          </a:prstGeom>
        </p:spPr>
      </p:pic>
      <p:sp>
        <p:nvSpPr>
          <p:cNvPr id="44" name="Text 33"/>
          <p:cNvSpPr txBox="1"/>
          <p:nvPr/>
        </p:nvSpPr>
        <p:spPr>
          <a:xfrm>
            <a:off x="9982200" y="7708900"/>
            <a:ext cx="32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TIME</a:t>
            </a:r>
            <a:endParaRPr lang="en-US" sz="1650" dirty="0"/>
          </a:p>
        </p:txBody>
      </p:sp>
      <p:sp>
        <p:nvSpPr>
          <p:cNvPr id="45" name="Text 34"/>
          <p:cNvSpPr txBox="1"/>
          <p:nvPr/>
        </p:nvSpPr>
        <p:spPr>
          <a:xfrm>
            <a:off x="9448800" y="8267700"/>
            <a:ext cx="3773170" cy="755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Prediction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likely to miss 12 months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Flow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idle funds, year-end rush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Network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few firms win all</a:t>
            </a:r>
            <a:endParaRPr lang="en-US" sz="1450" dirty="0"/>
          </a:p>
        </p:txBody>
      </p:sp>
      <p:sp>
        <p:nvSpPr>
          <p:cNvPr id="46" name="Shape 35"/>
          <p:cNvSpPr/>
          <p:nvPr/>
        </p:nvSpPr>
        <p:spPr>
          <a:xfrm>
            <a:off x="13602970" y="7569200"/>
            <a:ext cx="4077970" cy="203200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47" name="Shape 36"/>
          <p:cNvSpPr/>
          <p:nvPr/>
        </p:nvSpPr>
        <p:spPr>
          <a:xfrm>
            <a:off x="13755370" y="77089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48" name="Image 9" descr="C:\Users\abhim\drishti\docs\deck\assets\icons\people-roof_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869670" y="7823200"/>
            <a:ext cx="228600" cy="228600"/>
          </a:xfrm>
          <a:prstGeom prst="rect">
            <a:avLst/>
          </a:prstGeom>
        </p:spPr>
      </p:pic>
      <p:sp>
        <p:nvSpPr>
          <p:cNvPr id="49" name="Text 37"/>
          <p:cNvSpPr txBox="1"/>
          <p:nvPr/>
        </p:nvSpPr>
        <p:spPr>
          <a:xfrm>
            <a:off x="14314170" y="7708900"/>
            <a:ext cx="32397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spc="1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COMPLETION</a:t>
            </a:r>
            <a:endParaRPr lang="en-US" sz="1650" dirty="0"/>
          </a:p>
        </p:txBody>
      </p:sp>
      <p:sp>
        <p:nvSpPr>
          <p:cNvPr id="50" name="Text 38"/>
          <p:cNvSpPr txBox="1"/>
          <p:nvPr/>
        </p:nvSpPr>
        <p:spPr>
          <a:xfrm>
            <a:off x="13780770" y="8267700"/>
            <a:ext cx="377317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Verification</a:t>
            </a:r>
            <a:pPr algn="l" indent="0" marL="0">
              <a:buNone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asset exists &amp; is used</a:t>
            </a:r>
            <a:endParaRPr lang="en-US" sz="1450" dirty="0"/>
          </a:p>
        </p:txBody>
      </p:sp>
      <p:sp>
        <p:nvSpPr>
          <p:cNvPr id="51" name="Shape 39"/>
          <p:cNvSpPr/>
          <p:nvPr/>
        </p:nvSpPr>
        <p:spPr>
          <a:xfrm>
            <a:off x="13780770" y="8661400"/>
            <a:ext cx="3722370" cy="0"/>
          </a:xfrm>
          <a:prstGeom prst="line">
            <a:avLst/>
          </a:prstGeom>
          <a:noFill/>
          <a:ln w="12700">
            <a:solidFill>
              <a:srgbClr val="B1BBC8"/>
            </a:solidFill>
            <a:prstDash val="solid"/>
          </a:ln>
        </p:spPr>
      </p:sp>
      <p:sp>
        <p:nvSpPr>
          <p:cNvPr id="52" name="Text 40"/>
          <p:cNvSpPr txBox="1"/>
          <p:nvPr/>
        </p:nvSpPr>
        <p:spPr>
          <a:xfrm>
            <a:off x="13780770" y="8763000"/>
            <a:ext cx="377317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Then, for every work:</a:t>
            </a:r>
            <a:endParaRPr lang="en-US" sz="1450" dirty="0"/>
          </a:p>
          <a:p>
            <a:pPr algn="l" indent="0" marL="0">
              <a:buNone/>
            </a:pPr>
            <a:r>
              <a:rPr lang="en-US" sz="14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Fusion · Inspection Planner · Ask DRISHTI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6090" y="287020"/>
            <a:ext cx="2153920" cy="934720"/>
          </a:xfrm>
          <a:prstGeom prst="ellipse">
            <a:avLst/>
          </a:prstGeom>
          <a:solidFill>
            <a:srgbClr val="FFFFFF"/>
          </a:solidFill>
          <a:ln w="57150">
            <a:solidFill>
              <a:srgbClr val="2A4D8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66090" y="287020"/>
            <a:ext cx="2153920" cy="93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NeuralNexus</a:t>
            </a:r>
            <a:endParaRPr lang="en-US" sz="2050" dirty="0"/>
          </a:p>
        </p:txBody>
      </p:sp>
      <p:sp>
        <p:nvSpPr>
          <p:cNvPr id="4" name="Text 2"/>
          <p:cNvSpPr txBox="1"/>
          <p:nvPr/>
        </p:nvSpPr>
        <p:spPr>
          <a:xfrm>
            <a:off x="3131820" y="381000"/>
            <a:ext cx="11430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APPROACH</a:t>
            </a:r>
            <a:endParaRPr lang="en-US" sz="4200" dirty="0"/>
          </a:p>
        </p:txBody>
      </p:sp>
      <p:pic>
        <p:nvPicPr>
          <p:cNvPr id="5" name="Image 0" descr="C:\Users\abhim\drishti\docs\deck\assets\sih_logo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400" y="76200"/>
            <a:ext cx="2705100" cy="1277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9756140"/>
            <a:ext cx="18288000" cy="533400"/>
          </a:xfrm>
          <a:prstGeom prst="rect">
            <a:avLst/>
          </a:prstGeom>
          <a:solidFill>
            <a:srgbClr val="2A4D8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69000" y="98806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– Template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7018000" y="9880600"/>
            <a:ext cx="673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617220" y="1549400"/>
            <a:ext cx="1143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WORKFLOW</a:t>
            </a:r>
            <a:endParaRPr lang="en-US" sz="1720" dirty="0"/>
          </a:p>
        </p:txBody>
      </p:sp>
      <p:sp>
        <p:nvSpPr>
          <p:cNvPr id="10" name="Shape 7"/>
          <p:cNvSpPr/>
          <p:nvPr/>
        </p:nvSpPr>
        <p:spPr>
          <a:xfrm>
            <a:off x="607060" y="1905000"/>
            <a:ext cx="3050540" cy="2108200"/>
          </a:xfrm>
          <a:prstGeom prst="roundRect">
            <a:avLst>
              <a:gd name="adj" fmla="val 6627"/>
            </a:avLst>
          </a:prstGeom>
          <a:solidFill>
            <a:srgbClr val="EDF0F5"/>
          </a:solidFill>
          <a:ln/>
        </p:spPr>
      </p:sp>
      <p:sp>
        <p:nvSpPr>
          <p:cNvPr id="11" name="Shape 8"/>
          <p:cNvSpPr/>
          <p:nvPr/>
        </p:nvSpPr>
        <p:spPr>
          <a:xfrm>
            <a:off x="810260" y="2082800"/>
            <a:ext cx="609600" cy="6096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12" name="Image 1" descr="C:\Users\abhim\drishti\docs\deck\assets\icons\databas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60" y="2235200"/>
            <a:ext cx="304800" cy="3048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768600" y="2082800"/>
            <a:ext cx="685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7C94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10260" y="2794000"/>
            <a:ext cx="26695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Ingestion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810260" y="3136900"/>
            <a:ext cx="272034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lakh eSAKSHI works</a:t>
            </a:r>
            <a:endParaRPr lang="en-US" sz="1450" dirty="0"/>
          </a:p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Certificates, bills &amp; photos</a:t>
            </a:r>
            <a:endParaRPr lang="en-US" sz="1450" dirty="0"/>
          </a:p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app &amp; citizen uploads</a:t>
            </a:r>
            <a:endParaRPr lang="en-US" sz="1450" dirty="0"/>
          </a:p>
        </p:txBody>
      </p:sp>
      <p:pic>
        <p:nvPicPr>
          <p:cNvPr id="16" name="Image 2" descr="C:\Users\abhim\drishti\docs\deck\assets\icons\arrow-right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6500" y="2819400"/>
            <a:ext cx="279400" cy="279400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4114800" y="1905000"/>
            <a:ext cx="3050540" cy="2108200"/>
          </a:xfrm>
          <a:prstGeom prst="roundRect">
            <a:avLst>
              <a:gd name="adj" fmla="val 6627"/>
            </a:avLst>
          </a:prstGeom>
          <a:solidFill>
            <a:srgbClr val="EDF0F5"/>
          </a:solidFill>
          <a:ln/>
        </p:spPr>
      </p:sp>
      <p:sp>
        <p:nvSpPr>
          <p:cNvPr id="18" name="Shape 13"/>
          <p:cNvSpPr/>
          <p:nvPr/>
        </p:nvSpPr>
        <p:spPr>
          <a:xfrm>
            <a:off x="4318000" y="2082800"/>
            <a:ext cx="609600" cy="6096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19" name="Image 3" descr="C:\Users\abhim\drishti\docs\deck\assets\icons\filter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0400" y="2235200"/>
            <a:ext cx="304800" cy="3048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276340" y="2082800"/>
            <a:ext cx="685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7C94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21" name="Text 15"/>
          <p:cNvSpPr txBox="1"/>
          <p:nvPr/>
        </p:nvSpPr>
        <p:spPr>
          <a:xfrm>
            <a:off x="4318000" y="2794000"/>
            <a:ext cx="26695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Validation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4318000" y="3136900"/>
            <a:ext cx="272034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&amp; amount checks</a:t>
            </a:r>
            <a:endParaRPr lang="en-US" sz="1450" dirty="0"/>
          </a:p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documents &amp; photo stamps</a:t>
            </a:r>
            <a:endParaRPr lang="en-US" sz="1450" dirty="0"/>
          </a:p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 names &amp; phone numbers</a:t>
            </a:r>
            <a:endParaRPr lang="en-US" sz="1450" dirty="0"/>
          </a:p>
        </p:txBody>
      </p:sp>
      <p:pic>
        <p:nvPicPr>
          <p:cNvPr id="23" name="Image 4" descr="C:\Users\abhim\drishti\docs\deck\assets\icons\arrow-right_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4240" y="2819400"/>
            <a:ext cx="279400" cy="27940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7621270" y="1905000"/>
            <a:ext cx="3050540" cy="2108200"/>
          </a:xfrm>
          <a:prstGeom prst="roundRect">
            <a:avLst>
              <a:gd name="adj" fmla="val 6627"/>
            </a:avLst>
          </a:prstGeom>
          <a:solidFill>
            <a:srgbClr val="2A4D88"/>
          </a:solidFill>
          <a:ln/>
        </p:spPr>
      </p:sp>
      <p:sp>
        <p:nvSpPr>
          <p:cNvPr id="25" name="Shape 18"/>
          <p:cNvSpPr/>
          <p:nvPr/>
        </p:nvSpPr>
        <p:spPr>
          <a:xfrm>
            <a:off x="7824470" y="2082800"/>
            <a:ext cx="609600" cy="6096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6" name="Image 5" descr="C:\Users\abhim\drishti\docs\deck\assets\icons\brain_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6870" y="2235200"/>
            <a:ext cx="304800" cy="3048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782810" y="2082800"/>
            <a:ext cx="685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B1BB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28" name="Text 20"/>
          <p:cNvSpPr txBox="1"/>
          <p:nvPr/>
        </p:nvSpPr>
        <p:spPr>
          <a:xfrm>
            <a:off x="7824470" y="2794000"/>
            <a:ext cx="26695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AI Agents</a:t>
            </a:r>
            <a:endParaRPr lang="en-US" sz="1800" dirty="0"/>
          </a:p>
        </p:txBody>
      </p:sp>
      <p:sp>
        <p:nvSpPr>
          <p:cNvPr id="29" name="Text 21"/>
          <p:cNvSpPr txBox="1"/>
          <p:nvPr/>
        </p:nvSpPr>
        <p:spPr>
          <a:xfrm>
            <a:off x="7824470" y="3136900"/>
            <a:ext cx="272034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sanction (3)</a:t>
            </a:r>
            <a:endParaRPr lang="en-US" sz="1450" dirty="0"/>
          </a:p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construction (5)</a:t>
            </a:r>
            <a:endParaRPr lang="en-US" sz="1450" dirty="0"/>
          </a:p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&amp; time (3), after (1)</a:t>
            </a:r>
            <a:endParaRPr lang="en-US" sz="1450" dirty="0"/>
          </a:p>
        </p:txBody>
      </p:sp>
      <p:pic>
        <p:nvPicPr>
          <p:cNvPr id="30" name="Image 6" descr="C:\Users\abhim\drishti\docs\deck\assets\icons\arrow-right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60710" y="2819400"/>
            <a:ext cx="279400" cy="27940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11127740" y="1905000"/>
            <a:ext cx="3050540" cy="2108200"/>
          </a:xfrm>
          <a:prstGeom prst="roundRect">
            <a:avLst>
              <a:gd name="adj" fmla="val 6627"/>
            </a:avLst>
          </a:prstGeom>
          <a:solidFill>
            <a:srgbClr val="EDF0F5"/>
          </a:solidFill>
          <a:ln/>
        </p:spPr>
      </p:sp>
      <p:sp>
        <p:nvSpPr>
          <p:cNvPr id="32" name="Shape 23"/>
          <p:cNvSpPr/>
          <p:nvPr/>
        </p:nvSpPr>
        <p:spPr>
          <a:xfrm>
            <a:off x="11330940" y="2082800"/>
            <a:ext cx="609600" cy="6096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33" name="Image 7" descr="C:\Users\abhim\drishti\docs\deck\assets\icons\shield-halved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83340" y="2235200"/>
            <a:ext cx="304800" cy="3048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13289280" y="2082800"/>
            <a:ext cx="685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7C94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35" name="Text 25"/>
          <p:cNvSpPr txBox="1"/>
          <p:nvPr/>
        </p:nvSpPr>
        <p:spPr>
          <a:xfrm>
            <a:off x="11330940" y="2794000"/>
            <a:ext cx="26695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Fusion</a:t>
            </a:r>
            <a:endParaRPr lang="en-US" sz="1800" dirty="0"/>
          </a:p>
        </p:txBody>
      </p:sp>
      <p:sp>
        <p:nvSpPr>
          <p:cNvPr id="36" name="Text 26"/>
          <p:cNvSpPr txBox="1"/>
          <p:nvPr/>
        </p:nvSpPr>
        <p:spPr>
          <a:xfrm>
            <a:off x="11330940" y="3136900"/>
            <a:ext cx="272034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fusion → 0–100</a:t>
            </a:r>
            <a:endParaRPr lang="en-US" sz="1450" dirty="0"/>
          </a:p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reasons + evidence</a:t>
            </a:r>
            <a:endParaRPr lang="en-US" sz="1450" dirty="0"/>
          </a:p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/ Med / High / Critical</a:t>
            </a:r>
            <a:endParaRPr lang="en-US" sz="1450" dirty="0"/>
          </a:p>
        </p:txBody>
      </p:sp>
      <p:pic>
        <p:nvPicPr>
          <p:cNvPr id="37" name="Image 8" descr="C:\Users\abhim\drishti\docs\deck\assets\icons\arrow-right_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267180" y="2819400"/>
            <a:ext cx="279400" cy="2794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4634210" y="1905000"/>
            <a:ext cx="3050540" cy="2108200"/>
          </a:xfrm>
          <a:prstGeom prst="roundRect">
            <a:avLst>
              <a:gd name="adj" fmla="val 6627"/>
            </a:avLst>
          </a:prstGeom>
          <a:solidFill>
            <a:srgbClr val="EDF0F5"/>
          </a:solidFill>
          <a:ln/>
        </p:spPr>
      </p:sp>
      <p:sp>
        <p:nvSpPr>
          <p:cNvPr id="39" name="Shape 28"/>
          <p:cNvSpPr/>
          <p:nvPr/>
        </p:nvSpPr>
        <p:spPr>
          <a:xfrm>
            <a:off x="14837410" y="2082800"/>
            <a:ext cx="609600" cy="6096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40" name="Image 9" descr="C:\Users\abhim\drishti\docs\deck\assets\icons\desktop_w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989810" y="2235200"/>
            <a:ext cx="304800" cy="304800"/>
          </a:xfrm>
          <a:prstGeom prst="rect">
            <a:avLst/>
          </a:prstGeom>
        </p:spPr>
      </p:pic>
      <p:sp>
        <p:nvSpPr>
          <p:cNvPr id="41" name="Text 29"/>
          <p:cNvSpPr txBox="1"/>
          <p:nvPr/>
        </p:nvSpPr>
        <p:spPr>
          <a:xfrm>
            <a:off x="16795750" y="2082800"/>
            <a:ext cx="6858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7C94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42" name="Text 30"/>
          <p:cNvSpPr txBox="1"/>
          <p:nvPr/>
        </p:nvSpPr>
        <p:spPr>
          <a:xfrm>
            <a:off x="14837410" y="2794000"/>
            <a:ext cx="266954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&amp; Dashboards</a:t>
            </a:r>
            <a:endParaRPr lang="en-US" sz="1800" dirty="0"/>
          </a:p>
        </p:txBody>
      </p:sp>
      <p:sp>
        <p:nvSpPr>
          <p:cNvPr id="43" name="Text 31"/>
          <p:cNvSpPr txBox="1"/>
          <p:nvPr/>
        </p:nvSpPr>
        <p:spPr>
          <a:xfrm>
            <a:off x="14837410" y="3136900"/>
            <a:ext cx="272034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role-based views</a:t>
            </a:r>
            <a:endParaRPr lang="en-US" sz="1450" dirty="0"/>
          </a:p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plan + field app</a:t>
            </a:r>
            <a:endParaRPr lang="en-US" sz="1450" dirty="0"/>
          </a:p>
          <a:p>
            <a:pPr algn="l" marL="177800" indent="-177800">
              <a:buSzPct val="100000"/>
              <a:buChar char="•"/>
            </a:pPr>
            <a:r>
              <a:rPr lang="en-US" sz="14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/ email / PDF brief</a:t>
            </a:r>
            <a:endParaRPr lang="en-US" sz="1450" dirty="0"/>
          </a:p>
        </p:txBody>
      </p:sp>
      <p:sp>
        <p:nvSpPr>
          <p:cNvPr id="44" name="Text 32"/>
          <p:cNvSpPr txBox="1"/>
          <p:nvPr/>
        </p:nvSpPr>
        <p:spPr>
          <a:xfrm>
            <a:off x="617220" y="4191000"/>
            <a:ext cx="1143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AI AGENTS  —  HOW EACH ONE WORKS</a:t>
            </a:r>
            <a:endParaRPr lang="en-US" sz="1720" dirty="0"/>
          </a:p>
        </p:txBody>
      </p:sp>
      <p:sp>
        <p:nvSpPr>
          <p:cNvPr id="45" name="Text 33"/>
          <p:cNvSpPr txBox="1"/>
          <p:nvPr/>
        </p:nvSpPr>
        <p:spPr>
          <a:xfrm>
            <a:off x="12344400" y="4191000"/>
            <a:ext cx="533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720" dirty="0"/>
          </a:p>
        </p:txBody>
      </p:sp>
      <p:sp>
        <p:nvSpPr>
          <p:cNvPr id="46" name="Shape 34"/>
          <p:cNvSpPr/>
          <p:nvPr/>
        </p:nvSpPr>
        <p:spPr>
          <a:xfrm>
            <a:off x="607060" y="45466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47" name="Shape 35"/>
          <p:cNvSpPr/>
          <p:nvPr/>
        </p:nvSpPr>
        <p:spPr>
          <a:xfrm>
            <a:off x="734060" y="46736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48" name="Image 10" descr="C:\Users\abhim\drishti\docs\deck\assets\icons\scale-balanced_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360" y="4787900"/>
            <a:ext cx="228600" cy="228600"/>
          </a:xfrm>
          <a:prstGeom prst="rect">
            <a:avLst/>
          </a:prstGeom>
        </p:spPr>
      </p:pic>
      <p:sp>
        <p:nvSpPr>
          <p:cNvPr id="49" name="Text 36"/>
          <p:cNvSpPr txBox="1"/>
          <p:nvPr/>
        </p:nvSpPr>
        <p:spPr>
          <a:xfrm>
            <a:off x="1292860" y="46736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Eligibility</a:t>
            </a:r>
            <a:endParaRPr lang="en-US" sz="1550" dirty="0"/>
          </a:p>
        </p:txBody>
      </p:sp>
      <p:sp>
        <p:nvSpPr>
          <p:cNvPr id="50" name="Text 37"/>
          <p:cNvSpPr txBox="1"/>
          <p:nvPr/>
        </p:nvSpPr>
        <p:spPr>
          <a:xfrm>
            <a:off x="759460" y="52070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guideline rules + AI that reads the clause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the guidelines don't allow</a:t>
            </a:r>
            <a:endParaRPr lang="en-US" sz="1350" dirty="0"/>
          </a:p>
        </p:txBody>
      </p:sp>
      <p:sp>
        <p:nvSpPr>
          <p:cNvPr id="51" name="Shape 38"/>
          <p:cNvSpPr/>
          <p:nvPr/>
        </p:nvSpPr>
        <p:spPr>
          <a:xfrm>
            <a:off x="3490595" y="45466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52" name="Shape 39"/>
          <p:cNvSpPr/>
          <p:nvPr/>
        </p:nvSpPr>
        <p:spPr>
          <a:xfrm>
            <a:off x="3617595" y="46736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53" name="Image 11" descr="C:\Users\abhim\drishti\docs\deck\assets\icons\clone_w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31895" y="4787900"/>
            <a:ext cx="228600" cy="228600"/>
          </a:xfrm>
          <a:prstGeom prst="rect">
            <a:avLst/>
          </a:prstGeom>
        </p:spPr>
      </p:pic>
      <p:sp>
        <p:nvSpPr>
          <p:cNvPr id="54" name="Text 40"/>
          <p:cNvSpPr txBox="1"/>
          <p:nvPr/>
        </p:nvSpPr>
        <p:spPr>
          <a:xfrm>
            <a:off x="4176395" y="46736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&amp; Split</a:t>
            </a:r>
            <a:endParaRPr lang="en-US" sz="1550" dirty="0"/>
          </a:p>
        </p:txBody>
      </p:sp>
      <p:sp>
        <p:nvSpPr>
          <p:cNvPr id="55" name="Text 41"/>
          <p:cNvSpPr txBox="1"/>
          <p:nvPr/>
        </p:nvSpPr>
        <p:spPr>
          <a:xfrm>
            <a:off x="3642995" y="52070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DIGIPIN map grid + Hindi &amp; English text match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work funded twice, or split up</a:t>
            </a:r>
            <a:endParaRPr lang="en-US" sz="1350" dirty="0"/>
          </a:p>
        </p:txBody>
      </p:sp>
      <p:sp>
        <p:nvSpPr>
          <p:cNvPr id="56" name="Shape 42"/>
          <p:cNvSpPr/>
          <p:nvPr/>
        </p:nvSpPr>
        <p:spPr>
          <a:xfrm>
            <a:off x="6374130" y="45466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57" name="Shape 43"/>
          <p:cNvSpPr/>
          <p:nvPr/>
        </p:nvSpPr>
        <p:spPr>
          <a:xfrm>
            <a:off x="6501130" y="46736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58" name="Image 12" descr="C:\Users\abhim\drishti\docs\deck\assets\icons\indian-rupee-sign_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615430" y="4787900"/>
            <a:ext cx="228600" cy="228600"/>
          </a:xfrm>
          <a:prstGeom prst="rect">
            <a:avLst/>
          </a:prstGeom>
        </p:spPr>
      </p:pic>
      <p:sp>
        <p:nvSpPr>
          <p:cNvPr id="59" name="Text 44"/>
          <p:cNvSpPr txBox="1"/>
          <p:nvPr/>
        </p:nvSpPr>
        <p:spPr>
          <a:xfrm>
            <a:off x="7059930" y="46736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550" dirty="0"/>
          </a:p>
        </p:txBody>
      </p:sp>
      <p:sp>
        <p:nvSpPr>
          <p:cNvPr id="60" name="Text 45"/>
          <p:cNvSpPr txBox="1"/>
          <p:nvPr/>
        </p:nvSpPr>
        <p:spPr>
          <a:xfrm>
            <a:off x="6526530" y="52070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range of similar works in the district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estimates far above similar works</a:t>
            </a:r>
            <a:endParaRPr lang="en-US" sz="1350" dirty="0"/>
          </a:p>
        </p:txBody>
      </p:sp>
      <p:sp>
        <p:nvSpPr>
          <p:cNvPr id="61" name="Shape 46"/>
          <p:cNvSpPr/>
          <p:nvPr/>
        </p:nvSpPr>
        <p:spPr>
          <a:xfrm>
            <a:off x="9257665" y="45466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62" name="Shape 47"/>
          <p:cNvSpPr/>
          <p:nvPr/>
        </p:nvSpPr>
        <p:spPr>
          <a:xfrm>
            <a:off x="9384665" y="46736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63" name="Image 13" descr="C:\Users\abhim\drishti\docs\deck\assets\icons\camera_w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498965" y="4787900"/>
            <a:ext cx="228600" cy="228600"/>
          </a:xfrm>
          <a:prstGeom prst="rect">
            <a:avLst/>
          </a:prstGeom>
        </p:spPr>
      </p:pic>
      <p:sp>
        <p:nvSpPr>
          <p:cNvPr id="64" name="Text 48"/>
          <p:cNvSpPr txBox="1"/>
          <p:nvPr/>
        </p:nvSpPr>
        <p:spPr>
          <a:xfrm>
            <a:off x="9943465" y="46736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Progress</a:t>
            </a:r>
            <a:endParaRPr lang="en-US" sz="1550" dirty="0"/>
          </a:p>
        </p:txBody>
      </p:sp>
      <p:sp>
        <p:nvSpPr>
          <p:cNvPr id="65" name="Text 49"/>
          <p:cNvSpPr txBox="1"/>
          <p:nvPr/>
        </p:nvSpPr>
        <p:spPr>
          <a:xfrm>
            <a:off x="9410065" y="52070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AI checks each claim against photos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“roof done” with no roof; no plaque</a:t>
            </a:r>
            <a:endParaRPr lang="en-US" sz="1350" dirty="0"/>
          </a:p>
        </p:txBody>
      </p:sp>
      <p:sp>
        <p:nvSpPr>
          <p:cNvPr id="66" name="Shape 50"/>
          <p:cNvSpPr/>
          <p:nvPr/>
        </p:nvSpPr>
        <p:spPr>
          <a:xfrm>
            <a:off x="607060" y="62738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67" name="Shape 51"/>
          <p:cNvSpPr/>
          <p:nvPr/>
        </p:nvSpPr>
        <p:spPr>
          <a:xfrm>
            <a:off x="734060" y="64008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68" name="Image 14" descr="C:\Users\abhim\drishti\docs\deck\assets\icons\fingerprint_w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48360" y="6515100"/>
            <a:ext cx="228600" cy="228600"/>
          </a:xfrm>
          <a:prstGeom prst="rect">
            <a:avLst/>
          </a:prstGeom>
        </p:spPr>
      </p:pic>
      <p:sp>
        <p:nvSpPr>
          <p:cNvPr id="69" name="Text 52"/>
          <p:cNvSpPr txBox="1"/>
          <p:nvPr/>
        </p:nvSpPr>
        <p:spPr>
          <a:xfrm>
            <a:off x="1292860" y="64008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Forensics</a:t>
            </a:r>
            <a:endParaRPr lang="en-US" sz="1550" dirty="0"/>
          </a:p>
        </p:txBody>
      </p:sp>
      <p:sp>
        <p:nvSpPr>
          <p:cNvPr id="70" name="Text 53"/>
          <p:cNvSpPr txBox="1"/>
          <p:nvPr/>
        </p:nvSpPr>
        <p:spPr>
          <a:xfrm>
            <a:off x="759460" y="69342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fingerprints across all works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photo or certificate reused</a:t>
            </a:r>
            <a:endParaRPr lang="en-US" sz="1350" dirty="0"/>
          </a:p>
        </p:txBody>
      </p:sp>
      <p:sp>
        <p:nvSpPr>
          <p:cNvPr id="71" name="Shape 54"/>
          <p:cNvSpPr/>
          <p:nvPr/>
        </p:nvSpPr>
        <p:spPr>
          <a:xfrm>
            <a:off x="3490595" y="62738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72" name="Shape 55"/>
          <p:cNvSpPr/>
          <p:nvPr/>
        </p:nvSpPr>
        <p:spPr>
          <a:xfrm>
            <a:off x="3617595" y="64008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73" name="Image 15" descr="C:\Users\abhim\drishti\docs\deck\assets\icons\location-dot_w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31895" y="6515100"/>
            <a:ext cx="228600" cy="228600"/>
          </a:xfrm>
          <a:prstGeom prst="rect">
            <a:avLst/>
          </a:prstGeom>
        </p:spPr>
      </p:pic>
      <p:sp>
        <p:nvSpPr>
          <p:cNvPr id="74" name="Text 56"/>
          <p:cNvSpPr txBox="1"/>
          <p:nvPr/>
        </p:nvSpPr>
        <p:spPr>
          <a:xfrm>
            <a:off x="4176395" y="64008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Geo-Location</a:t>
            </a:r>
            <a:endParaRPr lang="en-US" sz="1550" dirty="0"/>
          </a:p>
        </p:txBody>
      </p:sp>
      <p:sp>
        <p:nvSpPr>
          <p:cNvPr id="75" name="Text 57"/>
          <p:cNvSpPr txBox="1"/>
          <p:nvPr/>
        </p:nvSpPr>
        <p:spPr>
          <a:xfrm>
            <a:off x="3642995" y="69342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GPS &amp; stamp vs district map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taken elsewhere, or too early</a:t>
            </a:r>
            <a:endParaRPr lang="en-US" sz="1350" dirty="0"/>
          </a:p>
        </p:txBody>
      </p:sp>
      <p:sp>
        <p:nvSpPr>
          <p:cNvPr id="76" name="Shape 58"/>
          <p:cNvSpPr/>
          <p:nvPr/>
        </p:nvSpPr>
        <p:spPr>
          <a:xfrm>
            <a:off x="6374130" y="62738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77" name="Shape 59"/>
          <p:cNvSpPr/>
          <p:nvPr/>
        </p:nvSpPr>
        <p:spPr>
          <a:xfrm>
            <a:off x="6501130" y="64008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78" name="Image 16" descr="C:\Users\abhim\drishti\docs\deck\assets\icons\file-invoice_w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15430" y="6515100"/>
            <a:ext cx="228600" cy="228600"/>
          </a:xfrm>
          <a:prstGeom prst="rect">
            <a:avLst/>
          </a:prstGeom>
        </p:spPr>
      </p:pic>
      <p:sp>
        <p:nvSpPr>
          <p:cNvPr id="79" name="Text 60"/>
          <p:cNvSpPr txBox="1"/>
          <p:nvPr/>
        </p:nvSpPr>
        <p:spPr>
          <a:xfrm>
            <a:off x="7059930" y="64008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550" dirty="0"/>
          </a:p>
        </p:txBody>
      </p:sp>
      <p:sp>
        <p:nvSpPr>
          <p:cNvPr id="80" name="Text 61"/>
          <p:cNvSpPr txBox="1"/>
          <p:nvPr/>
        </p:nvSpPr>
        <p:spPr>
          <a:xfrm>
            <a:off x="6526530" y="69342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reads certificates, bills &amp; UCs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amounts &amp; dates that don't add up</a:t>
            </a:r>
            <a:endParaRPr lang="en-US" sz="1350" dirty="0"/>
          </a:p>
        </p:txBody>
      </p:sp>
      <p:sp>
        <p:nvSpPr>
          <p:cNvPr id="81" name="Shape 62"/>
          <p:cNvSpPr/>
          <p:nvPr/>
        </p:nvSpPr>
        <p:spPr>
          <a:xfrm>
            <a:off x="9257665" y="62738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82" name="Shape 63"/>
          <p:cNvSpPr/>
          <p:nvPr/>
        </p:nvSpPr>
        <p:spPr>
          <a:xfrm>
            <a:off x="9384665" y="64008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83" name="Image 17" descr="C:\Users\abhim\drishti\docs\deck\assets\icons\satellite_w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498965" y="6515100"/>
            <a:ext cx="228600" cy="228600"/>
          </a:xfrm>
          <a:prstGeom prst="rect">
            <a:avLst/>
          </a:prstGeom>
        </p:spPr>
      </p:pic>
      <p:sp>
        <p:nvSpPr>
          <p:cNvPr id="84" name="Text 64"/>
          <p:cNvSpPr txBox="1"/>
          <p:nvPr/>
        </p:nvSpPr>
        <p:spPr>
          <a:xfrm>
            <a:off x="9943465" y="64008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</a:t>
            </a:r>
            <a:endParaRPr lang="en-US" sz="1550" dirty="0"/>
          </a:p>
        </p:txBody>
      </p:sp>
      <p:sp>
        <p:nvSpPr>
          <p:cNvPr id="85" name="Text 65"/>
          <p:cNvSpPr txBox="1"/>
          <p:nvPr/>
        </p:nvSpPr>
        <p:spPr>
          <a:xfrm>
            <a:off x="9410065" y="69342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Sentinel-2 before/after, big works only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ponds &amp; long roads never built</a:t>
            </a:r>
            <a:endParaRPr lang="en-US" sz="1350" dirty="0"/>
          </a:p>
        </p:txBody>
      </p:sp>
      <p:sp>
        <p:nvSpPr>
          <p:cNvPr id="86" name="Shape 66"/>
          <p:cNvSpPr/>
          <p:nvPr/>
        </p:nvSpPr>
        <p:spPr>
          <a:xfrm>
            <a:off x="607060" y="80010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87" name="Shape 67"/>
          <p:cNvSpPr/>
          <p:nvPr/>
        </p:nvSpPr>
        <p:spPr>
          <a:xfrm>
            <a:off x="734060" y="81280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88" name="Image 18" descr="C:\Users\abhim\drishti\docs\deck\assets\icons\hourglass-half_w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48360" y="8242300"/>
            <a:ext cx="228600" cy="228600"/>
          </a:xfrm>
          <a:prstGeom prst="rect">
            <a:avLst/>
          </a:prstGeom>
        </p:spPr>
      </p:pic>
      <p:sp>
        <p:nvSpPr>
          <p:cNvPr id="89" name="Text 68"/>
          <p:cNvSpPr txBox="1"/>
          <p:nvPr/>
        </p:nvSpPr>
        <p:spPr>
          <a:xfrm>
            <a:off x="1292860" y="81280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Prediction</a:t>
            </a:r>
            <a:endParaRPr lang="en-US" sz="1550" dirty="0"/>
          </a:p>
        </p:txBody>
      </p:sp>
      <p:sp>
        <p:nvSpPr>
          <p:cNvPr id="90" name="Text 69"/>
          <p:cNvSpPr txBox="1"/>
          <p:nvPr/>
        </p:nvSpPr>
        <p:spPr>
          <a:xfrm>
            <a:off x="759460" y="86614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trained on real completion history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likely to miss 12 months</a:t>
            </a:r>
            <a:endParaRPr lang="en-US" sz="1350" dirty="0"/>
          </a:p>
        </p:txBody>
      </p:sp>
      <p:sp>
        <p:nvSpPr>
          <p:cNvPr id="91" name="Shape 70"/>
          <p:cNvSpPr/>
          <p:nvPr/>
        </p:nvSpPr>
        <p:spPr>
          <a:xfrm>
            <a:off x="3490595" y="80010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92" name="Shape 71"/>
          <p:cNvSpPr/>
          <p:nvPr/>
        </p:nvSpPr>
        <p:spPr>
          <a:xfrm>
            <a:off x="3617595" y="81280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93" name="Image 19" descr="C:\Users\abhim\drishti\docs\deck\assets\icons\money-bill-trend-up_w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31895" y="8242300"/>
            <a:ext cx="228600" cy="228600"/>
          </a:xfrm>
          <a:prstGeom prst="rect">
            <a:avLst/>
          </a:prstGeom>
        </p:spPr>
      </p:pic>
      <p:sp>
        <p:nvSpPr>
          <p:cNvPr id="94" name="Text 72"/>
          <p:cNvSpPr txBox="1"/>
          <p:nvPr/>
        </p:nvSpPr>
        <p:spPr>
          <a:xfrm>
            <a:off x="4176395" y="81280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Flow</a:t>
            </a:r>
            <a:endParaRPr lang="en-US" sz="1550" dirty="0"/>
          </a:p>
        </p:txBody>
      </p:sp>
      <p:sp>
        <p:nvSpPr>
          <p:cNvPr id="95" name="Text 73"/>
          <p:cNvSpPr txBox="1"/>
          <p:nvPr/>
        </p:nvSpPr>
        <p:spPr>
          <a:xfrm>
            <a:off x="3642995" y="86614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 &amp; district money funnel over time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 funds, year-end rush</a:t>
            </a:r>
            <a:endParaRPr lang="en-US" sz="1350" dirty="0"/>
          </a:p>
        </p:txBody>
      </p:sp>
      <p:sp>
        <p:nvSpPr>
          <p:cNvPr id="96" name="Shape 74"/>
          <p:cNvSpPr/>
          <p:nvPr/>
        </p:nvSpPr>
        <p:spPr>
          <a:xfrm>
            <a:off x="6374130" y="80010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97" name="Shape 75"/>
          <p:cNvSpPr/>
          <p:nvPr/>
        </p:nvSpPr>
        <p:spPr>
          <a:xfrm>
            <a:off x="6501130" y="81280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98" name="Image 20" descr="C:\Users\abhim\drishti\docs\deck\assets\icons\diagram-project_w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615430" y="8242300"/>
            <a:ext cx="228600" cy="228600"/>
          </a:xfrm>
          <a:prstGeom prst="rect">
            <a:avLst/>
          </a:prstGeom>
        </p:spPr>
      </p:pic>
      <p:sp>
        <p:nvSpPr>
          <p:cNvPr id="99" name="Text 76"/>
          <p:cNvSpPr txBox="1"/>
          <p:nvPr/>
        </p:nvSpPr>
        <p:spPr>
          <a:xfrm>
            <a:off x="7059930" y="81280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 Network</a:t>
            </a:r>
            <a:endParaRPr lang="en-US" sz="1550" dirty="0"/>
          </a:p>
        </p:txBody>
      </p:sp>
      <p:sp>
        <p:nvSpPr>
          <p:cNvPr id="100" name="Text 77"/>
          <p:cNvSpPr txBox="1"/>
          <p:nvPr/>
        </p:nvSpPr>
        <p:spPr>
          <a:xfrm>
            <a:off x="6526530" y="86614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contractor–agency–district graph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firms winning most works</a:t>
            </a:r>
            <a:endParaRPr lang="en-US" sz="1350" dirty="0"/>
          </a:p>
        </p:txBody>
      </p:sp>
      <p:sp>
        <p:nvSpPr>
          <p:cNvPr id="101" name="Shape 78"/>
          <p:cNvSpPr/>
          <p:nvPr/>
        </p:nvSpPr>
        <p:spPr>
          <a:xfrm>
            <a:off x="9257665" y="8001000"/>
            <a:ext cx="2731135" cy="160020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102" name="Shape 79"/>
          <p:cNvSpPr/>
          <p:nvPr/>
        </p:nvSpPr>
        <p:spPr>
          <a:xfrm>
            <a:off x="9384665" y="8128000"/>
            <a:ext cx="457200" cy="4572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103" name="Image 21" descr="C:\Users\abhim\drishti\docs\deck\assets\icons\users_w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9498965" y="8242300"/>
            <a:ext cx="228600" cy="228600"/>
          </a:xfrm>
          <a:prstGeom prst="rect">
            <a:avLst/>
          </a:prstGeom>
        </p:spPr>
      </p:pic>
      <p:sp>
        <p:nvSpPr>
          <p:cNvPr id="104" name="Text 80"/>
          <p:cNvSpPr txBox="1"/>
          <p:nvPr/>
        </p:nvSpPr>
        <p:spPr>
          <a:xfrm>
            <a:off x="9943465" y="8128000"/>
            <a:ext cx="1943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Verification</a:t>
            </a:r>
            <a:endParaRPr lang="en-US" sz="1550" dirty="0"/>
          </a:p>
        </p:txBody>
      </p:sp>
      <p:sp>
        <p:nvSpPr>
          <p:cNvPr id="105" name="Text 81"/>
          <p:cNvSpPr txBox="1"/>
          <p:nvPr/>
        </p:nvSpPr>
        <p:spPr>
          <a:xfrm>
            <a:off x="9410065" y="8661400"/>
            <a:ext cx="2451735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 code at site → photo + GPS</a:t>
            </a:r>
            <a:endParaRPr lang="en-US" sz="135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Catches: </a:t>
            </a:r>
            <a:pPr algn="l" indent="0" marL="0">
              <a:spcAft>
                <a:spcPts val="300"/>
              </a:spcAft>
              <a:buNone/>
            </a:pPr>
            <a:r>
              <a:rPr lang="en-US" sz="13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missing or not in use</a:t>
            </a:r>
            <a:endParaRPr lang="en-US" sz="13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344400" y="4546600"/>
          <a:ext cx="13716000" cy="914400"/>
        </p:xfrm>
        <a:graphic>
          <a:graphicData uri="http://schemas.openxmlformats.org/drawingml/2006/table">
            <a:tbl>
              <a:tblPr/>
              <a:tblGrid>
                <a:gridCol w="1879600"/>
                <a:gridCol w="3454400"/>
              </a:tblGrid>
              <a:tr h="8424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Frontend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Next.js (React), Tailwind CSS, MapLibre maps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8424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 / APIs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Python FastAPI, role-based access (JWT)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8424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/ ML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LightGBM, scikit-learn, sentence-transformers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8424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 &amp; Documents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Vision AI (Gemini; open-weight option), OpenCV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8424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Maps &amp; Satellite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LGD boundaries, DIGIPIN, Sentinel-2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  <a:tr h="8424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Security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+ pgvector, hash-chained audit log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01600" marT="0" marB="0" anchor="ctr">
                    <a:lnL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6090" y="287020"/>
            <a:ext cx="2153920" cy="934720"/>
          </a:xfrm>
          <a:prstGeom prst="ellipse">
            <a:avLst/>
          </a:prstGeom>
          <a:solidFill>
            <a:srgbClr val="FFFFFF"/>
          </a:solidFill>
          <a:ln w="57150">
            <a:solidFill>
              <a:srgbClr val="2A4D8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66090" y="287020"/>
            <a:ext cx="2153920" cy="93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NeuralNexus</a:t>
            </a:r>
            <a:endParaRPr lang="en-US" sz="2050" dirty="0"/>
          </a:p>
        </p:txBody>
      </p:sp>
      <p:sp>
        <p:nvSpPr>
          <p:cNvPr id="4" name="Text 2"/>
          <p:cNvSpPr txBox="1"/>
          <p:nvPr/>
        </p:nvSpPr>
        <p:spPr>
          <a:xfrm>
            <a:off x="3131820" y="381000"/>
            <a:ext cx="11430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FEASIBILITY AND VIABILITY</a:t>
            </a:r>
            <a:endParaRPr lang="en-US" sz="4200" dirty="0"/>
          </a:p>
        </p:txBody>
      </p:sp>
      <p:pic>
        <p:nvPicPr>
          <p:cNvPr id="5" name="Image 0" descr="C:\Users\abhim\drishti\docs\deck\assets\sih_logo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400" y="76200"/>
            <a:ext cx="2705100" cy="1277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9756140"/>
            <a:ext cx="18288000" cy="533400"/>
          </a:xfrm>
          <a:prstGeom prst="rect">
            <a:avLst/>
          </a:prstGeom>
          <a:solidFill>
            <a:srgbClr val="2A4D8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69000" y="98806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– Template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7018000" y="9880600"/>
            <a:ext cx="673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617220" y="1574800"/>
            <a:ext cx="1143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ANALYSIS</a:t>
            </a:r>
            <a:endParaRPr lang="en-US" sz="1720" dirty="0"/>
          </a:p>
        </p:txBody>
      </p:sp>
      <p:sp>
        <p:nvSpPr>
          <p:cNvPr id="10" name="Shape 7"/>
          <p:cNvSpPr/>
          <p:nvPr/>
        </p:nvSpPr>
        <p:spPr>
          <a:xfrm>
            <a:off x="609600" y="2044700"/>
            <a:ext cx="3860800" cy="2108200"/>
          </a:xfrm>
          <a:prstGeom prst="roundRect">
            <a:avLst>
              <a:gd name="adj" fmla="val 6627"/>
            </a:avLst>
          </a:prstGeom>
          <a:solidFill>
            <a:srgbClr val="EDF0F5"/>
          </a:solidFill>
          <a:ln/>
        </p:spPr>
      </p:sp>
      <p:sp>
        <p:nvSpPr>
          <p:cNvPr id="11" name="Shape 8"/>
          <p:cNvSpPr/>
          <p:nvPr/>
        </p:nvSpPr>
        <p:spPr>
          <a:xfrm>
            <a:off x="812800" y="2247900"/>
            <a:ext cx="647700" cy="6477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12" name="Image 1" descr="C:\Users\abhim\drishti\docs\deck\assets\icons\gears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725" y="2409825"/>
            <a:ext cx="323850" cy="32385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600200" y="2247900"/>
            <a:ext cx="27432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Feasibility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889000" y="3009900"/>
            <a:ext cx="3378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Methods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reuses a method India already runs at scale: PMAY-G geo-tagged photos, Amrit Sarovar ponds.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4724400" y="2044700"/>
            <a:ext cx="3860800" cy="2108200"/>
          </a:xfrm>
          <a:prstGeom prst="roundRect">
            <a:avLst>
              <a:gd name="adj" fmla="val 6627"/>
            </a:avLst>
          </a:prstGeom>
          <a:solidFill>
            <a:srgbClr val="EDF0F5"/>
          </a:solidFill>
          <a:ln/>
        </p:spPr>
      </p:sp>
      <p:sp>
        <p:nvSpPr>
          <p:cNvPr id="16" name="Shape 12"/>
          <p:cNvSpPr/>
          <p:nvPr/>
        </p:nvSpPr>
        <p:spPr>
          <a:xfrm>
            <a:off x="4927600" y="2247900"/>
            <a:ext cx="647700" cy="6477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17" name="Image 2" descr="C:\Users\abhim\drishti\docs\deck\assets\icons\databas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9525" y="2409825"/>
            <a:ext cx="323850" cy="32385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15000" y="2247900"/>
            <a:ext cx="27432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Feasibility</a:t>
            </a:r>
            <a:endParaRPr lang="en-US" sz="1800" dirty="0"/>
          </a:p>
        </p:txBody>
      </p:sp>
      <p:sp>
        <p:nvSpPr>
          <p:cNvPr id="19" name="Text 14"/>
          <p:cNvSpPr txBox="1"/>
          <p:nvPr/>
        </p:nvSpPr>
        <p:spPr>
          <a:xfrm>
            <a:off x="5003800" y="3009900"/>
            <a:ext cx="3378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eSAKSHI Data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2,09,993 works already loaded; 2 in 3 completed works carry certificates or photos to check.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09600" y="4406900"/>
            <a:ext cx="3860800" cy="2108200"/>
          </a:xfrm>
          <a:prstGeom prst="roundRect">
            <a:avLst>
              <a:gd name="adj" fmla="val 6627"/>
            </a:avLst>
          </a:prstGeom>
          <a:solidFill>
            <a:srgbClr val="EDF0F5"/>
          </a:solidFill>
          <a:ln/>
        </p:spPr>
      </p:sp>
      <p:sp>
        <p:nvSpPr>
          <p:cNvPr id="21" name="Shape 16"/>
          <p:cNvSpPr/>
          <p:nvPr/>
        </p:nvSpPr>
        <p:spPr>
          <a:xfrm>
            <a:off x="812800" y="4610100"/>
            <a:ext cx="647700" cy="6477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22" name="Image 3" descr="C:\Users\abhim\drishti\docs\deck\assets\icons\users-gear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4725" y="4772025"/>
            <a:ext cx="323850" cy="32385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600200" y="4610100"/>
            <a:ext cx="27432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Feasibility</a:t>
            </a:r>
            <a:endParaRPr lang="en-US" sz="1800" dirty="0"/>
          </a:p>
        </p:txBody>
      </p:sp>
      <p:sp>
        <p:nvSpPr>
          <p:cNvPr id="24" name="Text 18"/>
          <p:cNvSpPr txBox="1"/>
          <p:nvPr/>
        </p:nvSpPr>
        <p:spPr>
          <a:xfrm>
            <a:off x="889000" y="5372100"/>
            <a:ext cx="3378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Fit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layer on eSAKSHI; fits the MP → District → Agency flow, no new data entry.</a:t>
            </a:r>
            <a:endParaRPr lang="en-US" sz="1600" dirty="0"/>
          </a:p>
        </p:txBody>
      </p:sp>
      <p:sp>
        <p:nvSpPr>
          <p:cNvPr id="25" name="Shape 19"/>
          <p:cNvSpPr/>
          <p:nvPr/>
        </p:nvSpPr>
        <p:spPr>
          <a:xfrm>
            <a:off x="4724400" y="4406900"/>
            <a:ext cx="3860800" cy="2108200"/>
          </a:xfrm>
          <a:prstGeom prst="roundRect">
            <a:avLst>
              <a:gd name="adj" fmla="val 6627"/>
            </a:avLst>
          </a:prstGeom>
          <a:solidFill>
            <a:srgbClr val="EDF0F5"/>
          </a:solidFill>
          <a:ln/>
        </p:spPr>
      </p:sp>
      <p:sp>
        <p:nvSpPr>
          <p:cNvPr id="26" name="Shape 20"/>
          <p:cNvSpPr/>
          <p:nvPr/>
        </p:nvSpPr>
        <p:spPr>
          <a:xfrm>
            <a:off x="4927600" y="4610100"/>
            <a:ext cx="647700" cy="6477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27" name="Image 4" descr="C:\Users\abhim\drishti\docs\deck\assets\icons\coin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89525" y="4772025"/>
            <a:ext cx="323850" cy="32385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5715000" y="4610100"/>
            <a:ext cx="27432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Feasibility</a:t>
            </a:r>
            <a:endParaRPr lang="en-US" sz="1800" dirty="0"/>
          </a:p>
        </p:txBody>
      </p:sp>
      <p:sp>
        <p:nvSpPr>
          <p:cNvPr id="29" name="Text 22"/>
          <p:cNvSpPr txBox="1"/>
          <p:nvPr/>
        </p:nvSpPr>
        <p:spPr>
          <a:xfrm>
            <a:off x="5003800" y="5372100"/>
            <a:ext cx="3378200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Cost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tools; pay-per-use AI at well under ₹1 a document; no licence fees.</a:t>
            </a:r>
            <a:endParaRPr lang="en-US" sz="1600" dirty="0"/>
          </a:p>
        </p:txBody>
      </p:sp>
      <p:sp>
        <p:nvSpPr>
          <p:cNvPr id="30" name="Text 23"/>
          <p:cNvSpPr txBox="1"/>
          <p:nvPr/>
        </p:nvSpPr>
        <p:spPr>
          <a:xfrm>
            <a:off x="9118600" y="1574800"/>
            <a:ext cx="406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RISKS</a:t>
            </a:r>
            <a:endParaRPr lang="en-US" sz="1720" dirty="0"/>
          </a:p>
        </p:txBody>
      </p:sp>
      <p:sp>
        <p:nvSpPr>
          <p:cNvPr id="31" name="Text 24"/>
          <p:cNvSpPr txBox="1"/>
          <p:nvPr/>
        </p:nvSpPr>
        <p:spPr>
          <a:xfrm>
            <a:off x="13779500" y="1574800"/>
            <a:ext cx="4064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TO OVERCOME</a:t>
            </a:r>
            <a:endParaRPr lang="en-US" sz="1720" dirty="0"/>
          </a:p>
        </p:txBody>
      </p:sp>
      <p:sp>
        <p:nvSpPr>
          <p:cNvPr id="32" name="Shape 25"/>
          <p:cNvSpPr/>
          <p:nvPr/>
        </p:nvSpPr>
        <p:spPr>
          <a:xfrm>
            <a:off x="9118600" y="2044700"/>
            <a:ext cx="3924300" cy="977900"/>
          </a:xfrm>
          <a:prstGeom prst="roundRect">
            <a:avLst>
              <a:gd name="adj" fmla="val 11688"/>
            </a:avLst>
          </a:prstGeom>
          <a:solidFill>
            <a:srgbClr val="D9D9D8"/>
          </a:solidFill>
          <a:ln/>
        </p:spPr>
      </p:sp>
      <p:pic>
        <p:nvPicPr>
          <p:cNvPr id="33" name="Image 5" descr="C:\Users\abhim\drishti\docs\deck\assets\icons\triangle-exclamation_g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3700" y="2349500"/>
            <a:ext cx="355600" cy="3556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9753600" y="2146300"/>
            <a:ext cx="3200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Confirmed Fraud Labels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proven cases to learn from.</a:t>
            </a:r>
            <a:endParaRPr lang="en-US" sz="1530" dirty="0"/>
          </a:p>
        </p:txBody>
      </p:sp>
      <p:pic>
        <p:nvPicPr>
          <p:cNvPr id="35" name="Image 6" descr="C:\Users\abhim\drishti\docs\deck\assets\icons\arrow-right_n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246100" y="2387600"/>
            <a:ext cx="292100" cy="29210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13779500" y="2044700"/>
            <a:ext cx="3898900" cy="977900"/>
          </a:xfrm>
          <a:prstGeom prst="roundRect">
            <a:avLst>
              <a:gd name="adj" fmla="val 11688"/>
            </a:avLst>
          </a:prstGeom>
          <a:solidFill>
            <a:srgbClr val="FFFFFF"/>
          </a:solidFill>
          <a:ln w="19050">
            <a:solidFill>
              <a:srgbClr val="7C94B8"/>
            </a:solidFill>
            <a:prstDash val="solid"/>
          </a:ln>
        </p:spPr>
      </p:sp>
      <p:pic>
        <p:nvPicPr>
          <p:cNvPr id="37" name="Image 7" descr="C:\Users\abhim\drishti\docs\deck\assets\icons\circle-check_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44600" y="2349500"/>
            <a:ext cx="355600" cy="355600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14414500" y="2146300"/>
            <a:ext cx="3175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Outcomes as Labels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 history &amp; planted tests; officer verdicts retrain.</a:t>
            </a:r>
            <a:endParaRPr lang="en-US" sz="1530" dirty="0"/>
          </a:p>
        </p:txBody>
      </p:sp>
      <p:sp>
        <p:nvSpPr>
          <p:cNvPr id="39" name="Shape 29"/>
          <p:cNvSpPr/>
          <p:nvPr/>
        </p:nvSpPr>
        <p:spPr>
          <a:xfrm>
            <a:off x="9118600" y="3175000"/>
            <a:ext cx="3924300" cy="977900"/>
          </a:xfrm>
          <a:prstGeom prst="roundRect">
            <a:avLst>
              <a:gd name="adj" fmla="val 11688"/>
            </a:avLst>
          </a:prstGeom>
          <a:solidFill>
            <a:srgbClr val="D9D9D8"/>
          </a:solidFill>
          <a:ln/>
        </p:spPr>
      </p:sp>
      <p:pic>
        <p:nvPicPr>
          <p:cNvPr id="40" name="Image 8" descr="C:\Users\abhim\drishti\docs\deck\assets\icons\triangle-exclamation_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83700" y="3479800"/>
            <a:ext cx="355600" cy="355600"/>
          </a:xfrm>
          <a:prstGeom prst="rect">
            <a:avLst/>
          </a:prstGeom>
        </p:spPr>
      </p:pic>
      <p:sp>
        <p:nvSpPr>
          <p:cNvPr id="41" name="Text 30"/>
          <p:cNvSpPr txBox="1"/>
          <p:nvPr/>
        </p:nvSpPr>
        <p:spPr>
          <a:xfrm>
            <a:off x="9753600" y="3276600"/>
            <a:ext cx="3200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Alerts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Terrain, rates or bulk orders can look like overpricing.</a:t>
            </a:r>
            <a:endParaRPr lang="en-US" sz="1530" dirty="0"/>
          </a:p>
        </p:txBody>
      </p:sp>
      <p:pic>
        <p:nvPicPr>
          <p:cNvPr id="42" name="Image 9" descr="C:\Users\abhim\drishti\docs\deck\assets\icons\arrow-right_n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246100" y="3517900"/>
            <a:ext cx="292100" cy="292100"/>
          </a:xfrm>
          <a:prstGeom prst="rect">
            <a:avLst/>
          </a:prstGeom>
        </p:spPr>
      </p:pic>
      <p:sp>
        <p:nvSpPr>
          <p:cNvPr id="43" name="Shape 31"/>
          <p:cNvSpPr/>
          <p:nvPr/>
        </p:nvSpPr>
        <p:spPr>
          <a:xfrm>
            <a:off x="13779500" y="3175000"/>
            <a:ext cx="3898900" cy="977900"/>
          </a:xfrm>
          <a:prstGeom prst="roundRect">
            <a:avLst>
              <a:gd name="adj" fmla="val 11688"/>
            </a:avLst>
          </a:prstGeom>
          <a:solidFill>
            <a:srgbClr val="FFFFFF"/>
          </a:solidFill>
          <a:ln w="19050">
            <a:solidFill>
              <a:srgbClr val="7C94B8"/>
            </a:solidFill>
            <a:prstDash val="solid"/>
          </a:ln>
        </p:spPr>
      </p:sp>
      <p:pic>
        <p:nvPicPr>
          <p:cNvPr id="44" name="Image 10" descr="C:\Users\abhim\drishti\docs\deck\assets\icons\circle-check_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44600" y="3479800"/>
            <a:ext cx="355600" cy="355600"/>
          </a:xfrm>
          <a:prstGeom prst="rect">
            <a:avLst/>
          </a:prstGeom>
        </p:spPr>
      </p:pic>
      <p:sp>
        <p:nvSpPr>
          <p:cNvPr id="45" name="Text 32"/>
          <p:cNvSpPr txBox="1"/>
          <p:nvPr/>
        </p:nvSpPr>
        <p:spPr>
          <a:xfrm>
            <a:off x="14414500" y="3276600"/>
            <a:ext cx="3175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Checks Must Agree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needs separate agents to agree.</a:t>
            </a:r>
            <a:endParaRPr lang="en-US" sz="1530" dirty="0"/>
          </a:p>
        </p:txBody>
      </p:sp>
      <p:sp>
        <p:nvSpPr>
          <p:cNvPr id="46" name="Shape 33"/>
          <p:cNvSpPr/>
          <p:nvPr/>
        </p:nvSpPr>
        <p:spPr>
          <a:xfrm>
            <a:off x="9118600" y="4292600"/>
            <a:ext cx="3924300" cy="977900"/>
          </a:xfrm>
          <a:prstGeom prst="roundRect">
            <a:avLst>
              <a:gd name="adj" fmla="val 11688"/>
            </a:avLst>
          </a:prstGeom>
          <a:solidFill>
            <a:srgbClr val="D9D9D8"/>
          </a:solidFill>
          <a:ln/>
        </p:spPr>
      </p:sp>
      <p:pic>
        <p:nvPicPr>
          <p:cNvPr id="47" name="Image 11" descr="C:\Users\abhim\drishti\docs\deck\assets\icons\triangle-exclamation_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283700" y="4597400"/>
            <a:ext cx="355600" cy="355600"/>
          </a:xfrm>
          <a:prstGeom prst="rect">
            <a:avLst/>
          </a:prstGeom>
        </p:spPr>
      </p:pic>
      <p:sp>
        <p:nvSpPr>
          <p:cNvPr id="48" name="Text 34"/>
          <p:cNvSpPr txBox="1"/>
          <p:nvPr/>
        </p:nvSpPr>
        <p:spPr>
          <a:xfrm>
            <a:off x="9753600" y="4394200"/>
            <a:ext cx="3200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Handwritten &amp; Hinglish Records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certificates and messy text are hard to read.</a:t>
            </a:r>
            <a:endParaRPr lang="en-US" sz="1530" dirty="0"/>
          </a:p>
        </p:txBody>
      </p:sp>
      <p:pic>
        <p:nvPicPr>
          <p:cNvPr id="49" name="Image 12" descr="C:\Users\abhim\drishti\docs\deck\assets\icons\arrow-right_n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246100" y="4635500"/>
            <a:ext cx="292100" cy="292100"/>
          </a:xfrm>
          <a:prstGeom prst="rect">
            <a:avLst/>
          </a:prstGeom>
        </p:spPr>
      </p:pic>
      <p:sp>
        <p:nvSpPr>
          <p:cNvPr id="50" name="Shape 35"/>
          <p:cNvSpPr/>
          <p:nvPr/>
        </p:nvSpPr>
        <p:spPr>
          <a:xfrm>
            <a:off x="13779500" y="4292600"/>
            <a:ext cx="3898900" cy="977900"/>
          </a:xfrm>
          <a:prstGeom prst="roundRect">
            <a:avLst>
              <a:gd name="adj" fmla="val 11688"/>
            </a:avLst>
          </a:prstGeom>
          <a:solidFill>
            <a:srgbClr val="FFFFFF"/>
          </a:solidFill>
          <a:ln w="19050">
            <a:solidFill>
              <a:srgbClr val="7C94B8"/>
            </a:solidFill>
            <a:prstDash val="solid"/>
          </a:ln>
        </p:spPr>
      </p:sp>
      <p:pic>
        <p:nvPicPr>
          <p:cNvPr id="51" name="Image 13" descr="C:\Users\abhim\drishti\docs\deck\assets\icons\circle-check_n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44600" y="4597400"/>
            <a:ext cx="355600" cy="355600"/>
          </a:xfrm>
          <a:prstGeom prst="rect">
            <a:avLst/>
          </a:prstGeom>
        </p:spPr>
      </p:pic>
      <p:sp>
        <p:nvSpPr>
          <p:cNvPr id="52" name="Text 36"/>
          <p:cNvSpPr txBox="1"/>
          <p:nvPr/>
        </p:nvSpPr>
        <p:spPr>
          <a:xfrm>
            <a:off x="14414500" y="4394200"/>
            <a:ext cx="3175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Gate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Unclear readings become “can't tell”, never an alert.</a:t>
            </a:r>
            <a:endParaRPr lang="en-US" sz="1530" dirty="0"/>
          </a:p>
        </p:txBody>
      </p:sp>
      <p:sp>
        <p:nvSpPr>
          <p:cNvPr id="53" name="Shape 37"/>
          <p:cNvSpPr/>
          <p:nvPr/>
        </p:nvSpPr>
        <p:spPr>
          <a:xfrm>
            <a:off x="9118600" y="5422900"/>
            <a:ext cx="3924300" cy="977900"/>
          </a:xfrm>
          <a:prstGeom prst="roundRect">
            <a:avLst>
              <a:gd name="adj" fmla="val 11688"/>
            </a:avLst>
          </a:prstGeom>
          <a:solidFill>
            <a:srgbClr val="D9D9D8"/>
          </a:solidFill>
          <a:ln/>
        </p:spPr>
      </p:sp>
      <p:pic>
        <p:nvPicPr>
          <p:cNvPr id="54" name="Image 14" descr="C:\Users\abhim\drishti\docs\deck\assets\icons\triangle-exclamation_g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283700" y="5727700"/>
            <a:ext cx="355600" cy="355600"/>
          </a:xfrm>
          <a:prstGeom prst="rect">
            <a:avLst/>
          </a:prstGeom>
        </p:spPr>
      </p:pic>
      <p:sp>
        <p:nvSpPr>
          <p:cNvPr id="55" name="Text 38"/>
          <p:cNvSpPr txBox="1"/>
          <p:nvPr/>
        </p:nvSpPr>
        <p:spPr>
          <a:xfrm>
            <a:off x="9753600" y="5524500"/>
            <a:ext cx="3200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Data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officials, contractors and personal details.</a:t>
            </a:r>
            <a:endParaRPr lang="en-US" sz="1530" dirty="0"/>
          </a:p>
        </p:txBody>
      </p:sp>
      <p:pic>
        <p:nvPicPr>
          <p:cNvPr id="56" name="Image 15" descr="C:\Users\abhim\drishti\docs\deck\assets\icons\arrow-right_n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3246100" y="5765800"/>
            <a:ext cx="292100" cy="292100"/>
          </a:xfrm>
          <a:prstGeom prst="rect">
            <a:avLst/>
          </a:prstGeom>
        </p:spPr>
      </p:pic>
      <p:sp>
        <p:nvSpPr>
          <p:cNvPr id="57" name="Shape 39"/>
          <p:cNvSpPr/>
          <p:nvPr/>
        </p:nvSpPr>
        <p:spPr>
          <a:xfrm>
            <a:off x="13779500" y="5422900"/>
            <a:ext cx="3898900" cy="977900"/>
          </a:xfrm>
          <a:prstGeom prst="roundRect">
            <a:avLst>
              <a:gd name="adj" fmla="val 11688"/>
            </a:avLst>
          </a:prstGeom>
          <a:solidFill>
            <a:srgbClr val="FFFFFF"/>
          </a:solidFill>
          <a:ln w="19050">
            <a:solidFill>
              <a:srgbClr val="7C94B8"/>
            </a:solidFill>
            <a:prstDash val="solid"/>
          </a:ln>
        </p:spPr>
      </p:sp>
      <p:pic>
        <p:nvPicPr>
          <p:cNvPr id="58" name="Image 16" descr="C:\Users\abhim\drishti\docs\deck\assets\icons\circle-check_n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3944600" y="5727700"/>
            <a:ext cx="355600" cy="355600"/>
          </a:xfrm>
          <a:prstGeom prst="rect">
            <a:avLst/>
          </a:prstGeom>
        </p:spPr>
      </p:pic>
      <p:sp>
        <p:nvSpPr>
          <p:cNvPr id="59" name="Text 40"/>
          <p:cNvSpPr txBox="1"/>
          <p:nvPr/>
        </p:nvSpPr>
        <p:spPr>
          <a:xfrm>
            <a:off x="14414500" y="5524500"/>
            <a:ext cx="31750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&amp; Secure by Design</a:t>
            </a:r>
            <a:endParaRPr lang="en-US" sz="1530" dirty="0"/>
          </a:p>
          <a:p>
            <a:pPr algn="l" indent="0" marL="0">
              <a:buNone/>
            </a:pPr>
            <a:r>
              <a:rPr lang="en-US" sz="153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“Needs verification”, never “fraud”; role-based access.</a:t>
            </a:r>
            <a:endParaRPr lang="en-US" sz="1530" dirty="0"/>
          </a:p>
        </p:txBody>
      </p:sp>
      <p:sp>
        <p:nvSpPr>
          <p:cNvPr id="60" name="Text 41"/>
          <p:cNvSpPr txBox="1"/>
          <p:nvPr/>
        </p:nvSpPr>
        <p:spPr>
          <a:xfrm>
            <a:off x="617220" y="6921500"/>
            <a:ext cx="1143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VIABILITY</a:t>
            </a:r>
            <a:endParaRPr lang="en-US" sz="1720" dirty="0"/>
          </a:p>
        </p:txBody>
      </p:sp>
      <p:sp>
        <p:nvSpPr>
          <p:cNvPr id="61" name="Shape 42"/>
          <p:cNvSpPr/>
          <p:nvPr/>
        </p:nvSpPr>
        <p:spPr>
          <a:xfrm>
            <a:off x="609600" y="7391400"/>
            <a:ext cx="2692400" cy="2082800"/>
          </a:xfrm>
          <a:prstGeom prst="roundRect">
            <a:avLst>
              <a:gd name="adj" fmla="val 6707"/>
            </a:avLst>
          </a:prstGeom>
          <a:solidFill>
            <a:srgbClr val="EDF0F5"/>
          </a:solidFill>
          <a:ln/>
        </p:spPr>
      </p:sp>
      <p:sp>
        <p:nvSpPr>
          <p:cNvPr id="62" name="Shape 43"/>
          <p:cNvSpPr/>
          <p:nvPr/>
        </p:nvSpPr>
        <p:spPr>
          <a:xfrm>
            <a:off x="774700" y="7556500"/>
            <a:ext cx="2362200" cy="520700"/>
          </a:xfrm>
          <a:prstGeom prst="roundRect">
            <a:avLst>
              <a:gd name="adj" fmla="val 50000"/>
            </a:avLst>
          </a:prstGeom>
          <a:solidFill>
            <a:srgbClr val="2A4D88"/>
          </a:solidFill>
          <a:ln/>
        </p:spPr>
      </p:sp>
      <p:sp>
        <p:nvSpPr>
          <p:cNvPr id="63" name="Text 44"/>
          <p:cNvSpPr txBox="1"/>
          <p:nvPr/>
        </p:nvSpPr>
        <p:spPr>
          <a:xfrm>
            <a:off x="774700" y="7556500"/>
            <a:ext cx="23622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Control</a:t>
            </a:r>
            <a:endParaRPr lang="en-US" sz="1650" dirty="0"/>
          </a:p>
        </p:txBody>
      </p:sp>
      <p:sp>
        <p:nvSpPr>
          <p:cNvPr id="64" name="Text 45"/>
          <p:cNvSpPr txBox="1"/>
          <p:nvPr/>
        </p:nvSpPr>
        <p:spPr>
          <a:xfrm>
            <a:off x="787400" y="8204200"/>
            <a:ext cx="23876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flags risks; officials verify and decide.</a:t>
            </a:r>
            <a:endParaRPr lang="en-US" sz="1650" dirty="0"/>
          </a:p>
        </p:txBody>
      </p:sp>
      <p:pic>
        <p:nvPicPr>
          <p:cNvPr id="65" name="Image 17" descr="C:\Users\abhim\drishti\docs\deck\assets\icons\arrow-right_n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327400" y="7670800"/>
            <a:ext cx="254000" cy="254000"/>
          </a:xfrm>
          <a:prstGeom prst="rect">
            <a:avLst/>
          </a:prstGeom>
        </p:spPr>
      </p:pic>
      <p:sp>
        <p:nvSpPr>
          <p:cNvPr id="66" name="Shape 46"/>
          <p:cNvSpPr/>
          <p:nvPr/>
        </p:nvSpPr>
        <p:spPr>
          <a:xfrm>
            <a:off x="3619500" y="7391400"/>
            <a:ext cx="2692400" cy="2082800"/>
          </a:xfrm>
          <a:prstGeom prst="roundRect">
            <a:avLst>
              <a:gd name="adj" fmla="val 6707"/>
            </a:avLst>
          </a:prstGeom>
          <a:solidFill>
            <a:srgbClr val="EDF0F5"/>
          </a:solidFill>
          <a:ln/>
        </p:spPr>
      </p:sp>
      <p:sp>
        <p:nvSpPr>
          <p:cNvPr id="67" name="Shape 47"/>
          <p:cNvSpPr/>
          <p:nvPr/>
        </p:nvSpPr>
        <p:spPr>
          <a:xfrm>
            <a:off x="3784600" y="7556500"/>
            <a:ext cx="2362200" cy="520700"/>
          </a:xfrm>
          <a:prstGeom prst="roundRect">
            <a:avLst>
              <a:gd name="adj" fmla="val 50000"/>
            </a:avLst>
          </a:prstGeom>
          <a:solidFill>
            <a:srgbClr val="2A4D88"/>
          </a:solidFill>
          <a:ln/>
        </p:spPr>
      </p:sp>
      <p:sp>
        <p:nvSpPr>
          <p:cNvPr id="68" name="Text 48"/>
          <p:cNvSpPr txBox="1"/>
          <p:nvPr/>
        </p:nvSpPr>
        <p:spPr>
          <a:xfrm>
            <a:off x="3784600" y="7556500"/>
            <a:ext cx="23622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Workflow</a:t>
            </a:r>
            <a:endParaRPr lang="en-US" sz="1650" dirty="0"/>
          </a:p>
        </p:txBody>
      </p:sp>
      <p:sp>
        <p:nvSpPr>
          <p:cNvPr id="69" name="Text 49"/>
          <p:cNvSpPr txBox="1"/>
          <p:nvPr/>
        </p:nvSpPr>
        <p:spPr>
          <a:xfrm>
            <a:off x="3797300" y="8204200"/>
            <a:ext cx="23876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Compatibility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alongside existing eSAKSHI workflows.</a:t>
            </a:r>
            <a:endParaRPr lang="en-US" sz="1650" dirty="0"/>
          </a:p>
        </p:txBody>
      </p:sp>
      <p:pic>
        <p:nvPicPr>
          <p:cNvPr id="70" name="Image 18" descr="C:\Users\abhim\drishti\docs\deck\assets\icons\arrow-right_n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37300" y="7670800"/>
            <a:ext cx="254000" cy="254000"/>
          </a:xfrm>
          <a:prstGeom prst="rect">
            <a:avLst/>
          </a:prstGeom>
        </p:spPr>
      </p:pic>
      <p:sp>
        <p:nvSpPr>
          <p:cNvPr id="71" name="Shape 50"/>
          <p:cNvSpPr/>
          <p:nvPr/>
        </p:nvSpPr>
        <p:spPr>
          <a:xfrm>
            <a:off x="6642100" y="7391400"/>
            <a:ext cx="2692400" cy="2082800"/>
          </a:xfrm>
          <a:prstGeom prst="roundRect">
            <a:avLst>
              <a:gd name="adj" fmla="val 6707"/>
            </a:avLst>
          </a:prstGeom>
          <a:solidFill>
            <a:srgbClr val="EDF0F5"/>
          </a:solidFill>
          <a:ln/>
        </p:spPr>
      </p:sp>
      <p:sp>
        <p:nvSpPr>
          <p:cNvPr id="72" name="Shape 51"/>
          <p:cNvSpPr/>
          <p:nvPr/>
        </p:nvSpPr>
        <p:spPr>
          <a:xfrm>
            <a:off x="6807200" y="7556500"/>
            <a:ext cx="2362200" cy="520700"/>
          </a:xfrm>
          <a:prstGeom prst="roundRect">
            <a:avLst>
              <a:gd name="adj" fmla="val 50000"/>
            </a:avLst>
          </a:prstGeom>
          <a:solidFill>
            <a:srgbClr val="2A4D88"/>
          </a:solidFill>
          <a:ln/>
        </p:spPr>
      </p:sp>
      <p:sp>
        <p:nvSpPr>
          <p:cNvPr id="73" name="Text 52"/>
          <p:cNvSpPr txBox="1"/>
          <p:nvPr/>
        </p:nvSpPr>
        <p:spPr>
          <a:xfrm>
            <a:off x="6807200" y="7556500"/>
            <a:ext cx="23622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Priority-Based Action</a:t>
            </a:r>
            <a:endParaRPr lang="en-US" sz="1650" dirty="0"/>
          </a:p>
        </p:txBody>
      </p:sp>
      <p:sp>
        <p:nvSpPr>
          <p:cNvPr id="74" name="Text 53"/>
          <p:cNvSpPr txBox="1"/>
          <p:nvPr/>
        </p:nvSpPr>
        <p:spPr>
          <a:xfrm>
            <a:off x="6819900" y="8204200"/>
            <a:ext cx="23876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Risk-Based Verification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higher-risk works for mandatory inspections.</a:t>
            </a:r>
            <a:endParaRPr lang="en-US" sz="1650" dirty="0"/>
          </a:p>
        </p:txBody>
      </p:sp>
      <p:pic>
        <p:nvPicPr>
          <p:cNvPr id="75" name="Image 19" descr="C:\Users\abhim\drishti\docs\deck\assets\icons\arrow-right_n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359900" y="7670800"/>
            <a:ext cx="254000" cy="254000"/>
          </a:xfrm>
          <a:prstGeom prst="rect">
            <a:avLst/>
          </a:prstGeom>
        </p:spPr>
      </p:pic>
      <p:sp>
        <p:nvSpPr>
          <p:cNvPr id="76" name="Shape 54"/>
          <p:cNvSpPr/>
          <p:nvPr/>
        </p:nvSpPr>
        <p:spPr>
          <a:xfrm>
            <a:off x="9664700" y="7391400"/>
            <a:ext cx="2692400" cy="2082800"/>
          </a:xfrm>
          <a:prstGeom prst="roundRect">
            <a:avLst>
              <a:gd name="adj" fmla="val 6707"/>
            </a:avLst>
          </a:prstGeom>
          <a:solidFill>
            <a:srgbClr val="EDF0F5"/>
          </a:solidFill>
          <a:ln/>
        </p:spPr>
      </p:sp>
      <p:sp>
        <p:nvSpPr>
          <p:cNvPr id="77" name="Shape 55"/>
          <p:cNvSpPr/>
          <p:nvPr/>
        </p:nvSpPr>
        <p:spPr>
          <a:xfrm>
            <a:off x="9829800" y="7556500"/>
            <a:ext cx="2362200" cy="520700"/>
          </a:xfrm>
          <a:prstGeom prst="roundRect">
            <a:avLst>
              <a:gd name="adj" fmla="val 50000"/>
            </a:avLst>
          </a:prstGeom>
          <a:solidFill>
            <a:srgbClr val="D9962B"/>
          </a:solidFill>
          <a:ln/>
        </p:spPr>
      </p:sp>
      <p:sp>
        <p:nvSpPr>
          <p:cNvPr id="78" name="Text 56"/>
          <p:cNvSpPr txBox="1"/>
          <p:nvPr/>
        </p:nvSpPr>
        <p:spPr>
          <a:xfrm>
            <a:off x="9829800" y="7556500"/>
            <a:ext cx="2362200" cy="520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Expansion</a:t>
            </a:r>
            <a:endParaRPr lang="en-US" sz="1650" dirty="0"/>
          </a:p>
        </p:txBody>
      </p:sp>
      <p:sp>
        <p:nvSpPr>
          <p:cNvPr id="79" name="Text 57"/>
          <p:cNvSpPr txBox="1"/>
          <p:nvPr/>
        </p:nvSpPr>
        <p:spPr>
          <a:xfrm>
            <a:off x="9842500" y="8204200"/>
            <a:ext cx="2387600" cy="1193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and Expandable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added one by one; fits PMAY-G &amp; MGNREGA.</a:t>
            </a:r>
            <a:endParaRPr lang="en-US" sz="1650" dirty="0"/>
          </a:p>
        </p:txBody>
      </p:sp>
      <p:sp>
        <p:nvSpPr>
          <p:cNvPr id="80" name="Shape 58"/>
          <p:cNvSpPr/>
          <p:nvPr/>
        </p:nvSpPr>
        <p:spPr>
          <a:xfrm>
            <a:off x="12674600" y="7391400"/>
            <a:ext cx="5003800" cy="2082800"/>
          </a:xfrm>
          <a:prstGeom prst="roundRect">
            <a:avLst>
              <a:gd name="adj" fmla="val 6707"/>
            </a:avLst>
          </a:prstGeom>
          <a:solidFill>
            <a:srgbClr val="2A4D88"/>
          </a:solidFill>
          <a:ln/>
        </p:spPr>
      </p:sp>
      <p:sp>
        <p:nvSpPr>
          <p:cNvPr id="81" name="Shape 59"/>
          <p:cNvSpPr/>
          <p:nvPr/>
        </p:nvSpPr>
        <p:spPr>
          <a:xfrm>
            <a:off x="12903200" y="7594600"/>
            <a:ext cx="558800" cy="55880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82" name="Image 20" descr="C:\Users\abhim\drishti\docs\deck\assets\icons\flask-vial_n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3042900" y="7734300"/>
            <a:ext cx="279400" cy="279400"/>
          </a:xfrm>
          <a:prstGeom prst="rect">
            <a:avLst/>
          </a:prstGeom>
        </p:spPr>
      </p:pic>
      <p:sp>
        <p:nvSpPr>
          <p:cNvPr id="83" name="Text 60"/>
          <p:cNvSpPr txBox="1"/>
          <p:nvPr/>
        </p:nvSpPr>
        <p:spPr>
          <a:xfrm>
            <a:off x="13614400" y="7594600"/>
            <a:ext cx="3937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PROOF BEFORE LAUNCH</a:t>
            </a:r>
            <a:endParaRPr lang="en-US" sz="1800" dirty="0"/>
          </a:p>
        </p:txBody>
      </p:sp>
      <p:sp>
        <p:nvSpPr>
          <p:cNvPr id="84" name="Text 61"/>
          <p:cNvSpPr txBox="1"/>
          <p:nvPr/>
        </p:nvSpPr>
        <p:spPr>
          <a:xfrm>
            <a:off x="12903200" y="8280400"/>
            <a:ext cx="45974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is tested on real eSAKSHI data and must beat a simple baseline before it goes live. If it fails, it stays switched off.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6090" y="287020"/>
            <a:ext cx="2153920" cy="934720"/>
          </a:xfrm>
          <a:prstGeom prst="ellipse">
            <a:avLst/>
          </a:prstGeom>
          <a:solidFill>
            <a:srgbClr val="FFFFFF"/>
          </a:solidFill>
          <a:ln w="57150">
            <a:solidFill>
              <a:srgbClr val="2A4D8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66090" y="287020"/>
            <a:ext cx="2153920" cy="93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NeuralNexus</a:t>
            </a:r>
            <a:endParaRPr lang="en-US" sz="2050" dirty="0"/>
          </a:p>
        </p:txBody>
      </p:sp>
      <p:sp>
        <p:nvSpPr>
          <p:cNvPr id="4" name="Text 2"/>
          <p:cNvSpPr txBox="1"/>
          <p:nvPr/>
        </p:nvSpPr>
        <p:spPr>
          <a:xfrm>
            <a:off x="3131820" y="381000"/>
            <a:ext cx="11430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 AND BENEFITS</a:t>
            </a:r>
            <a:endParaRPr lang="en-US" sz="4200" dirty="0"/>
          </a:p>
        </p:txBody>
      </p:sp>
      <p:pic>
        <p:nvPicPr>
          <p:cNvPr id="5" name="Image 0" descr="C:\Users\abhim\drishti\docs\deck\assets\sih_logo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400" y="76200"/>
            <a:ext cx="2705100" cy="1277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9756140"/>
            <a:ext cx="18288000" cy="533400"/>
          </a:xfrm>
          <a:prstGeom prst="rect">
            <a:avLst/>
          </a:prstGeom>
          <a:solidFill>
            <a:srgbClr val="2A4D8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69000" y="98806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– Template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7018000" y="9880600"/>
            <a:ext cx="673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617220" y="1574800"/>
            <a:ext cx="1143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ON TARGET STAKEHOLDERS</a:t>
            </a:r>
            <a:endParaRPr lang="en-US" sz="1720" dirty="0"/>
          </a:p>
        </p:txBody>
      </p:sp>
      <p:sp>
        <p:nvSpPr>
          <p:cNvPr id="10" name="Shape 7"/>
          <p:cNvSpPr/>
          <p:nvPr/>
        </p:nvSpPr>
        <p:spPr>
          <a:xfrm>
            <a:off x="609600" y="2044700"/>
            <a:ext cx="4025900" cy="3378200"/>
          </a:xfrm>
          <a:prstGeom prst="roundRect">
            <a:avLst>
              <a:gd name="adj" fmla="val 4135"/>
            </a:avLst>
          </a:prstGeom>
          <a:solidFill>
            <a:srgbClr val="EDF0F5"/>
          </a:solidFill>
          <a:ln/>
        </p:spPr>
      </p:sp>
      <p:sp>
        <p:nvSpPr>
          <p:cNvPr id="11" name="Shape 8"/>
          <p:cNvSpPr/>
          <p:nvPr/>
        </p:nvSpPr>
        <p:spPr>
          <a:xfrm>
            <a:off x="850900" y="2298700"/>
            <a:ext cx="812800" cy="8128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12" name="Image 1" descr="C:\Users\abhim\drishti\docs\deck\assets\icons\landmar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00" y="2501900"/>
            <a:ext cx="406400" cy="4064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828800" y="2298700"/>
            <a:ext cx="2692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7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 (MoSPI)</a:t>
            </a:r>
            <a:endParaRPr lang="en-US" sz="1970" dirty="0"/>
          </a:p>
        </p:txBody>
      </p:sp>
      <p:sp>
        <p:nvSpPr>
          <p:cNvPr id="14" name="Text 10"/>
          <p:cNvSpPr txBox="1"/>
          <p:nvPr/>
        </p:nvSpPr>
        <p:spPr>
          <a:xfrm>
            <a:off x="990600" y="3327400"/>
            <a:ext cx="35052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risk heat-map by state &amp; district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systemic issues &amp; guideline gaps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reports for Parliament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agent's accuracy tracked openly</a:t>
            </a:r>
            <a:endParaRPr lang="en-US" sz="1750" dirty="0"/>
          </a:p>
        </p:txBody>
      </p:sp>
      <p:sp>
        <p:nvSpPr>
          <p:cNvPr id="15" name="Shape 11"/>
          <p:cNvSpPr/>
          <p:nvPr/>
        </p:nvSpPr>
        <p:spPr>
          <a:xfrm>
            <a:off x="4953000" y="2044700"/>
            <a:ext cx="4025900" cy="3378200"/>
          </a:xfrm>
          <a:prstGeom prst="roundRect">
            <a:avLst>
              <a:gd name="adj" fmla="val 4135"/>
            </a:avLst>
          </a:prstGeom>
          <a:solidFill>
            <a:srgbClr val="EDF0F5"/>
          </a:solidFill>
          <a:ln/>
        </p:spPr>
      </p:sp>
      <p:sp>
        <p:nvSpPr>
          <p:cNvPr id="16" name="Shape 12"/>
          <p:cNvSpPr/>
          <p:nvPr/>
        </p:nvSpPr>
        <p:spPr>
          <a:xfrm>
            <a:off x="5194300" y="2298700"/>
            <a:ext cx="812800" cy="8128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17" name="Image 2" descr="C:\Users\abhim\drishti\docs\deck\assets\icons\sitema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7500" y="2501900"/>
            <a:ext cx="406400" cy="4064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172200" y="2298700"/>
            <a:ext cx="2692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7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Nodal Authorities</a:t>
            </a:r>
            <a:endParaRPr lang="en-US" sz="1970" dirty="0"/>
          </a:p>
        </p:txBody>
      </p:sp>
      <p:sp>
        <p:nvSpPr>
          <p:cNvPr id="19" name="Text 14"/>
          <p:cNvSpPr txBox="1"/>
          <p:nvPr/>
        </p:nvSpPr>
        <p:spPr>
          <a:xfrm>
            <a:off x="5334000" y="3327400"/>
            <a:ext cx="35052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&amp; agency league tables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 stalled or high-risk works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follow-up on every alert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contractor concentration</a:t>
            </a:r>
            <a:endParaRPr lang="en-US" sz="1750" dirty="0"/>
          </a:p>
        </p:txBody>
      </p:sp>
      <p:sp>
        <p:nvSpPr>
          <p:cNvPr id="20" name="Shape 15"/>
          <p:cNvSpPr/>
          <p:nvPr/>
        </p:nvSpPr>
        <p:spPr>
          <a:xfrm>
            <a:off x="9309100" y="2044700"/>
            <a:ext cx="4025900" cy="3378200"/>
          </a:xfrm>
          <a:prstGeom prst="roundRect">
            <a:avLst>
              <a:gd name="adj" fmla="val 4135"/>
            </a:avLst>
          </a:prstGeom>
          <a:solidFill>
            <a:srgbClr val="EDF0F5"/>
          </a:solidFill>
          <a:ln/>
        </p:spPr>
      </p:sp>
      <p:sp>
        <p:nvSpPr>
          <p:cNvPr id="21" name="Shape 16"/>
          <p:cNvSpPr/>
          <p:nvPr/>
        </p:nvSpPr>
        <p:spPr>
          <a:xfrm>
            <a:off x="9550400" y="2298700"/>
            <a:ext cx="812800" cy="8128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22" name="Image 3" descr="C:\Users\abhim\drishti\docs\deck\assets\icons\map-location-dot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0" y="2501900"/>
            <a:ext cx="406400" cy="4064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528300" y="2298700"/>
            <a:ext cx="2692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7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 Authorities</a:t>
            </a:r>
            <a:endParaRPr lang="en-US" sz="1970" dirty="0"/>
          </a:p>
        </p:txBody>
      </p:sp>
      <p:sp>
        <p:nvSpPr>
          <p:cNvPr id="24" name="Text 18"/>
          <p:cNvSpPr txBox="1"/>
          <p:nvPr/>
        </p:nvSpPr>
        <p:spPr>
          <a:xfrm>
            <a:off x="9690100" y="3327400"/>
            <a:ext cx="35052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ranked alert queue with evidence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 plan with optimised route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Pre-sanction check in the 45-day window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PDF evidence brief</a:t>
            </a:r>
            <a:endParaRPr lang="en-US" sz="1750" dirty="0"/>
          </a:p>
        </p:txBody>
      </p:sp>
      <p:sp>
        <p:nvSpPr>
          <p:cNvPr id="25" name="Shape 19"/>
          <p:cNvSpPr/>
          <p:nvPr/>
        </p:nvSpPr>
        <p:spPr>
          <a:xfrm>
            <a:off x="13652500" y="2044700"/>
            <a:ext cx="4025900" cy="3378200"/>
          </a:xfrm>
          <a:prstGeom prst="roundRect">
            <a:avLst>
              <a:gd name="adj" fmla="val 4135"/>
            </a:avLst>
          </a:prstGeom>
          <a:solidFill>
            <a:srgbClr val="EDF0F5"/>
          </a:solidFill>
          <a:ln/>
        </p:spPr>
      </p:sp>
      <p:sp>
        <p:nvSpPr>
          <p:cNvPr id="26" name="Shape 20"/>
          <p:cNvSpPr/>
          <p:nvPr/>
        </p:nvSpPr>
        <p:spPr>
          <a:xfrm>
            <a:off x="13893800" y="2298700"/>
            <a:ext cx="812800" cy="8128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27" name="Image 4" descr="C:\Users\abhim\drishti\docs\deck\assets\icons\user-ti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97000" y="2501900"/>
            <a:ext cx="406400" cy="4064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4871700" y="2298700"/>
            <a:ext cx="2692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7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of Parliament</a:t>
            </a:r>
            <a:endParaRPr lang="en-US" sz="1970" dirty="0"/>
          </a:p>
        </p:txBody>
      </p:sp>
      <p:sp>
        <p:nvSpPr>
          <p:cNvPr id="29" name="Text 22"/>
          <p:cNvSpPr txBox="1"/>
          <p:nvPr/>
        </p:nvSpPr>
        <p:spPr>
          <a:xfrm>
            <a:off x="14033500" y="3327400"/>
            <a:ext cx="3505200" cy="2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status of recommended works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warning on delays &amp; idle funds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confirm completed assets</a:t>
            </a:r>
            <a:endParaRPr lang="en-US" sz="175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7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record builds public trust</a:t>
            </a:r>
            <a:endParaRPr lang="en-US" sz="1750" dirty="0"/>
          </a:p>
        </p:txBody>
      </p:sp>
      <p:sp>
        <p:nvSpPr>
          <p:cNvPr id="30" name="Text 23"/>
          <p:cNvSpPr txBox="1"/>
          <p:nvPr/>
        </p:nvSpPr>
        <p:spPr>
          <a:xfrm>
            <a:off x="617220" y="5803900"/>
            <a:ext cx="1143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1720" dirty="0"/>
          </a:p>
        </p:txBody>
      </p:sp>
      <p:sp>
        <p:nvSpPr>
          <p:cNvPr id="31" name="Shape 24"/>
          <p:cNvSpPr/>
          <p:nvPr/>
        </p:nvSpPr>
        <p:spPr>
          <a:xfrm>
            <a:off x="609600" y="6464300"/>
            <a:ext cx="3492500" cy="3035300"/>
          </a:xfrm>
          <a:prstGeom prst="roundRect">
            <a:avLst>
              <a:gd name="adj" fmla="val 460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850900" y="6184900"/>
            <a:ext cx="3009900" cy="571500"/>
          </a:xfrm>
          <a:prstGeom prst="roundRect">
            <a:avLst>
              <a:gd name="adj" fmla="val 50000"/>
            </a:avLst>
          </a:prstGeom>
          <a:solidFill>
            <a:srgbClr val="2A4D88"/>
          </a:solidFill>
          <a:ln/>
        </p:spPr>
      </p:sp>
      <p:pic>
        <p:nvPicPr>
          <p:cNvPr id="33" name="Image 5" descr="C:\Users\abhim\drishti\docs\deck\assets\icons\handshake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" y="6299200"/>
            <a:ext cx="317500" cy="317500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498600" y="61849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</a:t>
            </a:r>
            <a:endParaRPr lang="en-US" sz="1670" dirty="0"/>
          </a:p>
        </p:txBody>
      </p:sp>
      <p:sp>
        <p:nvSpPr>
          <p:cNvPr id="35" name="Text 27"/>
          <p:cNvSpPr txBox="1"/>
          <p:nvPr/>
        </p:nvSpPr>
        <p:spPr>
          <a:xfrm>
            <a:off x="990600" y="6921500"/>
            <a:ext cx="2997200" cy="248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delivery of community assets</a:t>
            </a:r>
            <a:endParaRPr lang="en-US" sz="1700" dirty="0"/>
          </a:p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trust through transparency</a:t>
            </a:r>
            <a:endParaRPr lang="en-US" sz="1700" dirty="0"/>
          </a:p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get assets that truly exist</a:t>
            </a:r>
            <a:endParaRPr lang="en-US" sz="1700" dirty="0"/>
          </a:p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Fairer spread of works across areas</a:t>
            </a:r>
            <a:endParaRPr lang="en-US" sz="1700" dirty="0"/>
          </a:p>
        </p:txBody>
      </p:sp>
      <p:sp>
        <p:nvSpPr>
          <p:cNvPr id="36" name="Shape 28"/>
          <p:cNvSpPr/>
          <p:nvPr/>
        </p:nvSpPr>
        <p:spPr>
          <a:xfrm>
            <a:off x="4419600" y="6464300"/>
            <a:ext cx="3492500" cy="3035300"/>
          </a:xfrm>
          <a:prstGeom prst="roundRect">
            <a:avLst>
              <a:gd name="adj" fmla="val 460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4660900" y="6184900"/>
            <a:ext cx="3009900" cy="571500"/>
          </a:xfrm>
          <a:prstGeom prst="roundRect">
            <a:avLst>
              <a:gd name="adj" fmla="val 50000"/>
            </a:avLst>
          </a:prstGeom>
          <a:solidFill>
            <a:srgbClr val="2A4D88"/>
          </a:solidFill>
          <a:ln/>
        </p:spPr>
      </p:sp>
      <p:pic>
        <p:nvPicPr>
          <p:cNvPr id="38" name="Image 6" descr="C:\Users\abhim\drishti\docs\deck\assets\icons\coins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38700" y="6299200"/>
            <a:ext cx="317500" cy="31750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5308600" y="61849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</a:t>
            </a:r>
            <a:endParaRPr lang="en-US" sz="1670" dirty="0"/>
          </a:p>
        </p:txBody>
      </p:sp>
      <p:sp>
        <p:nvSpPr>
          <p:cNvPr id="40" name="Text 31"/>
          <p:cNvSpPr txBox="1"/>
          <p:nvPr/>
        </p:nvSpPr>
        <p:spPr>
          <a:xfrm>
            <a:off x="4800600" y="6921500"/>
            <a:ext cx="2997200" cy="248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risks before funds move</a:t>
            </a:r>
            <a:endParaRPr lang="en-US" sz="1700" dirty="0"/>
          </a:p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visits save officer time</a:t>
            </a:r>
            <a:endParaRPr lang="en-US" sz="1700" dirty="0"/>
          </a:p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reused photos &amp; padded bills</a:t>
            </a:r>
            <a:endParaRPr lang="en-US" sz="1700" dirty="0"/>
          </a:p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cost overruns and rework</a:t>
            </a:r>
            <a:endParaRPr lang="en-US" sz="1700" dirty="0"/>
          </a:p>
        </p:txBody>
      </p:sp>
      <p:sp>
        <p:nvSpPr>
          <p:cNvPr id="41" name="Shape 32"/>
          <p:cNvSpPr/>
          <p:nvPr/>
        </p:nvSpPr>
        <p:spPr>
          <a:xfrm>
            <a:off x="8242300" y="6464300"/>
            <a:ext cx="3492500" cy="3035300"/>
          </a:xfrm>
          <a:prstGeom prst="roundRect">
            <a:avLst>
              <a:gd name="adj" fmla="val 4603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8483600" y="6184900"/>
            <a:ext cx="3009900" cy="571500"/>
          </a:xfrm>
          <a:prstGeom prst="roundRect">
            <a:avLst>
              <a:gd name="adj" fmla="val 50000"/>
            </a:avLst>
          </a:prstGeom>
          <a:solidFill>
            <a:srgbClr val="2A4D88"/>
          </a:solidFill>
          <a:ln/>
        </p:spPr>
      </p:sp>
      <p:pic>
        <p:nvPicPr>
          <p:cNvPr id="43" name="Image 7" descr="C:\Users\abhim\drishti\docs\deck\assets\icons\leaf_w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61400" y="6299200"/>
            <a:ext cx="317500" cy="317500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9131300" y="6184900"/>
            <a:ext cx="2286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</a:t>
            </a:r>
            <a:endParaRPr lang="en-US" sz="1670" dirty="0"/>
          </a:p>
        </p:txBody>
      </p:sp>
      <p:sp>
        <p:nvSpPr>
          <p:cNvPr id="45" name="Text 35"/>
          <p:cNvSpPr txBox="1"/>
          <p:nvPr/>
        </p:nvSpPr>
        <p:spPr>
          <a:xfrm>
            <a:off x="8623300" y="6921500"/>
            <a:ext cx="2997200" cy="248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Paperless, digital monitoring</a:t>
            </a:r>
            <a:endParaRPr lang="en-US" sz="1700" dirty="0"/>
          </a:p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wasted site trips and fuel</a:t>
            </a:r>
            <a:endParaRPr lang="en-US" sz="1700" dirty="0"/>
          </a:p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assets built right first time</a:t>
            </a:r>
            <a:endParaRPr lang="en-US" sz="1700" dirty="0"/>
          </a:p>
          <a:p>
            <a:pPr algn="l" marL="177800" indent="-177800">
              <a:buSzPct val="100000"/>
              <a:buChar char="•"/>
            </a:pPr>
            <a:r>
              <a:rPr lang="en-US" sz="17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tracked through their life cycle</a:t>
            </a:r>
            <a:endParaRPr lang="en-US" sz="1700" dirty="0"/>
          </a:p>
        </p:txBody>
      </p:sp>
      <p:sp>
        <p:nvSpPr>
          <p:cNvPr id="46" name="Text 36"/>
          <p:cNvSpPr txBox="1"/>
          <p:nvPr/>
        </p:nvSpPr>
        <p:spPr>
          <a:xfrm>
            <a:off x="12204700" y="5803900"/>
            <a:ext cx="546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OUTCOMES</a:t>
            </a:r>
            <a:endParaRPr lang="en-US" sz="1720" dirty="0"/>
          </a:p>
        </p:txBody>
      </p:sp>
      <p:sp>
        <p:nvSpPr>
          <p:cNvPr id="47" name="Shape 37"/>
          <p:cNvSpPr/>
          <p:nvPr/>
        </p:nvSpPr>
        <p:spPr>
          <a:xfrm>
            <a:off x="12192000" y="6184900"/>
            <a:ext cx="5486400" cy="952500"/>
          </a:xfrm>
          <a:prstGeom prst="roundRect">
            <a:avLst>
              <a:gd name="adj" fmla="val 12000"/>
            </a:avLst>
          </a:prstGeom>
          <a:solidFill>
            <a:srgbClr val="2A4D88"/>
          </a:solidFill>
          <a:ln/>
        </p:spPr>
      </p:sp>
      <p:sp>
        <p:nvSpPr>
          <p:cNvPr id="48" name="Text 38"/>
          <p:cNvSpPr txBox="1"/>
          <p:nvPr/>
        </p:nvSpPr>
        <p:spPr>
          <a:xfrm>
            <a:off x="12407900" y="618490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150" dirty="0"/>
          </a:p>
        </p:txBody>
      </p:sp>
      <p:sp>
        <p:nvSpPr>
          <p:cNvPr id="49" name="Text 39"/>
          <p:cNvSpPr txBox="1"/>
          <p:nvPr/>
        </p:nvSpPr>
        <p:spPr>
          <a:xfrm>
            <a:off x="14173200" y="6261100"/>
            <a:ext cx="33782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D9D9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works screened daily; 2,09,993 real works already done</a:t>
            </a:r>
            <a:endParaRPr lang="en-US" sz="1650" dirty="0"/>
          </a:p>
        </p:txBody>
      </p:sp>
      <p:sp>
        <p:nvSpPr>
          <p:cNvPr id="50" name="Shape 40"/>
          <p:cNvSpPr/>
          <p:nvPr/>
        </p:nvSpPr>
        <p:spPr>
          <a:xfrm>
            <a:off x="12192000" y="7366000"/>
            <a:ext cx="5486400" cy="952500"/>
          </a:xfrm>
          <a:prstGeom prst="roundRect">
            <a:avLst>
              <a:gd name="adj" fmla="val 12000"/>
            </a:avLst>
          </a:prstGeom>
          <a:solidFill>
            <a:srgbClr val="EDF0F5"/>
          </a:solidFill>
          <a:ln/>
        </p:spPr>
      </p:sp>
      <p:sp>
        <p:nvSpPr>
          <p:cNvPr id="51" name="Text 41"/>
          <p:cNvSpPr txBox="1"/>
          <p:nvPr/>
        </p:nvSpPr>
        <p:spPr>
          <a:xfrm>
            <a:off x="12407900" y="736600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3150" dirty="0"/>
          </a:p>
        </p:txBody>
      </p:sp>
      <p:sp>
        <p:nvSpPr>
          <p:cNvPr id="52" name="Shape 42"/>
          <p:cNvSpPr/>
          <p:nvPr/>
        </p:nvSpPr>
        <p:spPr>
          <a:xfrm>
            <a:off x="13970000" y="7505700"/>
            <a:ext cx="0" cy="673100"/>
          </a:xfrm>
          <a:prstGeom prst="line">
            <a:avLst/>
          </a:prstGeom>
          <a:noFill/>
          <a:ln w="19050">
            <a:solidFill>
              <a:srgbClr val="C2CCDA"/>
            </a:solidFill>
            <a:prstDash val="solid"/>
          </a:ln>
        </p:spPr>
      </p:sp>
      <p:sp>
        <p:nvSpPr>
          <p:cNvPr id="53" name="Text 43"/>
          <p:cNvSpPr txBox="1"/>
          <p:nvPr/>
        </p:nvSpPr>
        <p:spPr>
          <a:xfrm>
            <a:off x="14173200" y="7442200"/>
            <a:ext cx="33782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for review: a queue District Authorities can clear</a:t>
            </a:r>
            <a:endParaRPr lang="en-US" sz="1650" dirty="0"/>
          </a:p>
        </p:txBody>
      </p:sp>
      <p:sp>
        <p:nvSpPr>
          <p:cNvPr id="54" name="Shape 44"/>
          <p:cNvSpPr/>
          <p:nvPr/>
        </p:nvSpPr>
        <p:spPr>
          <a:xfrm>
            <a:off x="12192000" y="8547100"/>
            <a:ext cx="5486400" cy="952500"/>
          </a:xfrm>
          <a:prstGeom prst="roundRect">
            <a:avLst>
              <a:gd name="adj" fmla="val 12000"/>
            </a:avLst>
          </a:prstGeom>
          <a:solidFill>
            <a:srgbClr val="EDF0F5"/>
          </a:solidFill>
          <a:ln/>
        </p:spPr>
      </p:sp>
      <p:sp>
        <p:nvSpPr>
          <p:cNvPr id="55" name="Text 45"/>
          <p:cNvSpPr txBox="1"/>
          <p:nvPr/>
        </p:nvSpPr>
        <p:spPr>
          <a:xfrm>
            <a:off x="12407900" y="8547100"/>
            <a:ext cx="1524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in 3</a:t>
            </a:r>
            <a:endParaRPr lang="en-US" sz="3150" dirty="0"/>
          </a:p>
        </p:txBody>
      </p:sp>
      <p:sp>
        <p:nvSpPr>
          <p:cNvPr id="56" name="Shape 46"/>
          <p:cNvSpPr/>
          <p:nvPr/>
        </p:nvSpPr>
        <p:spPr>
          <a:xfrm>
            <a:off x="13970000" y="8686800"/>
            <a:ext cx="0" cy="673100"/>
          </a:xfrm>
          <a:prstGeom prst="line">
            <a:avLst/>
          </a:prstGeom>
          <a:noFill/>
          <a:ln w="19050">
            <a:solidFill>
              <a:srgbClr val="C2CCDA"/>
            </a:solidFill>
            <a:prstDash val="solid"/>
          </a:ln>
        </p:spPr>
      </p:sp>
      <p:sp>
        <p:nvSpPr>
          <p:cNvPr id="57" name="Text 47"/>
          <p:cNvSpPr txBox="1"/>
          <p:nvPr/>
        </p:nvSpPr>
        <p:spPr>
          <a:xfrm>
            <a:off x="14173200" y="8623300"/>
            <a:ext cx="33782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works have certificates or photos DRISHTI can verify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66090" y="287020"/>
            <a:ext cx="2153920" cy="934720"/>
          </a:xfrm>
          <a:prstGeom prst="ellipse">
            <a:avLst/>
          </a:prstGeom>
          <a:solidFill>
            <a:srgbClr val="FFFFFF"/>
          </a:solidFill>
          <a:ln w="57150">
            <a:solidFill>
              <a:srgbClr val="2A4D8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66090" y="287020"/>
            <a:ext cx="2153920" cy="93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NeuralNexus</a:t>
            </a:r>
            <a:endParaRPr lang="en-US" sz="2050" dirty="0"/>
          </a:p>
        </p:txBody>
      </p:sp>
      <p:sp>
        <p:nvSpPr>
          <p:cNvPr id="4" name="Text 2"/>
          <p:cNvSpPr txBox="1"/>
          <p:nvPr/>
        </p:nvSpPr>
        <p:spPr>
          <a:xfrm>
            <a:off x="3131820" y="381000"/>
            <a:ext cx="114300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AND REFERENCES</a:t>
            </a:r>
            <a:endParaRPr lang="en-US" sz="4200" dirty="0"/>
          </a:p>
        </p:txBody>
      </p:sp>
      <p:pic>
        <p:nvPicPr>
          <p:cNvPr id="5" name="Image 0" descr="C:\Users\abhim\drishti\docs\deck\assets\sih_logo_w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400" y="76200"/>
            <a:ext cx="2705100" cy="12776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9756140"/>
            <a:ext cx="18288000" cy="533400"/>
          </a:xfrm>
          <a:prstGeom prst="rect">
            <a:avLst/>
          </a:prstGeom>
          <a:solidFill>
            <a:srgbClr val="2A4D88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969000" y="98806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@SIH Idea submission – Template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7018000" y="9880600"/>
            <a:ext cx="6731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617220" y="1574800"/>
            <a:ext cx="1143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WITH EXISTING SYSTEMS</a:t>
            </a:r>
            <a:endParaRPr lang="en-US" sz="172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2300" y="1981200"/>
          <a:ext cx="13716000" cy="914400"/>
        </p:xfrm>
        <a:graphic>
          <a:graphicData uri="http://schemas.openxmlformats.org/drawingml/2006/table">
            <a:tbl>
              <a:tblPr/>
              <a:tblGrid>
                <a:gridCol w="3810000"/>
                <a:gridCol w="1625600"/>
                <a:gridCol w="1625600"/>
                <a:gridCol w="1625600"/>
                <a:gridCol w="1612900"/>
              </a:tblGrid>
              <a:tr h="6096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DRISHTI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962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eSAKSHI Portal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Audit / Inspection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BI Dashboards</a:t>
                      </a:r>
                      <a:endParaRPr lang="en-US" sz="1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4D88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anomaly detection in spending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 &amp; split works (Hindi + English)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8A6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certificates &amp; bills (Hindi/English)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8A6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Spots reused or edited photos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Checks where &amp; when photos were taken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8A6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Guideline compliance with para cited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8A6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/ overrun early warning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8A6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8A6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Explainable 0–100 risk score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Risk-based inspection route plan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1A2F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Citizen confirmation &amp; field learning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2E7D4F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✓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3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8A6D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900" dirty="0">
                          <a:solidFill>
                            <a:srgbClr val="B23B3B"/>
                          </a:solidFill>
                          <a:latin typeface="Segoe UI Symbol" pitchFamily="34" charset="0"/>
                          <a:ea typeface="Segoe UI Symbol" pitchFamily="34" charset="-122"/>
                          <a:cs typeface="Segoe UI Symbol" pitchFamily="34" charset="-120"/>
                        </a:rPr>
                        <a:t>✗</a:t>
                      </a:r>
                      <a:endParaRPr lang="en-US" sz="1900" dirty="0">
                        <a:latin typeface="Segoe UI Symbol" charset="0"/>
                        <a:ea typeface="Segoe UI Symbol" charset="0"/>
                        <a:cs typeface="Segoe UI Symbol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1BBC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17220" y="7023100"/>
            <a:ext cx="1143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 INSIGHTS</a:t>
            </a:r>
            <a:endParaRPr lang="en-US" sz="1720" dirty="0"/>
          </a:p>
        </p:txBody>
      </p:sp>
      <p:sp>
        <p:nvSpPr>
          <p:cNvPr id="12" name="Shape 8"/>
          <p:cNvSpPr/>
          <p:nvPr/>
        </p:nvSpPr>
        <p:spPr>
          <a:xfrm>
            <a:off x="609600" y="7429500"/>
            <a:ext cx="2387600" cy="2070100"/>
          </a:xfrm>
          <a:prstGeom prst="roundRect">
            <a:avLst>
              <a:gd name="adj" fmla="val 6748"/>
            </a:avLst>
          </a:prstGeom>
          <a:solidFill>
            <a:srgbClr val="EDF0F5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12800" y="7594600"/>
            <a:ext cx="203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₹5 Cr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12800" y="8255000"/>
            <a:ext cx="2032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MP per year, non-lapsable funds (MoSPI)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3251200" y="7429500"/>
            <a:ext cx="2387600" cy="2070100"/>
          </a:xfrm>
          <a:prstGeom prst="roundRect">
            <a:avLst>
              <a:gd name="adj" fmla="val 6748"/>
            </a:avLst>
          </a:prstGeom>
          <a:solidFill>
            <a:srgbClr val="EDF0F5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3454400" y="7594600"/>
            <a:ext cx="203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~₹4,000 Cr</a:t>
            </a:r>
            <a:endParaRPr lang="en-US" sz="2800" dirty="0"/>
          </a:p>
        </p:txBody>
      </p:sp>
      <p:sp>
        <p:nvSpPr>
          <p:cNvPr id="17" name="Text 13"/>
          <p:cNvSpPr txBox="1"/>
          <p:nvPr/>
        </p:nvSpPr>
        <p:spPr>
          <a:xfrm>
            <a:off x="3454400" y="8255000"/>
            <a:ext cx="2032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outlay, run on eSAKSHI since Apr 2023 (PIB)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892800" y="7429500"/>
            <a:ext cx="2387600" cy="2070100"/>
          </a:xfrm>
          <a:prstGeom prst="roundRect">
            <a:avLst>
              <a:gd name="adj" fmla="val 6748"/>
            </a:avLst>
          </a:prstGeom>
          <a:solidFill>
            <a:srgbClr val="EDF0F5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096000" y="7594600"/>
            <a:ext cx="203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4,918</a:t>
            </a:r>
            <a:endParaRPr lang="en-US" sz="2800" dirty="0"/>
          </a:p>
        </p:txBody>
      </p:sp>
      <p:sp>
        <p:nvSpPr>
          <p:cNvPr id="20" name="Text 16"/>
          <p:cNvSpPr txBox="1"/>
          <p:nvPr/>
        </p:nvSpPr>
        <p:spPr>
          <a:xfrm>
            <a:off x="6096000" y="8255000"/>
            <a:ext cx="2032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without the mandatory MPLADS plaque (CAG audit, 31 districts)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8534400" y="7429500"/>
            <a:ext cx="2387600" cy="2070100"/>
          </a:xfrm>
          <a:prstGeom prst="roundRect">
            <a:avLst>
              <a:gd name="adj" fmla="val 6748"/>
            </a:avLst>
          </a:prstGeom>
          <a:solidFill>
            <a:srgbClr val="EDF0F5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8737600" y="7594600"/>
            <a:ext cx="20320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4D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₹280 Cr</a:t>
            </a:r>
            <a:endParaRPr lang="en-US" sz="2800" dirty="0"/>
          </a:p>
        </p:txBody>
      </p:sp>
      <p:sp>
        <p:nvSpPr>
          <p:cNvPr id="23" name="Text 19"/>
          <p:cNvSpPr txBox="1"/>
          <p:nvPr/>
        </p:nvSpPr>
        <p:spPr>
          <a:xfrm>
            <a:off x="8737600" y="8255000"/>
            <a:ext cx="2032000" cy="1168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12,006 works left incomplete (CAG audit, 71 districts)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11252200" y="1574800"/>
            <a:ext cx="635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0" b="1" spc="300" kern="0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720" dirty="0"/>
          </a:p>
        </p:txBody>
      </p:sp>
      <p:sp>
        <p:nvSpPr>
          <p:cNvPr id="25" name="Shape 21"/>
          <p:cNvSpPr/>
          <p:nvPr/>
        </p:nvSpPr>
        <p:spPr>
          <a:xfrm>
            <a:off x="11239500" y="2044700"/>
            <a:ext cx="6438900" cy="23749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442700" y="2247900"/>
            <a:ext cx="596900" cy="5969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27" name="Image 1" descr="C:\Users\abhim\drishti\docs\deck\assets\icons\landmar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1925" y="2397125"/>
            <a:ext cx="298450" cy="29845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12179300" y="2247900"/>
            <a:ext cx="53340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&amp; Policy Sources</a:t>
            </a:r>
            <a:endParaRPr lang="en-US" sz="1800" dirty="0"/>
          </a:p>
        </p:txBody>
      </p:sp>
      <p:sp>
        <p:nvSpPr>
          <p:cNvPr id="29" name="Text 24"/>
          <p:cNvSpPr txBox="1"/>
          <p:nvPr/>
        </p:nvSpPr>
        <p:spPr>
          <a:xfrm>
            <a:off x="11633200" y="2984500"/>
            <a:ext cx="586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MPLADS Guidelines 2016 &amp; 2023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mplads.gov.in</a:t>
            </a:r>
            <a:endParaRPr lang="en-US" sz="153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eSAKSHI portal &amp; revised fund flow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MoSPI / PIB</a:t>
            </a:r>
            <a:endParaRPr lang="en-US" sz="153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Performance Audit of MPLADS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Report 31 of 2010-11</a:t>
            </a:r>
            <a:endParaRPr lang="en-US" sz="153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PMAY-G AwaasApp · Mission Amrit Sarovar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MoRD / BISAG-N</a:t>
            </a:r>
            <a:endParaRPr lang="en-US" sz="1530" dirty="0"/>
          </a:p>
        </p:txBody>
      </p:sp>
      <p:sp>
        <p:nvSpPr>
          <p:cNvPr id="30" name="Shape 25"/>
          <p:cNvSpPr/>
          <p:nvPr/>
        </p:nvSpPr>
        <p:spPr>
          <a:xfrm>
            <a:off x="11239500" y="4584700"/>
            <a:ext cx="6438900" cy="23749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31" name="Shape 26"/>
          <p:cNvSpPr/>
          <p:nvPr/>
        </p:nvSpPr>
        <p:spPr>
          <a:xfrm>
            <a:off x="11442700" y="4787900"/>
            <a:ext cx="596900" cy="5969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32" name="Image 2" descr="C:\Users\abhim\drishti\docs\deck\assets\icons\book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91925" y="4937125"/>
            <a:ext cx="298450" cy="298450"/>
          </a:xfrm>
          <a:prstGeom prst="rect">
            <a:avLst/>
          </a:prstGeom>
        </p:spPr>
      </p:pic>
      <p:sp>
        <p:nvSpPr>
          <p:cNvPr id="33" name="Text 27"/>
          <p:cNvSpPr txBox="1"/>
          <p:nvPr/>
        </p:nvSpPr>
        <p:spPr>
          <a:xfrm>
            <a:off x="12179300" y="4787900"/>
            <a:ext cx="53340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Papers</a:t>
            </a:r>
            <a:endParaRPr lang="en-US" sz="1800" dirty="0"/>
          </a:p>
        </p:txBody>
      </p:sp>
      <p:sp>
        <p:nvSpPr>
          <p:cNvPr id="34" name="Text 28"/>
          <p:cNvSpPr txBox="1"/>
          <p:nvPr/>
        </p:nvSpPr>
        <p:spPr>
          <a:xfrm>
            <a:off x="11633200" y="5524500"/>
            <a:ext cx="586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Perceptual image hashing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Zauner, 2010</a:t>
            </a:r>
            <a:endParaRPr lang="en-US" sz="153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 feature matching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Rublee et al., ICCV 2011</a:t>
            </a:r>
            <a:endParaRPr lang="en-US" sz="153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sentence embeddings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Reimers &amp; Gurevych, EMNLP 2020</a:t>
            </a:r>
            <a:endParaRPr lang="en-US" sz="153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Ke et al., NeurIPS 2017</a:t>
            </a:r>
            <a:endParaRPr lang="en-US" sz="1530" dirty="0"/>
          </a:p>
        </p:txBody>
      </p:sp>
      <p:sp>
        <p:nvSpPr>
          <p:cNvPr id="35" name="Shape 29"/>
          <p:cNvSpPr/>
          <p:nvPr/>
        </p:nvSpPr>
        <p:spPr>
          <a:xfrm>
            <a:off x="11239500" y="7124700"/>
            <a:ext cx="6438900" cy="237490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B1BBC8"/>
            </a:solidFill>
            <a:prstDash val="solid"/>
          </a:ln>
        </p:spPr>
      </p:sp>
      <p:sp>
        <p:nvSpPr>
          <p:cNvPr id="36" name="Shape 30"/>
          <p:cNvSpPr/>
          <p:nvPr/>
        </p:nvSpPr>
        <p:spPr>
          <a:xfrm>
            <a:off x="11442700" y="7327900"/>
            <a:ext cx="596900" cy="596900"/>
          </a:xfrm>
          <a:prstGeom prst="ellipse">
            <a:avLst/>
          </a:prstGeom>
          <a:solidFill>
            <a:srgbClr val="2A4D88"/>
          </a:solidFill>
          <a:ln/>
        </p:spPr>
      </p:sp>
      <p:pic>
        <p:nvPicPr>
          <p:cNvPr id="37" name="Image 3" descr="C:\Users\abhim\drishti\docs\deck\assets\icons\databas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91925" y="7477125"/>
            <a:ext cx="298450" cy="298450"/>
          </a:xfrm>
          <a:prstGeom prst="rect">
            <a:avLst/>
          </a:prstGeom>
        </p:spPr>
      </p:pic>
      <p:sp>
        <p:nvSpPr>
          <p:cNvPr id="38" name="Text 31"/>
          <p:cNvSpPr txBox="1"/>
          <p:nvPr/>
        </p:nvSpPr>
        <p:spPr>
          <a:xfrm>
            <a:off x="12179300" y="7327900"/>
            <a:ext cx="53340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2A4D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&amp; Tools</a:t>
            </a:r>
            <a:endParaRPr lang="en-US" sz="1800" dirty="0"/>
          </a:p>
        </p:txBody>
      </p:sp>
      <p:sp>
        <p:nvSpPr>
          <p:cNvPr id="39" name="Text 32"/>
          <p:cNvSpPr txBox="1"/>
          <p:nvPr/>
        </p:nvSpPr>
        <p:spPr>
          <a:xfrm>
            <a:off x="11633200" y="8064500"/>
            <a:ext cx="586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eSAKSHI public works data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uploaded certificates &amp; photos</a:t>
            </a:r>
            <a:endParaRPr lang="en-US" sz="153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LGD boundaries · India Post DIGIPIN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official maps</a:t>
            </a:r>
            <a:endParaRPr lang="en-US" sz="153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Copernicus Sentinel-2</a:t>
            </a:r>
            <a:pPr algn="l" indent="0" marL="0">
              <a:spcAft>
                <a:spcPts val="200"/>
              </a:spcAft>
              <a:buNone/>
            </a:pPr>
            <a:r>
              <a:rPr lang="en-US" sz="15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free satellite imagery</a:t>
            </a:r>
            <a:endParaRPr lang="en-US" sz="153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30" b="1" dirty="0">
                <a:solidFill>
                  <a:srgbClr val="1A2F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vision · OpenCV · scikit-learn</a:t>
            </a:r>
            <a:pPr algn="l" indent="0" marL="0">
              <a:spcAft>
                <a:spcPts val="200"/>
              </a:spcAft>
              <a:buNone/>
            </a:pPr>
            <a:endParaRPr lang="en-US" sz="15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DRISHTI — SIH26102 — NeuralNexus</dc:title>
  <dc:subject>PptxGenJS Presentation</dc:subject>
  <dc:creator>NeuralNexus</dc:creator>
  <cp:lastModifiedBy>NeuralNexus</cp:lastModifiedBy>
  <cp:revision>1</cp:revision>
  <dcterms:created xsi:type="dcterms:W3CDTF">2026-09-25T17:16:08Z</dcterms:created>
  <dcterms:modified xsi:type="dcterms:W3CDTF">2026-09-25T17:16:08Z</dcterms:modified>
</cp:coreProperties>
</file>